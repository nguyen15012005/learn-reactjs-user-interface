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8" r:id="rId3"/>
    <p:sldId id="295" r:id="rId4"/>
    <p:sldId id="257" r:id="rId5"/>
    <p:sldId id="296" r:id="rId6"/>
    <p:sldId id="297" r:id="rId7"/>
    <p:sldId id="300" r:id="rId8"/>
    <p:sldId id="298" r:id="rId9"/>
    <p:sldId id="299" r:id="rId10"/>
    <p:sldId id="301" r:id="rId11"/>
    <p:sldId id="302" r:id="rId12"/>
    <p:sldId id="303" r:id="rId13"/>
    <p:sldId id="304" r:id="rId14"/>
    <p:sldId id="305" r:id="rId15"/>
    <p:sldId id="307" r:id="rId16"/>
    <p:sldId id="306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1" r:id="rId30"/>
    <p:sldId id="322" r:id="rId31"/>
    <p:sldId id="320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35" r:id="rId45"/>
    <p:sldId id="336" r:id="rId46"/>
    <p:sldId id="337" r:id="rId47"/>
    <p:sldId id="338" r:id="rId48"/>
    <p:sldId id="339" r:id="rId49"/>
    <p:sldId id="340" r:id="rId50"/>
    <p:sldId id="341" r:id="rId51"/>
    <p:sldId id="342" r:id="rId52"/>
  </p:sldIdLst>
  <p:sldSz cx="12192000" cy="6858000"/>
  <p:notesSz cx="6858000" cy="9144000"/>
  <p:embeddedFontLst>
    <p:embeddedFont>
      <p:font typeface="Arial Black" panose="020B0A04020102020204" pitchFamily="34" charset="0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h3D3afomt2tZLro8JCbe2CNTuQ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C25212-3E5A-4603-8A53-6B52964FEA18}">
  <a:tblStyle styleId="{75C25212-3E5A-4603-8A53-6B52964FEA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8E8"/>
          </a:solidFill>
        </a:fill>
      </a:tcStyle>
    </a:wholeTbl>
    <a:band1H>
      <a:tcTxStyle/>
      <a:tcStyle>
        <a:tcBdr/>
        <a:fill>
          <a:solidFill>
            <a:srgbClr val="CFCEC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CECD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E8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8E8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latin typeface="Arial"/>
                <a:ea typeface="Arial"/>
                <a:cs typeface="Arial"/>
                <a:sym typeface="Arial"/>
              </a:rPr>
              <a:t>NOTE: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Arial"/>
                <a:ea typeface="Arial"/>
                <a:cs typeface="Arial"/>
                <a:sym typeface="Arial"/>
              </a:rPr>
              <a:t>To change the  image on this slide, select the picture and delete it. Then click the Pictures icon in the placeholder to insert your own image.</a:t>
            </a:r>
            <a:endParaRPr/>
          </a:p>
        </p:txBody>
      </p:sp>
      <p:sp>
        <p:nvSpPr>
          <p:cNvPr id="124" name="Google Shape;12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18F9704-6413-3C57-9FFB-316574099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FCE79972-A2CE-4AD6-C543-77FC6A68C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FC21710E-8CB1-172E-6BF6-071C54854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93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3F85D72-62C2-35FE-05BC-E0C464BC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C18A262C-84A1-1F6D-FD4C-BBA76DB04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BFEECB92-DBA8-77E9-390F-AAC6AF38D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08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0A604AB-0697-0829-8677-1139CC79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3F1CD567-EFD7-9A42-574E-FBBB0BB4B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DA9E52FF-66A3-51A0-30DA-1CFC91341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76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BB24B4F-03AD-A666-F118-224A2EF9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1BB2496C-5312-6C43-CCCB-9D70597C6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609D9870-BFC3-1912-F1B9-01B1356D7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06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4BADA6A-4551-4BF5-DAA5-E68AB7638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3F6A9BAB-9D53-B25E-7D79-045E3271D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905E0CE2-8E91-3439-8258-E2A610F96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2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BD54E45-4916-38C8-96CA-9322A4FC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E8CF9D3F-0D78-3D2B-C5D0-B0CF6D7260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98374C9E-1051-9875-D6F3-3B2ACB6932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15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6C41B62-E845-1F21-119B-2A375887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6748D00B-88F4-349B-2CFE-04729977B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F34F993F-33C2-797A-8B57-F1DB6F6A7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1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66C9E5D-5714-DCFF-281C-9516BB4A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A21B76DE-D51F-F45B-6A4C-AB5C9EFE26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2B14025-D68B-98CE-2D60-34BA08523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01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A7C67B4-E4A6-2B76-8760-5AC63CD5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CFD3D21E-0D3A-70DD-EA90-0CA9E1444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1958FD3-C970-E20E-AA29-D1CA1F0A2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97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4109D2E-433A-445B-2377-B1C8BCEA6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2AB05C25-EF27-8EF8-A234-AC01D9A71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6495322D-55AC-051B-280C-78F10A68F2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4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1628D88-4C5F-53AE-45B4-9FF962B4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DA25A0F0-EA9A-D83C-C65F-3157817B3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5CF19076-4021-7B2B-CE46-FA9098EB2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80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E61BEF6-BA32-0F74-FF14-DB8D9DAD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AC5AA34B-A64A-C562-6C8E-E2AC4BCFC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0CDF406B-705A-AA6D-8891-EEBC5DE1A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55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4C641F7-359E-2159-6D55-E72CD50E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08E02F8B-7592-604C-E285-247274EC15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3E906530-29BA-1ED4-6A98-5F39D3CC78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87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3FE392A-3761-0953-67A4-2A646BDA1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A19DFDB0-7D37-5A26-9C35-7FBA7EA7D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7F6CB130-5FA1-AC2F-C310-C332B289A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18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01E13B6-6A65-F829-82DF-E4175FF2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B203BB79-452F-C47A-1898-7B1414EDB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9A21DE90-5A77-961B-8CF4-67D8E6B9C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38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3E87CCD-CD47-9BD7-1A2B-86448D7C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B110D296-DD57-859C-7A5B-690422387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679FCFEA-B3C5-B1FF-1602-8FE007E1D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04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E18582E-ED1E-2865-0ED5-00BD4135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CC13A6D1-7D73-B53D-57FE-B27838B16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8A7D0FA-2208-48A2-BFC9-C4AF8E8F3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201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82497F5-F42C-31AB-36CA-9FB5C4B2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454D5DDF-B178-5048-ADE6-F5EDA72C4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4A24F74-B1AD-2219-508E-358872F47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94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895EC8C-5DD9-4A02-88AF-C1493BF7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4EB38D44-3C8B-E2E2-B3A4-0381913AB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424E3003-B921-3713-4463-04E8619DE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372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A9414CB-E267-873D-37C7-845C6357A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39FBE98E-DC8C-DD6D-4227-E429B1578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1FFE11C0-F024-195B-E321-E63C960FD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21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2842151-F13E-080E-2523-037007609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489E0A42-6220-53AA-28B9-57CD82F71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53F946CA-D844-38A8-18F9-6B53BDAC1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262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383F022-60C4-7B18-F9B3-3E53F2BF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C262B0A6-926C-FF17-490B-51F02405B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ACA3A8A7-733B-5A51-B180-2F00BEFDC2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19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2B5BB6F-704F-3231-233E-1E2C4AC9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74CD28B9-288E-B927-CEBA-4D7073BBB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CEB94E11-ABEC-64CA-7BE8-544FC877D8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649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C7E1831-8938-6B2B-4D39-AB88D23E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DF255759-49F6-0435-3260-BD236BE59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711FEB6-5D36-0921-D6F4-532F0D58E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1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9CDA210-1FD4-EBC1-4955-FD5D2A48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0FF408AB-C52A-CB1C-7F87-3BCB8B48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057A93ED-FE08-8C24-653E-1DBE3F8C1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3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F1C8D92-CF58-35A4-EC9C-64FDF844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A210EF30-9EEA-FCFA-3C59-B924C62CC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793A0094-4BFD-5790-221D-3790252DF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18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87CE4159-D372-B1EE-3692-9B431928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>
            <a:extLst>
              <a:ext uri="{FF2B5EF4-FFF2-40B4-BE49-F238E27FC236}">
                <a16:creationId xmlns:a16="http://schemas.microsoft.com/office/drawing/2014/main" id="{40E68CD2-0EAA-84DC-C0A0-566EB90FC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:notes">
            <a:extLst>
              <a:ext uri="{FF2B5EF4-FFF2-40B4-BE49-F238E27FC236}">
                <a16:creationId xmlns:a16="http://schemas.microsoft.com/office/drawing/2014/main" id="{719998B3-69EA-3864-48D5-EBE28C7CF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763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542D95E-A0A1-F92B-7C0B-97E74143F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AB637007-5ED9-97EA-A8CF-23B8E8423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185B99D9-DE58-ED48-20A2-E9FE92988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27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E1AC767-3932-D59E-45AC-A5FC0F37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E3102E4E-22EC-8E09-A7E4-828C2A6C3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C9683238-F051-1DAD-0232-25A8316DE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686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649EE09-794B-A2F4-4DBA-FA5F8980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45577222-4712-D899-45F5-C1B5013BD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6625D2F8-A34A-9CE9-A917-A7E35E351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280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3AF22CC-F11B-0FC5-7C03-F977AD4B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14CDD965-1953-E9B4-1F43-E1DB817070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0AA33736-BBE0-0CB1-F7C5-A4A838D0B5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694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A07AD8F-208D-D2C5-786C-36123469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24F36BE4-1088-18AC-EC1D-3CF932F00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AB2796CB-6C25-4FEB-33BF-2378F1D59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445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01F028D-6ED6-44A3-F61A-AD712459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6B713906-CBAD-FEBD-6230-6355D9E40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D13D00A-2CFC-D4F1-7CC0-CC36451D4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421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ED02E2C-761E-376E-1714-3A450693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7E7AD55D-CFF6-EC59-249C-3769A02FD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8087930E-6949-CF5B-4B18-2E1BE531F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267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9CAF954-7B9B-4A0E-2F45-6DF2BF85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E54FFADF-4C37-050F-8380-47370293C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D06E75D3-AF81-0FD7-5F3E-DD5E9559E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608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9B71A90-CC26-F36E-64FA-D3917DD8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C2B7B4AA-4510-B0E2-7209-1BD059C36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BFF06906-34CC-F3ED-FCC7-7C3C2BDA2A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47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EE3DAC5-FFDB-1E2C-FDAE-CD46A06C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744087A2-9606-B93E-E04B-2A772FECF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4A58C122-B740-B806-2C99-156F1108E5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877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C49146B-C76C-DCB8-BF4F-593BEC0E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C6D9CF3F-2E1A-8F60-157C-20126CA34C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EA0D5BD0-D73D-8E7D-7B6B-F017E2151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15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3B385DF-B3B5-F86A-3921-5DACC918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FF0CF402-2C42-1389-79EE-A0F70E3CB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0EC7C51-25D3-95E6-28ED-FDE6587ED7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673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85C32DA-8424-B9D0-B0FF-1A3A62CB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AC426B1A-E549-F8BA-7808-26FC7F29B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C653678A-05CC-60DF-4531-05F2FB62E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586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7B0AE05-20EA-11D5-3A2F-68E2BE7D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33A024A6-C4C6-A7DA-44A7-CEBF9F8C33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F2D9F2F1-759E-28F8-C0B0-1039DF21F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51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50F2D2D-2216-B97C-2B7F-6C6CC1240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75C1DAFE-8455-074D-1D39-AA6CC2622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664CFA75-5E40-8D96-2C99-661109CD1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436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4C0F3BE-DC03-EA5C-4B4D-16EE6BFB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1179F899-C158-A620-1694-CC534600A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DAAED3E6-8D4B-A7FF-2297-57152819A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781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03FD321-6A25-E6BF-5F1D-F831964F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808BFB2B-4AB8-B203-0E8F-49EC84482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7AA395DB-3DBA-F0A0-DD74-DB3A31335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278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BAB8D63-4074-D0FC-027C-A5D09788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F1913059-4E3A-ABA4-886D-260CBA24A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939C9ADE-0427-C407-74E8-C533413DF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087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9AF1386-9AB4-7DB3-40E9-6B3C5A6D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84FA5765-9CDA-0D8B-0E57-317B078B0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F3B1E6AD-9353-858A-8A35-5995452F8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237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ACDF2B2-C92E-491F-74BB-5D68E267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34880ACF-3544-AA58-40BB-C92FC8AC29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74F6296-15DC-19F4-1BF0-648F8C336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788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CB1C5F0-0A01-831C-6D00-5C9295DC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D76B8784-7087-A336-D807-5163D5165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9C6D46D4-3D8D-C8E8-92E6-9827865C98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67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with Picture">
  <p:cSld name="Title Slide with Pictu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 txBox="1"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3"/>
          <p:cNvSpPr txBox="1"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43" descr="An empty placeholder to add an image. Click on the placeholder and select the image that you wish to add."/>
          <p:cNvSpPr>
            <a:spLocks noGrp="1"/>
          </p:cNvSpPr>
          <p:nvPr>
            <p:ph type="pic" idx="2"/>
          </p:nvPr>
        </p:nvSpPr>
        <p:spPr>
          <a:xfrm>
            <a:off x="6981063" y="1310656"/>
            <a:ext cx="5210937" cy="4208604"/>
          </a:xfrm>
          <a:prstGeom prst="rect">
            <a:avLst/>
          </a:prstGeom>
          <a:solidFill>
            <a:srgbClr val="DED9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oogle Shape;22;p43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4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24" name="Google Shape;24;p43"/>
            <p:cNvCxnSpPr/>
            <p:nvPr/>
          </p:nvCxnSpPr>
          <p:spPr>
            <a:xfrm>
              <a:off x="507492" y="1564644"/>
              <a:ext cx="8129016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" name="Google Shape;25;p43"/>
            <p:cNvCxnSpPr/>
            <p:nvPr/>
          </p:nvCxnSpPr>
          <p:spPr>
            <a:xfrm>
              <a:off x="507492" y="1501519"/>
              <a:ext cx="812901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26" name="Google Shape;2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43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28" name="Google Shape;28;p43"/>
            <p:cNvCxnSpPr/>
            <p:nvPr/>
          </p:nvCxnSpPr>
          <p:spPr>
            <a:xfrm>
              <a:off x="507492" y="1564644"/>
              <a:ext cx="8129016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" name="Google Shape;29;p43"/>
            <p:cNvCxnSpPr/>
            <p:nvPr/>
          </p:nvCxnSpPr>
          <p:spPr>
            <a:xfrm>
              <a:off x="507492" y="1501519"/>
              <a:ext cx="812901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0" name="Google Shape;30;p43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44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33" name="Google Shape;33;p44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34" name="Google Shape;34;p44"/>
              <p:cNvCxnSpPr/>
              <p:nvPr/>
            </p:nvCxnSpPr>
            <p:spPr>
              <a:xfrm>
                <a:off x="507492" y="1564644"/>
                <a:ext cx="8129016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35;p44"/>
              <p:cNvCxnSpPr/>
              <p:nvPr/>
            </p:nvCxnSpPr>
            <p:spPr>
              <a:xfrm>
                <a:off x="507492" y="1501519"/>
                <a:ext cx="8129016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36" name="Google Shape;36;p44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44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38" name="Google Shape;38;p44"/>
              <p:cNvCxnSpPr/>
              <p:nvPr/>
            </p:nvCxnSpPr>
            <p:spPr>
              <a:xfrm>
                <a:off x="507492" y="1564644"/>
                <a:ext cx="8129016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39;p44"/>
              <p:cNvCxnSpPr/>
              <p:nvPr/>
            </p:nvCxnSpPr>
            <p:spPr>
              <a:xfrm>
                <a:off x="507492" y="1501519"/>
                <a:ext cx="8129016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pic>
        <p:nvPicPr>
          <p:cNvPr id="40" name="Google Shape;4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5880" y="0"/>
            <a:ext cx="1783188" cy="297180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4"/>
          <p:cNvSpPr txBox="1"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2000"/>
              <a:buNone/>
              <a:defRPr sz="2000">
                <a:solidFill>
                  <a:srgbClr val="96939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800"/>
              <a:buNone/>
              <a:defRPr sz="1800">
                <a:solidFill>
                  <a:srgbClr val="96939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6"/>
          <p:cNvSpPr txBox="1"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7" name="Google Shape;57;p4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6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ED9D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ED9D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body" idx="2"/>
          </p:nvPr>
        </p:nvSpPr>
        <p:spPr>
          <a:xfrm>
            <a:off x="61722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body" idx="2"/>
          </p:nvPr>
        </p:nvSpPr>
        <p:spPr>
          <a:xfrm>
            <a:off x="1104900" y="2424112"/>
            <a:ext cx="4919472" cy="374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body" idx="3"/>
          </p:nvPr>
        </p:nvSpPr>
        <p:spPr>
          <a:xfrm>
            <a:off x="6166110" y="1600200"/>
            <a:ext cx="491947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9" name="Google Shape;79;p49"/>
          <p:cNvSpPr txBox="1">
            <a:spLocks noGrp="1"/>
          </p:cNvSpPr>
          <p:nvPr>
            <p:ph type="body" idx="4"/>
          </p:nvPr>
        </p:nvSpPr>
        <p:spPr>
          <a:xfrm>
            <a:off x="6166110" y="2424112"/>
            <a:ext cx="4919472" cy="374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0" name="Google Shape;80;p49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9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9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0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0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0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0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1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1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1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2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2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438454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5" name="Google Shape;95;p52"/>
          <p:cNvSpPr txBox="1">
            <a:spLocks noGrp="1"/>
          </p:cNvSpPr>
          <p:nvPr>
            <p:ph type="body" idx="2"/>
          </p:nvPr>
        </p:nvSpPr>
        <p:spPr>
          <a:xfrm>
            <a:off x="5641848" y="1600199"/>
            <a:ext cx="5445252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9pPr>
          </a:lstStyle>
          <a:p>
            <a:endParaRPr/>
          </a:p>
        </p:txBody>
      </p:sp>
      <p:sp>
        <p:nvSpPr>
          <p:cNvPr id="96" name="Google Shape;96;p52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2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2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3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3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339699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2" name="Google Shape;102;p53" descr="An empty placeholder to add an image. Click on the placeholder and select the image that you wish to add."/>
          <p:cNvSpPr>
            <a:spLocks noGrp="1"/>
          </p:cNvSpPr>
          <p:nvPr>
            <p:ph type="pic" idx="2"/>
          </p:nvPr>
        </p:nvSpPr>
        <p:spPr>
          <a:xfrm>
            <a:off x="4654671" y="1600199"/>
            <a:ext cx="6430912" cy="457200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Google Shape;103;p53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3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3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4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4"/>
          <p:cNvSpPr txBox="1">
            <a:spLocks noGrp="1"/>
          </p:cNvSpPr>
          <p:nvPr>
            <p:ph type="body" idx="1"/>
          </p:nvPr>
        </p:nvSpPr>
        <p:spPr>
          <a:xfrm rot="5400000">
            <a:off x="3810000" y="-1104900"/>
            <a:ext cx="4572000" cy="99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9" name="Google Shape;109;p54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4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54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5"/>
          <p:cNvSpPr txBox="1">
            <a:spLocks noGrp="1"/>
          </p:cNvSpPr>
          <p:nvPr>
            <p:ph type="title"/>
          </p:nvPr>
        </p:nvSpPr>
        <p:spPr>
          <a:xfrm rot="5400000">
            <a:off x="7323931" y="2413794"/>
            <a:ext cx="5811838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5"/>
          <p:cNvSpPr txBox="1">
            <a:spLocks noGrp="1"/>
          </p:cNvSpPr>
          <p:nvPr>
            <p:ph type="body" idx="1"/>
          </p:nvPr>
        </p:nvSpPr>
        <p:spPr>
          <a:xfrm rot="5400000">
            <a:off x="2248429" y="-778404"/>
            <a:ext cx="5811838" cy="80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15" name="Google Shape;115;p55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5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5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8" name="Google Shape;118;p55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119" name="Google Shape;119;p55"/>
            <p:cNvCxnSpPr/>
            <p:nvPr/>
          </p:nvCxnSpPr>
          <p:spPr>
            <a:xfrm rot="10800000">
              <a:off x="1073150" y="1219201"/>
              <a:ext cx="100584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0" name="Google Shape;120;p55"/>
            <p:cNvCxnSpPr/>
            <p:nvPr/>
          </p:nvCxnSpPr>
          <p:spPr>
            <a:xfrm rot="10800000">
              <a:off x="1073150" y="1282326"/>
              <a:ext cx="100584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2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" name="Google Shape;15;p42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6" name="Google Shape;16;p42"/>
            <p:cNvCxnSpPr/>
            <p:nvPr/>
          </p:nvCxnSpPr>
          <p:spPr>
            <a:xfrm rot="10800000">
              <a:off x="1073150" y="1219201"/>
              <a:ext cx="100584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17;p42"/>
            <p:cNvCxnSpPr/>
            <p:nvPr/>
          </p:nvCxnSpPr>
          <p:spPr>
            <a:xfrm rot="10800000">
              <a:off x="1073150" y="1282326"/>
              <a:ext cx="100584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"/>
          <p:cNvSpPr txBox="1"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Giảng viên: Từ Thị Xuân Hiền</a:t>
            </a:r>
            <a:endParaRPr/>
          </a:p>
        </p:txBody>
      </p:sp>
      <p:pic>
        <p:nvPicPr>
          <p:cNvPr id="127" name="Google Shape;127;p1" descr="Open book on table, blurred shelves of books in backgroun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895" r="8895"/>
          <a:stretch/>
        </p:blipFill>
        <p:spPr>
          <a:xfrm>
            <a:off x="6981063" y="1310656"/>
            <a:ext cx="5210937" cy="4208604"/>
          </a:xfrm>
          <a:prstGeom prst="rect">
            <a:avLst/>
          </a:prstGeom>
          <a:solidFill>
            <a:srgbClr val="DED9D6"/>
          </a:solidFill>
          <a:ln>
            <a:noFill/>
          </a:ln>
        </p:spPr>
      </p:pic>
      <p:grpSp>
        <p:nvGrpSpPr>
          <p:cNvPr id="128" name="Google Shape;128;p1"/>
          <p:cNvGrpSpPr/>
          <p:nvPr/>
        </p:nvGrpSpPr>
        <p:grpSpPr>
          <a:xfrm>
            <a:off x="1104900" y="2700050"/>
            <a:ext cx="8900097" cy="1457900"/>
            <a:chOff x="871699" y="2712615"/>
            <a:chExt cx="5451920" cy="1457900"/>
          </a:xfrm>
        </p:grpSpPr>
        <p:pic>
          <p:nvPicPr>
            <p:cNvPr id="129" name="Google Shape;129;p1"/>
            <p:cNvPicPr preferRelativeResize="0"/>
            <p:nvPr/>
          </p:nvPicPr>
          <p:blipFill rotWithShape="1">
            <a:blip r:embed="rId4">
              <a:alphaModFix/>
            </a:blip>
            <a:srcRect l="21349" r="19027" b="24623"/>
            <a:stretch/>
          </p:blipFill>
          <p:spPr>
            <a:xfrm>
              <a:off x="871699" y="2712615"/>
              <a:ext cx="1106176" cy="145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"/>
            <p:cNvSpPr/>
            <p:nvPr/>
          </p:nvSpPr>
          <p:spPr>
            <a:xfrm>
              <a:off x="1842557" y="2712615"/>
              <a:ext cx="4481062" cy="145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>
              <a:reflection stA="52000" endA="300" endPos="35000" sy="-100000" algn="bl" rotWithShape="0"/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1" i="0" u="none" strike="noStrike" cap="none" dirty="0">
                  <a:solidFill>
                    <a:srgbClr val="FEFEF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Components</a:t>
              </a:r>
              <a:endParaRPr dirty="0"/>
            </a:p>
          </p:txBody>
        </p:sp>
      </p:grpSp>
      <p:sp>
        <p:nvSpPr>
          <p:cNvPr id="131" name="Google Shape;131;p1"/>
          <p:cNvSpPr txBox="1"/>
          <p:nvPr/>
        </p:nvSpPr>
        <p:spPr>
          <a:xfrm>
            <a:off x="3920553" y="1815247"/>
            <a:ext cx="306051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Chương</a:t>
            </a:r>
            <a:r>
              <a:rPr lang="en-US" sz="4000" b="1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2.</a:t>
            </a: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/>
              <a:t>Class Components</a:t>
            </a:r>
            <a:endParaRPr dirty="0"/>
          </a:p>
        </p:txBody>
      </p:sp>
      <p:sp>
        <p:nvSpPr>
          <p:cNvPr id="143" name="Google Shape;143;p3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Basic Concepts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Props &amp; State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Lifecycle Methods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Mini Project (Todo App – Class Component)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831E1B2-748B-D39A-35B5-81A89636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BF73F8F9-7F46-5F8A-EBC9-ACF3A8464B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Function Component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36007315-F34B-F948-D1BA-01D4A21CB5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Function Component Basics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 err="1"/>
              <a:t>useState</a:t>
            </a:r>
            <a:r>
              <a:rPr lang="en-US" dirty="0"/>
              <a:t> Hook</a:t>
            </a:r>
            <a:endParaRPr lang="en-US" dirty="0">
              <a:solidFill>
                <a:schemeClr val="bg2"/>
              </a:solidFill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 err="1"/>
              <a:t>useEffect</a:t>
            </a:r>
            <a:r>
              <a:rPr lang="en-US" dirty="0"/>
              <a:t> Hook</a:t>
            </a:r>
            <a:endParaRPr lang="en-US" dirty="0">
              <a:solidFill>
                <a:schemeClr val="bg2"/>
              </a:solidFill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/>
              <a:t>Advanced Hooks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/>
              <a:t>Mini Project (Todo App – Hooks)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14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 txBox="1">
            <a:spLocks noGrp="1"/>
          </p:cNvSpPr>
          <p:nvPr>
            <p:ph type="title"/>
          </p:nvPr>
        </p:nvSpPr>
        <p:spPr>
          <a:xfrm>
            <a:off x="1060450" y="3081534"/>
            <a:ext cx="10071099" cy="16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lvl="0"/>
            <a:r>
              <a:rPr lang="en-US" dirty="0"/>
              <a:t>Class Component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9198B6F-8831-DA2A-E664-DF5F1FEB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28B7FACB-0DE0-863D-713B-2134D6590C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Why do we still need Class Components?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EF0CFF47-E9FA-7276-1C91-7B2C4BD3C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Many legacy projects still use class components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Understanding lifecycle fundamentals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Easier maintenance and refactoring of old code</a:t>
            </a: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514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397EBB6-8E48-28EB-2536-D608DC2F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630BB7FB-514D-094E-19C3-CB8A59CAB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Function vs Class (Quick Comparison)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1E730D77-72E3-62F3-E8E9-28E695860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Function: Hooks (</a:t>
            </a:r>
            <a:r>
              <a:rPr lang="en-US" dirty="0" err="1">
                <a:solidFill>
                  <a:schemeClr val="bg2"/>
                </a:solidFill>
              </a:rPr>
              <a:t>useState</a:t>
            </a:r>
            <a:r>
              <a:rPr lang="en-US" dirty="0">
                <a:solidFill>
                  <a:schemeClr val="bg2"/>
                </a:solidFill>
              </a:rPr>
              <a:t>, </a:t>
            </a:r>
            <a:r>
              <a:rPr lang="en-US" dirty="0" err="1">
                <a:solidFill>
                  <a:schemeClr val="bg2"/>
                </a:solidFill>
              </a:rPr>
              <a:t>useEffect</a:t>
            </a:r>
            <a:r>
              <a:rPr lang="en-US" dirty="0">
                <a:solidFill>
                  <a:schemeClr val="bg2"/>
                </a:solidFill>
              </a:rPr>
              <a:t>)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Class: state, </a:t>
            </a:r>
            <a:r>
              <a:rPr lang="en-US" dirty="0" err="1">
                <a:solidFill>
                  <a:schemeClr val="bg2"/>
                </a:solidFill>
              </a:rPr>
              <a:t>setState</a:t>
            </a:r>
            <a:r>
              <a:rPr lang="en-US" dirty="0">
                <a:solidFill>
                  <a:schemeClr val="bg2"/>
                </a:solidFill>
              </a:rPr>
              <a:t>, lifecycle methods</a:t>
            </a: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167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F629B1A-3010-E628-D901-75B221DD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4517F04C-D540-8F52-C21E-F2A62E7719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Minimal Class Component Syntax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580AA-CFD3-7BBE-D54B-333AC390E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47BA9-DF91-D5F3-8E0A-8765D6D7E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7649643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50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A38B45C-0C4D-8336-F5C8-2C7CFBFC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63441BF5-E10F-A870-F6EB-A071D7521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Props in Class Components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8A407-204F-3A15-C5F5-1F30D5FB9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8DA45A-1D5D-FAA1-E7AF-E79249756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325218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78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9A5617B-E10F-5ACC-2B48-777C152E8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952A863A-3604-A74C-8A04-D4AAFA9D93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Default Props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636BC-1870-40F8-A1DF-D8163C79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EB1708-8656-60A6-9B17-6913A2C1C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47763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14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733DCC0-79E6-4400-E93E-87C1948F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613E10FE-0D66-EC18-E173-90B124535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State: Definition &amp; Initialization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4F611-96D5-2E29-982A-11478DCE5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82A68-87EC-E03D-6994-0DFFFCFD9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506218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94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66EB11D-E156-B63B-9F1C-0C854CD8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CDFF40D8-1E17-D315-BF81-903310EF0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Updating State with </a:t>
            </a:r>
            <a:r>
              <a:rPr lang="en-US" dirty="0" err="1"/>
              <a:t>setState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08785-50C2-DFCD-5A05-2F8EBC7C2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DF892E-0207-276A-3AB5-177FE3955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280160"/>
            <a:ext cx="6836119" cy="528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8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EBAF61C-DFF3-3DF0-AC4E-CAEC3581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51275D17-85FB-E332-1582-B73DB70B7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Correct </a:t>
            </a:r>
            <a:r>
              <a:rPr lang="en-US" dirty="0" err="1"/>
              <a:t>setState</a:t>
            </a:r>
            <a:r>
              <a:rPr lang="en-US" dirty="0"/>
              <a:t> Usage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838D-295C-C0D6-8E0B-B0E4287F8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Safe when state depends on previous state.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44C68-75F3-A978-DEED-816FEAF5D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83" y="2000767"/>
            <a:ext cx="6649378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94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B76D4E3-0AB4-E6F4-E9CF-578B4B89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EEB60AE8-4A10-E750-3C11-1556CA914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Event Handlers &amp; </a:t>
            </a:r>
            <a:r>
              <a:rPr lang="en-US" dirty="0">
                <a:solidFill>
                  <a:srgbClr val="0070C0"/>
                </a:solidFill>
              </a:rPr>
              <a:t>this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A2117-362A-27F6-F233-E6C732B1B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Use arrow functions to avoid losing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FCD4C-C257-79D2-BC4D-58CEA7752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674" y="1781136"/>
            <a:ext cx="572532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264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C2F08C2-BA60-EF2D-E181-FD3FD2F1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3F20950E-7488-CF62-184D-BD87F37FA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Lifecycle Overview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7295A302-E500-5E54-EDDF-B073963DE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componentDidMount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 err="1">
                <a:solidFill>
                  <a:schemeClr val="bg2"/>
                </a:solidFill>
              </a:rPr>
              <a:t>componentDidUpdate</a:t>
            </a:r>
            <a:endParaRPr lang="en-US" dirty="0">
              <a:solidFill>
                <a:schemeClr val="bg2"/>
              </a:solidFill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 err="1">
                <a:solidFill>
                  <a:schemeClr val="bg2"/>
                </a:solidFill>
              </a:rPr>
              <a:t>componentWillUnmount</a:t>
            </a: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885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955B29F-9D5A-DA9D-2811-2F27FCE87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0585F4FB-B662-B37D-0E06-EAB33A109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componentDidMount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1DE9EC6E-6D9D-7506-728F-6582AFD376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Fetching data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Initializing timers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Subscriptions</a:t>
            </a: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E9D64-B7A5-EA7A-E73E-08FF2C3F2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140" y="3886200"/>
            <a:ext cx="3381847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00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E497449-C5C0-6C67-2EFE-F6882D2E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D150E3C4-B27E-FCD5-A4B6-AB2D2A161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Example: Fetch Data on Mount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2EE3ADFE-5FE3-BD6D-BC5E-F4F2C6800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952ABB-7D32-C11E-AD6E-3FC907BA9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408000"/>
            <a:ext cx="9135750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2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7EE0986-6137-D700-AE71-C22F50CD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A0343C57-6368-24BB-1B20-67EE2AD272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 err="1"/>
              <a:t>componentDidUpdate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75EE400A-D034-DD79-6925-E7B0117ED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48EB2-F21C-AFDC-CBEF-BD32FDD0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744377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0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DAB2B3F-9A0D-FD6C-90BD-9DD71D6A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017136E6-9621-7A56-8528-DE77AF1A7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Example: Reacting to State Change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690398EF-8EF0-581D-653D-3A1CF55AF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55BD3-6CC9-B9B6-2EDB-0EB464879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517027"/>
            <a:ext cx="9231013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24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D235F2B-CD8A-19B9-26CA-8730279C7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D7BCC467-9FAC-095E-DB4B-092F1EE78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Example: Reacting to State Change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BBCD1823-439D-77C3-3CE0-121DBD59C1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46FBB-8D8B-CF2B-9AE8-CBD64414A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325147"/>
            <a:ext cx="6929416" cy="512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14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69129F6-0F67-C10B-9EB8-C57688C94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EB3F8DC7-6CA2-3BF4-42D1-F74F54312F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 err="1"/>
              <a:t>componentWillUnmount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A13DA054-E76F-9864-FF23-74CD67CE9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97858-0519-16D9-C77A-3F726EE90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306165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88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66FB835-FF47-55CC-E4CB-4C7EDE54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03D41A95-0534-1F4E-25E3-05E62E3C79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Example: Timer with Cleanup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3766FD10-4D66-5D65-8D4C-12F05B444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E993E-3A60-A36D-7038-333646487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253" y="279226"/>
            <a:ext cx="6582694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00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C55CE01-553A-C6FD-0B2F-6FB2B75B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8AF0E780-9280-3A1C-5DAF-2EA318855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Conditional Rendering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2FECDEAD-8884-AFE6-93CA-5C415ED1F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3F762-F5B9-972E-2885-F45B9DA04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6306430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85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35E990E-31C1-CF8A-B53B-A9273DE44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B2A89C50-CD45-9E17-B8EB-A51533A560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Rendering Lists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F06D6681-083D-9EB3-A31A-702B62348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DAA4A-B28A-7B17-5D57-113B65EC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28524"/>
            <a:ext cx="4410691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3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71785FA-9792-359A-21DB-A65E7794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22707874-1F68-9B31-BF08-07456A5808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Example: Fetch &amp; Render Posts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56F13BB2-683D-67BA-F34A-17FDC66C2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EA3B0-1D2E-AFF7-05C1-39F25F43F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655" y="1173162"/>
            <a:ext cx="7722927" cy="547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85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C7270BB-4C56-5804-E60E-401D49F2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3951BAE0-EF84-92F1-F566-23B6292AA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Controlled Input (Forms)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0032A6F8-C253-18DB-22F3-EE112C096C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24CD7A-35B1-2018-C728-CF04836FE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7220958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33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66EE710-9890-FB9F-2EB3-D6D8B9D2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524EA0FC-15A7-CAA5-2DCB-E9741A880B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Lifting State Up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055AC1CC-2021-692B-36ED-35D221FA8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32DF6-EA08-BB3F-F262-8DBE86E3B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7887801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38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264CF61-FBE3-4B55-2A24-AA55AB76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226086A5-DFF2-DFE1-65EB-01C5C05B8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Performance: </a:t>
            </a:r>
            <a:r>
              <a:rPr lang="en-US" dirty="0" err="1"/>
              <a:t>PureComponent</a:t>
            </a:r>
            <a:endParaRPr dirty="0"/>
          </a:p>
        </p:txBody>
      </p:sp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65971BC3-3CA2-6315-DA92-9D7F20E5FB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598B63-D461-1AFF-30F7-C01A61E5B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048955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60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5CA4628-D2FE-4AED-A2DB-AB8BC982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4442D885-A7CC-A041-A1C2-88AA4A90C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19F958-6229-DAB5-A24C-FA31FF87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shouldComponentUpdate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B71CF6-2622-B36C-ED36-9C4666C46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69258"/>
            <a:ext cx="5210902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3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32B0D90-92C4-ECF5-5FA7-AC8BDE88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5B05F48B-B7D4-4DBD-C806-F80E2CF802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FCD5E6-3508-1E3A-D162-06832273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Boundary (Class Only)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4D48B-B0BE-D5DA-5F18-7EE219398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182323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02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28152651-031E-93A5-6025-5B3633AC2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>
            <a:extLst>
              <a:ext uri="{FF2B5EF4-FFF2-40B4-BE49-F238E27FC236}">
                <a16:creationId xmlns:a16="http://schemas.microsoft.com/office/drawing/2014/main" id="{EC816C7B-8B3C-DA50-670B-46EEC9DF2C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0450" y="3081534"/>
            <a:ext cx="10071099" cy="16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lvl="0"/>
            <a:r>
              <a:rPr lang="en-US" dirty="0"/>
              <a:t>Function Component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3432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6DE140E-CAB3-1F65-05D5-62DA4F14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B30B3DB4-FD54-FE43-E5FA-FBF7E5BFB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Cleaner syntax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Easier reuse with hooks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Official recommendation by React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3CAF48-3496-DEE9-C57D-FC03B302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Function Components?</a:t>
            </a:r>
          </a:p>
        </p:txBody>
      </p:sp>
    </p:spTree>
    <p:extLst>
      <p:ext uri="{BB962C8B-B14F-4D97-AF65-F5344CB8AC3E}">
        <p14:creationId xmlns:p14="http://schemas.microsoft.com/office/powerpoint/2010/main" val="4097873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A844640-8733-0D52-5C10-C042F03A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1B630E81-35EB-5C73-4ACC-8090ABBF5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570595-8C32-FC2B-DC97-D3985F11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Mapping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BCD3A-06EB-75DF-DB20-1E05F03D7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8535591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74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5284385-1221-E2CB-5FE4-858FA722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4D837014-E6A7-1897-3877-25FCE2722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B46747-E31A-5ED7-1062-58E99A503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Function Component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D79B39-7E1A-F8F8-680A-D458AC18C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1600200"/>
            <a:ext cx="480127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06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128F6D5-99E6-8F68-CB3E-1662818A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61480733-EC5F-6407-021C-F965592718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66F773-2BC1-5263-83A9-E9A01861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 in Function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4F5FD-10CF-CA1E-7396-411807E91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3886742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06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94946FE-894E-C87E-4C78-F374B6B35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56093E3E-D092-4344-DEE7-11DF1D400F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4F7B68-8696-A4E4-69D8-7F4390D0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Props via Parameters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0A497-0405-9A28-7CDC-F54E679F4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462027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84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32A0005-95DB-6507-667E-5DA105D8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C94A2AA7-0F25-66FB-77F1-F9CC0FDEE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38A123-E803-43FE-397D-A9B852D1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useState</a:t>
            </a:r>
            <a:r>
              <a:rPr lang="en-US" dirty="0"/>
              <a:t> Basics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92BAA-DF56-D4CB-F1E6-C9F61716F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4382112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2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853B843-4B36-3E41-C86E-0BD7AEC16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FB36640D-21E1-BD51-FB92-BCE7C0B5F0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E3C9B4-9063-EADC-8406-9E9405DD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State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F9451-3A1A-58FD-0F8F-783A98C34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925377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21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CA21E5B-F6CF-48F0-9C20-77A95B9E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E57B5C88-42CB-952A-E722-B2123C1E2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B72E36-496F-7248-187F-CBA1002F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State Update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A69F8-85CA-369A-E8D8-58A5867BB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3667637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00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B146CA0-5E2B-EEE7-994D-053DAA19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32285AC8-4ABE-A3C7-F237-4B7F321BCA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CE36DA-1F47-38BC-0332-C4079E77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useState</a:t>
            </a:r>
            <a:r>
              <a:rPr lang="en-US" dirty="0"/>
              <a:t> with Objects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F7BF1B-1D54-2807-7BB3-51A522B04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801535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63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DD8CBA7-D69F-D83E-7251-01F56595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AC6F1952-E121-3549-D27A-4DCF64ED4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528DC2-974C-F932-3598-633086812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BEBA6-1252-E8A5-60C0-F4CD05303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563624"/>
            <a:ext cx="4477375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36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82DD8D5-3B1E-C1F9-2E26-BDD3D59A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9294E764-3C9C-2E5D-AA53-695E648B1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41B1E4-0B20-4731-2507-CB79A9AE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Lists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12A02-D6FE-D0C2-4642-9B92AFFA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534797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52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00440C4-DA99-7854-19B2-19362106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46CFBFFE-A673-51F7-1E35-725EACDC7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45FA64-75EC-8EBF-6AC3-2509C40B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Rendering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50DFF-5634-3E6A-3DA4-7B86EE4D8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4782217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86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C6F71CD-8176-7C6B-4DBA-0F942B8D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80E49D1B-674E-E7BC-3343-B7A097B8C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A69CB4-6BFA-5FD5-648F-FDAD17F9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useEffect</a:t>
            </a:r>
            <a:r>
              <a:rPr lang="en-US" dirty="0"/>
              <a:t>: componentDidMount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E44B1-D0F3-C719-B6F7-16D22C787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331" y="1600200"/>
            <a:ext cx="3505689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50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30EABAB-AE0A-5F61-41B6-2BF246A7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5F183C36-D70C-97E6-50F4-7147AADEB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141C32-9015-712B-6D4F-2C3BC797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Data on Mount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F051C-14ED-81C9-96B9-0DADF4A4C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620" y="1600200"/>
            <a:ext cx="2829320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76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F3A2DF4-AFFA-CCA5-0B10-7B2D2BF3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303CF713-7E40-A178-0930-993134624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83D99A-9AF8-FF95-16C6-4213E522B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useEffect</a:t>
            </a:r>
            <a:r>
              <a:rPr lang="en-US" dirty="0"/>
              <a:t> with Dependencies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4F82A-73A0-179B-5398-A83114F3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2381582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35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2F78D2D-CD69-F828-E663-34ABA533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0D40C7AB-D26D-8D5A-DED9-7DDC12A0A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3D9B19-1371-AC99-BB6A-47125543C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Cleanup (Unmount)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2055B-A953-E5C9-6E76-80AB60AD3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037" y="1600200"/>
            <a:ext cx="3620005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3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034D296-082A-6004-F57A-29DB77FA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F624FECE-547B-22A6-7119-E371EC4694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47085B-80D7-1919-084A-72ADB157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E4F83-291B-4C5B-8C07-4717A5F5B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5953956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7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C186F31-65B7-9DDE-ED89-24B29891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6AD8C3EB-1361-4D94-DAC0-B701E8764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4C36BE-2402-7180-39AC-DD19ECDA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useRef</a:t>
            </a:r>
            <a:r>
              <a:rPr lang="en-US" dirty="0"/>
              <a:t> (No Re-render)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48BD-7CED-0395-C867-1B69D24F7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84344"/>
            <a:ext cx="334374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7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B9CBCE5-E095-3B91-685D-F25A1105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CFDDCE6D-2D7E-88D2-E47E-BC8ED680E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E8E9A-78B4-9A48-146E-8A1373DD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useRef</a:t>
            </a:r>
            <a:r>
              <a:rPr lang="en-US" dirty="0"/>
              <a:t> with DOM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25F101-E5EB-B721-A1A9-1647A6E06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886" y="1600200"/>
            <a:ext cx="3086531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35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FA67F02-CC91-4C64-D281-B6FB342B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F5389919-1A3B-11E4-9A60-DDDA673AE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262938-8682-D08F-D9FA-853C4443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Lifting State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26B78-012D-F0D8-25D8-2E41D3539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00200"/>
            <a:ext cx="481079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36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E3A305A-C26E-EDFB-5E83-02F2DAFA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>
            <a:extLst>
              <a:ext uri="{FF2B5EF4-FFF2-40B4-BE49-F238E27FC236}">
                <a16:creationId xmlns:a16="http://schemas.microsoft.com/office/drawing/2014/main" id="{24393B58-E690-20B6-AD19-FE4634B2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Hooks replace lifecycle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Function components are default choice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dirty="0">
                <a:solidFill>
                  <a:schemeClr val="bg2"/>
                </a:solidFill>
              </a:rPr>
              <a:t>Understand both for real-world projects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C85321-AEFB-9BB6-7F4A-E2A6C6BC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Summary</a:t>
            </a:r>
          </a:p>
        </p:txBody>
      </p:sp>
    </p:spTree>
    <p:extLst>
      <p:ext uri="{BB962C8B-B14F-4D97-AF65-F5344CB8AC3E}">
        <p14:creationId xmlns:p14="http://schemas.microsoft.com/office/powerpoint/2010/main" val="2968463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</p:bldLst>
  </p:timing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322</Words>
  <Application>Microsoft Office PowerPoint</Application>
  <PresentationFormat>Widescreen</PresentationFormat>
  <Paragraphs>88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Arial Black</vt:lpstr>
      <vt:lpstr>Noto Sans Symbols</vt:lpstr>
      <vt:lpstr>Academic Literature 16x9</vt:lpstr>
      <vt:lpstr>PowerPoint Presentation</vt:lpstr>
      <vt:lpstr>Class Components</vt:lpstr>
      <vt:lpstr>Function Component</vt:lpstr>
      <vt:lpstr>Class Component</vt:lpstr>
      <vt:lpstr>Why do we still need Class Components?</vt:lpstr>
      <vt:lpstr>Function vs Class (Quick Comparison)</vt:lpstr>
      <vt:lpstr>Minimal Class Component Syntax</vt:lpstr>
      <vt:lpstr>Props in Class Components</vt:lpstr>
      <vt:lpstr>Default Props</vt:lpstr>
      <vt:lpstr>State: Definition &amp; Initialization</vt:lpstr>
      <vt:lpstr>Updating State with setState</vt:lpstr>
      <vt:lpstr>Correct setState Usage</vt:lpstr>
      <vt:lpstr>Event Handlers &amp; this</vt:lpstr>
      <vt:lpstr>Lifecycle Overview</vt:lpstr>
      <vt:lpstr>componentDidMount</vt:lpstr>
      <vt:lpstr>Example: Fetch Data on Mount</vt:lpstr>
      <vt:lpstr>componentDidUpdate</vt:lpstr>
      <vt:lpstr>Example: Reacting to State Change</vt:lpstr>
      <vt:lpstr>Example: Reacting to State Change</vt:lpstr>
      <vt:lpstr>componentWillUnmount</vt:lpstr>
      <vt:lpstr>Example: Timer with Cleanup</vt:lpstr>
      <vt:lpstr>Conditional Rendering</vt:lpstr>
      <vt:lpstr>Rendering Lists</vt:lpstr>
      <vt:lpstr>Example: Fetch &amp; Render Posts</vt:lpstr>
      <vt:lpstr>Controlled Input (Forms)</vt:lpstr>
      <vt:lpstr>Lifting State Up</vt:lpstr>
      <vt:lpstr>Performance: PureComponent</vt:lpstr>
      <vt:lpstr>shouldComponentUpdate</vt:lpstr>
      <vt:lpstr>Error Boundary (Class Only)</vt:lpstr>
      <vt:lpstr>Function Component</vt:lpstr>
      <vt:lpstr>Why Function Components?</vt:lpstr>
      <vt:lpstr>Lifecycle Mapping</vt:lpstr>
      <vt:lpstr>Minimal Function Component</vt:lpstr>
      <vt:lpstr>Props in Function Components</vt:lpstr>
      <vt:lpstr>Default Props via Parameters</vt:lpstr>
      <vt:lpstr>useState Basics</vt:lpstr>
      <vt:lpstr>Updating State</vt:lpstr>
      <vt:lpstr>Functional State Update</vt:lpstr>
      <vt:lpstr>useState with Objects</vt:lpstr>
      <vt:lpstr>Controlled Input</vt:lpstr>
      <vt:lpstr>Rendering Lists</vt:lpstr>
      <vt:lpstr>Conditional Rendering</vt:lpstr>
      <vt:lpstr>useEffect: componentDidMount</vt:lpstr>
      <vt:lpstr>Fetch Data on Mount</vt:lpstr>
      <vt:lpstr>useEffect with Dependencies</vt:lpstr>
      <vt:lpstr>Cleanup (Unmount)</vt:lpstr>
      <vt:lpstr>Clock Example</vt:lpstr>
      <vt:lpstr>useRef (No Re-render)</vt:lpstr>
      <vt:lpstr>useRef with DOM</vt:lpstr>
      <vt:lpstr>Lifting State Up</vt:lpstr>
      <vt:lpstr>Final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License For You And Lifetime</dc:creator>
  <cp:lastModifiedBy>Nguyễn Trọng Tiến</cp:lastModifiedBy>
  <cp:revision>36</cp:revision>
  <dcterms:created xsi:type="dcterms:W3CDTF">2024-10-17T15:22:21Z</dcterms:created>
  <dcterms:modified xsi:type="dcterms:W3CDTF">2026-01-21T15:04:04Z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