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9"/>
  </p:notesMasterIdLst>
  <p:sldIdLst>
    <p:sldId id="256" r:id="rId2"/>
    <p:sldId id="257" r:id="rId3"/>
    <p:sldId id="264" r:id="rId4"/>
    <p:sldId id="274" r:id="rId5"/>
    <p:sldId id="258" r:id="rId6"/>
    <p:sldId id="259" r:id="rId7"/>
    <p:sldId id="261" r:id="rId8"/>
    <p:sldId id="260" r:id="rId9"/>
    <p:sldId id="265" r:id="rId10"/>
    <p:sldId id="266" r:id="rId11"/>
    <p:sldId id="267" r:id="rId12"/>
    <p:sldId id="268" r:id="rId13"/>
    <p:sldId id="269" r:id="rId14"/>
    <p:sldId id="270" r:id="rId15"/>
    <p:sldId id="271" r:id="rId16"/>
    <p:sldId id="272" r:id="rId17"/>
    <p:sldId id="275" r:id="rId18"/>
    <p:sldId id="276" r:id="rId19"/>
    <p:sldId id="277" r:id="rId20"/>
    <p:sldId id="278" r:id="rId21"/>
    <p:sldId id="279" r:id="rId22"/>
    <p:sldId id="280" r:id="rId23"/>
    <p:sldId id="281" r:id="rId24"/>
    <p:sldId id="282" r:id="rId25"/>
    <p:sldId id="286" r:id="rId26"/>
    <p:sldId id="287" r:id="rId27"/>
    <p:sldId id="283" r:id="rId28"/>
    <p:sldId id="284" r:id="rId29"/>
    <p:sldId id="285" r:id="rId30"/>
    <p:sldId id="288" r:id="rId31"/>
    <p:sldId id="289" r:id="rId32"/>
    <p:sldId id="290" r:id="rId33"/>
    <p:sldId id="291" r:id="rId34"/>
    <p:sldId id="292" r:id="rId35"/>
    <p:sldId id="293" r:id="rId36"/>
    <p:sldId id="294" r:id="rId37"/>
    <p:sldId id="295" r:id="rId38"/>
    <p:sldId id="300" r:id="rId39"/>
    <p:sldId id="301" r:id="rId40"/>
    <p:sldId id="302" r:id="rId41"/>
    <p:sldId id="303" r:id="rId42"/>
    <p:sldId id="304" r:id="rId43"/>
    <p:sldId id="305" r:id="rId44"/>
    <p:sldId id="306" r:id="rId45"/>
    <p:sldId id="307" r:id="rId46"/>
    <p:sldId id="296" r:id="rId47"/>
    <p:sldId id="297" r:id="rId48"/>
    <p:sldId id="298" r:id="rId49"/>
    <p:sldId id="299"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41" r:id="rId80"/>
    <p:sldId id="342" r:id="rId81"/>
    <p:sldId id="343" r:id="rId82"/>
    <p:sldId id="344" r:id="rId83"/>
    <p:sldId id="345" r:id="rId84"/>
    <p:sldId id="346" r:id="rId85"/>
    <p:sldId id="347" r:id="rId86"/>
    <p:sldId id="348" r:id="rId87"/>
    <p:sldId id="349" r:id="rId88"/>
    <p:sldId id="350" r:id="rId89"/>
    <p:sldId id="351" r:id="rId90"/>
    <p:sldId id="354" r:id="rId91"/>
    <p:sldId id="352" r:id="rId92"/>
    <p:sldId id="355" r:id="rId93"/>
    <p:sldId id="353" r:id="rId94"/>
    <p:sldId id="356" r:id="rId95"/>
    <p:sldId id="357" r:id="rId96"/>
    <p:sldId id="358" r:id="rId97"/>
    <p:sldId id="359" r:id="rId9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370" autoAdjust="0"/>
  </p:normalViewPr>
  <p:slideViewPr>
    <p:cSldViewPr snapToGrid="0">
      <p:cViewPr>
        <p:scale>
          <a:sx n="44" d="100"/>
          <a:sy n="44" d="100"/>
        </p:scale>
        <p:origin x="14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03473B-1786-483D-8042-06F839E5084F}"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558DDE-3ED7-4081-9837-FE937D2986C4}" type="slidenum">
              <a:rPr lang="en-US" smtClean="0"/>
              <a:t>‹#›</a:t>
            </a:fld>
            <a:endParaRPr lang="en-US"/>
          </a:p>
        </p:txBody>
      </p:sp>
    </p:spTree>
    <p:extLst>
      <p:ext uri="{BB962C8B-B14F-4D97-AF65-F5344CB8AC3E}">
        <p14:creationId xmlns:p14="http://schemas.microsoft.com/office/powerpoint/2010/main" val="833458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topdev.vn/blog/oop-la-gi/"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nextjs.org/docs/app/api-reference/file-conventions/dynamic-routes" TargetMode="External"/><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nextjs.org/docs/app/api-reference/file-conventions/dynamic-routes" TargetMode="External"/><Relationship Id="rId2" Type="http://schemas.openxmlformats.org/officeDocument/2006/relationships/slide" Target="../slides/slide70.xml"/><Relationship Id="rId1" Type="http://schemas.openxmlformats.org/officeDocument/2006/relationships/notesMaster" Target="../notesMasters/notesMaster1.xml"/><Relationship Id="rId5" Type="http://schemas.openxmlformats.org/officeDocument/2006/relationships/hyperlink" Target="https://nextjs.org/docs/app/api-reference/file-conventions/layout#params-optional" TargetMode="External"/><Relationship Id="rId4" Type="http://schemas.openxmlformats.org/officeDocument/2006/relationships/hyperlink" Target="https://nextjs.org/docs/app/api-reference/file-conventions/page#params-optional"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Bộ định tuyến ứng dụng và bộ định tuyến trang</a:t>
            </a:r>
          </a:p>
          <a:p>
            <a:r>
              <a:rPr lang="vi-VN" dirty="0"/>
              <a:t>Next.js có hai bộ định tuyến khác nhau:</a:t>
            </a:r>
          </a:p>
          <a:p>
            <a:endParaRPr lang="vi-VN" dirty="0"/>
          </a:p>
          <a:p>
            <a:r>
              <a:rPr lang="vi-VN" dirty="0"/>
              <a:t>Bộ định tuyến ứng dụng: Bộ định tuyến mới hơn, hỗ trợ các tính năng mới của React như Server Components.</a:t>
            </a:r>
          </a:p>
          <a:p>
            <a:r>
              <a:rPr lang="vi-VN" dirty="0"/>
              <a:t>Bộ định tuyến trang: Bộ định tuyến ban đầu, vẫn được hỗ trợ và đang được cải tiến.</a:t>
            </a:r>
          </a:p>
          <a:p>
            <a:endParaRPr lang="vi-VN" dirty="0"/>
          </a:p>
        </p:txBody>
      </p:sp>
      <p:sp>
        <p:nvSpPr>
          <p:cNvPr id="4" name="Slide Number Placeholder 3"/>
          <p:cNvSpPr>
            <a:spLocks noGrp="1"/>
          </p:cNvSpPr>
          <p:nvPr>
            <p:ph type="sldNum" sz="quarter" idx="5"/>
          </p:nvPr>
        </p:nvSpPr>
        <p:spPr/>
        <p:txBody>
          <a:bodyPr/>
          <a:lstStyle/>
          <a:p>
            <a:fld id="{17558DDE-3ED7-4081-9837-FE937D2986C4}" type="slidenum">
              <a:rPr lang="en-US" smtClean="0"/>
              <a:t>5</a:t>
            </a:fld>
            <a:endParaRPr lang="en-US"/>
          </a:p>
        </p:txBody>
      </p:sp>
    </p:spTree>
    <p:extLst>
      <p:ext uri="{BB962C8B-B14F-4D97-AF65-F5344CB8AC3E}">
        <p14:creationId xmlns:p14="http://schemas.microsoft.com/office/powerpoint/2010/main" val="3327219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App Router: Sử dụng các bản phát hành canary của React được tích hợp sẵn, bao gồm tất cả các thay đổi ổn định của React 19, cũng như các tính năng mới hơn đang được kiểm chứng trong các framework, trước khi phát hành phiên bản React mới.</a:t>
            </a:r>
          </a:p>
          <a:p>
            <a:endParaRPr lang="vi-VN" dirty="0"/>
          </a:p>
          <a:p>
            <a:r>
              <a:rPr lang="vi-VN" dirty="0"/>
              <a:t>Pages Router: Sử dụng phiên bản React được cài đặt trong package.json của dự án.</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6</a:t>
            </a:fld>
            <a:endParaRPr lang="en-US"/>
          </a:p>
        </p:txBody>
      </p:sp>
    </p:spTree>
    <p:extLst>
      <p:ext uri="{BB962C8B-B14F-4D97-AF65-F5344CB8AC3E}">
        <p14:creationId xmlns:p14="http://schemas.microsoft.com/office/powerpoint/2010/main" val="4253173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7</a:t>
            </a:fld>
            <a:endParaRPr lang="en-US"/>
          </a:p>
        </p:txBody>
      </p:sp>
    </p:spTree>
    <p:extLst>
      <p:ext uri="{BB962C8B-B14F-4D97-AF65-F5344CB8AC3E}">
        <p14:creationId xmlns:p14="http://schemas.microsoft.com/office/powerpoint/2010/main" val="2795075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npx</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create-next-app@latest</a:t>
            </a:r>
            <a:r>
              <a:rPr lang="en-US" sz="1200" b="0" i="0" kern="1200" dirty="0">
                <a:solidFill>
                  <a:schemeClr val="tx1"/>
                </a:solidFill>
                <a:effectLst/>
                <a:latin typeface="+mn-lt"/>
                <a:ea typeface="+mn-ea"/>
                <a:cs typeface="+mn-cs"/>
              </a:rPr>
              <a:t> my-next-app</a:t>
            </a:r>
          </a:p>
          <a:p>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Hoặc</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dùng</a:t>
            </a:r>
            <a:r>
              <a:rPr lang="en-US" sz="1200" b="0" i="1" kern="1200" dirty="0">
                <a:solidFill>
                  <a:schemeClr val="tx1"/>
                </a:solidFill>
                <a:effectLst/>
                <a:latin typeface="+mn-lt"/>
                <a:ea typeface="+mn-ea"/>
                <a:cs typeface="+mn-cs"/>
              </a:rPr>
              <a:t> Yarn/PNPM:</a:t>
            </a: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 yarn create next-app my-next-app</a:t>
            </a: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pnpm</a:t>
            </a:r>
            <a:r>
              <a:rPr lang="en-US" sz="1200" b="0" i="1" kern="1200" dirty="0">
                <a:solidFill>
                  <a:schemeClr val="tx1"/>
                </a:solidFill>
                <a:effectLst/>
                <a:latin typeface="+mn-lt"/>
                <a:ea typeface="+mn-ea"/>
                <a:cs typeface="+mn-cs"/>
              </a:rPr>
              <a:t> create next-app my-next-app</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--yes skips prompts using saved preferences or defaults.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default setup enables TypeScript, Tailwind, </a:t>
            </a:r>
            <a:r>
              <a:rPr lang="en-US" sz="1200" b="0" i="0" kern="1200" dirty="0" err="1">
                <a:solidFill>
                  <a:schemeClr val="tx1"/>
                </a:solidFill>
                <a:effectLst/>
                <a:latin typeface="+mn-lt"/>
                <a:ea typeface="+mn-ea"/>
                <a:cs typeface="+mn-cs"/>
              </a:rPr>
              <a:t>ESLint</a:t>
            </a:r>
            <a:r>
              <a:rPr lang="en-US" sz="1200" b="0" i="0" kern="1200" dirty="0">
                <a:solidFill>
                  <a:schemeClr val="tx1"/>
                </a:solidFill>
                <a:effectLst/>
                <a:latin typeface="+mn-lt"/>
                <a:ea typeface="+mn-ea"/>
                <a:cs typeface="+mn-cs"/>
              </a:rPr>
              <a:t>, App Router, and </a:t>
            </a:r>
            <a:r>
              <a:rPr lang="en-US" sz="1200" b="0" i="0" kern="1200" dirty="0" err="1">
                <a:solidFill>
                  <a:schemeClr val="tx1"/>
                </a:solidFill>
                <a:effectLst/>
                <a:latin typeface="+mn-lt"/>
                <a:ea typeface="+mn-ea"/>
                <a:cs typeface="+mn-cs"/>
              </a:rPr>
              <a:t>Turbopack</a:t>
            </a:r>
            <a:r>
              <a:rPr lang="en-US" sz="1200" b="0" i="0" kern="1200" dirty="0">
                <a:solidFill>
                  <a:schemeClr val="tx1"/>
                </a:solidFill>
                <a:effectLst/>
                <a:latin typeface="+mn-lt"/>
                <a:ea typeface="+mn-ea"/>
                <a:cs typeface="+mn-cs"/>
              </a:rPr>
              <a:t>, with import alias @/*.</a:t>
            </a:r>
          </a:p>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8</a:t>
            </a:fld>
            <a:endParaRPr lang="en-US"/>
          </a:p>
        </p:txBody>
      </p:sp>
    </p:spTree>
    <p:extLst>
      <p:ext uri="{BB962C8B-B14F-4D97-AF65-F5344CB8AC3E}">
        <p14:creationId xmlns:p14="http://schemas.microsoft.com/office/powerpoint/2010/main" val="1244957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9</a:t>
            </a:fld>
            <a:endParaRPr lang="en-US"/>
          </a:p>
        </p:txBody>
      </p:sp>
    </p:spTree>
    <p:extLst>
      <p:ext uri="{BB962C8B-B14F-4D97-AF65-F5344CB8AC3E}">
        <p14:creationId xmlns:p14="http://schemas.microsoft.com/office/powerpoint/2010/main" val="1766632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mn-lt"/>
                <a:ea typeface="+mn-ea"/>
                <a:cs typeface="+mn-cs"/>
              </a:rPr>
              <a:t>ypeScript (viết tắt là TS) là một ngôn ngữ lập trình mã nguồn mở (</a:t>
            </a:r>
            <a:r>
              <a:rPr lang="vi-VN" sz="1200" b="0" i="0" u="none" strike="noStrike" kern="1200" dirty="0">
                <a:solidFill>
                  <a:schemeClr val="tx1"/>
                </a:solidFill>
                <a:effectLst/>
                <a:latin typeface="+mn-lt"/>
                <a:ea typeface="+mn-ea"/>
                <a:cs typeface="+mn-cs"/>
                <a:hlinkClick r:id="rId3"/>
              </a:rPr>
              <a:t>OOP</a:t>
            </a:r>
            <a:r>
              <a:rPr lang="vi-VN" sz="1200" b="0" i="0" kern="1200" dirty="0">
                <a:solidFill>
                  <a:schemeClr val="tx1"/>
                </a:solidFill>
                <a:effectLst/>
                <a:latin typeface="+mn-lt"/>
                <a:ea typeface="+mn-ea"/>
                <a:cs typeface="+mn-cs"/>
              </a:rPr>
              <a:t>) được phát triển và duy trì bởi Microsoft vào năm 2012. TypeScript được xem là một phần mở rộng của JavaScript, sử dụng cú pháp của JavaScript và bổ sung thêm các tính năng mạnh mẽ như kiểu tĩnh và hướng đối tượng để hỗ trợ Type (các kiểu dữ liệu).</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Tuy nhiên một project viết bằng TypeScript cần có compiler (trình biên dịch) để biên dịch những dòng code đó thành JavaScript để browser có thể đọc hiểu được</a:t>
            </a:r>
          </a:p>
          <a:p>
            <a:r>
              <a:rPr lang="en-US" sz="1200" b="0" i="0" kern="1200" dirty="0">
                <a:solidFill>
                  <a:schemeClr val="tx1"/>
                </a:solidFill>
                <a:effectLst/>
                <a:latin typeface="+mn-lt"/>
                <a:ea typeface="+mn-ea"/>
                <a:cs typeface="+mn-cs"/>
              </a:rPr>
              <a:t>Null Checking: TypeScript </a:t>
            </a:r>
            <a:r>
              <a:rPr lang="en-US" sz="1200" b="0" i="0" kern="1200" dirty="0" err="1">
                <a:solidFill>
                  <a:schemeClr val="tx1"/>
                </a:solidFill>
                <a:effectLst/>
                <a:latin typeface="+mn-lt"/>
                <a:ea typeface="+mn-ea"/>
                <a:cs typeface="+mn-cs"/>
              </a:rPr>
              <a:t>hỗ</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tra</a:t>
            </a:r>
            <a:r>
              <a:rPr lang="en-US" sz="1200" b="0" i="0" kern="1200" dirty="0">
                <a:solidFill>
                  <a:schemeClr val="tx1"/>
                </a:solidFill>
                <a:effectLst/>
                <a:latin typeface="+mn-lt"/>
                <a:ea typeface="+mn-ea"/>
                <a:cs typeface="+mn-cs"/>
              </a:rPr>
              <a:t> null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undefined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qua option </a:t>
            </a:r>
            <a:r>
              <a:rPr lang="en-US" sz="1200" b="0" i="0" kern="1200" dirty="0" err="1">
                <a:solidFill>
                  <a:schemeClr val="tx1"/>
                </a:solidFill>
                <a:effectLst/>
                <a:latin typeface="+mn-lt"/>
                <a:ea typeface="+mn-ea"/>
                <a:cs typeface="+mn-cs"/>
              </a:rPr>
              <a:t>strictNullChecks</a:t>
            </a:r>
            <a:r>
              <a:rPr lang="en-US" sz="1200" b="0" i="0" kern="1200" dirty="0">
                <a:solidFill>
                  <a:schemeClr val="tx1"/>
                </a:solidFill>
                <a:effectLst/>
                <a:latin typeface="+mn-lt"/>
                <a:ea typeface="+mn-ea"/>
                <a:cs typeface="+mn-cs"/>
              </a:rPr>
              <a:t>. </a:t>
            </a:r>
          </a:p>
          <a:p>
            <a:r>
              <a:rPr lang="vi-VN" sz="1200" b="0" i="0" kern="1200" dirty="0">
                <a:solidFill>
                  <a:schemeClr val="tx1"/>
                </a:solidFill>
                <a:effectLst/>
                <a:latin typeface="+mn-lt"/>
                <a:ea typeface="+mn-ea"/>
                <a:cs typeface="+mn-cs"/>
              </a:rPr>
              <a:t>Access Modifiers</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TypeScript hỗ trợ các modifier truy cập (access modifiers) cho thuộc tính và phương thức của lớp, bao gồm: public, protected, và private.</a:t>
            </a:r>
          </a:p>
          <a:p>
            <a:r>
              <a:rPr lang="en-US" sz="1200" b="0" i="0" kern="1200" dirty="0">
                <a:solidFill>
                  <a:schemeClr val="tx1"/>
                </a:solidFill>
                <a:effectLst/>
                <a:latin typeface="+mn-lt"/>
                <a:ea typeface="+mn-ea"/>
                <a:cs typeface="+mn-cs"/>
              </a:rPr>
              <a:t>Namespaces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TypeScript </a:t>
            </a:r>
            <a:r>
              <a:rPr lang="en-US" sz="1200" b="0" i="0" kern="1200" dirty="0" err="1">
                <a:solidFill>
                  <a:schemeClr val="tx1"/>
                </a:solidFill>
                <a:effectLst/>
                <a:latin typeface="+mn-lt"/>
                <a:ea typeface="+mn-ea"/>
                <a:cs typeface="+mn-cs"/>
              </a:rPr>
              <a:t>cung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cấp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chức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quản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biến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lớp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a:t>
            </a:r>
          </a:p>
          <a:p>
            <a:r>
              <a:rPr lang="vi-VN" sz="1200" b="0" i="0" kern="1200" dirty="0">
                <a:solidFill>
                  <a:schemeClr val="tx1"/>
                </a:solidFill>
                <a:effectLst/>
                <a:latin typeface="+mn-lt"/>
                <a:ea typeface="+mn-ea"/>
                <a:cs typeface="+mn-cs"/>
              </a:rPr>
              <a:t>Type Annotations cho phép bạn xác định loại dữ liệu của biến, tham số hàm, và giá trị trả về, giúp TypeScript hiểu rõ hơn về kiểu dữ liệu mà bạn đang làm việc.</a:t>
            </a:r>
            <a:endParaRPr lang="en-US" sz="1200" b="0" i="0" kern="1200" dirty="0">
              <a:solidFill>
                <a:schemeClr val="tx1"/>
              </a:solidFill>
              <a:effectLst/>
              <a:latin typeface="+mn-lt"/>
              <a:ea typeface="+mn-ea"/>
              <a:cs typeface="+mn-cs"/>
            </a:endParaRPr>
          </a:p>
          <a:p>
            <a:r>
              <a:rPr lang="vi-VN" sz="1200" b="0" i="0" kern="1200" dirty="0">
                <a:solidFill>
                  <a:schemeClr val="tx1"/>
                </a:solidFill>
                <a:effectLst/>
                <a:latin typeface="+mn-lt"/>
                <a:ea typeface="+mn-ea"/>
                <a:cs typeface="+mn-cs"/>
              </a:rPr>
              <a:t>TypeScript cung cấp kiểu tĩnh, cho phép kiểm tra kiểu dữ liệu tại thời điểm biên dịch. Điều này giúp phát hiện lỗi ngay trước khi mã được chạy, nâng cao độ tin cậy và dễ bảo trì của ứng dụng.</a:t>
            </a:r>
            <a:endParaRPr lang="en-US" sz="1200" b="0" i="0" kern="1200" dirty="0">
              <a:solidFill>
                <a:schemeClr val="tx1"/>
              </a:solidFill>
              <a:effectLst/>
              <a:latin typeface="+mn-lt"/>
              <a:ea typeface="+mn-ea"/>
              <a:cs typeface="+mn-cs"/>
            </a:endParaRPr>
          </a:p>
          <a:p>
            <a:r>
              <a:rPr lang="vi-VN" sz="1200" b="0" i="0" kern="1200" dirty="0">
                <a:solidFill>
                  <a:schemeClr val="tx1"/>
                </a:solidFill>
                <a:effectLst/>
                <a:latin typeface="+mn-lt"/>
                <a:ea typeface="+mn-ea"/>
                <a:cs typeface="+mn-cs"/>
              </a:rPr>
              <a:t>TypeScript hỗ trợ các khái niệm OOP như lớp (classes), kế thừa (inheritance), đa hình (polymorphism), và đóng gói (encapsulation).</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17</a:t>
            </a:fld>
            <a:endParaRPr lang="en-US"/>
          </a:p>
        </p:txBody>
      </p:sp>
    </p:spTree>
    <p:extLst>
      <p:ext uri="{BB962C8B-B14F-4D97-AF65-F5344CB8AC3E}">
        <p14:creationId xmlns:p14="http://schemas.microsoft.com/office/powerpoint/2010/main" val="4212507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18</a:t>
            </a:fld>
            <a:endParaRPr lang="en-US"/>
          </a:p>
        </p:txBody>
      </p:sp>
    </p:spTree>
    <p:extLst>
      <p:ext uri="{BB962C8B-B14F-4D97-AF65-F5344CB8AC3E}">
        <p14:creationId xmlns:p14="http://schemas.microsoft.com/office/powerpoint/2010/main" val="3113870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42</a:t>
            </a:fld>
            <a:endParaRPr lang="en-US"/>
          </a:p>
        </p:txBody>
      </p:sp>
    </p:spTree>
    <p:extLst>
      <p:ext uri="{BB962C8B-B14F-4D97-AF65-F5344CB8AC3E}">
        <p14:creationId xmlns:p14="http://schemas.microsoft.com/office/powerpoint/2010/main" val="2625650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a:t>
            </a:r>
            <a:r>
              <a:rPr lang="en-US" dirty="0" err="1"/>
              <a:t>phía</a:t>
            </a:r>
            <a:r>
              <a:rPr lang="en-US" dirty="0"/>
              <a:t> </a:t>
            </a:r>
            <a:r>
              <a:rPr lang="en-US" dirty="0" err="1"/>
              <a:t>máy</a:t>
            </a:r>
            <a:r>
              <a:rPr lang="en-US" dirty="0"/>
              <a:t> </a:t>
            </a:r>
            <a:r>
              <a:rPr lang="en-US" dirty="0" err="1"/>
              <a:t>chủ</a:t>
            </a:r>
            <a:r>
              <a:rPr lang="en-US" dirty="0"/>
              <a:t> </a:t>
            </a:r>
            <a:r>
              <a:rPr lang="en-US" dirty="0" err="1"/>
              <a:t>và</a:t>
            </a:r>
            <a:r>
              <a:rPr lang="en-US" dirty="0"/>
              <a:t> </a:t>
            </a:r>
            <a:r>
              <a:rPr lang="en-US" dirty="0" err="1"/>
              <a:t>phía</a:t>
            </a:r>
            <a:r>
              <a:rPr lang="en-US" dirty="0"/>
              <a:t> </a:t>
            </a:r>
            <a:r>
              <a:rPr lang="en-US" dirty="0" err="1"/>
              <a:t>máy</a:t>
            </a:r>
            <a:r>
              <a:rPr lang="en-US" dirty="0"/>
              <a:t> </a:t>
            </a:r>
            <a:r>
              <a:rPr lang="en-US" dirty="0" err="1"/>
              <a:t>khách</a:t>
            </a:r>
            <a:r>
              <a:rPr lang="en-US" dirty="0"/>
              <a:t> </a:t>
            </a:r>
            <a:r>
              <a:rPr lang="en-US" dirty="0" err="1"/>
              <a:t>bị</a:t>
            </a:r>
            <a:r>
              <a:rPr lang="en-US" dirty="0"/>
              <a:t> </a:t>
            </a:r>
            <a:r>
              <a:rPr lang="en-US" dirty="0" err="1"/>
              <a:t>trộn</a:t>
            </a:r>
            <a:r>
              <a:rPr lang="en-US" dirty="0"/>
              <a:t> </a:t>
            </a:r>
            <a:r>
              <a:rPr lang="en-US" dirty="0" err="1"/>
              <a:t>lẫn</a:t>
            </a:r>
            <a:endParaRPr lang="en-US" dirty="0"/>
          </a:p>
          <a:p>
            <a:r>
              <a:rPr lang="en-US" dirty="0" err="1"/>
              <a:t>Khả</a:t>
            </a:r>
            <a:r>
              <a:rPr lang="en-US" dirty="0"/>
              <a:t> </a:t>
            </a:r>
            <a:r>
              <a:rPr lang="en-US" dirty="0" err="1"/>
              <a:t>năng</a:t>
            </a:r>
            <a:r>
              <a:rPr lang="en-US" dirty="0"/>
              <a:t> </a:t>
            </a:r>
            <a:r>
              <a:rPr lang="en-US" dirty="0" err="1"/>
              <a:t>tái</a:t>
            </a:r>
            <a:r>
              <a:rPr lang="en-US" dirty="0"/>
              <a:t> </a:t>
            </a:r>
            <a:r>
              <a:rPr lang="en-US" dirty="0" err="1"/>
              <a:t>sử</a:t>
            </a:r>
            <a:r>
              <a:rPr lang="en-US" dirty="0"/>
              <a:t> </a:t>
            </a:r>
            <a:r>
              <a:rPr lang="en-US" dirty="0" err="1"/>
              <a:t>dụng</a:t>
            </a:r>
            <a:r>
              <a:rPr lang="en-US" dirty="0"/>
              <a:t> </a:t>
            </a:r>
            <a:r>
              <a:rPr lang="en-US" dirty="0" err="1"/>
              <a:t>bố</a:t>
            </a:r>
            <a:r>
              <a:rPr lang="en-US" dirty="0"/>
              <a:t> </a:t>
            </a:r>
            <a:r>
              <a:rPr lang="en-US" dirty="0" err="1"/>
              <a:t>cục</a:t>
            </a:r>
            <a:r>
              <a:rPr lang="en-US" dirty="0"/>
              <a:t> </a:t>
            </a:r>
            <a:r>
              <a:rPr lang="en-US" dirty="0" err="1"/>
              <a:t>bị</a:t>
            </a:r>
            <a:r>
              <a:rPr lang="en-US" dirty="0"/>
              <a:t> </a:t>
            </a:r>
            <a:r>
              <a:rPr lang="en-US" dirty="0" err="1"/>
              <a:t>hạn</a:t>
            </a:r>
            <a:r>
              <a:rPr lang="en-US" dirty="0"/>
              <a:t> </a:t>
            </a:r>
            <a:r>
              <a:rPr lang="en-US" dirty="0" err="1"/>
              <a:t>chế</a:t>
            </a:r>
            <a:endParaRPr lang="en-US" dirty="0"/>
          </a:p>
          <a:p>
            <a:r>
              <a:rPr lang="en-US" dirty="0" err="1"/>
              <a:t>Không</a:t>
            </a:r>
            <a:r>
              <a:rPr lang="en-US" dirty="0"/>
              <a:t> </a:t>
            </a:r>
            <a:r>
              <a:rPr lang="en-US" dirty="0" err="1"/>
              <a:t>tận</a:t>
            </a:r>
            <a:r>
              <a:rPr lang="en-US" dirty="0"/>
              <a:t> </a:t>
            </a:r>
            <a:r>
              <a:rPr lang="en-US" dirty="0" err="1"/>
              <a:t>dụng</a:t>
            </a:r>
            <a:r>
              <a:rPr lang="en-US" dirty="0"/>
              <a:t> </a:t>
            </a:r>
            <a:r>
              <a:rPr lang="en-US" dirty="0" err="1"/>
              <a:t>hết</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máy</a:t>
            </a:r>
            <a:r>
              <a:rPr lang="en-US" dirty="0"/>
              <a:t> </a:t>
            </a:r>
            <a:r>
              <a:rPr lang="en-US" dirty="0" err="1"/>
              <a:t>chủ</a:t>
            </a:r>
            <a:r>
              <a:rPr lang="en-US" dirty="0"/>
              <a:t> </a:t>
            </a:r>
            <a:r>
              <a:rPr lang="en-US" dirty="0" err="1"/>
              <a:t>của</a:t>
            </a:r>
            <a:r>
              <a:rPr lang="en-US" dirty="0"/>
              <a:t> React</a:t>
            </a:r>
          </a:p>
        </p:txBody>
      </p:sp>
      <p:sp>
        <p:nvSpPr>
          <p:cNvPr id="4" name="Slide Number Placeholder 3"/>
          <p:cNvSpPr>
            <a:spLocks noGrp="1"/>
          </p:cNvSpPr>
          <p:nvPr>
            <p:ph type="sldNum" sz="quarter" idx="5"/>
          </p:nvPr>
        </p:nvSpPr>
        <p:spPr/>
        <p:txBody>
          <a:bodyPr/>
          <a:lstStyle/>
          <a:p>
            <a:fld id="{17558DDE-3ED7-4081-9837-FE937D2986C4}" type="slidenum">
              <a:rPr lang="en-US" smtClean="0"/>
              <a:t>44</a:t>
            </a:fld>
            <a:endParaRPr lang="en-US"/>
          </a:p>
        </p:txBody>
      </p:sp>
    </p:spTree>
    <p:extLst>
      <p:ext uri="{BB962C8B-B14F-4D97-AF65-F5344CB8AC3E}">
        <p14:creationId xmlns:p14="http://schemas.microsoft.com/office/powerpoint/2010/main" val="2567923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Đây là giải pháp định tuyến hiện đại dựa trên hệ thống tệp, được giới thiệu trong Next.js 13 và là phương pháp được khuyến nghị cho các ứng dụng mới.</a:t>
            </a:r>
            <a:endParaRPr lang="en-US" dirty="0"/>
          </a:p>
          <a:p>
            <a:r>
              <a:rPr lang="vi-VN" dirty="0"/>
              <a:t>Nó được xây dựng trên nền tảng React Server Components và cung cấp các tính năng mạnh mẽ như bố cục dùng chung, định tuyến lồng nhau và khả năng truy xuất dữ liệu nâng cao.</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45</a:t>
            </a:fld>
            <a:endParaRPr lang="en-US"/>
          </a:p>
        </p:txBody>
      </p:sp>
    </p:spTree>
    <p:extLst>
      <p:ext uri="{BB962C8B-B14F-4D97-AF65-F5344CB8AC3E}">
        <p14:creationId xmlns:p14="http://schemas.microsoft.com/office/powerpoint/2010/main" val="1749132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Định tuyến dựa trên thư mục và các quy ước tệp đặc biệt.</a:t>
            </a:r>
          </a:p>
          <a:p>
            <a:endParaRPr lang="vi-VN" dirty="0"/>
          </a:p>
          <a:p>
            <a:r>
              <a:rPr lang="vi-VN" dirty="0"/>
              <a:t>Đây là hệ thống định tuyến hiện đại, được thiết kế để tận dụng tối đa:</a:t>
            </a:r>
          </a:p>
          <a:p>
            <a:r>
              <a:rPr lang="vi-VN" dirty="0"/>
              <a:t>Các thành phần máy chủ React (RSC)</a:t>
            </a:r>
          </a:p>
          <a:p>
            <a:r>
              <a:rPr lang="vi-VN" dirty="0"/>
              <a:t>Truyền phát dữ liệu (Streaming)</a:t>
            </a:r>
          </a:p>
          <a:p>
            <a:r>
              <a:rPr lang="vi-VN" dirty="0"/>
              <a:t>Bố cục lồng nhau (Nested layouts)</a:t>
            </a:r>
          </a:p>
          <a:p>
            <a:r>
              <a:rPr lang="vi-VN" dirty="0"/>
              <a:t>Cải thiện SEO và hiệu suất</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46</a:t>
            </a:fld>
            <a:endParaRPr lang="en-US"/>
          </a:p>
        </p:txBody>
      </p:sp>
    </p:spTree>
    <p:extLst>
      <p:ext uri="{BB962C8B-B14F-4D97-AF65-F5344CB8AC3E}">
        <p14:creationId xmlns:p14="http://schemas.microsoft.com/office/powerpoint/2010/main" val="2881906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50</a:t>
            </a:fld>
            <a:endParaRPr lang="en-US"/>
          </a:p>
        </p:txBody>
      </p:sp>
    </p:spTree>
    <p:extLst>
      <p:ext uri="{BB962C8B-B14F-4D97-AF65-F5344CB8AC3E}">
        <p14:creationId xmlns:p14="http://schemas.microsoft.com/office/powerpoint/2010/main" val="25302383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client components </a:t>
            </a:r>
            <a:r>
              <a:rPr lang="en-US" b="1"/>
              <a:t>only when necessary</a:t>
            </a:r>
            <a:r>
              <a:rPr lang="en-US"/>
              <a:t> (e.g., interactivity, state, browser APIs).</a:t>
            </a:r>
          </a:p>
        </p:txBody>
      </p:sp>
      <p:sp>
        <p:nvSpPr>
          <p:cNvPr id="4" name="Slide Number Placeholder 3"/>
          <p:cNvSpPr>
            <a:spLocks noGrp="1"/>
          </p:cNvSpPr>
          <p:nvPr>
            <p:ph type="sldNum" sz="quarter" idx="5"/>
          </p:nvPr>
        </p:nvSpPr>
        <p:spPr/>
        <p:txBody>
          <a:bodyPr/>
          <a:lstStyle/>
          <a:p>
            <a:fld id="{17558DDE-3ED7-4081-9837-FE937D2986C4}" type="slidenum">
              <a:rPr lang="en-US" smtClean="0"/>
              <a:t>55</a:t>
            </a:fld>
            <a:endParaRPr lang="en-US"/>
          </a:p>
        </p:txBody>
      </p:sp>
    </p:spTree>
    <p:extLst>
      <p:ext uri="{BB962C8B-B14F-4D97-AF65-F5344CB8AC3E}">
        <p14:creationId xmlns:p14="http://schemas.microsoft.com/office/powerpoint/2010/main" val="605198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a:t>
            </a:r>
            <a:r>
              <a:rPr lang="vi-VN" b="1" dirty="0"/>
              <a:t>Next.js (App Router – từ phiên bản 13+)</a:t>
            </a:r>
            <a:r>
              <a:rPr lang="vi-VN" dirty="0"/>
              <a:t>, ứng dụng được xây dựng dựa trên </a:t>
            </a:r>
            <a:r>
              <a:rPr lang="vi-VN" b="1" dirty="0"/>
              <a:t>cấu trúc thư mục (file-based routing)</a:t>
            </a:r>
            <a:r>
              <a:rPr lang="vi-VN" dirty="0"/>
              <a:t>.</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57</a:t>
            </a:fld>
            <a:endParaRPr lang="en-US"/>
          </a:p>
        </p:txBody>
      </p:sp>
    </p:spTree>
    <p:extLst>
      <p:ext uri="{BB962C8B-B14F-4D97-AF65-F5344CB8AC3E}">
        <p14:creationId xmlns:p14="http://schemas.microsoft.com/office/powerpoint/2010/main" val="22895015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58</a:t>
            </a:fld>
            <a:endParaRPr lang="en-US"/>
          </a:p>
        </p:txBody>
      </p:sp>
    </p:spTree>
    <p:extLst>
      <p:ext uri="{BB962C8B-B14F-4D97-AF65-F5344CB8AC3E}">
        <p14:creationId xmlns:p14="http://schemas.microsoft.com/office/powerpoint/2010/main" val="3642112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Bố cục là giao diện người dùng được chia sẻ giữa nhiều trang. Khi điều hướng, bố cục giữ nguyên trạng thái, vẫn tương tác và không được hiển thị lại.</a:t>
            </a:r>
          </a:p>
          <a:p>
            <a:endParaRPr lang="vi-VN" dirty="0"/>
          </a:p>
          <a:p>
            <a:r>
              <a:rPr lang="vi-VN" dirty="0"/>
              <a:t>Bạn có thể định nghĩa bố cục theo mặc định bằng cách xuất một thành phần React từ một tệp bố cục. Thành phần này nên chấp nhận một thuộc tính `children`, có thể là một trang hoặc một bố cục khác.</a:t>
            </a:r>
          </a:p>
          <a:p>
            <a:r>
              <a:rPr lang="vi-VN" dirty="0"/>
              <a:t>Ví dụ, để tạo một bố cục chấp nhận trang index của bạn làm con, hãy thêm một tệp bố cục vào thư mục `app`:</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60</a:t>
            </a:fld>
            <a:endParaRPr lang="en-US"/>
          </a:p>
        </p:txBody>
      </p:sp>
    </p:spTree>
    <p:extLst>
      <p:ext uri="{BB962C8B-B14F-4D97-AF65-F5344CB8AC3E}">
        <p14:creationId xmlns:p14="http://schemas.microsoft.com/office/powerpoint/2010/main" val="31026076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Bố cục trên được gọi là bố cục gốc vì nó được định nghĩa ở thư mục gốc của ứng dụng. Bố cục gốc là bắt buộc và phải chứa các thẻ html và body.</a:t>
            </a:r>
            <a:endParaRPr lang="en-US" dirty="0"/>
          </a:p>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62</a:t>
            </a:fld>
            <a:endParaRPr lang="en-US"/>
          </a:p>
        </p:txBody>
      </p:sp>
    </p:spTree>
    <p:extLst>
      <p:ext uri="{BB962C8B-B14F-4D97-AF65-F5344CB8AC3E}">
        <p14:creationId xmlns:p14="http://schemas.microsoft.com/office/powerpoint/2010/main" val="1300543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tuyến đường lồng nhau là một tuyến đường được tạo thành từ nhiều phân đoạn URL. Ví dụ, tuyến đường /blog/[slug] được tạo thành từ ba phân đoạn:</a:t>
            </a:r>
          </a:p>
          <a:p>
            <a:endParaRPr lang="vi-VN" dirty="0"/>
          </a:p>
          <a:p>
            <a:r>
              <a:rPr lang="vi-VN" dirty="0"/>
              <a:t>/ (Phân đoạn gốc)</a:t>
            </a:r>
          </a:p>
          <a:p>
            <a:r>
              <a:rPr lang="vi-VN" dirty="0"/>
              <a:t>blog (Phân đoạn)</a:t>
            </a:r>
          </a:p>
          <a:p>
            <a:r>
              <a:rPr lang="vi-VN" dirty="0"/>
              <a:t>[slug] (Phân đoạn lá)</a:t>
            </a:r>
          </a:p>
          <a:p>
            <a:r>
              <a:rPr lang="vi-VN" dirty="0"/>
              <a:t>Trong Next.js:</a:t>
            </a:r>
          </a:p>
          <a:p>
            <a:endParaRPr lang="vi-VN" dirty="0"/>
          </a:p>
          <a:p>
            <a:r>
              <a:rPr lang="vi-VN" dirty="0"/>
              <a:t>Thư mục được sử dụng để định nghĩa các phân đoạn tuyến đường ánh xạ tới các phân đoạn URL.</a:t>
            </a:r>
          </a:p>
          <a:p>
            <a:r>
              <a:rPr lang="vi-VN" dirty="0"/>
              <a:t>Các tệp (như page và layout) được sử dụng để tạo giao diện người dùng hiển thị cho một phân đoạn.</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63</a:t>
            </a:fld>
            <a:endParaRPr lang="en-US"/>
          </a:p>
        </p:txBody>
      </p:sp>
    </p:spTree>
    <p:extLst>
      <p:ext uri="{BB962C8B-B14F-4D97-AF65-F5344CB8AC3E}">
        <p14:creationId xmlns:p14="http://schemas.microsoft.com/office/powerpoint/2010/main" val="4273789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 can continue nesting folders to create nested routes. For example, to create a route for a specific blog post, create a new [slug] folder inside blog and add a page file: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function </a:t>
            </a:r>
            <a:r>
              <a:rPr lang="en-US" sz="1200" b="0" i="0" kern="1200" dirty="0" err="1">
                <a:solidFill>
                  <a:schemeClr val="tx1"/>
                </a:solidFill>
                <a:effectLst/>
                <a:latin typeface="+mn-lt"/>
                <a:ea typeface="+mn-ea"/>
                <a:cs typeface="+mn-cs"/>
              </a:rPr>
              <a:t>generateStaticParams</a:t>
            </a:r>
            <a:r>
              <a:rPr lang="en-US" sz="1200" b="0" i="0" kern="1200" dirty="0">
                <a:solidFill>
                  <a:schemeClr val="tx1"/>
                </a:solidFill>
                <a:effectLst/>
                <a:latin typeface="+mn-lt"/>
                <a:ea typeface="+mn-ea"/>
                <a:cs typeface="+mn-cs"/>
              </a:rPr>
              <a:t>() {} export default function Page() {  return &lt;h1&gt;Hello, Blog Post Page!&lt;/h1&gt;}</a:t>
            </a:r>
          </a:p>
          <a:p>
            <a:r>
              <a:rPr lang="en-US" sz="1200" b="0" i="0" kern="1200" dirty="0">
                <a:solidFill>
                  <a:schemeClr val="tx1"/>
                </a:solidFill>
                <a:effectLst/>
                <a:latin typeface="+mn-lt"/>
                <a:ea typeface="+mn-ea"/>
                <a:cs typeface="+mn-cs"/>
              </a:rPr>
              <a:t>Wrapping a folder name in square brackets (e.g. [slug]) creates a </a:t>
            </a:r>
            <a:r>
              <a:rPr lang="en-US" sz="1200" b="0" i="0" u="none" strike="noStrike" kern="1200" dirty="0">
                <a:solidFill>
                  <a:schemeClr val="tx1"/>
                </a:solidFill>
                <a:effectLst/>
                <a:latin typeface="+mn-lt"/>
                <a:ea typeface="+mn-ea"/>
                <a:cs typeface="+mn-cs"/>
                <a:hlinkClick r:id="rId3"/>
              </a:rPr>
              <a:t>dynamic route segment</a:t>
            </a:r>
            <a:r>
              <a:rPr lang="en-US" sz="1200" b="0" i="0" kern="1200" dirty="0">
                <a:solidFill>
                  <a:schemeClr val="tx1"/>
                </a:solidFill>
                <a:effectLst/>
                <a:latin typeface="+mn-lt"/>
                <a:ea typeface="+mn-ea"/>
                <a:cs typeface="+mn-cs"/>
              </a:rPr>
              <a:t> which is used to generate multiple pages from data. e.g. blog posts, product pages, etc.</a:t>
            </a:r>
          </a:p>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66</a:t>
            </a:fld>
            <a:endParaRPr lang="en-US"/>
          </a:p>
        </p:txBody>
      </p:sp>
    </p:spTree>
    <p:extLst>
      <p:ext uri="{BB962C8B-B14F-4D97-AF65-F5344CB8AC3E}">
        <p14:creationId xmlns:p14="http://schemas.microsoft.com/office/powerpoint/2010/main" val="1764656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If you were to combine the two layouts above, the root layout (app/layout.js) would wrap the blog layout (app/blog/layout.js), which would wrap the blog (app/blog/page.js) and blog post page (app/blog/[slug]/page.js).</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68</a:t>
            </a:fld>
            <a:endParaRPr lang="en-US"/>
          </a:p>
        </p:txBody>
      </p:sp>
    </p:spTree>
    <p:extLst>
      <p:ext uri="{BB962C8B-B14F-4D97-AF65-F5344CB8AC3E}">
        <p14:creationId xmlns:p14="http://schemas.microsoft.com/office/powerpoint/2010/main" val="3159818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Phân đoạn động cho phép bạn tạo các tuyến đường được tạo ra từ dữ liệu. Ví dụ, thay vì tạo thủ công một tuyến đường cho mỗi bài đăng blog riêng lẻ, bạn có thể tạo một phân đoạn động để tạo các tuyến đường dựa trên dữ liệu của bài đăng blog.</a:t>
            </a:r>
          </a:p>
          <a:p>
            <a:endParaRPr lang="vi-VN" dirty="0"/>
          </a:p>
          <a:p>
            <a:r>
              <a:rPr lang="vi-VN" dirty="0"/>
              <a:t>Để tạo một phân đoạn động, hãy đặt tên phân đoạn (thư mục) trong dấu ngoặc vuông: [tên phân đoạn]. Ví dụ, trong tuyến đường app/blog/[slug]/page.tsx, [slug] là phân đoạn động.</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69</a:t>
            </a:fld>
            <a:endParaRPr lang="en-US"/>
          </a:p>
        </p:txBody>
      </p:sp>
    </p:spTree>
    <p:extLst>
      <p:ext uri="{BB962C8B-B14F-4D97-AF65-F5344CB8AC3E}">
        <p14:creationId xmlns:p14="http://schemas.microsoft.com/office/powerpoint/2010/main" val="3901771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Learn more about </a:t>
            </a:r>
            <a:r>
              <a:rPr lang="en-US" sz="1200" b="0" i="0" u="none" strike="noStrike" kern="1200" dirty="0">
                <a:solidFill>
                  <a:schemeClr val="tx1"/>
                </a:solidFill>
                <a:effectLst/>
                <a:latin typeface="+mn-lt"/>
                <a:ea typeface="+mn-ea"/>
                <a:cs typeface="+mn-cs"/>
                <a:hlinkClick r:id="rId3"/>
              </a:rPr>
              <a:t>Dynamic Segments</a:t>
            </a:r>
            <a:r>
              <a:rPr lang="en-US" sz="1200" b="0" i="0" kern="1200" dirty="0">
                <a:solidFill>
                  <a:schemeClr val="tx1"/>
                </a:solidFill>
                <a:effectLst/>
                <a:latin typeface="+mn-lt"/>
                <a:ea typeface="+mn-ea"/>
                <a:cs typeface="+mn-cs"/>
              </a:rPr>
              <a:t> and the </a:t>
            </a:r>
            <a:r>
              <a:rPr lang="en-US" sz="1200" b="0" i="0" u="none" strike="noStrike" kern="1200" dirty="0">
                <a:solidFill>
                  <a:schemeClr val="tx1"/>
                </a:solidFill>
                <a:effectLst/>
                <a:latin typeface="+mn-lt"/>
                <a:ea typeface="+mn-ea"/>
                <a:cs typeface="+mn-cs"/>
                <a:hlinkClick r:id="rId4"/>
              </a:rPr>
              <a:t>params</a:t>
            </a:r>
            <a:r>
              <a:rPr lang="en-US" sz="1200" b="0" i="0" kern="1200" dirty="0">
                <a:solidFill>
                  <a:schemeClr val="tx1"/>
                </a:solidFill>
                <a:effectLst/>
                <a:latin typeface="+mn-lt"/>
                <a:ea typeface="+mn-ea"/>
                <a:cs typeface="+mn-cs"/>
              </a:rPr>
              <a:t> props.</a:t>
            </a:r>
          </a:p>
          <a:p>
            <a:r>
              <a:rPr lang="en-US" sz="1200" b="0" i="0" kern="1200" dirty="0">
                <a:solidFill>
                  <a:schemeClr val="tx1"/>
                </a:solidFill>
                <a:effectLst/>
                <a:latin typeface="+mn-lt"/>
                <a:ea typeface="+mn-ea"/>
                <a:cs typeface="+mn-cs"/>
              </a:rPr>
              <a:t>Nested </a:t>
            </a:r>
            <a:r>
              <a:rPr lang="en-US" sz="1200" b="0" i="0" u="none" strike="noStrike" kern="1200" dirty="0">
                <a:solidFill>
                  <a:schemeClr val="tx1"/>
                </a:solidFill>
                <a:effectLst/>
                <a:latin typeface="+mn-lt"/>
                <a:ea typeface="+mn-ea"/>
                <a:cs typeface="+mn-cs"/>
                <a:hlinkClick r:id="rId5"/>
              </a:rPr>
              <a:t>layouts within Dynamic Segments</a:t>
            </a:r>
            <a:r>
              <a:rPr lang="en-US" sz="1200" b="0" i="0" kern="1200" dirty="0">
                <a:solidFill>
                  <a:schemeClr val="tx1"/>
                </a:solidFill>
                <a:effectLst/>
                <a:latin typeface="+mn-lt"/>
                <a:ea typeface="+mn-ea"/>
                <a:cs typeface="+mn-cs"/>
              </a:rPr>
              <a:t>, can also access the params props.</a:t>
            </a:r>
          </a:p>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70</a:t>
            </a:fld>
            <a:endParaRPr lang="en-US"/>
          </a:p>
        </p:txBody>
      </p:sp>
    </p:spTree>
    <p:extLst>
      <p:ext uri="{BB962C8B-B14F-4D97-AF65-F5344CB8AC3E}">
        <p14:creationId xmlns:p14="http://schemas.microsoft.com/office/powerpoint/2010/main" val="3219270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Việc sử dụng searchParams cho phép trang của bạn được hiển thị động vì nó yêu cầu một yêu cầu đến để đọc các tham số tìm kiếm.Các thành phần phía máy khách có thể đọc các tham số tìm kiếm bằng cách sử dụng hook useSearchParams.Tìm hiểu thêm về useSearchParams trong các tuyến đường được hiển thị tĩnh và hiển thị động.</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72</a:t>
            </a:fld>
            <a:endParaRPr lang="en-US"/>
          </a:p>
        </p:txBody>
      </p:sp>
    </p:spTree>
    <p:extLst>
      <p:ext uri="{BB962C8B-B14F-4D97-AF65-F5344CB8AC3E}">
        <p14:creationId xmlns:p14="http://schemas.microsoft.com/office/powerpoint/2010/main" val="28920346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Thông tin hữu ích: `&lt;Link&gt;` là cách chính để điều hướng giữa các tuyến đường trong Next.js. Bạn cũng có thể sử dụng hook `useRouter` để điều hướng nâng cao hơn.</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73</a:t>
            </a:fld>
            <a:endParaRPr lang="en-US"/>
          </a:p>
        </p:txBody>
      </p:sp>
    </p:spTree>
    <p:extLst>
      <p:ext uri="{BB962C8B-B14F-4D97-AF65-F5344CB8AC3E}">
        <p14:creationId xmlns:p14="http://schemas.microsoft.com/office/powerpoint/2010/main" val="13423844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Next.js cung cấp các kiểu dữ liệu tiện ích giúp suy luận các tham số và các slot được đặt tên từ cấu trúc định tuyến của bạn:</a:t>
            </a:r>
          </a:p>
          <a:p>
            <a:endParaRPr lang="vi-VN" dirty="0"/>
          </a:p>
          <a:p>
            <a:r>
              <a:rPr lang="vi-VN" dirty="0"/>
              <a:t>PageProps: Thuộc tính cho các thành phần trang, bao gồm params và searchParams.</a:t>
            </a:r>
          </a:p>
          <a:p>
            <a:endParaRPr lang="vi-VN" dirty="0"/>
          </a:p>
          <a:p>
            <a:r>
              <a:rPr lang="vi-VN" dirty="0"/>
              <a:t>LayoutProps: Thuộc tính cho các thành phần bố cục, bao gồm children và bất kỳ slot được đặt tên nào (ví dụ: các thư mục như @analytics).</a:t>
            </a:r>
          </a:p>
          <a:p>
            <a:endParaRPr lang="vi-VN" dirty="0"/>
          </a:p>
          <a:p>
            <a:r>
              <a:rPr lang="vi-VN" dirty="0"/>
              <a:t>Đây là các hàm hỗ trợ có sẵn trên toàn cục, được tạo ra khi chạy next dev, next build hoặc next typegen.</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75</a:t>
            </a:fld>
            <a:endParaRPr lang="en-US"/>
          </a:p>
        </p:txBody>
      </p:sp>
    </p:spTree>
    <p:extLst>
      <p:ext uri="{BB962C8B-B14F-4D97-AF65-F5344CB8AC3E}">
        <p14:creationId xmlns:p14="http://schemas.microsoft.com/office/powerpoint/2010/main" val="15632686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77</a:t>
            </a:fld>
            <a:endParaRPr lang="en-US"/>
          </a:p>
        </p:txBody>
      </p:sp>
    </p:spTree>
    <p:extLst>
      <p:ext uri="{BB962C8B-B14F-4D97-AF65-F5344CB8AC3E}">
        <p14:creationId xmlns:p14="http://schemas.microsoft.com/office/powerpoint/2010/main" val="23146047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Tuy nhiên:</a:t>
            </a:r>
          </a:p>
          <a:p>
            <a:r>
              <a:rPr lang="vi-VN" dirty="0"/>
              <a:t>Client </a:t>
            </a:r>
            <a:r>
              <a:rPr lang="vi-VN" b="1" dirty="0"/>
              <a:t>phải chờ server phản hồi</a:t>
            </a:r>
            <a:r>
              <a:rPr lang="vi-VN" dirty="0"/>
              <a:t> trước khi hiển thị route mới</a:t>
            </a:r>
            <a:endParaRPr lang="en-US" dirty="0"/>
          </a:p>
          <a:p>
            <a:r>
              <a:rPr lang="vi-VN" b="1" dirty="0"/>
              <a:t>Vấn đề: Chuyển trang có thể bị chậm</a:t>
            </a:r>
          </a:p>
          <a:p>
            <a:r>
              <a:rPr lang="vi-VN" dirty="0"/>
              <a:t>Giả sử bạn có route động:</a:t>
            </a:r>
          </a:p>
          <a:p>
            <a:pPr rtl="0"/>
            <a:r>
              <a:rPr lang="vi-VN" sz="1200" kern="1200" dirty="0">
                <a:solidFill>
                  <a:schemeClr val="tx1"/>
                </a:solidFill>
                <a:latin typeface="+mn-lt"/>
                <a:ea typeface="+mn-ea"/>
                <a:cs typeface="+mn-cs"/>
              </a:rPr>
              <a:t>/products/[id]</a:t>
            </a:r>
          </a:p>
          <a:p>
            <a:r>
              <a:rPr lang="vi-VN" dirty="0"/>
              <a:t>Và server cần:</a:t>
            </a:r>
          </a:p>
          <a:p>
            <a:r>
              <a:rPr lang="vi-VN" dirty="0"/>
              <a:t>Gọi database</a:t>
            </a:r>
          </a:p>
          <a:p>
            <a:r>
              <a:rPr lang="vi-VN" dirty="0"/>
              <a:t>Gọi API bên ngoài</a:t>
            </a:r>
          </a:p>
          <a:p>
            <a:r>
              <a:rPr lang="vi-VN" dirty="0"/>
              <a:t>Xử lý logic phức tạp</a:t>
            </a:r>
          </a:p>
          <a:p>
            <a:r>
              <a:rPr lang="vi-VN" dirty="0"/>
              <a:t>➡️ Khi mạng chậm hoặc server xử lý lâu:</a:t>
            </a:r>
          </a:p>
          <a:p>
            <a:r>
              <a:rPr lang="vi-VN" dirty="0"/>
              <a:t>Người dùng thấy </a:t>
            </a:r>
            <a:r>
              <a:rPr lang="vi-VN" b="1" dirty="0"/>
              <a:t>màn hình trắng</a:t>
            </a:r>
            <a:endParaRPr lang="vi-VN" dirty="0"/>
          </a:p>
          <a:p>
            <a:r>
              <a:rPr lang="vi-VN" dirty="0"/>
              <a:t>Trải nghiệm không mượt</a:t>
            </a:r>
          </a:p>
          <a:p>
            <a:endParaRPr lang="vi-VN" dirty="0"/>
          </a:p>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78</a:t>
            </a:fld>
            <a:endParaRPr lang="en-US"/>
          </a:p>
        </p:txBody>
      </p:sp>
    </p:spTree>
    <p:extLst>
      <p:ext uri="{BB962C8B-B14F-4D97-AF65-F5344CB8AC3E}">
        <p14:creationId xmlns:p14="http://schemas.microsoft.com/office/powerpoint/2010/main" val="1895639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7C3B2-F692-9B3D-E777-446ECE4AA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EF599-46BD-037D-B306-9143B2273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6613E-D9D5-6A94-5401-606D6C3013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641B4-8456-471A-8AF7-A022AAF3B47D}"/>
              </a:ext>
            </a:extLst>
          </p:cNvPr>
          <p:cNvSpPr>
            <a:spLocks noGrp="1"/>
          </p:cNvSpPr>
          <p:nvPr>
            <p:ph type="sldNum" sz="quarter" idx="5"/>
          </p:nvPr>
        </p:nvSpPr>
        <p:spPr/>
        <p:txBody>
          <a:bodyPr/>
          <a:lstStyle/>
          <a:p>
            <a:fld id="{17558DDE-3ED7-4081-9837-FE937D2986C4}" type="slidenum">
              <a:rPr lang="en-US" smtClean="0"/>
              <a:t>79</a:t>
            </a:fld>
            <a:endParaRPr lang="en-US"/>
          </a:p>
        </p:txBody>
      </p:sp>
    </p:spTree>
    <p:extLst>
      <p:ext uri="{BB962C8B-B14F-4D97-AF65-F5344CB8AC3E}">
        <p14:creationId xmlns:p14="http://schemas.microsoft.com/office/powerpoint/2010/main" val="26387050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Tải trước (Prefetching) là một cơ chế trong Next.js tự động tải trước các tài nguyên cho trang tiếp theo, trước khi người dùng thực sự nhấp vào liên kết.</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80</a:t>
            </a:fld>
            <a:endParaRPr lang="en-US"/>
          </a:p>
        </p:txBody>
      </p:sp>
    </p:spTree>
    <p:extLst>
      <p:ext uri="{BB962C8B-B14F-4D97-AF65-F5344CB8AC3E}">
        <p14:creationId xmlns:p14="http://schemas.microsoft.com/office/powerpoint/2010/main" val="24884009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81</a:t>
            </a:fld>
            <a:endParaRPr lang="en-US"/>
          </a:p>
        </p:txBody>
      </p:sp>
    </p:spTree>
    <p:extLst>
      <p:ext uri="{BB962C8B-B14F-4D97-AF65-F5344CB8AC3E}">
        <p14:creationId xmlns:p14="http://schemas.microsoft.com/office/powerpoint/2010/main" val="24337998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Mức độ tải trước của </a:t>
            </a:r>
            <a:r>
              <a:rPr lang="en-US" dirty="0"/>
              <a:t>route </a:t>
            </a:r>
            <a:r>
              <a:rPr lang="vi-VN" dirty="0"/>
              <a:t>phụ thuộc vào việc đó là </a:t>
            </a:r>
            <a:r>
              <a:rPr lang="en-US" dirty="0"/>
              <a:t>route </a:t>
            </a:r>
            <a:r>
              <a:rPr lang="vi-VN" dirty="0"/>
              <a:t>tĩnh hay động:</a:t>
            </a:r>
          </a:p>
          <a:p>
            <a:r>
              <a:rPr lang="en-US" dirty="0"/>
              <a:t>Static Route</a:t>
            </a:r>
            <a:r>
              <a:rPr lang="vi-VN" dirty="0"/>
              <a:t>: toàn bộ </a:t>
            </a:r>
            <a:r>
              <a:rPr lang="en-US" dirty="0"/>
              <a:t>route</a:t>
            </a:r>
            <a:r>
              <a:rPr lang="vi-VN" dirty="0"/>
              <a:t>được tải trước.</a:t>
            </a:r>
          </a:p>
          <a:p>
            <a:r>
              <a:rPr lang="en-US" dirty="0"/>
              <a:t>Dynamic Route</a:t>
            </a:r>
            <a:r>
              <a:rPr lang="vi-VN" dirty="0"/>
              <a:t>: việc tải trước bị bỏ qua, hoặc </a:t>
            </a:r>
            <a:r>
              <a:rPr lang="en-US" dirty="0"/>
              <a:t>route </a:t>
            </a:r>
            <a:r>
              <a:rPr lang="vi-VN" dirty="0"/>
              <a:t>được tải trước một phần nếu có tệp loading.tsx.</a:t>
            </a:r>
          </a:p>
          <a:p>
            <a:endParaRPr lang="vi-VN" dirty="0"/>
          </a:p>
          <a:p>
            <a:r>
              <a:rPr lang="vi-VN" dirty="0"/>
              <a:t>Bằng cách bỏ qua hoặc tải trước một phần các </a:t>
            </a:r>
            <a:r>
              <a:rPr lang="en-US" dirty="0"/>
              <a:t>Dynamic Route</a:t>
            </a:r>
            <a:r>
              <a:rPr lang="vi-VN" dirty="0"/>
              <a:t>, Next.js tránh được công việc không cần thiết trên máy chủ đối với các </a:t>
            </a:r>
            <a:r>
              <a:rPr lang="en-US" dirty="0"/>
              <a:t>Route </a:t>
            </a:r>
            <a:r>
              <a:rPr lang="vi-VN" dirty="0"/>
              <a:t>mà người dùng có thể không bao giờ truy cập. Tuy nhiên, việc chờ phản hồi từ máy chủ trước khi điều hướng có thể khiến người dùng có cảm giác ứng dụng không phản hồi.</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83</a:t>
            </a:fld>
            <a:endParaRPr lang="en-US"/>
          </a:p>
        </p:txBody>
      </p:sp>
    </p:spTree>
    <p:extLst>
      <p:ext uri="{BB962C8B-B14F-4D97-AF65-F5344CB8AC3E}">
        <p14:creationId xmlns:p14="http://schemas.microsoft.com/office/powerpoint/2010/main" val="1052762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Streaming </a:t>
            </a:r>
            <a:r>
              <a:rPr lang="en-US" b="1" dirty="0" err="1"/>
              <a:t>trong</a:t>
            </a:r>
            <a:r>
              <a:rPr lang="en-US" b="1" dirty="0"/>
              <a:t> Next.js</a:t>
            </a:r>
            <a:r>
              <a:rPr lang="en-US" dirty="0"/>
              <a:t> </a:t>
            </a:r>
            <a:r>
              <a:rPr lang="en-US" dirty="0" err="1"/>
              <a:t>là</a:t>
            </a:r>
            <a:r>
              <a:rPr lang="en-US" dirty="0"/>
              <a:t> </a:t>
            </a:r>
            <a:r>
              <a:rPr lang="en-US" dirty="0" err="1"/>
              <a:t>kỹ</a:t>
            </a:r>
            <a:r>
              <a:rPr lang="en-US" dirty="0"/>
              <a:t> </a:t>
            </a:r>
            <a:r>
              <a:rPr lang="en-US" dirty="0" err="1"/>
              <a:t>thuật</a:t>
            </a:r>
            <a:r>
              <a:rPr lang="en-US" dirty="0"/>
              <a:t> </a:t>
            </a:r>
            <a:r>
              <a:rPr lang="en-US" dirty="0" err="1"/>
              <a:t>cho</a:t>
            </a:r>
            <a:r>
              <a:rPr lang="en-US" dirty="0"/>
              <a:t> </a:t>
            </a:r>
            <a:r>
              <a:rPr lang="en-US" dirty="0" err="1"/>
              <a:t>phép</a:t>
            </a:r>
            <a:r>
              <a:rPr lang="en-US" dirty="0"/>
              <a:t> </a:t>
            </a:r>
            <a:r>
              <a:rPr lang="en-US" b="1" dirty="0"/>
              <a:t>render </a:t>
            </a:r>
            <a:r>
              <a:rPr lang="en-US" b="1" dirty="0" err="1"/>
              <a:t>và</a:t>
            </a:r>
            <a:r>
              <a:rPr lang="en-US" b="1" dirty="0"/>
              <a:t> </a:t>
            </a:r>
            <a:r>
              <a:rPr lang="en-US" b="1" dirty="0" err="1"/>
              <a:t>gửi</a:t>
            </a:r>
            <a:r>
              <a:rPr lang="en-US" b="1" dirty="0"/>
              <a:t> </a:t>
            </a:r>
            <a:r>
              <a:rPr lang="en-US" b="1" dirty="0" err="1"/>
              <a:t>nội</a:t>
            </a:r>
            <a:r>
              <a:rPr lang="en-US" b="1" dirty="0"/>
              <a:t> dung UI </a:t>
            </a:r>
            <a:r>
              <a:rPr lang="en-US" b="1" dirty="0" err="1"/>
              <a:t>theo</a:t>
            </a:r>
            <a:r>
              <a:rPr lang="en-US" b="1" dirty="0"/>
              <a:t> </a:t>
            </a:r>
            <a:r>
              <a:rPr lang="en-US" b="1" dirty="0" err="1"/>
              <a:t>từng</a:t>
            </a:r>
            <a:r>
              <a:rPr lang="en-US" b="1" dirty="0"/>
              <a:t> </a:t>
            </a:r>
            <a:r>
              <a:rPr lang="en-US" b="1" dirty="0" err="1"/>
              <a:t>phần</a:t>
            </a:r>
            <a:r>
              <a:rPr lang="en-US" b="1" dirty="0"/>
              <a:t> (chunks)</a:t>
            </a:r>
            <a:r>
              <a:rPr lang="en-US" dirty="0"/>
              <a:t> </a:t>
            </a:r>
            <a:r>
              <a:rPr lang="en-US" dirty="0" err="1"/>
              <a:t>từ</a:t>
            </a:r>
            <a:r>
              <a:rPr lang="en-US" dirty="0"/>
              <a:t> server </a:t>
            </a:r>
            <a:r>
              <a:rPr lang="en-US" dirty="0" err="1"/>
              <a:t>xuống</a:t>
            </a:r>
            <a:r>
              <a:rPr lang="en-US" dirty="0"/>
              <a:t> </a:t>
            </a:r>
            <a:r>
              <a:rPr lang="en-US" dirty="0" err="1"/>
              <a:t>trình</a:t>
            </a:r>
            <a:r>
              <a:rPr lang="en-US" dirty="0"/>
              <a:t> </a:t>
            </a:r>
            <a:r>
              <a:rPr lang="en-US" dirty="0" err="1"/>
              <a:t>duyệt</a:t>
            </a:r>
            <a:r>
              <a:rPr lang="en-US" dirty="0"/>
              <a:t>, </a:t>
            </a:r>
            <a:r>
              <a:rPr lang="en-US" dirty="0" err="1"/>
              <a:t>thay</a:t>
            </a:r>
            <a:r>
              <a:rPr lang="en-US" dirty="0"/>
              <a:t> </a:t>
            </a:r>
            <a:r>
              <a:rPr lang="en-US" dirty="0" err="1"/>
              <a:t>vì</a:t>
            </a:r>
            <a:r>
              <a:rPr lang="en-US" dirty="0"/>
              <a:t> </a:t>
            </a:r>
            <a:r>
              <a:rPr lang="en-US" dirty="0" err="1"/>
              <a:t>phải</a:t>
            </a:r>
            <a:r>
              <a:rPr lang="en-US" dirty="0"/>
              <a:t> </a:t>
            </a:r>
            <a:r>
              <a:rPr lang="en-US" dirty="0" err="1"/>
              <a:t>đợi</a:t>
            </a:r>
            <a:r>
              <a:rPr lang="en-US" dirty="0"/>
              <a:t> </a:t>
            </a:r>
            <a:r>
              <a:rPr lang="en-US" dirty="0" err="1"/>
              <a:t>toàn</a:t>
            </a:r>
            <a:r>
              <a:rPr lang="en-US" dirty="0"/>
              <a:t> </a:t>
            </a:r>
            <a:r>
              <a:rPr lang="en-US" dirty="0" err="1"/>
              <a:t>bộ</a:t>
            </a:r>
            <a:r>
              <a:rPr lang="en-US" dirty="0"/>
              <a:t> </a:t>
            </a:r>
            <a:r>
              <a:rPr lang="en-US" dirty="0" err="1"/>
              <a:t>trang</a:t>
            </a:r>
            <a:r>
              <a:rPr lang="en-US" dirty="0"/>
              <a:t> render </a:t>
            </a:r>
            <a:r>
              <a:rPr lang="en-US" dirty="0" err="1"/>
              <a:t>xong</a:t>
            </a:r>
            <a:r>
              <a:rPr lang="en-US" dirty="0"/>
              <a:t> </a:t>
            </a:r>
            <a:r>
              <a:rPr lang="en-US" dirty="0" err="1"/>
              <a:t>mới</a:t>
            </a:r>
            <a:r>
              <a:rPr lang="en-US" dirty="0"/>
              <a:t> </a:t>
            </a:r>
            <a:r>
              <a:rPr lang="en-US" dirty="0" err="1"/>
              <a:t>hiển</a:t>
            </a:r>
            <a:r>
              <a:rPr lang="en-US" dirty="0"/>
              <a:t> </a:t>
            </a:r>
            <a:r>
              <a:rPr lang="en-US" dirty="0" err="1"/>
              <a:t>thị</a:t>
            </a:r>
            <a:r>
              <a:rPr lang="en-US" dirty="0"/>
              <a:t>.</a:t>
            </a:r>
          </a:p>
        </p:txBody>
      </p:sp>
      <p:sp>
        <p:nvSpPr>
          <p:cNvPr id="4" name="Slide Number Placeholder 3"/>
          <p:cNvSpPr>
            <a:spLocks noGrp="1"/>
          </p:cNvSpPr>
          <p:nvPr>
            <p:ph type="sldNum" sz="quarter" idx="5"/>
          </p:nvPr>
        </p:nvSpPr>
        <p:spPr/>
        <p:txBody>
          <a:bodyPr/>
          <a:lstStyle/>
          <a:p>
            <a:fld id="{17558DDE-3ED7-4081-9837-FE937D2986C4}" type="slidenum">
              <a:rPr lang="en-US" smtClean="0"/>
              <a:t>84</a:t>
            </a:fld>
            <a:endParaRPr lang="en-US"/>
          </a:p>
        </p:txBody>
      </p:sp>
    </p:spTree>
    <p:extLst>
      <p:ext uri="{BB962C8B-B14F-4D97-AF65-F5344CB8AC3E}">
        <p14:creationId xmlns:p14="http://schemas.microsoft.com/office/powerpoint/2010/main" val="31600657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hiệu ứng chuyển tiếp phía máy khách trong Next.js cho phép điều hướng giữa các trang mà không cần tải lại toàn bộ trang, giúp ứng dụng hoạt động nhanh và mượt mà — tương tự như một ứng dụng trang đơn (SPA).</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87</a:t>
            </a:fld>
            <a:endParaRPr lang="en-US"/>
          </a:p>
        </p:txBody>
      </p:sp>
    </p:spTree>
    <p:extLst>
      <p:ext uri="{BB962C8B-B14F-4D97-AF65-F5344CB8AC3E}">
        <p14:creationId xmlns:p14="http://schemas.microsoft.com/office/powerpoint/2010/main" val="22937322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(App Router) </a:t>
            </a:r>
            <a:r>
              <a:rPr lang="en-US" dirty="0" err="1"/>
              <a:t>sử</a:t>
            </a:r>
            <a:r>
              <a:rPr lang="en-US" dirty="0"/>
              <a:t> </a:t>
            </a:r>
            <a:r>
              <a:rPr lang="en-US" dirty="0" err="1"/>
              <a:t>dụng</a:t>
            </a:r>
            <a:r>
              <a:rPr lang="en-US" dirty="0"/>
              <a:t> React Server Components (RSC) </a:t>
            </a:r>
            <a:r>
              <a:rPr lang="en-US" dirty="0" err="1"/>
              <a:t>để</a:t>
            </a:r>
            <a:r>
              <a:rPr lang="en-US" dirty="0"/>
              <a:t> </a:t>
            </a:r>
            <a:r>
              <a:rPr lang="en-US" dirty="0" err="1"/>
              <a:t>tách</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thành</a:t>
            </a:r>
            <a:r>
              <a:rPr lang="en-US" dirty="0"/>
              <a:t> Server Components </a:t>
            </a:r>
            <a:r>
              <a:rPr lang="en-US" dirty="0" err="1"/>
              <a:t>và</a:t>
            </a:r>
            <a:r>
              <a:rPr lang="en-US" dirty="0"/>
              <a:t> Client Components, </a:t>
            </a:r>
            <a:r>
              <a:rPr lang="en-US" dirty="0" err="1"/>
              <a:t>giúp</a:t>
            </a:r>
            <a:r>
              <a:rPr lang="en-US" dirty="0"/>
              <a:t> </a:t>
            </a:r>
            <a:r>
              <a:rPr lang="en-US" dirty="0" err="1"/>
              <a:t>cải</a:t>
            </a:r>
            <a:r>
              <a:rPr lang="en-US" dirty="0"/>
              <a:t> </a:t>
            </a:r>
            <a:r>
              <a:rPr lang="en-US" dirty="0" err="1"/>
              <a:t>thiện</a:t>
            </a:r>
            <a:r>
              <a:rPr lang="en-US" dirty="0"/>
              <a:t> </a:t>
            </a:r>
            <a:r>
              <a:rPr lang="en-US" dirty="0" err="1"/>
              <a:t>hiệu</a:t>
            </a:r>
            <a:r>
              <a:rPr lang="en-US" dirty="0"/>
              <a:t> </a:t>
            </a:r>
            <a:r>
              <a:rPr lang="en-US" dirty="0" err="1"/>
              <a:t>suất</a:t>
            </a:r>
            <a:r>
              <a:rPr lang="en-US" dirty="0"/>
              <a:t> </a:t>
            </a:r>
            <a:r>
              <a:rPr lang="en-US" dirty="0" err="1"/>
              <a:t>và</a:t>
            </a:r>
            <a:r>
              <a:rPr lang="en-US" dirty="0"/>
              <a:t> </a:t>
            </a:r>
            <a:r>
              <a:rPr lang="en-US" dirty="0" err="1"/>
              <a:t>khả</a:t>
            </a:r>
            <a:r>
              <a:rPr lang="en-US" dirty="0"/>
              <a:t> </a:t>
            </a:r>
            <a:r>
              <a:rPr lang="en-US" dirty="0" err="1"/>
              <a:t>năng</a:t>
            </a:r>
            <a:r>
              <a:rPr lang="en-US" dirty="0"/>
              <a:t> </a:t>
            </a:r>
            <a:r>
              <a:rPr lang="en-US" dirty="0" err="1"/>
              <a:t>mở</a:t>
            </a:r>
            <a:r>
              <a:rPr lang="en-US" dirty="0"/>
              <a:t> </a:t>
            </a:r>
            <a:r>
              <a:rPr lang="en-US" dirty="0" err="1"/>
              <a:t>rộng</a:t>
            </a:r>
            <a:r>
              <a:rPr lang="en-US" dirty="0"/>
              <a:t>.</a:t>
            </a:r>
          </a:p>
          <a:p>
            <a:r>
              <a:rPr lang="vi-VN" dirty="0"/>
              <a:t>Khi nào nên sử dụng các thành phần máy chủ và máy khách?</a:t>
            </a:r>
          </a:p>
          <a:p>
            <a:endParaRPr lang="vi-VN" dirty="0"/>
          </a:p>
          <a:p>
            <a:r>
              <a:rPr lang="vi-VN" dirty="0"/>
              <a:t>Môi trường máy khách và máy chủ có các khả năng khác nhau. Các thành phần máy chủ và máy khách cho phép bạn chạy logic trong từng môi trường tùy thuộc vào trường hợp sử dụng của bạn.</a:t>
            </a:r>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88</a:t>
            </a:fld>
            <a:endParaRPr lang="en-US"/>
          </a:p>
        </p:txBody>
      </p:sp>
    </p:spTree>
    <p:extLst>
      <p:ext uri="{BB962C8B-B14F-4D97-AF65-F5344CB8AC3E}">
        <p14:creationId xmlns:p14="http://schemas.microsoft.com/office/powerpoint/2010/main" val="39600138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Advantages</a:t>
            </a:r>
          </a:p>
          <a:p>
            <a:r>
              <a:rPr lang="en-US" dirty="0"/>
              <a:t>No client-side JavaScript needed</a:t>
            </a:r>
          </a:p>
          <a:p>
            <a:r>
              <a:rPr lang="en-US" dirty="0"/>
              <a:t>Better performance &amp; SEO</a:t>
            </a:r>
          </a:p>
          <a:p>
            <a:r>
              <a:rPr lang="en-US" dirty="0"/>
              <a:t>Secure access to secrets</a:t>
            </a:r>
          </a:p>
          <a:p>
            <a:endParaRPr lang="en-US" dirty="0"/>
          </a:p>
        </p:txBody>
      </p:sp>
      <p:sp>
        <p:nvSpPr>
          <p:cNvPr id="4" name="Slide Number Placeholder 3"/>
          <p:cNvSpPr>
            <a:spLocks noGrp="1"/>
          </p:cNvSpPr>
          <p:nvPr>
            <p:ph type="sldNum" sz="quarter" idx="5"/>
          </p:nvPr>
        </p:nvSpPr>
        <p:spPr/>
        <p:txBody>
          <a:bodyPr/>
          <a:lstStyle/>
          <a:p>
            <a:fld id="{17558DDE-3ED7-4081-9837-FE937D2986C4}" type="slidenum">
              <a:rPr lang="en-US" smtClean="0"/>
              <a:t>95</a:t>
            </a:fld>
            <a:endParaRPr lang="en-US"/>
          </a:p>
        </p:txBody>
      </p:sp>
    </p:spTree>
    <p:extLst>
      <p:ext uri="{BB962C8B-B14F-4D97-AF65-F5344CB8AC3E}">
        <p14:creationId xmlns:p14="http://schemas.microsoft.com/office/powerpoint/2010/main" val="1921807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ctr">
              <a:lnSpc>
                <a:spcPct val="85000"/>
              </a:lnSpc>
              <a:defRPr sz="6600" b="1"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D0E77B-CCCC-450F-90E9-A2B5AC128C75}"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FB3B-2D4F-4388-91F0-DA9C56813D2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101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90134"/>
          </a:xfrm>
        </p:spPr>
        <p:txBody>
          <a:bodyPr>
            <a:normAutofit/>
          </a:bodyPr>
          <a:lstStyle>
            <a:lvl1pPr marL="0">
              <a:defRPr sz="4000" b="1"/>
            </a:lvl1pPr>
          </a:lstStyle>
          <a:p>
            <a:r>
              <a:rPr lang="en-US" dirty="0"/>
              <a:t>Click to edit Master title style</a:t>
            </a:r>
          </a:p>
        </p:txBody>
      </p:sp>
      <p:sp>
        <p:nvSpPr>
          <p:cNvPr id="3" name="Content Placeholder 2"/>
          <p:cNvSpPr>
            <a:spLocks noGrp="1"/>
          </p:cNvSpPr>
          <p:nvPr>
            <p:ph idx="1"/>
          </p:nvPr>
        </p:nvSpPr>
        <p:spPr>
          <a:xfrm>
            <a:off x="1097280" y="1582220"/>
            <a:ext cx="10058400" cy="4286874"/>
          </a:xfrm>
        </p:spPr>
        <p:txBody>
          <a:bodyPr>
            <a:normAutofit/>
          </a:bodyPr>
          <a:lstStyle>
            <a:lvl1pPr>
              <a:lnSpc>
                <a:spcPct val="100000"/>
              </a:lnSpc>
              <a:buFont typeface="Wingdings" panose="05000000000000000000" pitchFamily="2" charset="2"/>
              <a:buChar char="q"/>
              <a:defRPr sz="2800"/>
            </a:lvl1pPr>
            <a:lvl2pPr>
              <a:lnSpc>
                <a:spcPct val="100000"/>
              </a:lnSpc>
              <a:buFont typeface="Wingdings" panose="05000000000000000000" pitchFamily="2" charset="2"/>
              <a:buChar char="v"/>
              <a:defRPr sz="2400"/>
            </a:lvl2pPr>
            <a:lvl3pPr>
              <a:lnSpc>
                <a:spcPct val="100000"/>
              </a:lnSpc>
              <a:buFont typeface="Wingdings" panose="05000000000000000000" pitchFamily="2" charset="2"/>
              <a:buChar char="ü"/>
              <a:defRPr sz="1800"/>
            </a:lvl3pPr>
            <a:lvl4pPr>
              <a:lnSpc>
                <a:spcPct val="100000"/>
              </a:lnSpc>
              <a:buFont typeface="Wingdings" panose="05000000000000000000" pitchFamily="2" charset="2"/>
              <a:buChar char="q"/>
              <a:defRPr sz="1800"/>
            </a:lvl4pPr>
            <a:lvl5pPr>
              <a:lnSpc>
                <a:spcPct val="100000"/>
              </a:lnSpc>
              <a:buFont typeface="Wingdings" panose="05000000000000000000" pitchFamily="2" charset="2"/>
              <a:buChar char="q"/>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4D0E77B-CCCC-450F-90E9-A2B5AC128C75}"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FB3B-2D4F-4388-91F0-DA9C56813D24}" type="slidenum">
              <a:rPr lang="en-US" smtClean="0"/>
              <a:t>‹#›</a:t>
            </a:fld>
            <a:endParaRPr lang="en-US"/>
          </a:p>
        </p:txBody>
      </p:sp>
    </p:spTree>
    <p:extLst>
      <p:ext uri="{BB962C8B-B14F-4D97-AF65-F5344CB8AC3E}">
        <p14:creationId xmlns:p14="http://schemas.microsoft.com/office/powerpoint/2010/main" val="34609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D0E77B-CCCC-450F-90E9-A2B5AC128C75}"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FB3B-2D4F-4388-91F0-DA9C56813D2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398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D0E77B-CCCC-450F-90E9-A2B5AC128C75}"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5FB3B-2D4F-4388-91F0-DA9C56813D24}" type="slidenum">
              <a:rPr lang="en-US" smtClean="0"/>
              <a:t>‹#›</a:t>
            </a:fld>
            <a:endParaRPr lang="en-US"/>
          </a:p>
        </p:txBody>
      </p:sp>
    </p:spTree>
    <p:extLst>
      <p:ext uri="{BB962C8B-B14F-4D97-AF65-F5344CB8AC3E}">
        <p14:creationId xmlns:p14="http://schemas.microsoft.com/office/powerpoint/2010/main" val="2578122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D0E77B-CCCC-450F-90E9-A2B5AC128C75}" type="datetimeFigureOut">
              <a:rPr lang="en-US" smtClean="0"/>
              <a:t>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D5FB3B-2D4F-4388-91F0-DA9C56813D24}" type="slidenum">
              <a:rPr lang="en-US" smtClean="0"/>
              <a:t>‹#›</a:t>
            </a:fld>
            <a:endParaRPr lang="en-US"/>
          </a:p>
        </p:txBody>
      </p:sp>
    </p:spTree>
    <p:extLst>
      <p:ext uri="{BB962C8B-B14F-4D97-AF65-F5344CB8AC3E}">
        <p14:creationId xmlns:p14="http://schemas.microsoft.com/office/powerpoint/2010/main" val="308428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D0E77B-CCCC-450F-90E9-A2B5AC128C75}" type="datetimeFigureOut">
              <a:rPr lang="en-US" smtClean="0"/>
              <a:t>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5FB3B-2D4F-4388-91F0-DA9C56813D24}" type="slidenum">
              <a:rPr lang="en-US" smtClean="0"/>
              <a:t>‹#›</a:t>
            </a:fld>
            <a:endParaRPr lang="en-US"/>
          </a:p>
        </p:txBody>
      </p:sp>
    </p:spTree>
    <p:extLst>
      <p:ext uri="{BB962C8B-B14F-4D97-AF65-F5344CB8AC3E}">
        <p14:creationId xmlns:p14="http://schemas.microsoft.com/office/powerpoint/2010/main" val="462588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4D0E77B-CCCC-450F-90E9-A2B5AC128C75}" type="datetimeFigureOut">
              <a:rPr lang="en-US" smtClean="0"/>
              <a:t>1/4/2026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ED5FB3B-2D4F-4388-91F0-DA9C56813D24}" type="slidenum">
              <a:rPr lang="en-US" smtClean="0"/>
              <a:t>‹#›</a:t>
            </a:fld>
            <a:endParaRPr lang="en-US"/>
          </a:p>
        </p:txBody>
      </p:sp>
    </p:spTree>
    <p:extLst>
      <p:ext uri="{BB962C8B-B14F-4D97-AF65-F5344CB8AC3E}">
        <p14:creationId xmlns:p14="http://schemas.microsoft.com/office/powerpoint/2010/main" val="695169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4D0E77B-CCCC-450F-90E9-A2B5AC128C75}" type="datetimeFigureOut">
              <a:rPr lang="en-US" smtClean="0"/>
              <a:t>1/4/2026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ED5FB3B-2D4F-4388-91F0-DA9C56813D24}" type="slidenum">
              <a:rPr lang="en-US" smtClean="0"/>
              <a:t>‹#›</a:t>
            </a:fld>
            <a:endParaRPr lang="en-US"/>
          </a:p>
        </p:txBody>
      </p:sp>
    </p:spTree>
    <p:extLst>
      <p:ext uri="{BB962C8B-B14F-4D97-AF65-F5344CB8AC3E}">
        <p14:creationId xmlns:p14="http://schemas.microsoft.com/office/powerpoint/2010/main" val="2061777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D0E77B-CCCC-450F-90E9-A2B5AC128C75}"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D5FB3B-2D4F-4388-91F0-DA9C56813D24}" type="slidenum">
              <a:rPr lang="en-US" smtClean="0"/>
              <a:t>‹#›</a:t>
            </a:fld>
            <a:endParaRPr lang="en-US"/>
          </a:p>
        </p:txBody>
      </p:sp>
    </p:spTree>
    <p:extLst>
      <p:ext uri="{BB962C8B-B14F-4D97-AF65-F5344CB8AC3E}">
        <p14:creationId xmlns:p14="http://schemas.microsoft.com/office/powerpoint/2010/main" val="158998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D0E77B-CCCC-450F-90E9-A2B5AC128C75}"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FB3B-2D4F-4388-91F0-DA9C56813D24}" type="slidenum">
              <a:rPr lang="en-US" smtClean="0"/>
              <a:t>‹#›</a:t>
            </a:fld>
            <a:endParaRPr lang="en-US"/>
          </a:p>
        </p:txBody>
      </p:sp>
    </p:spTree>
    <p:extLst>
      <p:ext uri="{BB962C8B-B14F-4D97-AF65-F5344CB8AC3E}">
        <p14:creationId xmlns:p14="http://schemas.microsoft.com/office/powerpoint/2010/main" val="1656791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D0E77B-CCCC-450F-90E9-A2B5AC128C75}"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D5FB3B-2D4F-4388-91F0-DA9C56813D24}" type="slidenum">
              <a:rPr lang="en-US" smtClean="0"/>
              <a:t>‹#›</a:t>
            </a:fld>
            <a:endParaRPr lang="en-US"/>
          </a:p>
        </p:txBody>
      </p:sp>
    </p:spTree>
    <p:extLst>
      <p:ext uri="{BB962C8B-B14F-4D97-AF65-F5344CB8AC3E}">
        <p14:creationId xmlns:p14="http://schemas.microsoft.com/office/powerpoint/2010/main" val="968415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09390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498885"/>
            <a:ext cx="10058400" cy="4370209"/>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4D0E77B-CCCC-450F-90E9-A2B5AC128C75}" type="datetimeFigureOut">
              <a:rPr lang="en-US" smtClean="0"/>
              <a:t>1/4/2026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ED5FB3B-2D4F-4388-91F0-DA9C56813D24}" type="slidenum">
              <a:rPr lang="en-US" smtClean="0"/>
              <a:t>‹#›</a:t>
            </a:fld>
            <a:endParaRPr lang="en-US"/>
          </a:p>
        </p:txBody>
      </p:sp>
      <p:cxnSp>
        <p:nvCxnSpPr>
          <p:cNvPr id="10" name="Straight Connector 9"/>
          <p:cNvCxnSpPr/>
          <p:nvPr/>
        </p:nvCxnSpPr>
        <p:spPr>
          <a:xfrm>
            <a:off x="1193532" y="1439899"/>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7576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b="1" kern="1200" spc="-50" baseline="0">
          <a:solidFill>
            <a:schemeClr val="tx1">
              <a:lumMod val="75000"/>
              <a:lumOff val="25000"/>
            </a:schemeClr>
          </a:solidFill>
          <a:latin typeface="+mj-lt"/>
          <a:ea typeface="+mj-ea"/>
          <a:cs typeface="+mj-cs"/>
        </a:defRPr>
      </a:lvl1pPr>
    </p:titleStyle>
    <p:bodyStyle>
      <a:lvl1pPr marL="406400" indent="-4064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q"/>
        <a:defRPr sz="2800" kern="1200">
          <a:solidFill>
            <a:schemeClr val="tx1">
              <a:lumMod val="75000"/>
              <a:lumOff val="25000"/>
            </a:schemeClr>
          </a:solidFill>
          <a:latin typeface="+mn-lt"/>
          <a:ea typeface="+mn-ea"/>
          <a:cs typeface="+mn-cs"/>
        </a:defRPr>
      </a:lvl1pPr>
      <a:lvl2pPr marL="566738" indent="-366713" algn="l" defTabSz="914400" rtl="0" eaLnBrk="1" latinLnBrk="0" hangingPunct="1">
        <a:lnSpc>
          <a:spcPct val="100000"/>
        </a:lnSpc>
        <a:spcBef>
          <a:spcPts val="200"/>
        </a:spcBef>
        <a:spcAft>
          <a:spcPts val="400"/>
        </a:spcAft>
        <a:buClr>
          <a:schemeClr val="accent1"/>
        </a:buClr>
        <a:buFont typeface="Wingdings" panose="05000000000000000000" pitchFamily="2" charset="2"/>
        <a:buChar char="v"/>
        <a:defRPr sz="2400" kern="1200">
          <a:solidFill>
            <a:schemeClr val="tx1">
              <a:lumMod val="75000"/>
              <a:lumOff val="25000"/>
            </a:schemeClr>
          </a:solidFill>
          <a:latin typeface="+mn-lt"/>
          <a:ea typeface="+mn-ea"/>
          <a:cs typeface="+mn-cs"/>
        </a:defRPr>
      </a:lvl2pPr>
      <a:lvl3pPr marL="739775" indent="-35560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ü"/>
        <a:defRPr sz="18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q"/>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Wingdings" panose="05000000000000000000" pitchFamily="2" charset="2"/>
        <a:buChar char="q"/>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localhost:3000/"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nextjs.org/docs/pages/building-your-application/routing" TargetMode="External"/><Relationship Id="rId2" Type="http://schemas.openxmlformats.org/officeDocument/2006/relationships/hyperlink" Target="https://nextjs.org/docs/app" TargetMode="External"/><Relationship Id="rId1" Type="http://schemas.openxmlformats.org/officeDocument/2006/relationships/slideLayout" Target="../slideLayouts/slideLayout2.xml"/><Relationship Id="rId5" Type="http://schemas.openxmlformats.org/officeDocument/2006/relationships/hyperlink" Target="https://nextjs.org/docs/app/api-reference/file-conventions/src-folder" TargetMode="External"/><Relationship Id="rId4" Type="http://schemas.openxmlformats.org/officeDocument/2006/relationships/hyperlink" Target="https://nextjs.org/docs/app/api-reference/file-conventions/public-folder"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nextjs.org/docs/14/getting-started/installation#manual-installation" TargetMode="External"/><Relationship Id="rId2" Type="http://schemas.openxmlformats.org/officeDocument/2006/relationships/hyperlink" Target="https://nextjs.org/docs/14/app/api-reference/next-config-js" TargetMode="External"/><Relationship Id="rId1" Type="http://schemas.openxmlformats.org/officeDocument/2006/relationships/slideLayout" Target="../slideLayouts/slideLayout2.xml"/><Relationship Id="rId6" Type="http://schemas.openxmlformats.org/officeDocument/2006/relationships/hyperlink" Target="https://nextjs.org/docs/14/app/building-your-application/configuring/environment-variables" TargetMode="External"/><Relationship Id="rId5" Type="http://schemas.openxmlformats.org/officeDocument/2006/relationships/hyperlink" Target="https://nextjs.org/docs/14/app/building-your-application/routing/middleware" TargetMode="External"/><Relationship Id="rId4" Type="http://schemas.openxmlformats.org/officeDocument/2006/relationships/hyperlink" Target="https://nextjs.org/docs/14/app/building-your-application/optimizing/instrumentation"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nextjs.org/docs/14/app/building-your-application/configuring/eslint" TargetMode="External"/><Relationship Id="rId2" Type="http://schemas.openxmlformats.org/officeDocument/2006/relationships/hyperlink" Target="https://nextjs.org/docs/14/app/building-your-application/configuring/environment-variable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nextjs.org/docs/14/app/api-reference/file-conventions/page" TargetMode="External"/><Relationship Id="rId2" Type="http://schemas.openxmlformats.org/officeDocument/2006/relationships/hyperlink" Target="https://nextjs.org/docs/14/app/api-reference/file-conventions/layout" TargetMode="External"/><Relationship Id="rId1" Type="http://schemas.openxmlformats.org/officeDocument/2006/relationships/slideLayout" Target="../slideLayouts/slideLayout2.xml"/><Relationship Id="rId6" Type="http://schemas.openxmlformats.org/officeDocument/2006/relationships/hyperlink" Target="https://nextjs.org/docs/14/app/api-reference/file-conventions/error" TargetMode="External"/><Relationship Id="rId5" Type="http://schemas.openxmlformats.org/officeDocument/2006/relationships/hyperlink" Target="https://nextjs.org/docs/14/app/api-reference/file-conventions/not-found" TargetMode="External"/><Relationship Id="rId4" Type="http://schemas.openxmlformats.org/officeDocument/2006/relationships/hyperlink" Target="https://nextjs.org/docs/14/app/api-reference/file-conventions/loading"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nextjs.org/docs/14/app/api-reference/file-conventions/route" TargetMode="External"/><Relationship Id="rId2" Type="http://schemas.openxmlformats.org/officeDocument/2006/relationships/hyperlink" Target="https://nextjs.org/docs/14/app/api-reference/file-conventions/error#global-errorjs" TargetMode="External"/><Relationship Id="rId1" Type="http://schemas.openxmlformats.org/officeDocument/2006/relationships/slideLayout" Target="../slideLayouts/slideLayout2.xml"/><Relationship Id="rId5" Type="http://schemas.openxmlformats.org/officeDocument/2006/relationships/hyperlink" Target="https://nextjs.org/docs/14/app/api-reference/file-conventions/default" TargetMode="External"/><Relationship Id="rId4" Type="http://schemas.openxmlformats.org/officeDocument/2006/relationships/hyperlink" Target="https://nextjs.org/docs/14/app/api-reference/file-conventions/template"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hyperlink" Target="https://nextjs.org/docs/app/api-reference/file-conventions/page#searchparams-optional"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image" Target="../media/image39.tmp"/><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7.tmp"/><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3D60-D697-CD4C-6C7A-2C7FBAA6C3D4}"/>
              </a:ext>
            </a:extLst>
          </p:cNvPr>
          <p:cNvSpPr>
            <a:spLocks noGrp="1"/>
          </p:cNvSpPr>
          <p:nvPr>
            <p:ph type="ctrTitle"/>
          </p:nvPr>
        </p:nvSpPr>
        <p:spPr/>
        <p:txBody>
          <a:bodyPr>
            <a:normAutofit/>
          </a:bodyPr>
          <a:lstStyle/>
          <a:p>
            <a:r>
              <a:rPr lang="en-US" sz="8000" spc="0" dirty="0">
                <a:ln w="13462">
                  <a:solidFill>
                    <a:schemeClr val="bg1"/>
                  </a:solidFill>
                  <a:prstDash val="solid"/>
                </a:ln>
                <a:effectLst>
                  <a:outerShdw dist="38100" dir="2700000" algn="bl" rotWithShape="0">
                    <a:schemeClr val="accent5"/>
                  </a:outerShdw>
                </a:effectLst>
              </a:rPr>
              <a:t>Overview of Next.js</a:t>
            </a:r>
          </a:p>
        </p:txBody>
      </p:sp>
      <p:sp>
        <p:nvSpPr>
          <p:cNvPr id="3" name="Subtitle 2">
            <a:extLst>
              <a:ext uri="{FF2B5EF4-FFF2-40B4-BE49-F238E27FC236}">
                <a16:creationId xmlns:a16="http://schemas.microsoft.com/office/drawing/2014/main" id="{B78F6113-5920-8EFE-6B11-EC0C3B3B9DD2}"/>
              </a:ext>
            </a:extLst>
          </p:cNvPr>
          <p:cNvSpPr>
            <a:spLocks noGrp="1"/>
          </p:cNvSpPr>
          <p:nvPr>
            <p:ph type="subTitle" idx="1"/>
          </p:nvPr>
        </p:nvSpPr>
        <p:spPr/>
        <p:txBody>
          <a:bodyPr/>
          <a:lstStyle/>
          <a:p>
            <a:pPr algn="ctr"/>
            <a:r>
              <a:rPr lang="en-US" dirty="0" err="1"/>
              <a:t>Gv</a:t>
            </a:r>
            <a:r>
              <a:rPr lang="en-US" dirty="0"/>
              <a:t>: </a:t>
            </a:r>
            <a:r>
              <a:rPr lang="en-US" dirty="0" err="1"/>
              <a:t>Từ</a:t>
            </a:r>
            <a:r>
              <a:rPr lang="en-US" dirty="0"/>
              <a:t> </a:t>
            </a:r>
            <a:r>
              <a:rPr lang="en-US" dirty="0" err="1"/>
              <a:t>thị</a:t>
            </a:r>
            <a:r>
              <a:rPr lang="en-US" dirty="0"/>
              <a:t> </a:t>
            </a:r>
            <a:r>
              <a:rPr lang="en-US" dirty="0" err="1"/>
              <a:t>xuân</a:t>
            </a:r>
            <a:r>
              <a:rPr lang="en-US" dirty="0"/>
              <a:t> </a:t>
            </a:r>
            <a:r>
              <a:rPr lang="en-US" dirty="0" err="1"/>
              <a:t>hiền</a:t>
            </a:r>
            <a:endParaRPr lang="en-US" dirty="0"/>
          </a:p>
        </p:txBody>
      </p:sp>
    </p:spTree>
    <p:extLst>
      <p:ext uri="{BB962C8B-B14F-4D97-AF65-F5344CB8AC3E}">
        <p14:creationId xmlns:p14="http://schemas.microsoft.com/office/powerpoint/2010/main" val="3661641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DE229-391D-521B-7310-8CE1C5486E41}"/>
              </a:ext>
            </a:extLst>
          </p:cNvPr>
          <p:cNvSpPr>
            <a:spLocks noGrp="1"/>
          </p:cNvSpPr>
          <p:nvPr>
            <p:ph type="title"/>
          </p:nvPr>
        </p:nvSpPr>
        <p:spPr/>
        <p:txBody>
          <a:bodyPr/>
          <a:lstStyle/>
          <a:p>
            <a:r>
              <a:rPr lang="en-US" dirty="0"/>
              <a:t>What is Next.js?</a:t>
            </a:r>
          </a:p>
        </p:txBody>
      </p:sp>
      <p:sp>
        <p:nvSpPr>
          <p:cNvPr id="3" name="Content Placeholder 2">
            <a:extLst>
              <a:ext uri="{FF2B5EF4-FFF2-40B4-BE49-F238E27FC236}">
                <a16:creationId xmlns:a16="http://schemas.microsoft.com/office/drawing/2014/main" id="{723AB90B-0770-4610-7061-FEB8DFFC87C3}"/>
              </a:ext>
            </a:extLst>
          </p:cNvPr>
          <p:cNvSpPr>
            <a:spLocks noGrp="1"/>
          </p:cNvSpPr>
          <p:nvPr>
            <p:ph idx="1"/>
          </p:nvPr>
        </p:nvSpPr>
        <p:spPr/>
        <p:txBody>
          <a:bodyPr>
            <a:normAutofit/>
          </a:bodyPr>
          <a:lstStyle/>
          <a:p>
            <a:r>
              <a:rPr lang="en-US" b="1" dirty="0">
                <a:solidFill>
                  <a:srgbClr val="FF0000"/>
                </a:solidFill>
              </a:rPr>
              <a:t>Next.js is a React framework </a:t>
            </a:r>
            <a:r>
              <a:rPr lang="en-US" dirty="0"/>
              <a:t>for building full-stack web applications. We use </a:t>
            </a:r>
            <a:r>
              <a:rPr lang="en-US" b="1" dirty="0"/>
              <a:t>React Components </a:t>
            </a:r>
            <a:r>
              <a:rPr lang="en-US" dirty="0"/>
              <a:t>to build </a:t>
            </a:r>
            <a:r>
              <a:rPr lang="en-US" b="1" dirty="0"/>
              <a:t>user interfaces</a:t>
            </a:r>
            <a:r>
              <a:rPr lang="en-US" dirty="0"/>
              <a:t>, and </a:t>
            </a:r>
            <a:r>
              <a:rPr lang="en-US" b="1" dirty="0"/>
              <a:t>Next.js </a:t>
            </a:r>
            <a:r>
              <a:rPr lang="en-US" dirty="0"/>
              <a:t>for </a:t>
            </a:r>
            <a:r>
              <a:rPr lang="en-US" b="1" dirty="0"/>
              <a:t>additional features and optimizations</a:t>
            </a:r>
            <a:r>
              <a:rPr lang="en-US" dirty="0"/>
              <a:t>.</a:t>
            </a:r>
          </a:p>
          <a:p>
            <a:r>
              <a:rPr lang="en-US" dirty="0"/>
              <a:t>It also automatically configures lower-level tools like bundlers and compilers.</a:t>
            </a:r>
          </a:p>
          <a:p>
            <a:r>
              <a:rPr lang="en-US" dirty="0"/>
              <a:t>Next.js can help you build interactive, dynamic, and fast React applications.</a:t>
            </a:r>
          </a:p>
          <a:p>
            <a:endParaRPr lang="en-US" dirty="0"/>
          </a:p>
        </p:txBody>
      </p:sp>
    </p:spTree>
    <p:extLst>
      <p:ext uri="{BB962C8B-B14F-4D97-AF65-F5344CB8AC3E}">
        <p14:creationId xmlns:p14="http://schemas.microsoft.com/office/powerpoint/2010/main" val="377807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9C138-1AA1-68E3-02AF-1D9635E4155B}"/>
              </a:ext>
            </a:extLst>
          </p:cNvPr>
          <p:cNvSpPr>
            <a:spLocks noGrp="1"/>
          </p:cNvSpPr>
          <p:nvPr>
            <p:ph type="title"/>
          </p:nvPr>
        </p:nvSpPr>
        <p:spPr/>
        <p:txBody>
          <a:bodyPr>
            <a:normAutofit/>
          </a:bodyPr>
          <a:lstStyle/>
          <a:p>
            <a:r>
              <a:rPr lang="en-US" dirty="0"/>
              <a:t>Why use Next.js?</a:t>
            </a:r>
          </a:p>
        </p:txBody>
      </p:sp>
      <p:sp>
        <p:nvSpPr>
          <p:cNvPr id="3" name="Content Placeholder 2">
            <a:extLst>
              <a:ext uri="{FF2B5EF4-FFF2-40B4-BE49-F238E27FC236}">
                <a16:creationId xmlns:a16="http://schemas.microsoft.com/office/drawing/2014/main" id="{09E99532-6D67-C1EB-FF4E-A53E5A3DE111}"/>
              </a:ext>
            </a:extLst>
          </p:cNvPr>
          <p:cNvSpPr>
            <a:spLocks noGrp="1"/>
          </p:cNvSpPr>
          <p:nvPr>
            <p:ph idx="1"/>
          </p:nvPr>
        </p:nvSpPr>
        <p:spPr/>
        <p:txBody>
          <a:bodyPr/>
          <a:lstStyle/>
          <a:p>
            <a:r>
              <a:rPr lang="en-US" b="1" dirty="0"/>
              <a:t>Next.js</a:t>
            </a:r>
            <a:r>
              <a:rPr lang="en-US" dirty="0"/>
              <a:t> supports built-in SSR for improved performance and SEO. </a:t>
            </a:r>
          </a:p>
          <a:p>
            <a:r>
              <a:rPr lang="en-US" dirty="0"/>
              <a:t>With all the information on the server, it processes it to generate the HTML of the page. </a:t>
            </a:r>
          </a:p>
          <a:p>
            <a:r>
              <a:rPr lang="en-US" dirty="0"/>
              <a:t>The client can then send a request to the server and receive the entire HTML page instead of requesting each individual element through client rendering.</a:t>
            </a:r>
          </a:p>
        </p:txBody>
      </p:sp>
    </p:spTree>
    <p:extLst>
      <p:ext uri="{BB962C8B-B14F-4D97-AF65-F5344CB8AC3E}">
        <p14:creationId xmlns:p14="http://schemas.microsoft.com/office/powerpoint/2010/main" val="653505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4EEB8-1DDB-30C9-DAEE-F16366574308}"/>
              </a:ext>
            </a:extLst>
          </p:cNvPr>
          <p:cNvSpPr>
            <a:spLocks noGrp="1"/>
          </p:cNvSpPr>
          <p:nvPr>
            <p:ph type="title"/>
          </p:nvPr>
        </p:nvSpPr>
        <p:spPr/>
        <p:txBody>
          <a:bodyPr/>
          <a:lstStyle/>
          <a:p>
            <a:r>
              <a:rPr lang="en-US" dirty="0"/>
              <a:t>Why use Next.js?</a:t>
            </a:r>
          </a:p>
        </p:txBody>
      </p:sp>
      <p:pic>
        <p:nvPicPr>
          <p:cNvPr id="5" name="Picture 4">
            <a:extLst>
              <a:ext uri="{FF2B5EF4-FFF2-40B4-BE49-F238E27FC236}">
                <a16:creationId xmlns:a16="http://schemas.microsoft.com/office/drawing/2014/main" id="{011E59EA-646A-29B6-DF86-4574B3691443}"/>
              </a:ext>
            </a:extLst>
          </p:cNvPr>
          <p:cNvPicPr>
            <a:picLocks noChangeAspect="1"/>
          </p:cNvPicPr>
          <p:nvPr/>
        </p:nvPicPr>
        <p:blipFill>
          <a:blip r:embed="rId2">
            <a:extLst>
              <a:ext uri="{28A0092B-C50C-407E-A947-70E740481C1C}">
                <a14:useLocalDpi xmlns:a14="http://schemas.microsoft.com/office/drawing/2010/main" val="0"/>
              </a:ext>
            </a:extLst>
          </a:blip>
          <a:srcRect r="4635"/>
          <a:stretch>
            <a:fillRect/>
          </a:stretch>
        </p:blipFill>
        <p:spPr>
          <a:xfrm>
            <a:off x="308535" y="1822368"/>
            <a:ext cx="5510413" cy="4087639"/>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62CD34E1-8B4F-046E-6FCD-1D7F5733C2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737" y="1797903"/>
            <a:ext cx="6003728" cy="40876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78940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ABF9D-6B9E-F565-43D0-11DB7C725D45}"/>
              </a:ext>
            </a:extLst>
          </p:cNvPr>
          <p:cNvSpPr>
            <a:spLocks noGrp="1"/>
          </p:cNvSpPr>
          <p:nvPr>
            <p:ph type="title"/>
          </p:nvPr>
        </p:nvSpPr>
        <p:spPr/>
        <p:txBody>
          <a:bodyPr/>
          <a:lstStyle/>
          <a:p>
            <a:r>
              <a:rPr lang="fr-FR" b="1" dirty="0"/>
              <a:t>App Router and Pages Router</a:t>
            </a:r>
            <a:endParaRPr lang="en-US" b="1" dirty="0"/>
          </a:p>
        </p:txBody>
      </p:sp>
      <p:sp>
        <p:nvSpPr>
          <p:cNvPr id="3" name="Content Placeholder 2">
            <a:extLst>
              <a:ext uri="{FF2B5EF4-FFF2-40B4-BE49-F238E27FC236}">
                <a16:creationId xmlns:a16="http://schemas.microsoft.com/office/drawing/2014/main" id="{1296DEF3-E986-54B3-80E7-DF05A9B50070}"/>
              </a:ext>
            </a:extLst>
          </p:cNvPr>
          <p:cNvSpPr>
            <a:spLocks noGrp="1"/>
          </p:cNvSpPr>
          <p:nvPr>
            <p:ph idx="1"/>
          </p:nvPr>
        </p:nvSpPr>
        <p:spPr/>
        <p:txBody>
          <a:bodyPr/>
          <a:lstStyle/>
          <a:p>
            <a:r>
              <a:rPr lang="en-US" b="1" dirty="0">
                <a:solidFill>
                  <a:srgbClr val="FF0000"/>
                </a:solidFill>
              </a:rPr>
              <a:t>Next.js has two different routers</a:t>
            </a:r>
            <a:r>
              <a:rPr lang="en-US" dirty="0"/>
              <a:t>:</a:t>
            </a:r>
          </a:p>
          <a:p>
            <a:pPr lvl="1">
              <a:buFont typeface="Wingdings" panose="05000000000000000000" pitchFamily="2" charset="2"/>
              <a:buChar char="v"/>
            </a:pPr>
            <a:r>
              <a:rPr lang="en-US" b="1" dirty="0"/>
              <a:t>App Router</a:t>
            </a:r>
            <a:r>
              <a:rPr lang="en-US" dirty="0"/>
              <a:t>: The newer router that supports new React features like Server Components.</a:t>
            </a:r>
          </a:p>
          <a:p>
            <a:pPr lvl="1">
              <a:buFont typeface="Wingdings" panose="05000000000000000000" pitchFamily="2" charset="2"/>
              <a:buChar char="v"/>
            </a:pPr>
            <a:r>
              <a:rPr lang="en-US" b="1" dirty="0"/>
              <a:t>Pages Router</a:t>
            </a:r>
            <a:r>
              <a:rPr lang="en-US" dirty="0"/>
              <a:t>: The original router, still supported and being improved.</a:t>
            </a:r>
          </a:p>
          <a:p>
            <a:endParaRPr lang="en-US" dirty="0"/>
          </a:p>
        </p:txBody>
      </p:sp>
    </p:spTree>
    <p:extLst>
      <p:ext uri="{BB962C8B-B14F-4D97-AF65-F5344CB8AC3E}">
        <p14:creationId xmlns:p14="http://schemas.microsoft.com/office/powerpoint/2010/main" val="2203739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29B66-B192-6015-AD9D-53B5C761E27F}"/>
              </a:ext>
            </a:extLst>
          </p:cNvPr>
          <p:cNvSpPr>
            <a:spLocks noGrp="1"/>
          </p:cNvSpPr>
          <p:nvPr>
            <p:ph type="title"/>
          </p:nvPr>
        </p:nvSpPr>
        <p:spPr/>
        <p:txBody>
          <a:bodyPr/>
          <a:lstStyle/>
          <a:p>
            <a:r>
              <a:rPr lang="fr-FR" dirty="0"/>
              <a:t>App Router and Pages Router</a:t>
            </a:r>
            <a:endParaRPr lang="en-US" dirty="0"/>
          </a:p>
        </p:txBody>
      </p:sp>
      <p:sp>
        <p:nvSpPr>
          <p:cNvPr id="3" name="Content Placeholder 2">
            <a:extLst>
              <a:ext uri="{FF2B5EF4-FFF2-40B4-BE49-F238E27FC236}">
                <a16:creationId xmlns:a16="http://schemas.microsoft.com/office/drawing/2014/main" id="{7F5DA96D-3433-A67D-E5A9-837D9B808563}"/>
              </a:ext>
            </a:extLst>
          </p:cNvPr>
          <p:cNvSpPr>
            <a:spLocks noGrp="1"/>
          </p:cNvSpPr>
          <p:nvPr>
            <p:ph idx="1"/>
          </p:nvPr>
        </p:nvSpPr>
        <p:spPr/>
        <p:txBody>
          <a:bodyPr>
            <a:normAutofit/>
          </a:bodyPr>
          <a:lstStyle/>
          <a:p>
            <a:r>
              <a:rPr lang="en-US" b="1" dirty="0">
                <a:solidFill>
                  <a:srgbClr val="FF0000"/>
                </a:solidFill>
              </a:rPr>
              <a:t>App Router</a:t>
            </a:r>
            <a:r>
              <a:rPr lang="en-US" dirty="0"/>
              <a:t>: </a:t>
            </a:r>
            <a:r>
              <a:rPr lang="en-US" b="1" i="1" dirty="0"/>
              <a:t>Uses React canary releases built-in</a:t>
            </a:r>
            <a:r>
              <a:rPr lang="en-US" dirty="0"/>
              <a:t>, which include all the stable React 19 changes, as well as newer features being validated in frameworks, prior to a new React release.</a:t>
            </a:r>
          </a:p>
          <a:p>
            <a:r>
              <a:rPr lang="en-US" b="1" dirty="0">
                <a:solidFill>
                  <a:srgbClr val="FF0000"/>
                </a:solidFill>
              </a:rPr>
              <a:t>Pages Router</a:t>
            </a:r>
            <a:r>
              <a:rPr lang="en-US" dirty="0"/>
              <a:t>: Uses the React version installed in your project's </a:t>
            </a:r>
            <a:r>
              <a:rPr lang="en-US" b="1" i="1" dirty="0" err="1"/>
              <a:t>package.json</a:t>
            </a:r>
            <a:r>
              <a:rPr lang="en-US" dirty="0"/>
              <a:t>.</a:t>
            </a:r>
          </a:p>
        </p:txBody>
      </p:sp>
    </p:spTree>
    <p:extLst>
      <p:ext uri="{BB962C8B-B14F-4D97-AF65-F5344CB8AC3E}">
        <p14:creationId xmlns:p14="http://schemas.microsoft.com/office/powerpoint/2010/main" val="1820075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E2E6B-5FF7-F0AF-49C5-C2AC2751EECD}"/>
              </a:ext>
            </a:extLst>
          </p:cNvPr>
          <p:cNvSpPr>
            <a:spLocks noGrp="1"/>
          </p:cNvSpPr>
          <p:nvPr>
            <p:ph type="title"/>
          </p:nvPr>
        </p:nvSpPr>
        <p:spPr/>
        <p:txBody>
          <a:bodyPr/>
          <a:lstStyle/>
          <a:p>
            <a:r>
              <a:rPr lang="en-US" dirty="0"/>
              <a:t>Installation</a:t>
            </a:r>
          </a:p>
        </p:txBody>
      </p:sp>
      <p:sp>
        <p:nvSpPr>
          <p:cNvPr id="3" name="Content Placeholder 2">
            <a:extLst>
              <a:ext uri="{FF2B5EF4-FFF2-40B4-BE49-F238E27FC236}">
                <a16:creationId xmlns:a16="http://schemas.microsoft.com/office/drawing/2014/main" id="{58493511-502F-6DA5-42E4-75FB7704AA8E}"/>
              </a:ext>
            </a:extLst>
          </p:cNvPr>
          <p:cNvSpPr>
            <a:spLocks noGrp="1"/>
          </p:cNvSpPr>
          <p:nvPr>
            <p:ph idx="1"/>
          </p:nvPr>
        </p:nvSpPr>
        <p:spPr/>
        <p:txBody>
          <a:bodyPr>
            <a:normAutofit/>
          </a:bodyPr>
          <a:lstStyle/>
          <a:p>
            <a:r>
              <a:rPr lang="en-US" b="1" dirty="0"/>
              <a:t>System requirements</a:t>
            </a:r>
          </a:p>
          <a:p>
            <a:pPr lvl="1">
              <a:buFont typeface="Wingdings" panose="05000000000000000000" pitchFamily="2" charset="2"/>
              <a:buChar char="v"/>
            </a:pPr>
            <a:r>
              <a:rPr lang="en-US" dirty="0"/>
              <a:t>Minimum Node.js version: 20.9</a:t>
            </a:r>
          </a:p>
          <a:p>
            <a:pPr lvl="1">
              <a:buFont typeface="Wingdings" panose="05000000000000000000" pitchFamily="2" charset="2"/>
              <a:buChar char="v"/>
            </a:pPr>
            <a:r>
              <a:rPr lang="en-US" dirty="0"/>
              <a:t>Operating systems: macOS, Windows (including WSL), and Linux.</a:t>
            </a:r>
          </a:p>
          <a:p>
            <a:r>
              <a:rPr lang="en-US" b="1" dirty="0"/>
              <a:t>Supported browsers: </a:t>
            </a:r>
            <a:r>
              <a:rPr lang="en-US" dirty="0"/>
              <a:t>Next.js supports modern browsers with zero configuration.</a:t>
            </a:r>
          </a:p>
          <a:p>
            <a:pPr lvl="1">
              <a:buFont typeface="Wingdings" panose="05000000000000000000" pitchFamily="2" charset="2"/>
              <a:buChar char="v"/>
            </a:pPr>
            <a:r>
              <a:rPr lang="en-US" dirty="0"/>
              <a:t>Chrome 111+</a:t>
            </a:r>
          </a:p>
          <a:p>
            <a:pPr lvl="1">
              <a:buFont typeface="Wingdings" panose="05000000000000000000" pitchFamily="2" charset="2"/>
              <a:buChar char="v"/>
            </a:pPr>
            <a:r>
              <a:rPr lang="en-US" dirty="0"/>
              <a:t>Edge 111+</a:t>
            </a:r>
          </a:p>
          <a:p>
            <a:pPr lvl="1">
              <a:buFont typeface="Wingdings" panose="05000000000000000000" pitchFamily="2" charset="2"/>
              <a:buChar char="v"/>
            </a:pPr>
            <a:r>
              <a:rPr lang="en-US" dirty="0"/>
              <a:t>Firefox 111+</a:t>
            </a:r>
          </a:p>
          <a:p>
            <a:pPr lvl="1">
              <a:buFont typeface="Wingdings" panose="05000000000000000000" pitchFamily="2" charset="2"/>
              <a:buChar char="v"/>
            </a:pPr>
            <a:r>
              <a:rPr lang="en-US" dirty="0"/>
              <a:t>Safari 16.4+</a:t>
            </a:r>
          </a:p>
        </p:txBody>
      </p:sp>
    </p:spTree>
    <p:extLst>
      <p:ext uri="{BB962C8B-B14F-4D97-AF65-F5344CB8AC3E}">
        <p14:creationId xmlns:p14="http://schemas.microsoft.com/office/powerpoint/2010/main" val="1456410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B473E-3BFD-CF37-ACE5-5F736FD8DA4B}"/>
              </a:ext>
            </a:extLst>
          </p:cNvPr>
          <p:cNvSpPr>
            <a:spLocks noGrp="1"/>
          </p:cNvSpPr>
          <p:nvPr>
            <p:ph type="title"/>
          </p:nvPr>
        </p:nvSpPr>
        <p:spPr/>
        <p:txBody>
          <a:bodyPr/>
          <a:lstStyle/>
          <a:p>
            <a:r>
              <a:rPr lang="en-US" dirty="0"/>
              <a:t>Installation</a:t>
            </a:r>
          </a:p>
        </p:txBody>
      </p:sp>
      <p:sp>
        <p:nvSpPr>
          <p:cNvPr id="3" name="Content Placeholder 2">
            <a:extLst>
              <a:ext uri="{FF2B5EF4-FFF2-40B4-BE49-F238E27FC236}">
                <a16:creationId xmlns:a16="http://schemas.microsoft.com/office/drawing/2014/main" id="{87CAB9FE-BFBC-D1C8-4FF4-20364603558E}"/>
              </a:ext>
            </a:extLst>
          </p:cNvPr>
          <p:cNvSpPr>
            <a:spLocks noGrp="1"/>
          </p:cNvSpPr>
          <p:nvPr>
            <p:ph idx="1"/>
          </p:nvPr>
        </p:nvSpPr>
        <p:spPr/>
        <p:txBody>
          <a:bodyPr/>
          <a:lstStyle/>
          <a:p>
            <a:r>
              <a:rPr lang="en-US" dirty="0"/>
              <a:t>Create a new </a:t>
            </a:r>
            <a:r>
              <a:rPr lang="en-US" b="1" dirty="0"/>
              <a:t>Next.js </a:t>
            </a:r>
            <a:r>
              <a:rPr lang="en-US" dirty="0"/>
              <a:t>app named </a:t>
            </a:r>
            <a:r>
              <a:rPr lang="en-US" b="1" dirty="0"/>
              <a:t>my-app</a:t>
            </a:r>
          </a:p>
          <a:p>
            <a:r>
              <a:rPr lang="en-US" dirty="0"/>
              <a:t>cd my-app and start the dev server.</a:t>
            </a:r>
          </a:p>
          <a:p>
            <a:r>
              <a:rPr lang="en-US" dirty="0"/>
              <a:t>Visit </a:t>
            </a:r>
            <a:r>
              <a:rPr lang="en-US" dirty="0">
                <a:hlinkClick r:id="rId3"/>
              </a:rPr>
              <a:t>http://localhost:3000</a:t>
            </a:r>
            <a:r>
              <a:rPr lang="en-US" dirty="0"/>
              <a:t>.</a:t>
            </a:r>
          </a:p>
          <a:p>
            <a:r>
              <a:rPr lang="en-US" dirty="0" err="1"/>
              <a:t>Mở</a:t>
            </a:r>
            <a:r>
              <a:rPr lang="en-US" dirty="0"/>
              <a:t> terminal, </a:t>
            </a:r>
            <a:r>
              <a:rPr lang="en-US" dirty="0" err="1"/>
              <a:t>nhập</a:t>
            </a:r>
            <a:r>
              <a:rPr lang="en-US" dirty="0"/>
              <a:t> </a:t>
            </a:r>
            <a:r>
              <a:rPr lang="en-US" dirty="0" err="1"/>
              <a:t>nội</a:t>
            </a:r>
            <a:r>
              <a:rPr lang="en-US" dirty="0"/>
              <a:t> dung </a:t>
            </a:r>
            <a:r>
              <a:rPr lang="en-US" dirty="0" err="1"/>
              <a:t>sau</a:t>
            </a:r>
            <a:r>
              <a:rPr lang="en-US" dirty="0"/>
              <a:t>:</a:t>
            </a:r>
          </a:p>
        </p:txBody>
      </p:sp>
      <p:sp>
        <p:nvSpPr>
          <p:cNvPr id="8" name="Rectangle 4">
            <a:extLst>
              <a:ext uri="{FF2B5EF4-FFF2-40B4-BE49-F238E27FC236}">
                <a16:creationId xmlns:a16="http://schemas.microsoft.com/office/drawing/2014/main" id="{7C1AEDC0-42E7-92C7-333D-3990999A492D}"/>
              </a:ext>
            </a:extLst>
          </p:cNvPr>
          <p:cNvSpPr>
            <a:spLocks noChangeArrowheads="1"/>
          </p:cNvSpPr>
          <p:nvPr/>
        </p:nvSpPr>
        <p:spPr bwMode="auto">
          <a:xfrm>
            <a:off x="2198649" y="4044261"/>
            <a:ext cx="7794702" cy="138499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rgbClr val="FF66FF"/>
                </a:solidFill>
                <a:effectLst/>
                <a:latin typeface="Arial" panose="020B0604020202020204" pitchFamily="34" charset="0"/>
              </a:rPr>
              <a:t>pnpm</a:t>
            </a:r>
            <a:r>
              <a:rPr kumimoji="0" lang="en-US" altLang="en-US" sz="2800" b="0" i="0" u="none" strike="noStrike" cap="none" normalizeH="0" baseline="0" dirty="0">
                <a:ln>
                  <a:noFill/>
                </a:ln>
                <a:solidFill>
                  <a:schemeClr val="tx1"/>
                </a:solidFill>
                <a:effectLst/>
                <a:latin typeface="Arial" panose="020B0604020202020204" pitchFamily="34" charset="0"/>
              </a:rPr>
              <a:t> create </a:t>
            </a:r>
            <a:r>
              <a:rPr kumimoji="0" lang="en-US" altLang="en-US" sz="2800" b="0" i="0" u="none" strike="noStrike" cap="none" normalizeH="0" baseline="0" dirty="0" err="1">
                <a:ln>
                  <a:noFill/>
                </a:ln>
                <a:solidFill>
                  <a:schemeClr val="tx1"/>
                </a:solidFill>
                <a:effectLst/>
                <a:latin typeface="Arial" panose="020B0604020202020204" pitchFamily="34" charset="0"/>
              </a:rPr>
              <a:t>next-app@latest</a:t>
            </a:r>
            <a:r>
              <a:rPr kumimoji="0" lang="en-US" altLang="en-US" sz="2800" b="0" i="0" u="none" strike="noStrike" cap="none" normalizeH="0" baseline="0" dirty="0">
                <a:ln>
                  <a:noFill/>
                </a:ln>
                <a:solidFill>
                  <a:schemeClr val="tx1"/>
                </a:solidFill>
                <a:effectLst/>
                <a:latin typeface="Arial" panose="020B0604020202020204" pitchFamily="34" charset="0"/>
              </a:rPr>
              <a:t> my-app </a:t>
            </a:r>
            <a:r>
              <a:rPr lang="en-US" altLang="en-US" sz="2800" dirty="0">
                <a:solidFill>
                  <a:schemeClr val="tx1"/>
                </a:solidFill>
                <a:latin typeface="Arial" panose="020B0604020202020204" pitchFamily="34" charset="0"/>
              </a:rPr>
              <a:t>--</a:t>
            </a:r>
            <a:r>
              <a:rPr kumimoji="0" lang="en-US" altLang="en-US" sz="2800" b="0" i="0" u="none" strike="noStrike" cap="none" normalizeH="0" baseline="0" dirty="0">
                <a:ln>
                  <a:noFill/>
                </a:ln>
                <a:solidFill>
                  <a:schemeClr val="tx1"/>
                </a:solidFill>
                <a:effectLst/>
                <a:latin typeface="Arial" panose="020B0604020202020204" pitchFamily="34" charset="0"/>
              </a:rPr>
              <a:t>yes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FF66FF"/>
                </a:solidFill>
                <a:latin typeface="Arial" panose="020B0604020202020204" pitchFamily="34" charset="0"/>
              </a:rPr>
              <a:t>cd</a:t>
            </a:r>
            <a:r>
              <a:rPr kumimoji="0" lang="en-US" altLang="en-US" sz="2800" b="0" i="0" u="none" strike="noStrike" cap="none" normalizeH="0" baseline="0" dirty="0">
                <a:ln>
                  <a:noFill/>
                </a:ln>
                <a:solidFill>
                  <a:schemeClr val="tx1"/>
                </a:solidFill>
                <a:effectLst/>
                <a:latin typeface="Arial" panose="020B0604020202020204" pitchFamily="34" charset="0"/>
              </a:rPr>
              <a:t> my-app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err="1">
                <a:solidFill>
                  <a:srgbClr val="FF66FF"/>
                </a:solidFill>
                <a:latin typeface="Arial" panose="020B0604020202020204" pitchFamily="34" charset="0"/>
              </a:rPr>
              <a:t>pnpm</a:t>
            </a:r>
            <a:r>
              <a:rPr kumimoji="0" lang="en-US" altLang="en-US" sz="2800" b="0" i="0" u="none" strike="noStrike" cap="none" normalizeH="0" baseline="0" dirty="0">
                <a:ln>
                  <a:noFill/>
                </a:ln>
                <a:solidFill>
                  <a:schemeClr val="tx1"/>
                </a:solidFill>
                <a:effectLst/>
                <a:latin typeface="Arial" panose="020B0604020202020204" pitchFamily="34" charset="0"/>
              </a:rPr>
              <a:t> dev</a:t>
            </a:r>
          </a:p>
        </p:txBody>
      </p:sp>
    </p:spTree>
    <p:extLst>
      <p:ext uri="{BB962C8B-B14F-4D97-AF65-F5344CB8AC3E}">
        <p14:creationId xmlns:p14="http://schemas.microsoft.com/office/powerpoint/2010/main" val="3965698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FDC79-6B33-FD55-0FB2-72E83DA30260}"/>
              </a:ext>
            </a:extLst>
          </p:cNvPr>
          <p:cNvSpPr>
            <a:spLocks noGrp="1"/>
          </p:cNvSpPr>
          <p:nvPr>
            <p:ph type="title"/>
          </p:nvPr>
        </p:nvSpPr>
        <p:spPr/>
        <p:txBody>
          <a:bodyPr/>
          <a:lstStyle/>
          <a:p>
            <a:r>
              <a:rPr lang="en-US" dirty="0"/>
              <a:t>Manual installation</a:t>
            </a:r>
          </a:p>
        </p:txBody>
      </p:sp>
      <p:sp>
        <p:nvSpPr>
          <p:cNvPr id="3" name="Content Placeholder 2">
            <a:extLst>
              <a:ext uri="{FF2B5EF4-FFF2-40B4-BE49-F238E27FC236}">
                <a16:creationId xmlns:a16="http://schemas.microsoft.com/office/drawing/2014/main" id="{CC3F4310-04D3-D787-6B7B-921110511580}"/>
              </a:ext>
            </a:extLst>
          </p:cNvPr>
          <p:cNvSpPr>
            <a:spLocks noGrp="1"/>
          </p:cNvSpPr>
          <p:nvPr>
            <p:ph idx="1"/>
          </p:nvPr>
        </p:nvSpPr>
        <p:spPr/>
        <p:txBody>
          <a:bodyPr/>
          <a:lstStyle/>
          <a:p>
            <a:r>
              <a:rPr lang="en-US" b="1" dirty="0"/>
              <a:t>Install the required packages</a:t>
            </a:r>
            <a:r>
              <a:rPr lang="en-US" dirty="0"/>
              <a:t>:</a:t>
            </a:r>
          </a:p>
          <a:p>
            <a:endParaRPr lang="en-US" dirty="0"/>
          </a:p>
          <a:p>
            <a:endParaRPr lang="en-US" dirty="0"/>
          </a:p>
          <a:p>
            <a:endParaRPr lang="en-US" dirty="0"/>
          </a:p>
        </p:txBody>
      </p:sp>
      <p:pic>
        <p:nvPicPr>
          <p:cNvPr id="6" name="Picture 5">
            <a:extLst>
              <a:ext uri="{FF2B5EF4-FFF2-40B4-BE49-F238E27FC236}">
                <a16:creationId xmlns:a16="http://schemas.microsoft.com/office/drawing/2014/main" id="{21F4AC14-D31E-9A73-1EAB-9A02531747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2606709"/>
            <a:ext cx="10058400" cy="10109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26654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18EB-DE48-EBE7-D5FD-EAF06C41D6B0}"/>
              </a:ext>
            </a:extLst>
          </p:cNvPr>
          <p:cNvSpPr>
            <a:spLocks noGrp="1"/>
          </p:cNvSpPr>
          <p:nvPr>
            <p:ph type="title"/>
          </p:nvPr>
        </p:nvSpPr>
        <p:spPr/>
        <p:txBody>
          <a:bodyPr/>
          <a:lstStyle/>
          <a:p>
            <a:r>
              <a:rPr lang="en-US" dirty="0"/>
              <a:t>Manual installation</a:t>
            </a:r>
          </a:p>
        </p:txBody>
      </p:sp>
      <p:sp>
        <p:nvSpPr>
          <p:cNvPr id="3" name="Content Placeholder 2">
            <a:extLst>
              <a:ext uri="{FF2B5EF4-FFF2-40B4-BE49-F238E27FC236}">
                <a16:creationId xmlns:a16="http://schemas.microsoft.com/office/drawing/2014/main" id="{4B991256-2695-795B-7CFD-0AF4CA0FFE61}"/>
              </a:ext>
            </a:extLst>
          </p:cNvPr>
          <p:cNvSpPr>
            <a:spLocks noGrp="1"/>
          </p:cNvSpPr>
          <p:nvPr>
            <p:ph idx="1"/>
          </p:nvPr>
        </p:nvSpPr>
        <p:spPr/>
        <p:txBody>
          <a:bodyPr/>
          <a:lstStyle/>
          <a:p>
            <a:r>
              <a:rPr lang="en-US" b="1" dirty="0"/>
              <a:t>Add the following scripts to your </a:t>
            </a:r>
            <a:r>
              <a:rPr lang="en-US" b="1" dirty="0" err="1">
                <a:solidFill>
                  <a:srgbClr val="FF0000"/>
                </a:solidFill>
              </a:rPr>
              <a:t>package.json</a:t>
            </a:r>
            <a:r>
              <a:rPr lang="en-US" b="1" dirty="0">
                <a:solidFill>
                  <a:srgbClr val="FF0000"/>
                </a:solidFill>
              </a:rPr>
              <a:t> </a:t>
            </a:r>
            <a:r>
              <a:rPr lang="en-US" b="1" dirty="0"/>
              <a:t>file:</a:t>
            </a:r>
          </a:p>
        </p:txBody>
      </p:sp>
      <p:pic>
        <p:nvPicPr>
          <p:cNvPr id="5" name="Picture 4">
            <a:extLst>
              <a:ext uri="{FF2B5EF4-FFF2-40B4-BE49-F238E27FC236}">
                <a16:creationId xmlns:a16="http://schemas.microsoft.com/office/drawing/2014/main" id="{0F4512BD-36A1-D75D-77FE-1B0F01FC4C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389" y="2212313"/>
            <a:ext cx="5049221" cy="36567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59402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2CDA2-128D-DD0F-2B05-4D73F5DD5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AA53A-AB91-E273-1C58-A93FE3D510EC}"/>
              </a:ext>
            </a:extLst>
          </p:cNvPr>
          <p:cNvSpPr>
            <a:spLocks noGrp="1"/>
          </p:cNvSpPr>
          <p:nvPr>
            <p:ph type="title"/>
          </p:nvPr>
        </p:nvSpPr>
        <p:spPr/>
        <p:txBody>
          <a:bodyPr/>
          <a:lstStyle/>
          <a:p>
            <a:r>
              <a:rPr lang="en-US" dirty="0"/>
              <a:t>Manual installation</a:t>
            </a:r>
          </a:p>
        </p:txBody>
      </p:sp>
      <p:sp>
        <p:nvSpPr>
          <p:cNvPr id="3" name="Content Placeholder 2">
            <a:extLst>
              <a:ext uri="{FF2B5EF4-FFF2-40B4-BE49-F238E27FC236}">
                <a16:creationId xmlns:a16="http://schemas.microsoft.com/office/drawing/2014/main" id="{E830B109-55FF-7298-0414-560456A67CA9}"/>
              </a:ext>
            </a:extLst>
          </p:cNvPr>
          <p:cNvSpPr>
            <a:spLocks noGrp="1"/>
          </p:cNvSpPr>
          <p:nvPr>
            <p:ph idx="1"/>
          </p:nvPr>
        </p:nvSpPr>
        <p:spPr/>
        <p:txBody>
          <a:bodyPr>
            <a:normAutofit/>
          </a:bodyPr>
          <a:lstStyle/>
          <a:p>
            <a:r>
              <a:rPr lang="en-US" dirty="0"/>
              <a:t>These scripts refer to the different stages of developing an application:</a:t>
            </a:r>
          </a:p>
          <a:p>
            <a:pPr lvl="1"/>
            <a:r>
              <a:rPr lang="en-US" b="1" dirty="0"/>
              <a:t>next dev</a:t>
            </a:r>
            <a:r>
              <a:rPr lang="en-US" dirty="0"/>
              <a:t>: Starts the development server using </a:t>
            </a:r>
            <a:r>
              <a:rPr lang="en-US" dirty="0" err="1"/>
              <a:t>Turbopack</a:t>
            </a:r>
            <a:r>
              <a:rPr lang="en-US" dirty="0"/>
              <a:t> (default bundler).</a:t>
            </a:r>
          </a:p>
          <a:p>
            <a:pPr lvl="1"/>
            <a:r>
              <a:rPr lang="en-US" b="1" dirty="0"/>
              <a:t>next build</a:t>
            </a:r>
            <a:r>
              <a:rPr lang="en-US" dirty="0"/>
              <a:t>: Builds the application for production.</a:t>
            </a:r>
          </a:p>
          <a:p>
            <a:pPr lvl="1"/>
            <a:r>
              <a:rPr lang="en-US" b="1" dirty="0"/>
              <a:t>next start</a:t>
            </a:r>
            <a:r>
              <a:rPr lang="en-US" dirty="0"/>
              <a:t>: Starts the production server.</a:t>
            </a:r>
          </a:p>
          <a:p>
            <a:pPr lvl="1"/>
            <a:r>
              <a:rPr lang="en-US" b="1" dirty="0" err="1"/>
              <a:t>eslint</a:t>
            </a:r>
            <a:r>
              <a:rPr lang="en-US" dirty="0"/>
              <a:t>: Runs </a:t>
            </a:r>
            <a:r>
              <a:rPr lang="en-US" dirty="0" err="1"/>
              <a:t>ESLint</a:t>
            </a:r>
            <a:r>
              <a:rPr lang="en-US" dirty="0"/>
              <a:t>.</a:t>
            </a:r>
          </a:p>
        </p:txBody>
      </p:sp>
    </p:spTree>
    <p:extLst>
      <p:ext uri="{BB962C8B-B14F-4D97-AF65-F5344CB8AC3E}">
        <p14:creationId xmlns:p14="http://schemas.microsoft.com/office/powerpoint/2010/main" val="2788245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ED4B9-3D55-99D3-386B-C0CF3D158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83559-B216-79E7-8EDA-FDA3AF71A598}"/>
              </a:ext>
            </a:extLst>
          </p:cNvPr>
          <p:cNvSpPr>
            <a:spLocks noGrp="1"/>
          </p:cNvSpPr>
          <p:nvPr>
            <p:ph type="title"/>
          </p:nvPr>
        </p:nvSpPr>
        <p:spPr/>
        <p:txBody>
          <a:bodyPr/>
          <a:lstStyle/>
          <a:p>
            <a:r>
              <a:rPr lang="en-US" dirty="0"/>
              <a:t>Manual installation</a:t>
            </a:r>
          </a:p>
        </p:txBody>
      </p:sp>
      <p:sp>
        <p:nvSpPr>
          <p:cNvPr id="3" name="Content Placeholder 2">
            <a:extLst>
              <a:ext uri="{FF2B5EF4-FFF2-40B4-BE49-F238E27FC236}">
                <a16:creationId xmlns:a16="http://schemas.microsoft.com/office/drawing/2014/main" id="{BC6314B5-9801-AB34-5454-EE8DEF0EE7EF}"/>
              </a:ext>
            </a:extLst>
          </p:cNvPr>
          <p:cNvSpPr>
            <a:spLocks noGrp="1"/>
          </p:cNvSpPr>
          <p:nvPr>
            <p:ph idx="1"/>
          </p:nvPr>
        </p:nvSpPr>
        <p:spPr/>
        <p:txBody>
          <a:bodyPr/>
          <a:lstStyle/>
          <a:p>
            <a:r>
              <a:rPr lang="en-US" b="1" dirty="0"/>
              <a:t>Create the </a:t>
            </a:r>
            <a:r>
              <a:rPr lang="en-US" b="1" dirty="0">
                <a:solidFill>
                  <a:srgbClr val="FF0000"/>
                </a:solidFill>
              </a:rPr>
              <a:t>app</a:t>
            </a:r>
            <a:r>
              <a:rPr lang="en-US" b="1" dirty="0"/>
              <a:t> directory</a:t>
            </a:r>
          </a:p>
          <a:p>
            <a:pPr lvl="1"/>
            <a:r>
              <a:rPr lang="en-US" b="1" dirty="0"/>
              <a:t>Next.js </a:t>
            </a:r>
            <a:r>
              <a:rPr lang="en-US" dirty="0"/>
              <a:t>uses </a:t>
            </a:r>
            <a:r>
              <a:rPr lang="en-US" b="1" dirty="0"/>
              <a:t>file-system routing</a:t>
            </a:r>
            <a:r>
              <a:rPr lang="en-US" dirty="0"/>
              <a:t>, which means the routes in your application are determined by how you structure your files.</a:t>
            </a:r>
          </a:p>
          <a:p>
            <a:pPr lvl="1"/>
            <a:r>
              <a:rPr lang="en-US" b="1" dirty="0"/>
              <a:t>Create an app folder</a:t>
            </a:r>
            <a:r>
              <a:rPr lang="en-US" dirty="0"/>
              <a:t>. Then, inside app, create a </a:t>
            </a:r>
            <a:r>
              <a:rPr lang="en-US" b="1" dirty="0" err="1"/>
              <a:t>layout.tsx</a:t>
            </a:r>
            <a:r>
              <a:rPr lang="en-US" b="1" dirty="0"/>
              <a:t> file</a:t>
            </a:r>
            <a:r>
              <a:rPr lang="en-US" dirty="0"/>
              <a:t>. This file is the root layout. It's required and must contain the &lt;html&gt; and &lt;body&gt; tags.</a:t>
            </a:r>
          </a:p>
        </p:txBody>
      </p:sp>
    </p:spTree>
    <p:extLst>
      <p:ext uri="{BB962C8B-B14F-4D97-AF65-F5344CB8AC3E}">
        <p14:creationId xmlns:p14="http://schemas.microsoft.com/office/powerpoint/2010/main" val="1467162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4080-D3CD-2657-CA90-9C93E4399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E6907-98B6-35FD-1AA5-72CD0A52E08E}"/>
              </a:ext>
            </a:extLst>
          </p:cNvPr>
          <p:cNvSpPr>
            <a:spLocks noGrp="1"/>
          </p:cNvSpPr>
          <p:nvPr>
            <p:ph type="title"/>
          </p:nvPr>
        </p:nvSpPr>
        <p:spPr/>
        <p:txBody>
          <a:bodyPr/>
          <a:lstStyle/>
          <a:p>
            <a:r>
              <a:rPr lang="en-US" dirty="0"/>
              <a:t>Manual installation</a:t>
            </a:r>
          </a:p>
        </p:txBody>
      </p:sp>
      <p:sp>
        <p:nvSpPr>
          <p:cNvPr id="3" name="Content Placeholder 2">
            <a:extLst>
              <a:ext uri="{FF2B5EF4-FFF2-40B4-BE49-F238E27FC236}">
                <a16:creationId xmlns:a16="http://schemas.microsoft.com/office/drawing/2014/main" id="{53251D79-1AF4-7E50-D6B4-E43AB47EAD4B}"/>
              </a:ext>
            </a:extLst>
          </p:cNvPr>
          <p:cNvSpPr>
            <a:spLocks noGrp="1"/>
          </p:cNvSpPr>
          <p:nvPr>
            <p:ph idx="1"/>
          </p:nvPr>
        </p:nvSpPr>
        <p:spPr/>
        <p:txBody>
          <a:bodyPr/>
          <a:lstStyle/>
          <a:p>
            <a:r>
              <a:rPr lang="en-US" b="1" dirty="0"/>
              <a:t>app/</a:t>
            </a:r>
            <a:r>
              <a:rPr lang="en-US" b="1" dirty="0" err="1"/>
              <a:t>layout.tsx</a:t>
            </a:r>
            <a:r>
              <a:rPr lang="en-US" b="1" dirty="0"/>
              <a:t>:</a:t>
            </a:r>
          </a:p>
        </p:txBody>
      </p:sp>
      <p:pic>
        <p:nvPicPr>
          <p:cNvPr id="5" name="Picture 4">
            <a:extLst>
              <a:ext uri="{FF2B5EF4-FFF2-40B4-BE49-F238E27FC236}">
                <a16:creationId xmlns:a16="http://schemas.microsoft.com/office/drawing/2014/main" id="{A1F82A02-D966-DA8C-A4B5-F5FCE35E7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0189" y="1606471"/>
            <a:ext cx="6072039" cy="44681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66381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DAF91-2501-F19A-BF9E-0F6A979E86C4}"/>
              </a:ext>
            </a:extLst>
          </p:cNvPr>
          <p:cNvSpPr>
            <a:spLocks noGrp="1"/>
          </p:cNvSpPr>
          <p:nvPr>
            <p:ph type="title"/>
          </p:nvPr>
        </p:nvSpPr>
        <p:spPr/>
        <p:txBody>
          <a:bodyPr/>
          <a:lstStyle/>
          <a:p>
            <a:r>
              <a:rPr lang="en-US" dirty="0"/>
              <a:t>Manual installation</a:t>
            </a:r>
          </a:p>
        </p:txBody>
      </p:sp>
      <p:sp>
        <p:nvSpPr>
          <p:cNvPr id="3" name="Content Placeholder 2">
            <a:extLst>
              <a:ext uri="{FF2B5EF4-FFF2-40B4-BE49-F238E27FC236}">
                <a16:creationId xmlns:a16="http://schemas.microsoft.com/office/drawing/2014/main" id="{1D6B958D-0F0D-3F83-15B2-E5EDD8E177F2}"/>
              </a:ext>
            </a:extLst>
          </p:cNvPr>
          <p:cNvSpPr>
            <a:spLocks noGrp="1"/>
          </p:cNvSpPr>
          <p:nvPr>
            <p:ph idx="1"/>
          </p:nvPr>
        </p:nvSpPr>
        <p:spPr/>
        <p:txBody>
          <a:bodyPr/>
          <a:lstStyle/>
          <a:p>
            <a:r>
              <a:rPr lang="en-US" dirty="0"/>
              <a:t>Create a home page </a:t>
            </a:r>
            <a:r>
              <a:rPr lang="en-US" b="1" dirty="0"/>
              <a:t>app/</a:t>
            </a:r>
            <a:r>
              <a:rPr lang="en-US" b="1" dirty="0" err="1"/>
              <a:t>page.tsx</a:t>
            </a:r>
            <a:r>
              <a:rPr lang="en-US" b="1" dirty="0"/>
              <a:t> </a:t>
            </a:r>
            <a:r>
              <a:rPr lang="en-US" dirty="0"/>
              <a:t>with some initial content:</a:t>
            </a:r>
          </a:p>
          <a:p>
            <a:endParaRPr lang="en-US" dirty="0"/>
          </a:p>
          <a:p>
            <a:endParaRPr lang="en-US" dirty="0"/>
          </a:p>
          <a:p>
            <a:endParaRPr lang="en-US" dirty="0"/>
          </a:p>
          <a:p>
            <a:endParaRPr lang="en-US" dirty="0"/>
          </a:p>
          <a:p>
            <a:r>
              <a:rPr lang="en-US" dirty="0"/>
              <a:t>Both </a:t>
            </a:r>
            <a:r>
              <a:rPr lang="en-US" b="1" dirty="0" err="1"/>
              <a:t>layout.tsx</a:t>
            </a:r>
            <a:r>
              <a:rPr lang="en-US" b="1" dirty="0"/>
              <a:t> </a:t>
            </a:r>
            <a:r>
              <a:rPr lang="en-US" dirty="0"/>
              <a:t>and </a:t>
            </a:r>
            <a:r>
              <a:rPr lang="en-US" b="1" dirty="0" err="1"/>
              <a:t>page.tsx</a:t>
            </a:r>
            <a:r>
              <a:rPr lang="en-US" b="1" dirty="0"/>
              <a:t> </a:t>
            </a:r>
            <a:r>
              <a:rPr lang="en-US" dirty="0"/>
              <a:t>will be rendered when the user visits the root of your application (/).</a:t>
            </a:r>
          </a:p>
        </p:txBody>
      </p:sp>
      <p:pic>
        <p:nvPicPr>
          <p:cNvPr id="5" name="Picture 4">
            <a:extLst>
              <a:ext uri="{FF2B5EF4-FFF2-40B4-BE49-F238E27FC236}">
                <a16:creationId xmlns:a16="http://schemas.microsoft.com/office/drawing/2014/main" id="{F7EE9564-5EE6-71FC-28D7-9F2E083D9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5322" y="2401639"/>
            <a:ext cx="6393994" cy="172041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01644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FB2B8-D7D4-882A-658D-EA46D739198C}"/>
              </a:ext>
            </a:extLst>
          </p:cNvPr>
          <p:cNvSpPr>
            <a:spLocks noGrp="1"/>
          </p:cNvSpPr>
          <p:nvPr>
            <p:ph type="title"/>
          </p:nvPr>
        </p:nvSpPr>
        <p:spPr/>
        <p:txBody>
          <a:bodyPr/>
          <a:lstStyle/>
          <a:p>
            <a:r>
              <a:rPr lang="en-US" dirty="0"/>
              <a:t>Manual installation</a:t>
            </a:r>
          </a:p>
        </p:txBody>
      </p:sp>
      <p:sp>
        <p:nvSpPr>
          <p:cNvPr id="3" name="Content Placeholder 2">
            <a:extLst>
              <a:ext uri="{FF2B5EF4-FFF2-40B4-BE49-F238E27FC236}">
                <a16:creationId xmlns:a16="http://schemas.microsoft.com/office/drawing/2014/main" id="{8BA848F0-1072-5A37-02D7-39D0A31FE453}"/>
              </a:ext>
            </a:extLst>
          </p:cNvPr>
          <p:cNvSpPr>
            <a:spLocks noGrp="1"/>
          </p:cNvSpPr>
          <p:nvPr>
            <p:ph idx="1"/>
          </p:nvPr>
        </p:nvSpPr>
        <p:spPr/>
        <p:txBody>
          <a:bodyPr/>
          <a:lstStyle/>
          <a:p>
            <a:r>
              <a:rPr lang="en-US" b="1" dirty="0">
                <a:solidFill>
                  <a:srgbClr val="FF0000"/>
                </a:solidFill>
              </a:rPr>
              <a:t>Create the public folder (optional)</a:t>
            </a:r>
          </a:p>
          <a:p>
            <a:pPr lvl="1"/>
            <a:r>
              <a:rPr lang="en-US" dirty="0"/>
              <a:t>Create a public folder at the root of your project to store static assets such as images, fonts, etc. Files inside public can then be referenced by your code starting from the base URL (/).</a:t>
            </a:r>
          </a:p>
          <a:p>
            <a:pPr lvl="1"/>
            <a:r>
              <a:rPr lang="en-US" dirty="0"/>
              <a:t>You can then reference these assets using the root path (/). For example, public/profile.png can be referenced as </a:t>
            </a:r>
            <a:r>
              <a:rPr lang="en-US" b="1" dirty="0"/>
              <a:t>/profile.png</a:t>
            </a:r>
            <a:r>
              <a:rPr lang="en-US" dirty="0"/>
              <a:t>:</a:t>
            </a:r>
          </a:p>
        </p:txBody>
      </p:sp>
      <p:pic>
        <p:nvPicPr>
          <p:cNvPr id="5" name="Picture 4">
            <a:extLst>
              <a:ext uri="{FF2B5EF4-FFF2-40B4-BE49-F238E27FC236}">
                <a16:creationId xmlns:a16="http://schemas.microsoft.com/office/drawing/2014/main" id="{BC4EDFF9-3ADB-26AB-1204-2F7D15E0CC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4387221"/>
            <a:ext cx="10558854" cy="17771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68845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B0F1F-856D-81F1-67F3-7224C2DB9BD2}"/>
              </a:ext>
            </a:extLst>
          </p:cNvPr>
          <p:cNvSpPr>
            <a:spLocks noGrp="1"/>
          </p:cNvSpPr>
          <p:nvPr>
            <p:ph type="title"/>
          </p:nvPr>
        </p:nvSpPr>
        <p:spPr/>
        <p:txBody>
          <a:bodyPr>
            <a:normAutofit/>
          </a:bodyPr>
          <a:lstStyle/>
          <a:p>
            <a:r>
              <a:rPr lang="en-US" dirty="0"/>
              <a:t>Run the development server</a:t>
            </a:r>
          </a:p>
        </p:txBody>
      </p:sp>
      <p:sp>
        <p:nvSpPr>
          <p:cNvPr id="3" name="Content Placeholder 2">
            <a:extLst>
              <a:ext uri="{FF2B5EF4-FFF2-40B4-BE49-F238E27FC236}">
                <a16:creationId xmlns:a16="http://schemas.microsoft.com/office/drawing/2014/main" id="{C59D5F9D-49B5-91AE-F0E4-8F7C5B3627CB}"/>
              </a:ext>
            </a:extLst>
          </p:cNvPr>
          <p:cNvSpPr>
            <a:spLocks noGrp="1"/>
          </p:cNvSpPr>
          <p:nvPr>
            <p:ph idx="1"/>
          </p:nvPr>
        </p:nvSpPr>
        <p:spPr/>
        <p:txBody>
          <a:bodyPr/>
          <a:lstStyle/>
          <a:p>
            <a:r>
              <a:rPr lang="en-US" dirty="0"/>
              <a:t>Run </a:t>
            </a:r>
            <a:r>
              <a:rPr lang="en-US" b="1" dirty="0" err="1"/>
              <a:t>npm</a:t>
            </a:r>
            <a:r>
              <a:rPr lang="en-US" b="1" dirty="0"/>
              <a:t> run dev </a:t>
            </a:r>
            <a:r>
              <a:rPr lang="en-US" dirty="0"/>
              <a:t>to start the development server.</a:t>
            </a:r>
          </a:p>
          <a:p>
            <a:r>
              <a:rPr lang="en-US" dirty="0"/>
              <a:t>Visit </a:t>
            </a:r>
            <a:r>
              <a:rPr lang="en-US" b="1" dirty="0"/>
              <a:t>http://localhost:3000 </a:t>
            </a:r>
            <a:r>
              <a:rPr lang="en-US" dirty="0"/>
              <a:t>to view your application.</a:t>
            </a:r>
          </a:p>
          <a:p>
            <a:r>
              <a:rPr lang="en-US" dirty="0"/>
              <a:t>Edit the </a:t>
            </a:r>
            <a:r>
              <a:rPr lang="en-US" b="1" dirty="0"/>
              <a:t>app/</a:t>
            </a:r>
            <a:r>
              <a:rPr lang="en-US" b="1" dirty="0" err="1"/>
              <a:t>page.tsx</a:t>
            </a:r>
            <a:r>
              <a:rPr lang="en-US" b="1" dirty="0"/>
              <a:t> </a:t>
            </a:r>
            <a:r>
              <a:rPr lang="en-US" dirty="0"/>
              <a:t>file and save it to see the updated result in your browser.</a:t>
            </a:r>
          </a:p>
        </p:txBody>
      </p:sp>
    </p:spTree>
    <p:extLst>
      <p:ext uri="{BB962C8B-B14F-4D97-AF65-F5344CB8AC3E}">
        <p14:creationId xmlns:p14="http://schemas.microsoft.com/office/powerpoint/2010/main" val="1599852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D9701-02A5-339D-2307-B7268318D942}"/>
              </a:ext>
            </a:extLst>
          </p:cNvPr>
          <p:cNvSpPr>
            <a:spLocks noGrp="1"/>
          </p:cNvSpPr>
          <p:nvPr>
            <p:ph type="title"/>
          </p:nvPr>
        </p:nvSpPr>
        <p:spPr/>
        <p:txBody>
          <a:bodyPr/>
          <a:lstStyle/>
          <a:p>
            <a:r>
              <a:rPr lang="en-US" dirty="0"/>
              <a:t>Set up TypeScript</a:t>
            </a:r>
          </a:p>
        </p:txBody>
      </p:sp>
      <p:sp>
        <p:nvSpPr>
          <p:cNvPr id="3" name="Content Placeholder 2">
            <a:extLst>
              <a:ext uri="{FF2B5EF4-FFF2-40B4-BE49-F238E27FC236}">
                <a16:creationId xmlns:a16="http://schemas.microsoft.com/office/drawing/2014/main" id="{99E38958-C57B-D958-E104-FD8F4AEBD965}"/>
              </a:ext>
            </a:extLst>
          </p:cNvPr>
          <p:cNvSpPr>
            <a:spLocks noGrp="1"/>
          </p:cNvSpPr>
          <p:nvPr>
            <p:ph idx="1"/>
          </p:nvPr>
        </p:nvSpPr>
        <p:spPr/>
        <p:txBody>
          <a:bodyPr/>
          <a:lstStyle/>
          <a:p>
            <a:r>
              <a:rPr lang="en-US" b="1" dirty="0"/>
              <a:t>Next.js </a:t>
            </a:r>
            <a:r>
              <a:rPr lang="en-US" dirty="0"/>
              <a:t>comes with built-in TypeScript support. </a:t>
            </a:r>
          </a:p>
          <a:p>
            <a:r>
              <a:rPr lang="en-US" dirty="0"/>
              <a:t>To add TypeScript to your project, rename a file to </a:t>
            </a:r>
            <a:r>
              <a:rPr lang="en-US" b="1" dirty="0"/>
              <a:t>.</a:t>
            </a:r>
            <a:r>
              <a:rPr lang="en-US" b="1" dirty="0" err="1"/>
              <a:t>ts</a:t>
            </a:r>
            <a:r>
              <a:rPr lang="en-US" b="1" dirty="0"/>
              <a:t> / .</a:t>
            </a:r>
            <a:r>
              <a:rPr lang="en-US" b="1" dirty="0" err="1"/>
              <a:t>tsx</a:t>
            </a:r>
            <a:r>
              <a:rPr lang="en-US" b="1" dirty="0"/>
              <a:t> </a:t>
            </a:r>
            <a:r>
              <a:rPr lang="en-US" dirty="0"/>
              <a:t>and run next dev. </a:t>
            </a:r>
          </a:p>
          <a:p>
            <a:r>
              <a:rPr lang="en-US" b="1" dirty="0"/>
              <a:t>Next.js </a:t>
            </a:r>
            <a:r>
              <a:rPr lang="en-US" dirty="0"/>
              <a:t>will automatically install the necessary dependencies and add a </a:t>
            </a:r>
            <a:r>
              <a:rPr lang="en-US" b="1" dirty="0" err="1"/>
              <a:t>tsconfig.json</a:t>
            </a:r>
            <a:r>
              <a:rPr lang="en-US" b="1" dirty="0"/>
              <a:t> </a:t>
            </a:r>
            <a:r>
              <a:rPr lang="en-US" dirty="0"/>
              <a:t>file with the recommended config options.</a:t>
            </a:r>
          </a:p>
        </p:txBody>
      </p:sp>
    </p:spTree>
    <p:extLst>
      <p:ext uri="{BB962C8B-B14F-4D97-AF65-F5344CB8AC3E}">
        <p14:creationId xmlns:p14="http://schemas.microsoft.com/office/powerpoint/2010/main" val="40401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9037A-15D8-B077-86A1-0339759022B7}"/>
              </a:ext>
            </a:extLst>
          </p:cNvPr>
          <p:cNvSpPr>
            <a:spLocks noGrp="1"/>
          </p:cNvSpPr>
          <p:nvPr>
            <p:ph type="title"/>
          </p:nvPr>
        </p:nvSpPr>
        <p:spPr/>
        <p:txBody>
          <a:bodyPr/>
          <a:lstStyle/>
          <a:p>
            <a:r>
              <a:rPr lang="en-US" dirty="0"/>
              <a:t>Set up TypeScript</a:t>
            </a:r>
          </a:p>
        </p:txBody>
      </p:sp>
      <p:sp>
        <p:nvSpPr>
          <p:cNvPr id="3" name="Content Placeholder 2">
            <a:extLst>
              <a:ext uri="{FF2B5EF4-FFF2-40B4-BE49-F238E27FC236}">
                <a16:creationId xmlns:a16="http://schemas.microsoft.com/office/drawing/2014/main" id="{E567F3B6-BEF9-3A3D-FBCC-4718062151D6}"/>
              </a:ext>
            </a:extLst>
          </p:cNvPr>
          <p:cNvSpPr>
            <a:spLocks noGrp="1"/>
          </p:cNvSpPr>
          <p:nvPr>
            <p:ph idx="1"/>
          </p:nvPr>
        </p:nvSpPr>
        <p:spPr/>
        <p:txBody>
          <a:bodyPr>
            <a:normAutofit/>
          </a:bodyPr>
          <a:lstStyle/>
          <a:p>
            <a:r>
              <a:rPr lang="en-US" b="1" dirty="0">
                <a:solidFill>
                  <a:srgbClr val="FF0000"/>
                </a:solidFill>
              </a:rPr>
              <a:t>IDE Plugin</a:t>
            </a:r>
          </a:p>
          <a:p>
            <a:pPr lvl="1"/>
            <a:r>
              <a:rPr lang="en-US" dirty="0"/>
              <a:t>Next.js includes a custom TypeScript plugin and type checker, which </a:t>
            </a:r>
            <a:r>
              <a:rPr lang="en-US" dirty="0" err="1"/>
              <a:t>VSCode</a:t>
            </a:r>
            <a:r>
              <a:rPr lang="en-US" dirty="0"/>
              <a:t> and other code editors can use for advanced type-checking and auto-completion.</a:t>
            </a:r>
          </a:p>
          <a:p>
            <a:pPr lvl="1"/>
            <a:r>
              <a:rPr lang="en-US" b="1" dirty="0"/>
              <a:t>You can enable the plugin in VS Code by</a:t>
            </a:r>
            <a:r>
              <a:rPr lang="en-US" dirty="0"/>
              <a:t>:</a:t>
            </a:r>
          </a:p>
          <a:p>
            <a:pPr lvl="2">
              <a:buFont typeface="Wingdings" panose="05000000000000000000" pitchFamily="2" charset="2"/>
              <a:buChar char="ü"/>
            </a:pPr>
            <a:r>
              <a:rPr lang="en-US" dirty="0"/>
              <a:t>Opening the command palette (Ctrl + Shift + P)</a:t>
            </a:r>
          </a:p>
          <a:p>
            <a:pPr lvl="2">
              <a:buFont typeface="Wingdings" panose="05000000000000000000" pitchFamily="2" charset="2"/>
              <a:buChar char="ü"/>
            </a:pPr>
            <a:r>
              <a:rPr lang="en-US" dirty="0"/>
              <a:t>Searching for "TypeScript: Select TypeScript Version"</a:t>
            </a:r>
          </a:p>
          <a:p>
            <a:pPr lvl="2">
              <a:buFont typeface="Wingdings" panose="05000000000000000000" pitchFamily="2" charset="2"/>
              <a:buChar char="ü"/>
            </a:pPr>
            <a:r>
              <a:rPr lang="en-US" dirty="0"/>
              <a:t>Selecting "Use Workspace Version"</a:t>
            </a:r>
            <a:br>
              <a:rPr lang="en-US" dirty="0"/>
            </a:br>
            <a:endParaRPr lang="en-US" dirty="0"/>
          </a:p>
        </p:txBody>
      </p:sp>
    </p:spTree>
    <p:extLst>
      <p:ext uri="{BB962C8B-B14F-4D97-AF65-F5344CB8AC3E}">
        <p14:creationId xmlns:p14="http://schemas.microsoft.com/office/powerpoint/2010/main" val="1268866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588C-4C0C-790A-7AC4-07C46DFDC0FB}"/>
              </a:ext>
            </a:extLst>
          </p:cNvPr>
          <p:cNvSpPr>
            <a:spLocks noGrp="1"/>
          </p:cNvSpPr>
          <p:nvPr>
            <p:ph type="title"/>
          </p:nvPr>
        </p:nvSpPr>
        <p:spPr/>
        <p:txBody>
          <a:bodyPr/>
          <a:lstStyle/>
          <a:p>
            <a:r>
              <a:rPr lang="en-US" dirty="0"/>
              <a:t>Set up TypeScript</a:t>
            </a:r>
          </a:p>
        </p:txBody>
      </p:sp>
      <p:sp>
        <p:nvSpPr>
          <p:cNvPr id="3" name="Content Placeholder 2">
            <a:extLst>
              <a:ext uri="{FF2B5EF4-FFF2-40B4-BE49-F238E27FC236}">
                <a16:creationId xmlns:a16="http://schemas.microsoft.com/office/drawing/2014/main" id="{DEB2E6B0-5C6D-5503-5457-C6737BEB43C7}"/>
              </a:ext>
            </a:extLst>
          </p:cNvPr>
          <p:cNvSpPr>
            <a:spLocks noGrp="1"/>
          </p:cNvSpPr>
          <p:nvPr>
            <p:ph idx="1"/>
          </p:nvPr>
        </p:nvSpPr>
        <p:spPr/>
        <p:txBody>
          <a:bodyPr/>
          <a:lstStyle/>
          <a:p>
            <a:r>
              <a:rPr lang="en-US" b="1" dirty="0"/>
              <a:t>Set up linting</a:t>
            </a:r>
          </a:p>
          <a:p>
            <a:pPr lvl="1"/>
            <a:r>
              <a:rPr lang="en-US" b="1" dirty="0"/>
              <a:t>Next.js </a:t>
            </a:r>
            <a:r>
              <a:rPr lang="en-US" dirty="0"/>
              <a:t>supports linting with either </a:t>
            </a:r>
            <a:r>
              <a:rPr lang="en-US" b="1" dirty="0" err="1"/>
              <a:t>ESLin</a:t>
            </a:r>
            <a:r>
              <a:rPr lang="en-US" dirty="0" err="1"/>
              <a:t>t</a:t>
            </a:r>
            <a:r>
              <a:rPr lang="en-US" dirty="0"/>
              <a:t> or </a:t>
            </a:r>
            <a:r>
              <a:rPr lang="en-US" b="1" dirty="0"/>
              <a:t>Biome</a:t>
            </a:r>
            <a:r>
              <a:rPr lang="en-US" dirty="0"/>
              <a:t>. Choose a linter and run it directly via </a:t>
            </a:r>
            <a:r>
              <a:rPr lang="en-US" b="1" dirty="0" err="1"/>
              <a:t>package.json</a:t>
            </a:r>
            <a:r>
              <a:rPr lang="en-US" b="1" dirty="0"/>
              <a:t> </a:t>
            </a:r>
            <a:r>
              <a:rPr lang="en-US" dirty="0"/>
              <a:t>scripts.</a:t>
            </a:r>
          </a:p>
          <a:p>
            <a:pPr lvl="1"/>
            <a:r>
              <a:rPr lang="en-US" b="1" dirty="0"/>
              <a:t>Use </a:t>
            </a:r>
            <a:r>
              <a:rPr lang="en-US" b="1" dirty="0" err="1"/>
              <a:t>ESLint</a:t>
            </a:r>
            <a:r>
              <a:rPr lang="en-US" b="1" dirty="0"/>
              <a:t> </a:t>
            </a:r>
            <a:r>
              <a:rPr lang="en-US" dirty="0"/>
              <a:t>(comprehensive rules)</a:t>
            </a:r>
          </a:p>
        </p:txBody>
      </p:sp>
      <p:sp>
        <p:nvSpPr>
          <p:cNvPr id="8" name="TextBox 7">
            <a:extLst>
              <a:ext uri="{FF2B5EF4-FFF2-40B4-BE49-F238E27FC236}">
                <a16:creationId xmlns:a16="http://schemas.microsoft.com/office/drawing/2014/main" id="{B3696EF8-D8E0-0633-4833-12EAB39E9C9C}"/>
              </a:ext>
            </a:extLst>
          </p:cNvPr>
          <p:cNvSpPr txBox="1"/>
          <p:nvPr/>
        </p:nvSpPr>
        <p:spPr>
          <a:xfrm>
            <a:off x="1922780" y="3337699"/>
            <a:ext cx="422148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a:t>
            </a:r>
          </a:p>
          <a:p>
            <a:r>
              <a:rPr lang="en-US" sz="2400" dirty="0"/>
              <a:t>  "scripts": {</a:t>
            </a:r>
          </a:p>
          <a:p>
            <a:r>
              <a:rPr lang="en-US" sz="2400" dirty="0"/>
              <a:t>    "lint": "</a:t>
            </a:r>
            <a:r>
              <a:rPr lang="en-US" sz="2400" dirty="0" err="1"/>
              <a:t>eslint</a:t>
            </a:r>
            <a:r>
              <a:rPr lang="en-US" sz="2400" dirty="0"/>
              <a:t>",</a:t>
            </a:r>
          </a:p>
          <a:p>
            <a:r>
              <a:rPr lang="en-US" sz="2400" dirty="0"/>
              <a:t>    "</a:t>
            </a:r>
            <a:r>
              <a:rPr lang="en-US" sz="2400" dirty="0" err="1"/>
              <a:t>lint:fix</a:t>
            </a:r>
            <a:r>
              <a:rPr lang="en-US" sz="2400" dirty="0"/>
              <a:t>": "</a:t>
            </a:r>
            <a:r>
              <a:rPr lang="en-US" sz="2400" dirty="0" err="1"/>
              <a:t>eslint</a:t>
            </a:r>
            <a:r>
              <a:rPr lang="en-US" sz="2400" dirty="0"/>
              <a:t> --fix"</a:t>
            </a:r>
          </a:p>
          <a:p>
            <a:r>
              <a:rPr lang="en-US" sz="2400" dirty="0"/>
              <a:t>  }</a:t>
            </a:r>
          </a:p>
          <a:p>
            <a:r>
              <a:rPr lang="en-US" sz="2400" dirty="0"/>
              <a:t>}</a:t>
            </a:r>
          </a:p>
        </p:txBody>
      </p:sp>
      <p:sp>
        <p:nvSpPr>
          <p:cNvPr id="10" name="TextBox 9">
            <a:extLst>
              <a:ext uri="{FF2B5EF4-FFF2-40B4-BE49-F238E27FC236}">
                <a16:creationId xmlns:a16="http://schemas.microsoft.com/office/drawing/2014/main" id="{845C5613-912E-C241-6ACB-9476CE6279AC}"/>
              </a:ext>
            </a:extLst>
          </p:cNvPr>
          <p:cNvSpPr txBox="1"/>
          <p:nvPr/>
        </p:nvSpPr>
        <p:spPr>
          <a:xfrm>
            <a:off x="6769100" y="2876034"/>
            <a:ext cx="5168900" cy="461665"/>
          </a:xfrm>
          <a:prstGeom prst="rect">
            <a:avLst/>
          </a:prstGeom>
          <a:noFill/>
        </p:spPr>
        <p:txBody>
          <a:bodyPr wrap="square">
            <a:spAutoFit/>
          </a:bodyPr>
          <a:lstStyle/>
          <a:p>
            <a:r>
              <a:rPr lang="en-US" sz="2400" b="0" i="0" dirty="0">
                <a:solidFill>
                  <a:srgbClr val="171717"/>
                </a:solidFill>
                <a:effectLst/>
                <a:latin typeface="+mj-lt"/>
              </a:rPr>
              <a:t>use </a:t>
            </a:r>
            <a:r>
              <a:rPr lang="en-US" sz="2400" b="1" i="0" dirty="0">
                <a:solidFill>
                  <a:srgbClr val="171717"/>
                </a:solidFill>
                <a:effectLst/>
                <a:latin typeface="+mj-lt"/>
              </a:rPr>
              <a:t>Biome</a:t>
            </a:r>
            <a:r>
              <a:rPr lang="en-US" sz="2400" b="0" i="0" dirty="0">
                <a:solidFill>
                  <a:srgbClr val="171717"/>
                </a:solidFill>
                <a:effectLst/>
                <a:latin typeface="+mj-lt"/>
              </a:rPr>
              <a:t> (fast linter + formatter):</a:t>
            </a:r>
            <a:endParaRPr lang="en-US" sz="2400" dirty="0">
              <a:latin typeface="+mj-lt"/>
            </a:endParaRPr>
          </a:p>
        </p:txBody>
      </p:sp>
      <p:sp>
        <p:nvSpPr>
          <p:cNvPr id="14" name="TextBox 13">
            <a:extLst>
              <a:ext uri="{FF2B5EF4-FFF2-40B4-BE49-F238E27FC236}">
                <a16:creationId xmlns:a16="http://schemas.microsoft.com/office/drawing/2014/main" id="{0A27C786-CF6A-19C0-BED7-02FF60C3AB2E}"/>
              </a:ext>
            </a:extLst>
          </p:cNvPr>
          <p:cNvSpPr txBox="1"/>
          <p:nvPr/>
        </p:nvSpPr>
        <p:spPr>
          <a:xfrm>
            <a:off x="6769100" y="3429000"/>
            <a:ext cx="48133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a:t>
            </a:r>
          </a:p>
          <a:p>
            <a:r>
              <a:rPr lang="en-US" sz="2400" dirty="0"/>
              <a:t>  "scripts": {</a:t>
            </a:r>
          </a:p>
          <a:p>
            <a:r>
              <a:rPr lang="en-US" sz="2400" dirty="0"/>
              <a:t>    "lint": "biome check",</a:t>
            </a:r>
          </a:p>
          <a:p>
            <a:r>
              <a:rPr lang="en-US" sz="2400" dirty="0"/>
              <a:t>    "format": "biome format --write"</a:t>
            </a:r>
          </a:p>
          <a:p>
            <a:r>
              <a:rPr lang="en-US" sz="2400" dirty="0"/>
              <a:t>  }</a:t>
            </a:r>
          </a:p>
          <a:p>
            <a:r>
              <a:rPr lang="en-US" sz="2400" dirty="0"/>
              <a:t>}</a:t>
            </a:r>
          </a:p>
        </p:txBody>
      </p:sp>
    </p:spTree>
    <p:extLst>
      <p:ext uri="{BB962C8B-B14F-4D97-AF65-F5344CB8AC3E}">
        <p14:creationId xmlns:p14="http://schemas.microsoft.com/office/powerpoint/2010/main" val="3201515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2DD63-D0A4-1C0F-BE04-3A704428A026}"/>
              </a:ext>
            </a:extLst>
          </p:cNvPr>
          <p:cNvSpPr>
            <a:spLocks noGrp="1"/>
          </p:cNvSpPr>
          <p:nvPr>
            <p:ph type="title"/>
          </p:nvPr>
        </p:nvSpPr>
        <p:spPr/>
        <p:txBody>
          <a:bodyPr>
            <a:normAutofit/>
          </a:bodyPr>
          <a:lstStyle/>
          <a:p>
            <a:r>
              <a:rPr lang="en-US" sz="3400" dirty="0"/>
              <a:t>Set up Absolute Imports and Module Path Aliases</a:t>
            </a:r>
          </a:p>
        </p:txBody>
      </p:sp>
      <p:sp>
        <p:nvSpPr>
          <p:cNvPr id="3" name="Content Placeholder 2">
            <a:extLst>
              <a:ext uri="{FF2B5EF4-FFF2-40B4-BE49-F238E27FC236}">
                <a16:creationId xmlns:a16="http://schemas.microsoft.com/office/drawing/2014/main" id="{3553E9D7-5CFA-D0A8-AD55-9E5EE5EE66E7}"/>
              </a:ext>
            </a:extLst>
          </p:cNvPr>
          <p:cNvSpPr>
            <a:spLocks noGrp="1"/>
          </p:cNvSpPr>
          <p:nvPr>
            <p:ph idx="1"/>
          </p:nvPr>
        </p:nvSpPr>
        <p:spPr/>
        <p:txBody>
          <a:bodyPr/>
          <a:lstStyle/>
          <a:p>
            <a:r>
              <a:rPr lang="en-US" b="1" dirty="0"/>
              <a:t>Next.js </a:t>
            </a:r>
            <a:r>
              <a:rPr lang="en-US" dirty="0"/>
              <a:t>has in-built support for the "</a:t>
            </a:r>
            <a:r>
              <a:rPr lang="en-US" b="1" dirty="0"/>
              <a:t>paths</a:t>
            </a:r>
            <a:r>
              <a:rPr lang="en-US" dirty="0"/>
              <a:t>" and "</a:t>
            </a:r>
            <a:r>
              <a:rPr lang="en-US" b="1" dirty="0" err="1"/>
              <a:t>baseUrl</a:t>
            </a:r>
            <a:r>
              <a:rPr lang="en-US" dirty="0"/>
              <a:t>" options of </a:t>
            </a:r>
            <a:r>
              <a:rPr lang="en-US" b="1" dirty="0" err="1"/>
              <a:t>tsconfig.json</a:t>
            </a:r>
            <a:r>
              <a:rPr lang="en-US" b="1" dirty="0"/>
              <a:t> </a:t>
            </a:r>
            <a:r>
              <a:rPr lang="en-US" dirty="0"/>
              <a:t>and </a:t>
            </a:r>
            <a:r>
              <a:rPr lang="en-US" b="1" dirty="0" err="1"/>
              <a:t>jsconfig.json</a:t>
            </a:r>
            <a:r>
              <a:rPr lang="en-US" dirty="0"/>
              <a:t> files.</a:t>
            </a:r>
          </a:p>
          <a:p>
            <a:r>
              <a:rPr lang="en-US" dirty="0"/>
              <a:t>These options allow you to alias project directories to absolute paths, making it easier and cleaner to import modules</a:t>
            </a:r>
          </a:p>
          <a:p>
            <a:r>
              <a:rPr lang="en-US" dirty="0"/>
              <a:t>Example: </a:t>
            </a:r>
          </a:p>
        </p:txBody>
      </p:sp>
      <p:pic>
        <p:nvPicPr>
          <p:cNvPr id="5" name="Picture 4">
            <a:extLst>
              <a:ext uri="{FF2B5EF4-FFF2-40B4-BE49-F238E27FC236}">
                <a16:creationId xmlns:a16="http://schemas.microsoft.com/office/drawing/2014/main" id="{6FFD6466-DFD7-5F81-ECBD-40368BA45B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899" y="3848074"/>
            <a:ext cx="6945628" cy="17924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09890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7E500-AA7E-AC15-E8E5-984F918373C6}"/>
              </a:ext>
            </a:extLst>
          </p:cNvPr>
          <p:cNvSpPr>
            <a:spLocks noGrp="1"/>
          </p:cNvSpPr>
          <p:nvPr>
            <p:ph type="title"/>
          </p:nvPr>
        </p:nvSpPr>
        <p:spPr/>
        <p:txBody>
          <a:bodyPr>
            <a:normAutofit/>
          </a:bodyPr>
          <a:lstStyle/>
          <a:p>
            <a:r>
              <a:rPr lang="en-US" sz="3400" dirty="0"/>
              <a:t>Set up Absolute Imports and Module Path Aliases</a:t>
            </a:r>
          </a:p>
        </p:txBody>
      </p:sp>
      <p:sp>
        <p:nvSpPr>
          <p:cNvPr id="3" name="Content Placeholder 2">
            <a:extLst>
              <a:ext uri="{FF2B5EF4-FFF2-40B4-BE49-F238E27FC236}">
                <a16:creationId xmlns:a16="http://schemas.microsoft.com/office/drawing/2014/main" id="{9B23EA6F-E7E9-AFE8-0979-AA2DF57C85ED}"/>
              </a:ext>
            </a:extLst>
          </p:cNvPr>
          <p:cNvSpPr>
            <a:spLocks noGrp="1"/>
          </p:cNvSpPr>
          <p:nvPr>
            <p:ph idx="1"/>
          </p:nvPr>
        </p:nvSpPr>
        <p:spPr/>
        <p:txBody>
          <a:bodyPr/>
          <a:lstStyle/>
          <a:p>
            <a:r>
              <a:rPr lang="en-US" dirty="0"/>
              <a:t>To configure absolute imports, add the </a:t>
            </a:r>
            <a:r>
              <a:rPr lang="en-US" dirty="0" err="1"/>
              <a:t>baseUrl</a:t>
            </a:r>
            <a:r>
              <a:rPr lang="en-US" dirty="0"/>
              <a:t> configuration option to your </a:t>
            </a:r>
            <a:r>
              <a:rPr lang="en-US" b="1" dirty="0" err="1"/>
              <a:t>tsconfig.json</a:t>
            </a:r>
            <a:r>
              <a:rPr lang="en-US" b="1" dirty="0"/>
              <a:t> </a:t>
            </a:r>
            <a:r>
              <a:rPr lang="en-US" dirty="0"/>
              <a:t>or </a:t>
            </a:r>
            <a:r>
              <a:rPr lang="en-US" b="1" dirty="0" err="1"/>
              <a:t>jsconfig.json</a:t>
            </a:r>
            <a:r>
              <a:rPr lang="en-US" b="1" dirty="0"/>
              <a:t> </a:t>
            </a:r>
            <a:r>
              <a:rPr lang="en-US" dirty="0"/>
              <a:t>file.</a:t>
            </a:r>
          </a:p>
          <a:p>
            <a:r>
              <a:rPr lang="en-US" dirty="0"/>
              <a:t>Example:</a:t>
            </a:r>
          </a:p>
          <a:p>
            <a:endParaRPr lang="en-US" dirty="0"/>
          </a:p>
        </p:txBody>
      </p:sp>
      <p:pic>
        <p:nvPicPr>
          <p:cNvPr id="5" name="Picture 4">
            <a:extLst>
              <a:ext uri="{FF2B5EF4-FFF2-40B4-BE49-F238E27FC236}">
                <a16:creationId xmlns:a16="http://schemas.microsoft.com/office/drawing/2014/main" id="{1D40AB73-9034-5B67-964A-A55CC29005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7796" y="3071114"/>
            <a:ext cx="4464103" cy="22046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77126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E5667-F35D-F45D-FE62-0CF4F3C84B67}"/>
              </a:ext>
            </a:extLst>
          </p:cNvPr>
          <p:cNvSpPr>
            <a:spLocks noGrp="1"/>
          </p:cNvSpPr>
          <p:nvPr>
            <p:ph type="title"/>
          </p:nvPr>
        </p:nvSpPr>
        <p:spPr/>
        <p:txBody>
          <a:bodyPr>
            <a:normAutofit/>
          </a:bodyPr>
          <a:lstStyle/>
          <a:p>
            <a:r>
              <a:rPr lang="en-US" sz="3400" dirty="0"/>
              <a:t>Set up Absolute Imports and Module Path Aliases</a:t>
            </a:r>
          </a:p>
        </p:txBody>
      </p:sp>
      <p:sp>
        <p:nvSpPr>
          <p:cNvPr id="3" name="Content Placeholder 2">
            <a:extLst>
              <a:ext uri="{FF2B5EF4-FFF2-40B4-BE49-F238E27FC236}">
                <a16:creationId xmlns:a16="http://schemas.microsoft.com/office/drawing/2014/main" id="{E5A8C8C6-1FA4-D3C5-3077-61C0ABF8AFBE}"/>
              </a:ext>
            </a:extLst>
          </p:cNvPr>
          <p:cNvSpPr>
            <a:spLocks noGrp="1"/>
          </p:cNvSpPr>
          <p:nvPr>
            <p:ph idx="1"/>
          </p:nvPr>
        </p:nvSpPr>
        <p:spPr/>
        <p:txBody>
          <a:bodyPr/>
          <a:lstStyle/>
          <a:p>
            <a:r>
              <a:rPr lang="en-US" dirty="0"/>
              <a:t>In addition to configuring the </a:t>
            </a:r>
            <a:r>
              <a:rPr lang="en-US" b="1" dirty="0" err="1"/>
              <a:t>baseUrl</a:t>
            </a:r>
            <a:r>
              <a:rPr lang="en-US" b="1" dirty="0"/>
              <a:t> </a:t>
            </a:r>
            <a:r>
              <a:rPr lang="en-US" dirty="0"/>
              <a:t>path, you can use the "</a:t>
            </a:r>
            <a:r>
              <a:rPr lang="en-US" b="1" dirty="0"/>
              <a:t>paths</a:t>
            </a:r>
            <a:r>
              <a:rPr lang="en-US" dirty="0"/>
              <a:t>" option to "</a:t>
            </a:r>
            <a:r>
              <a:rPr lang="en-US" b="1" dirty="0"/>
              <a:t>alias</a:t>
            </a:r>
            <a:r>
              <a:rPr lang="en-US" dirty="0"/>
              <a:t>" module paths.</a:t>
            </a:r>
          </a:p>
          <a:p>
            <a:r>
              <a:rPr lang="en-US" dirty="0"/>
              <a:t>For example, the following configuration maps @/components/* to components/*:</a:t>
            </a:r>
          </a:p>
          <a:p>
            <a:endParaRPr lang="en-US" dirty="0"/>
          </a:p>
        </p:txBody>
      </p:sp>
      <p:pic>
        <p:nvPicPr>
          <p:cNvPr id="5" name="Picture 4">
            <a:extLst>
              <a:ext uri="{FF2B5EF4-FFF2-40B4-BE49-F238E27FC236}">
                <a16:creationId xmlns:a16="http://schemas.microsoft.com/office/drawing/2014/main" id="{0ED628FB-5C87-F6D4-BC89-CA07151B1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2195" y="3231745"/>
            <a:ext cx="4670505" cy="26373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60120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3D60-D697-CD4C-6C7A-2C7FBAA6C3D4}"/>
              </a:ext>
            </a:extLst>
          </p:cNvPr>
          <p:cNvSpPr>
            <a:spLocks noGrp="1"/>
          </p:cNvSpPr>
          <p:nvPr>
            <p:ph type="title"/>
          </p:nvPr>
        </p:nvSpPr>
        <p:spPr/>
        <p:txBody>
          <a:bodyPr>
            <a:normAutofit fontScale="90000"/>
          </a:bodyPr>
          <a:lstStyle/>
          <a:p>
            <a:pPr algn="ctr"/>
            <a:br>
              <a:rPr lang="en-US" sz="13800" spc="0" dirty="0">
                <a:ln w="13462">
                  <a:solidFill>
                    <a:schemeClr val="bg1"/>
                  </a:solidFill>
                  <a:prstDash val="solid"/>
                </a:ln>
                <a:effectLst>
                  <a:outerShdw dist="38100" dir="2700000" algn="bl" rotWithShape="0">
                    <a:schemeClr val="accent5"/>
                  </a:outerShdw>
                </a:effectLst>
              </a:rPr>
            </a:br>
            <a:r>
              <a:rPr lang="en-US" spc="0" dirty="0">
                <a:ln w="12700">
                  <a:solidFill>
                    <a:schemeClr val="accent1"/>
                  </a:solidFill>
                  <a:prstDash val="solid"/>
                </a:ln>
                <a:solidFill>
                  <a:schemeClr val="bg2">
                    <a:lumMod val="25000"/>
                  </a:schemeClr>
                </a:solidFill>
                <a:effectLst>
                  <a:outerShdw dist="38100" dir="2640000" algn="bl" rotWithShape="0">
                    <a:schemeClr val="accent1"/>
                  </a:outerShdw>
                </a:effectLst>
              </a:rPr>
              <a:t>Project structure and organization </a:t>
            </a:r>
            <a:endParaRPr lang="en-US" sz="13800" spc="0" dirty="0">
              <a:ln w="13462">
                <a:solidFill>
                  <a:schemeClr val="bg1"/>
                </a:solidFill>
                <a:prstDash val="solid"/>
              </a:ln>
              <a:solidFill>
                <a:schemeClr val="bg2">
                  <a:lumMod val="25000"/>
                </a:schemeClr>
              </a:solidFill>
              <a:effectLst>
                <a:outerShdw dist="38100" dir="2700000" algn="bl" rotWithShape="0">
                  <a:schemeClr val="accent5"/>
                </a:outerShdw>
              </a:effectLst>
            </a:endParaRPr>
          </a:p>
        </p:txBody>
      </p:sp>
      <p:sp>
        <p:nvSpPr>
          <p:cNvPr id="5" name="Text Placeholder 4">
            <a:extLst>
              <a:ext uri="{FF2B5EF4-FFF2-40B4-BE49-F238E27FC236}">
                <a16:creationId xmlns:a16="http://schemas.microsoft.com/office/drawing/2014/main" id="{BAB4FE5C-A467-485E-438E-9C724BF2231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94669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13EC7-E70B-794B-670E-2C0492D9D9B7}"/>
              </a:ext>
            </a:extLst>
          </p:cNvPr>
          <p:cNvSpPr>
            <a:spLocks noGrp="1"/>
          </p:cNvSpPr>
          <p:nvPr>
            <p:ph type="title"/>
          </p:nvPr>
        </p:nvSpPr>
        <p:spPr/>
        <p:txBody>
          <a:bodyPr/>
          <a:lstStyle/>
          <a:p>
            <a:r>
              <a:rPr lang="en-US" dirty="0"/>
              <a:t>Folder and file conventions</a:t>
            </a:r>
          </a:p>
        </p:txBody>
      </p:sp>
      <p:sp>
        <p:nvSpPr>
          <p:cNvPr id="3" name="Content Placeholder 2">
            <a:extLst>
              <a:ext uri="{FF2B5EF4-FFF2-40B4-BE49-F238E27FC236}">
                <a16:creationId xmlns:a16="http://schemas.microsoft.com/office/drawing/2014/main" id="{B4DE5407-78B1-A1C9-C113-10771043BB4D}"/>
              </a:ext>
            </a:extLst>
          </p:cNvPr>
          <p:cNvSpPr>
            <a:spLocks noGrp="1"/>
          </p:cNvSpPr>
          <p:nvPr>
            <p:ph idx="1"/>
          </p:nvPr>
        </p:nvSpPr>
        <p:spPr/>
        <p:txBody>
          <a:bodyPr/>
          <a:lstStyle/>
          <a:p>
            <a:r>
              <a:rPr lang="en-US" b="1" dirty="0">
                <a:solidFill>
                  <a:srgbClr val="FF0000"/>
                </a:solidFill>
              </a:rPr>
              <a:t>Top-level folders: </a:t>
            </a:r>
            <a:r>
              <a:rPr lang="en-US" dirty="0"/>
              <a:t>are used to organize your application's code and static assets.</a:t>
            </a:r>
          </a:p>
          <a:p>
            <a:endParaRPr lang="en-US" dirty="0"/>
          </a:p>
        </p:txBody>
      </p:sp>
      <p:graphicFrame>
        <p:nvGraphicFramePr>
          <p:cNvPr id="4" name="Table 3">
            <a:extLst>
              <a:ext uri="{FF2B5EF4-FFF2-40B4-BE49-F238E27FC236}">
                <a16:creationId xmlns:a16="http://schemas.microsoft.com/office/drawing/2014/main" id="{69D70F6D-7140-7031-461E-05EB8A882856}"/>
              </a:ext>
            </a:extLst>
          </p:cNvPr>
          <p:cNvGraphicFramePr>
            <a:graphicFrameLocks noGrp="1"/>
          </p:cNvGraphicFramePr>
          <p:nvPr/>
        </p:nvGraphicFramePr>
        <p:xfrm>
          <a:off x="1245430" y="2807857"/>
          <a:ext cx="9910250" cy="2428399"/>
        </p:xfrm>
        <a:graphic>
          <a:graphicData uri="http://schemas.openxmlformats.org/drawingml/2006/table">
            <a:tbl>
              <a:tblPr/>
              <a:tblGrid>
                <a:gridCol w="2179941">
                  <a:extLst>
                    <a:ext uri="{9D8B030D-6E8A-4147-A177-3AD203B41FA5}">
                      <a16:colId xmlns:a16="http://schemas.microsoft.com/office/drawing/2014/main" val="2744406679"/>
                    </a:ext>
                  </a:extLst>
                </a:gridCol>
                <a:gridCol w="7730309">
                  <a:extLst>
                    <a:ext uri="{9D8B030D-6E8A-4147-A177-3AD203B41FA5}">
                      <a16:colId xmlns:a16="http://schemas.microsoft.com/office/drawing/2014/main" val="1975276788"/>
                    </a:ext>
                  </a:extLst>
                </a:gridCol>
              </a:tblGrid>
              <a:tr h="377462">
                <a:tc>
                  <a:txBody>
                    <a:bodyPr/>
                    <a:lstStyle/>
                    <a:p>
                      <a:pPr algn="l" fontAlgn="base">
                        <a:buNone/>
                      </a:pPr>
                      <a:r>
                        <a:rPr lang="en-US" sz="2800" b="0" u="none" strike="noStrike" dirty="0">
                          <a:solidFill>
                            <a:srgbClr val="0072F5"/>
                          </a:solidFill>
                          <a:effectLst/>
                          <a:latin typeface="Geist Mono"/>
                          <a:hlinkClick r:id="rId2"/>
                        </a:rPr>
                        <a:t>app</a:t>
                      </a:r>
                      <a:endParaRPr lang="en-US" sz="2800" dirty="0">
                        <a:effectLst/>
                      </a:endParaRPr>
                    </a:p>
                  </a:txBody>
                  <a:tcPr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App Router</a:t>
                      </a:r>
                    </a:p>
                  </a:txBody>
                  <a:tcPr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2350708374"/>
                  </a:ext>
                </a:extLst>
              </a:tr>
              <a:tr h="377462">
                <a:tc>
                  <a:txBody>
                    <a:bodyPr/>
                    <a:lstStyle/>
                    <a:p>
                      <a:pPr algn="l" fontAlgn="base">
                        <a:buNone/>
                      </a:pPr>
                      <a:r>
                        <a:rPr lang="en-US" sz="2800" b="0" u="none" strike="noStrike">
                          <a:solidFill>
                            <a:srgbClr val="0072F5"/>
                          </a:solidFill>
                          <a:effectLst/>
                          <a:latin typeface="Geist Mono"/>
                          <a:hlinkClick r:id="rId3"/>
                        </a:rPr>
                        <a:t>pages</a:t>
                      </a:r>
                      <a:endParaRPr lang="en-US" sz="2800">
                        <a:effectLst/>
                      </a:endParaRPr>
                    </a:p>
                  </a:txBody>
                  <a:tcPr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Pages Router</a:t>
                      </a:r>
                    </a:p>
                  </a:txBody>
                  <a:tcPr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3104727565"/>
                  </a:ext>
                </a:extLst>
              </a:tr>
              <a:tr h="660559">
                <a:tc>
                  <a:txBody>
                    <a:bodyPr/>
                    <a:lstStyle/>
                    <a:p>
                      <a:pPr algn="l" fontAlgn="base">
                        <a:buNone/>
                      </a:pPr>
                      <a:r>
                        <a:rPr lang="en-US" sz="2800" b="0" u="none" strike="noStrike">
                          <a:solidFill>
                            <a:srgbClr val="0072F5"/>
                          </a:solidFill>
                          <a:effectLst/>
                          <a:latin typeface="Geist Mono"/>
                          <a:hlinkClick r:id="rId4"/>
                        </a:rPr>
                        <a:t>public</a:t>
                      </a:r>
                      <a:endParaRPr lang="en-US" sz="2800">
                        <a:effectLst/>
                      </a:endParaRPr>
                    </a:p>
                  </a:txBody>
                  <a:tcPr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Static assets to be served</a:t>
                      </a:r>
                    </a:p>
                  </a:txBody>
                  <a:tcPr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500494938"/>
                  </a:ext>
                </a:extLst>
              </a:tr>
              <a:tr h="731520">
                <a:tc>
                  <a:txBody>
                    <a:bodyPr/>
                    <a:lstStyle/>
                    <a:p>
                      <a:pPr algn="l" fontAlgn="base">
                        <a:buNone/>
                      </a:pPr>
                      <a:r>
                        <a:rPr lang="en-US" sz="2800" b="0" u="none" strike="noStrike" dirty="0" err="1">
                          <a:solidFill>
                            <a:srgbClr val="0072F5"/>
                          </a:solidFill>
                          <a:effectLst/>
                          <a:latin typeface="Geist Mono"/>
                          <a:hlinkClick r:id="rId5"/>
                        </a:rPr>
                        <a:t>src</a:t>
                      </a:r>
                      <a:endParaRPr lang="en-US" sz="2800" dirty="0">
                        <a:effectLst/>
                      </a:endParaRPr>
                    </a:p>
                  </a:txBody>
                  <a:tcPr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Optional application source folder</a:t>
                      </a:r>
                    </a:p>
                  </a:txBody>
                  <a:tcPr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872857534"/>
                  </a:ext>
                </a:extLst>
              </a:tr>
            </a:tbl>
          </a:graphicData>
        </a:graphic>
      </p:graphicFrame>
    </p:spTree>
    <p:extLst>
      <p:ext uri="{BB962C8B-B14F-4D97-AF65-F5344CB8AC3E}">
        <p14:creationId xmlns:p14="http://schemas.microsoft.com/office/powerpoint/2010/main" val="2575645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560D3-587E-D2AF-61B8-AB9C2DB53018}"/>
              </a:ext>
            </a:extLst>
          </p:cNvPr>
          <p:cNvSpPr>
            <a:spLocks noGrp="1"/>
          </p:cNvSpPr>
          <p:nvPr>
            <p:ph type="title"/>
          </p:nvPr>
        </p:nvSpPr>
        <p:spPr/>
        <p:txBody>
          <a:bodyPr/>
          <a:lstStyle/>
          <a:p>
            <a:r>
              <a:rPr lang="en-US" dirty="0"/>
              <a:t>Folder and file conventions</a:t>
            </a:r>
          </a:p>
        </p:txBody>
      </p:sp>
      <p:sp>
        <p:nvSpPr>
          <p:cNvPr id="3" name="Content Placeholder 2">
            <a:extLst>
              <a:ext uri="{FF2B5EF4-FFF2-40B4-BE49-F238E27FC236}">
                <a16:creationId xmlns:a16="http://schemas.microsoft.com/office/drawing/2014/main" id="{7EED207A-2DAF-E21B-8E7D-CE618411E2D7}"/>
              </a:ext>
            </a:extLst>
          </p:cNvPr>
          <p:cNvSpPr>
            <a:spLocks noGrp="1"/>
          </p:cNvSpPr>
          <p:nvPr>
            <p:ph idx="1"/>
          </p:nvPr>
        </p:nvSpPr>
        <p:spPr>
          <a:xfrm>
            <a:off x="1097280" y="1582220"/>
            <a:ext cx="10058400" cy="4818580"/>
          </a:xfrm>
        </p:spPr>
        <p:txBody>
          <a:bodyPr>
            <a:normAutofit/>
          </a:bodyPr>
          <a:lstStyle/>
          <a:p>
            <a:r>
              <a:rPr lang="en-US" b="1" dirty="0"/>
              <a:t>The “pages” folder </a:t>
            </a:r>
            <a:r>
              <a:rPr lang="en-US" dirty="0"/>
              <a:t>contains your page files. Each “pages” file is a React Component with a unique route automatically generated from its filename.</a:t>
            </a:r>
          </a:p>
          <a:p>
            <a:r>
              <a:rPr lang="en-US" b="1" dirty="0"/>
              <a:t>Public</a:t>
            </a:r>
            <a:r>
              <a:rPr lang="en-US" dirty="0"/>
              <a:t>: This folder is for serving static files; it typically contains images or icons used by the website, as well as internal information such as Google Site Verification.</a:t>
            </a:r>
          </a:p>
          <a:p>
            <a:r>
              <a:rPr lang="en-US" b="1" dirty="0"/>
              <a:t>The style </a:t>
            </a:r>
            <a:r>
              <a:rPr lang="en-US" dirty="0"/>
              <a:t>folder contains the CSS files for the entire application. The </a:t>
            </a:r>
            <a:r>
              <a:rPr lang="en-US" b="1" dirty="0"/>
              <a:t>Globals.css </a:t>
            </a:r>
            <a:r>
              <a:rPr lang="en-US" dirty="0"/>
              <a:t>file sets the common standards that all pages in the project will use.</a:t>
            </a:r>
          </a:p>
        </p:txBody>
      </p:sp>
    </p:spTree>
    <p:extLst>
      <p:ext uri="{BB962C8B-B14F-4D97-AF65-F5344CB8AC3E}">
        <p14:creationId xmlns:p14="http://schemas.microsoft.com/office/powerpoint/2010/main" val="1190394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D3C7B-608A-19F6-74B7-B5B60C2EA8DA}"/>
              </a:ext>
            </a:extLst>
          </p:cNvPr>
          <p:cNvSpPr>
            <a:spLocks noGrp="1"/>
          </p:cNvSpPr>
          <p:nvPr>
            <p:ph type="title"/>
          </p:nvPr>
        </p:nvSpPr>
        <p:spPr/>
        <p:txBody>
          <a:bodyPr/>
          <a:lstStyle/>
          <a:p>
            <a:r>
              <a:rPr lang="en-US" dirty="0"/>
              <a:t>Folder and file conventions</a:t>
            </a:r>
          </a:p>
        </p:txBody>
      </p:sp>
      <p:sp>
        <p:nvSpPr>
          <p:cNvPr id="3" name="Content Placeholder 2">
            <a:extLst>
              <a:ext uri="{FF2B5EF4-FFF2-40B4-BE49-F238E27FC236}">
                <a16:creationId xmlns:a16="http://schemas.microsoft.com/office/drawing/2014/main" id="{E60A9F42-F423-C333-A769-72F6759F8E6D}"/>
              </a:ext>
            </a:extLst>
          </p:cNvPr>
          <p:cNvSpPr>
            <a:spLocks noGrp="1"/>
          </p:cNvSpPr>
          <p:nvPr>
            <p:ph idx="1"/>
          </p:nvPr>
        </p:nvSpPr>
        <p:spPr/>
        <p:txBody>
          <a:bodyPr/>
          <a:lstStyle/>
          <a:p>
            <a:r>
              <a:rPr lang="en-US" b="1" dirty="0">
                <a:solidFill>
                  <a:srgbClr val="FF0000"/>
                </a:solidFill>
              </a:rPr>
              <a:t>Top-level files</a:t>
            </a:r>
          </a:p>
        </p:txBody>
      </p:sp>
      <p:graphicFrame>
        <p:nvGraphicFramePr>
          <p:cNvPr id="4" name="Table 3">
            <a:extLst>
              <a:ext uri="{FF2B5EF4-FFF2-40B4-BE49-F238E27FC236}">
                <a16:creationId xmlns:a16="http://schemas.microsoft.com/office/drawing/2014/main" id="{7AFB0AA1-C1E3-8DDA-CBCD-0B08A6D89B36}"/>
              </a:ext>
            </a:extLst>
          </p:cNvPr>
          <p:cNvGraphicFramePr>
            <a:graphicFrameLocks noGrp="1"/>
          </p:cNvGraphicFramePr>
          <p:nvPr/>
        </p:nvGraphicFramePr>
        <p:xfrm>
          <a:off x="1248228" y="2256772"/>
          <a:ext cx="9846492" cy="3817804"/>
        </p:xfrm>
        <a:graphic>
          <a:graphicData uri="http://schemas.openxmlformats.org/drawingml/2006/table">
            <a:tbl>
              <a:tblPr/>
              <a:tblGrid>
                <a:gridCol w="3211604">
                  <a:extLst>
                    <a:ext uri="{9D8B030D-6E8A-4147-A177-3AD203B41FA5}">
                      <a16:colId xmlns:a16="http://schemas.microsoft.com/office/drawing/2014/main" val="1335386091"/>
                    </a:ext>
                  </a:extLst>
                </a:gridCol>
                <a:gridCol w="6634888">
                  <a:extLst>
                    <a:ext uri="{9D8B030D-6E8A-4147-A177-3AD203B41FA5}">
                      <a16:colId xmlns:a16="http://schemas.microsoft.com/office/drawing/2014/main" val="1752622474"/>
                    </a:ext>
                  </a:extLst>
                </a:gridCol>
              </a:tblGrid>
              <a:tr h="493431">
                <a:tc>
                  <a:txBody>
                    <a:bodyPr/>
                    <a:lstStyle/>
                    <a:p>
                      <a:pPr algn="l" fontAlgn="base">
                        <a:buNone/>
                      </a:pPr>
                      <a:r>
                        <a:rPr lang="en-US" sz="2800" b="0" u="none" strike="noStrike" dirty="0">
                          <a:solidFill>
                            <a:srgbClr val="0072F5"/>
                          </a:solidFill>
                          <a:effectLst/>
                          <a:latin typeface="Geist Mono"/>
                          <a:hlinkClick r:id="rId2"/>
                        </a:rPr>
                        <a:t>next.config.js</a:t>
                      </a:r>
                      <a:endParaRPr lang="en-US" sz="2800" dirty="0">
                        <a:effectLst/>
                      </a:endParaRP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Configuration file for Next.js</a:t>
                      </a: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11280200"/>
                  </a:ext>
                </a:extLst>
              </a:tr>
              <a:tr h="704901">
                <a:tc>
                  <a:txBody>
                    <a:bodyPr/>
                    <a:lstStyle/>
                    <a:p>
                      <a:pPr algn="l" fontAlgn="base">
                        <a:buNone/>
                      </a:pPr>
                      <a:r>
                        <a:rPr lang="en-US" sz="2800" b="0" u="none" strike="noStrike">
                          <a:solidFill>
                            <a:srgbClr val="0072F5"/>
                          </a:solidFill>
                          <a:effectLst/>
                          <a:latin typeface="Geist Mono"/>
                          <a:hlinkClick r:id="rId3"/>
                        </a:rPr>
                        <a:t>package.json</a:t>
                      </a:r>
                      <a:endParaRPr lang="en-US" sz="2800">
                        <a:effectLst/>
                      </a:endParaRP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a:effectLst/>
                        </a:rPr>
                        <a:t>Project dependencies and scripts</a:t>
                      </a: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839526799"/>
                  </a:ext>
                </a:extLst>
              </a:tr>
              <a:tr h="916372">
                <a:tc>
                  <a:txBody>
                    <a:bodyPr/>
                    <a:lstStyle/>
                    <a:p>
                      <a:pPr algn="l" fontAlgn="base">
                        <a:buNone/>
                      </a:pPr>
                      <a:r>
                        <a:rPr lang="en-US" sz="2800" b="0" u="none" strike="noStrike">
                          <a:solidFill>
                            <a:srgbClr val="0072F5"/>
                          </a:solidFill>
                          <a:effectLst/>
                          <a:latin typeface="Geist Mono"/>
                          <a:hlinkClick r:id="rId4"/>
                        </a:rPr>
                        <a:t>instrumentation.ts</a:t>
                      </a:r>
                      <a:endParaRPr lang="en-US" sz="2800">
                        <a:effectLst/>
                      </a:endParaRP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err="1">
                          <a:effectLst/>
                        </a:rPr>
                        <a:t>OpenTelemetry</a:t>
                      </a:r>
                      <a:r>
                        <a:rPr lang="en-US" sz="2800" dirty="0">
                          <a:effectLst/>
                        </a:rPr>
                        <a:t> and Instrumentation file</a:t>
                      </a: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400481074"/>
                  </a:ext>
                </a:extLst>
              </a:tr>
              <a:tr h="493431">
                <a:tc>
                  <a:txBody>
                    <a:bodyPr/>
                    <a:lstStyle/>
                    <a:p>
                      <a:pPr algn="l" fontAlgn="base">
                        <a:buNone/>
                      </a:pPr>
                      <a:r>
                        <a:rPr lang="en-US" sz="2800" b="0" u="none" strike="noStrike">
                          <a:solidFill>
                            <a:srgbClr val="0072F5"/>
                          </a:solidFill>
                          <a:effectLst/>
                          <a:latin typeface="Geist Mono"/>
                          <a:hlinkClick r:id="rId5"/>
                        </a:rPr>
                        <a:t>middleware.ts</a:t>
                      </a:r>
                      <a:endParaRPr lang="en-US" sz="2800">
                        <a:effectLst/>
                      </a:endParaRP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a:effectLst/>
                        </a:rPr>
                        <a:t>Next.js request middleware</a:t>
                      </a: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4261625116"/>
                  </a:ext>
                </a:extLst>
              </a:tr>
              <a:tr h="493431">
                <a:tc>
                  <a:txBody>
                    <a:bodyPr/>
                    <a:lstStyle/>
                    <a:p>
                      <a:pPr algn="l" fontAlgn="base">
                        <a:buNone/>
                      </a:pPr>
                      <a:r>
                        <a:rPr lang="en-US" sz="2800" b="0" u="none" strike="noStrike">
                          <a:solidFill>
                            <a:srgbClr val="0072F5"/>
                          </a:solidFill>
                          <a:effectLst/>
                          <a:latin typeface="Geist Mono"/>
                          <a:hlinkClick r:id="rId6"/>
                        </a:rPr>
                        <a:t>.env</a:t>
                      </a:r>
                      <a:endParaRPr lang="en-US" sz="2800">
                        <a:effectLst/>
                      </a:endParaRP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a:effectLst/>
                        </a:rPr>
                        <a:t>Environment variables</a:t>
                      </a: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4103026162"/>
                  </a:ext>
                </a:extLst>
              </a:tr>
              <a:tr h="704901">
                <a:tc>
                  <a:txBody>
                    <a:bodyPr/>
                    <a:lstStyle/>
                    <a:p>
                      <a:pPr algn="l" fontAlgn="base">
                        <a:buNone/>
                      </a:pPr>
                      <a:r>
                        <a:rPr lang="en-US" sz="2800" b="0" u="none" strike="noStrike">
                          <a:solidFill>
                            <a:srgbClr val="0072F5"/>
                          </a:solidFill>
                          <a:effectLst/>
                          <a:latin typeface="Geist Mono"/>
                          <a:hlinkClick r:id="rId6"/>
                        </a:rPr>
                        <a:t>.env.local</a:t>
                      </a:r>
                      <a:endParaRPr lang="en-US" sz="2800">
                        <a:effectLst/>
                      </a:endParaRP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Local environment variables</a:t>
                      </a:r>
                    </a:p>
                  </a:txBody>
                  <a:tcPr marL="70490" marR="70490" marT="35245" marB="35245"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2533600384"/>
                  </a:ext>
                </a:extLst>
              </a:tr>
            </a:tbl>
          </a:graphicData>
        </a:graphic>
      </p:graphicFrame>
    </p:spTree>
    <p:extLst>
      <p:ext uri="{BB962C8B-B14F-4D97-AF65-F5344CB8AC3E}">
        <p14:creationId xmlns:p14="http://schemas.microsoft.com/office/powerpoint/2010/main" val="4191440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CF419-A206-0845-A810-90B4D08DF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C68C0-AF5E-DE76-5A54-A1F476D24AE6}"/>
              </a:ext>
            </a:extLst>
          </p:cNvPr>
          <p:cNvSpPr>
            <a:spLocks noGrp="1"/>
          </p:cNvSpPr>
          <p:nvPr>
            <p:ph type="title"/>
          </p:nvPr>
        </p:nvSpPr>
        <p:spPr/>
        <p:txBody>
          <a:bodyPr/>
          <a:lstStyle/>
          <a:p>
            <a:r>
              <a:rPr lang="en-US" dirty="0"/>
              <a:t>Folder and file conventions</a:t>
            </a:r>
          </a:p>
        </p:txBody>
      </p:sp>
      <p:sp>
        <p:nvSpPr>
          <p:cNvPr id="3" name="Content Placeholder 2">
            <a:extLst>
              <a:ext uri="{FF2B5EF4-FFF2-40B4-BE49-F238E27FC236}">
                <a16:creationId xmlns:a16="http://schemas.microsoft.com/office/drawing/2014/main" id="{6ED3B823-3599-6EC7-54D6-EEA7083AA281}"/>
              </a:ext>
            </a:extLst>
          </p:cNvPr>
          <p:cNvSpPr>
            <a:spLocks noGrp="1"/>
          </p:cNvSpPr>
          <p:nvPr>
            <p:ph idx="1"/>
          </p:nvPr>
        </p:nvSpPr>
        <p:spPr/>
        <p:txBody>
          <a:bodyPr/>
          <a:lstStyle/>
          <a:p>
            <a:r>
              <a:rPr lang="en-US" b="1" dirty="0">
                <a:solidFill>
                  <a:srgbClr val="FF0000"/>
                </a:solidFill>
              </a:rPr>
              <a:t>Top-level files</a:t>
            </a:r>
          </a:p>
        </p:txBody>
      </p:sp>
      <p:graphicFrame>
        <p:nvGraphicFramePr>
          <p:cNvPr id="5" name="Table 4">
            <a:extLst>
              <a:ext uri="{FF2B5EF4-FFF2-40B4-BE49-F238E27FC236}">
                <a16:creationId xmlns:a16="http://schemas.microsoft.com/office/drawing/2014/main" id="{AECB24CA-9AA9-D914-D283-D183D6733006}"/>
              </a:ext>
            </a:extLst>
          </p:cNvPr>
          <p:cNvGraphicFramePr>
            <a:graphicFrameLocks noGrp="1"/>
          </p:cNvGraphicFramePr>
          <p:nvPr/>
        </p:nvGraphicFramePr>
        <p:xfrm>
          <a:off x="1225005" y="2271173"/>
          <a:ext cx="10183223" cy="3840480"/>
        </p:xfrm>
        <a:graphic>
          <a:graphicData uri="http://schemas.openxmlformats.org/drawingml/2006/table">
            <a:tbl>
              <a:tblPr/>
              <a:tblGrid>
                <a:gridCol w="3417919">
                  <a:extLst>
                    <a:ext uri="{9D8B030D-6E8A-4147-A177-3AD203B41FA5}">
                      <a16:colId xmlns:a16="http://schemas.microsoft.com/office/drawing/2014/main" val="3245730569"/>
                    </a:ext>
                  </a:extLst>
                </a:gridCol>
                <a:gridCol w="6765304">
                  <a:extLst>
                    <a:ext uri="{9D8B030D-6E8A-4147-A177-3AD203B41FA5}">
                      <a16:colId xmlns:a16="http://schemas.microsoft.com/office/drawing/2014/main" val="1241255206"/>
                    </a:ext>
                  </a:extLst>
                </a:gridCol>
              </a:tblGrid>
              <a:tr h="548640">
                <a:tc>
                  <a:txBody>
                    <a:bodyPr/>
                    <a:lstStyle/>
                    <a:p>
                      <a:pPr algn="l" fontAlgn="base">
                        <a:buNone/>
                      </a:pPr>
                      <a:r>
                        <a:rPr lang="en-US" sz="2800" b="0" u="none" strike="noStrike">
                          <a:solidFill>
                            <a:srgbClr val="0072F5"/>
                          </a:solidFill>
                          <a:effectLst/>
                          <a:latin typeface="Geist Mono"/>
                          <a:hlinkClick r:id="rId2"/>
                        </a:rPr>
                        <a:t>env.production</a:t>
                      </a:r>
                      <a:endParaRPr lang="en-US" sz="2800">
                        <a:effectLst/>
                      </a:endParaRP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Production environment variables</a:t>
                      </a: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219143034"/>
                  </a:ext>
                </a:extLst>
              </a:tr>
              <a:tr h="548640">
                <a:tc>
                  <a:txBody>
                    <a:bodyPr/>
                    <a:lstStyle/>
                    <a:p>
                      <a:pPr algn="l" fontAlgn="base">
                        <a:buNone/>
                      </a:pPr>
                      <a:r>
                        <a:rPr lang="en-US" sz="2800" b="0" u="none" strike="noStrike">
                          <a:solidFill>
                            <a:srgbClr val="0072F5"/>
                          </a:solidFill>
                          <a:effectLst/>
                          <a:latin typeface="Geist Mono"/>
                          <a:hlinkClick r:id="rId2"/>
                        </a:rPr>
                        <a:t>.env.development</a:t>
                      </a:r>
                      <a:endParaRPr lang="en-US" sz="2800">
                        <a:effectLst/>
                      </a:endParaRP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Development environment variables</a:t>
                      </a: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648301958"/>
                  </a:ext>
                </a:extLst>
              </a:tr>
              <a:tr h="548640">
                <a:tc>
                  <a:txBody>
                    <a:bodyPr/>
                    <a:lstStyle/>
                    <a:p>
                      <a:pPr algn="l" fontAlgn="base">
                        <a:buNone/>
                      </a:pPr>
                      <a:r>
                        <a:rPr lang="en-US" sz="2800" b="0" u="none" strike="noStrike">
                          <a:solidFill>
                            <a:srgbClr val="0072F5"/>
                          </a:solidFill>
                          <a:effectLst/>
                          <a:latin typeface="Geist Mono"/>
                          <a:hlinkClick r:id="rId3"/>
                        </a:rPr>
                        <a:t>.eslintrc.json</a:t>
                      </a:r>
                      <a:endParaRPr lang="en-US" sz="2800">
                        <a:effectLst/>
                      </a:endParaRP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a:effectLst/>
                        </a:rPr>
                        <a:t>Configuration file for ESLint</a:t>
                      </a: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304382289"/>
                  </a:ext>
                </a:extLst>
              </a:tr>
              <a:tr h="548640">
                <a:tc>
                  <a:txBody>
                    <a:bodyPr/>
                    <a:lstStyle/>
                    <a:p>
                      <a:pPr algn="l" fontAlgn="base">
                        <a:buNone/>
                      </a:pPr>
                      <a:r>
                        <a:rPr lang="en-US" sz="2800">
                          <a:solidFill>
                            <a:srgbClr val="171717"/>
                          </a:solidFill>
                          <a:effectLst/>
                          <a:latin typeface="Geist Mono"/>
                        </a:rPr>
                        <a:t>.gitignore</a:t>
                      </a:r>
                      <a:endParaRPr lang="en-US" sz="2800">
                        <a:effectLst/>
                      </a:endParaRP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a:effectLst/>
                        </a:rPr>
                        <a:t>Git files and folders to ignore</a:t>
                      </a: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643096680"/>
                  </a:ext>
                </a:extLst>
              </a:tr>
              <a:tr h="548640">
                <a:tc>
                  <a:txBody>
                    <a:bodyPr/>
                    <a:lstStyle/>
                    <a:p>
                      <a:pPr algn="l" fontAlgn="base">
                        <a:buNone/>
                      </a:pPr>
                      <a:r>
                        <a:rPr lang="en-US" sz="2800">
                          <a:solidFill>
                            <a:srgbClr val="171717"/>
                          </a:solidFill>
                          <a:effectLst/>
                          <a:latin typeface="Geist Mono"/>
                        </a:rPr>
                        <a:t>next-env.d.ts</a:t>
                      </a:r>
                      <a:endParaRPr lang="en-US" sz="2800">
                        <a:effectLst/>
                      </a:endParaRP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a:effectLst/>
                        </a:rPr>
                        <a:t>TypeScript declaration file for Next.js</a:t>
                      </a: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2671328729"/>
                  </a:ext>
                </a:extLst>
              </a:tr>
              <a:tr h="548640">
                <a:tc>
                  <a:txBody>
                    <a:bodyPr/>
                    <a:lstStyle/>
                    <a:p>
                      <a:pPr algn="l" fontAlgn="base">
                        <a:buNone/>
                      </a:pPr>
                      <a:r>
                        <a:rPr lang="en-US" sz="2800">
                          <a:solidFill>
                            <a:srgbClr val="171717"/>
                          </a:solidFill>
                          <a:effectLst/>
                          <a:latin typeface="Geist Mono"/>
                        </a:rPr>
                        <a:t>tsconfig.json</a:t>
                      </a:r>
                      <a:endParaRPr lang="en-US" sz="2800">
                        <a:effectLst/>
                      </a:endParaRP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a:effectLst/>
                        </a:rPr>
                        <a:t>Configuration file for TypeScript</a:t>
                      </a: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636003078"/>
                  </a:ext>
                </a:extLst>
              </a:tr>
              <a:tr h="548640">
                <a:tc>
                  <a:txBody>
                    <a:bodyPr/>
                    <a:lstStyle/>
                    <a:p>
                      <a:pPr algn="l" fontAlgn="base">
                        <a:buNone/>
                      </a:pPr>
                      <a:r>
                        <a:rPr lang="en-US" sz="2800">
                          <a:solidFill>
                            <a:srgbClr val="171717"/>
                          </a:solidFill>
                          <a:effectLst/>
                          <a:latin typeface="Geist Mono"/>
                        </a:rPr>
                        <a:t>jsconfig.json</a:t>
                      </a:r>
                      <a:endParaRPr lang="en-US" sz="2800">
                        <a:effectLst/>
                      </a:endParaRP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algn="l" fontAlgn="base">
                        <a:spcBef>
                          <a:spcPts val="1200"/>
                        </a:spcBef>
                        <a:buNone/>
                      </a:pPr>
                      <a:r>
                        <a:rPr lang="en-US" sz="2800" dirty="0">
                          <a:effectLst/>
                        </a:rPr>
                        <a:t>Configuration file for JavaScript</a:t>
                      </a:r>
                    </a:p>
                  </a:txBody>
                  <a:tcPr marL="75352" marR="75352" marT="37676" marB="37676"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253662128"/>
                  </a:ext>
                </a:extLst>
              </a:tr>
            </a:tbl>
          </a:graphicData>
        </a:graphic>
      </p:graphicFrame>
    </p:spTree>
    <p:extLst>
      <p:ext uri="{BB962C8B-B14F-4D97-AF65-F5344CB8AC3E}">
        <p14:creationId xmlns:p14="http://schemas.microsoft.com/office/powerpoint/2010/main" val="1362290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BDF51-87BF-AFF1-7983-27175A61C17B}"/>
              </a:ext>
            </a:extLst>
          </p:cNvPr>
          <p:cNvSpPr>
            <a:spLocks noGrp="1"/>
          </p:cNvSpPr>
          <p:nvPr>
            <p:ph type="title"/>
          </p:nvPr>
        </p:nvSpPr>
        <p:spPr/>
        <p:txBody>
          <a:bodyPr/>
          <a:lstStyle/>
          <a:p>
            <a:r>
              <a:rPr lang="en-US" dirty="0"/>
              <a:t>App Routing Conventions</a:t>
            </a:r>
          </a:p>
        </p:txBody>
      </p:sp>
      <p:sp>
        <p:nvSpPr>
          <p:cNvPr id="3" name="Content Placeholder 2">
            <a:extLst>
              <a:ext uri="{FF2B5EF4-FFF2-40B4-BE49-F238E27FC236}">
                <a16:creationId xmlns:a16="http://schemas.microsoft.com/office/drawing/2014/main" id="{84F09961-4A4C-81C5-811E-322039102B40}"/>
              </a:ext>
            </a:extLst>
          </p:cNvPr>
          <p:cNvSpPr>
            <a:spLocks noGrp="1"/>
          </p:cNvSpPr>
          <p:nvPr>
            <p:ph idx="1"/>
          </p:nvPr>
        </p:nvSpPr>
        <p:spPr/>
        <p:txBody>
          <a:bodyPr/>
          <a:lstStyle/>
          <a:p>
            <a:r>
              <a:rPr lang="en-US" b="1" dirty="0">
                <a:solidFill>
                  <a:srgbClr val="FF0000"/>
                </a:solidFill>
              </a:rPr>
              <a:t>Routing Files</a:t>
            </a:r>
          </a:p>
          <a:p>
            <a:endParaRPr lang="en-US" dirty="0"/>
          </a:p>
        </p:txBody>
      </p:sp>
      <p:graphicFrame>
        <p:nvGraphicFramePr>
          <p:cNvPr id="5" name="Table 4">
            <a:extLst>
              <a:ext uri="{FF2B5EF4-FFF2-40B4-BE49-F238E27FC236}">
                <a16:creationId xmlns:a16="http://schemas.microsoft.com/office/drawing/2014/main" id="{985AD4FA-08F3-5ABC-9145-673E2D8718F1}"/>
              </a:ext>
            </a:extLst>
          </p:cNvPr>
          <p:cNvGraphicFramePr>
            <a:graphicFrameLocks noGrp="1"/>
          </p:cNvGraphicFramePr>
          <p:nvPr/>
        </p:nvGraphicFramePr>
        <p:xfrm>
          <a:off x="1308780" y="2108933"/>
          <a:ext cx="9846900" cy="3965645"/>
        </p:xfrm>
        <a:graphic>
          <a:graphicData uri="http://schemas.openxmlformats.org/drawingml/2006/table">
            <a:tbl>
              <a:tblPr bandRow="1">
                <a:tableStyleId>{5940675A-B579-460E-94D1-54222C63F5DA}</a:tableStyleId>
              </a:tblPr>
              <a:tblGrid>
                <a:gridCol w="1884363">
                  <a:extLst>
                    <a:ext uri="{9D8B030D-6E8A-4147-A177-3AD203B41FA5}">
                      <a16:colId xmlns:a16="http://schemas.microsoft.com/office/drawing/2014/main" val="1227334019"/>
                    </a:ext>
                  </a:extLst>
                </a:gridCol>
                <a:gridCol w="4680237">
                  <a:extLst>
                    <a:ext uri="{9D8B030D-6E8A-4147-A177-3AD203B41FA5}">
                      <a16:colId xmlns:a16="http://schemas.microsoft.com/office/drawing/2014/main" val="1413030209"/>
                    </a:ext>
                  </a:extLst>
                </a:gridCol>
                <a:gridCol w="3282300">
                  <a:extLst>
                    <a:ext uri="{9D8B030D-6E8A-4147-A177-3AD203B41FA5}">
                      <a16:colId xmlns:a16="http://schemas.microsoft.com/office/drawing/2014/main" val="3764335744"/>
                    </a:ext>
                  </a:extLst>
                </a:gridCol>
              </a:tblGrid>
              <a:tr h="793129">
                <a:tc>
                  <a:txBody>
                    <a:bodyPr/>
                    <a:lstStyle/>
                    <a:p>
                      <a:pPr marL="0" marR="0">
                        <a:lnSpc>
                          <a:spcPct val="115000"/>
                        </a:lnSpc>
                        <a:spcAft>
                          <a:spcPts val="800"/>
                        </a:spcAft>
                        <a:buNone/>
                      </a:pPr>
                      <a:r>
                        <a:rPr lang="en-US" sz="2800" u="sng" kern="100">
                          <a:effectLst/>
                          <a:hlinkClick r:id="rId2"/>
                        </a:rPr>
                        <a:t>layout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a:effectLst/>
                        </a:rPr>
                        <a:t>.js .jsx .tsx</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a:effectLst/>
                        </a:rPr>
                        <a:t>Layout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extLst>
                  <a:ext uri="{0D108BD9-81ED-4DB2-BD59-A6C34878D82A}">
                    <a16:rowId xmlns:a16="http://schemas.microsoft.com/office/drawing/2014/main" val="4078349051"/>
                  </a:ext>
                </a:extLst>
              </a:tr>
              <a:tr h="793129">
                <a:tc>
                  <a:txBody>
                    <a:bodyPr/>
                    <a:lstStyle/>
                    <a:p>
                      <a:pPr marL="0" marR="0">
                        <a:lnSpc>
                          <a:spcPct val="115000"/>
                        </a:lnSpc>
                        <a:spcAft>
                          <a:spcPts val="800"/>
                        </a:spcAft>
                        <a:buNone/>
                      </a:pPr>
                      <a:r>
                        <a:rPr lang="en-US" sz="2800" u="sng" kern="100">
                          <a:effectLst/>
                          <a:hlinkClick r:id="rId3"/>
                        </a:rPr>
                        <a:t>page</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dirty="0">
                          <a:effectLst/>
                        </a:rPr>
                        <a:t>.</a:t>
                      </a:r>
                      <a:r>
                        <a:rPr lang="en-US" sz="2800" kern="100" dirty="0" err="1">
                          <a:effectLst/>
                        </a:rPr>
                        <a:t>js</a:t>
                      </a:r>
                      <a:r>
                        <a:rPr lang="en-US" sz="2800" kern="100" dirty="0">
                          <a:effectLst/>
                        </a:rPr>
                        <a:t> .</a:t>
                      </a:r>
                      <a:r>
                        <a:rPr lang="en-US" sz="2800" kern="100" dirty="0" err="1">
                          <a:effectLst/>
                        </a:rPr>
                        <a:t>jsx</a:t>
                      </a:r>
                      <a:r>
                        <a:rPr lang="en-US" sz="2800" kern="100" dirty="0">
                          <a:effectLst/>
                        </a:rPr>
                        <a:t> .</a:t>
                      </a:r>
                      <a:r>
                        <a:rPr lang="en-US" sz="2800" kern="100" dirty="0" err="1">
                          <a:effectLst/>
                        </a:rPr>
                        <a:t>tsx</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a:effectLst/>
                        </a:rPr>
                        <a:t>Page</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extLst>
                  <a:ext uri="{0D108BD9-81ED-4DB2-BD59-A6C34878D82A}">
                    <a16:rowId xmlns:a16="http://schemas.microsoft.com/office/drawing/2014/main" val="4061623643"/>
                  </a:ext>
                </a:extLst>
              </a:tr>
              <a:tr h="793129">
                <a:tc>
                  <a:txBody>
                    <a:bodyPr/>
                    <a:lstStyle/>
                    <a:p>
                      <a:pPr marL="0" marR="0">
                        <a:lnSpc>
                          <a:spcPct val="115000"/>
                        </a:lnSpc>
                        <a:spcAft>
                          <a:spcPts val="800"/>
                        </a:spcAft>
                        <a:buNone/>
                      </a:pPr>
                      <a:r>
                        <a:rPr lang="en-US" sz="2800" u="sng" kern="100">
                          <a:effectLst/>
                          <a:hlinkClick r:id="rId4"/>
                        </a:rPr>
                        <a:t>loading</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a:effectLst/>
                        </a:rPr>
                        <a:t>.js .jsx .tsx</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a:effectLst/>
                        </a:rPr>
                        <a:t>Loading UI</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extLst>
                  <a:ext uri="{0D108BD9-81ED-4DB2-BD59-A6C34878D82A}">
                    <a16:rowId xmlns:a16="http://schemas.microsoft.com/office/drawing/2014/main" val="1758816686"/>
                  </a:ext>
                </a:extLst>
              </a:tr>
              <a:tr h="793129">
                <a:tc>
                  <a:txBody>
                    <a:bodyPr/>
                    <a:lstStyle/>
                    <a:p>
                      <a:pPr marL="0" marR="0">
                        <a:lnSpc>
                          <a:spcPct val="115000"/>
                        </a:lnSpc>
                        <a:spcAft>
                          <a:spcPts val="800"/>
                        </a:spcAft>
                        <a:buNone/>
                      </a:pPr>
                      <a:r>
                        <a:rPr lang="en-US" sz="2800" u="sng" kern="100">
                          <a:effectLst/>
                          <a:hlinkClick r:id="rId5"/>
                        </a:rPr>
                        <a:t>not-found</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a:effectLst/>
                        </a:rPr>
                        <a:t>.js .jsx .tsx</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a:effectLst/>
                        </a:rPr>
                        <a:t>Not found UI</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extLst>
                  <a:ext uri="{0D108BD9-81ED-4DB2-BD59-A6C34878D82A}">
                    <a16:rowId xmlns:a16="http://schemas.microsoft.com/office/drawing/2014/main" val="3773996868"/>
                  </a:ext>
                </a:extLst>
              </a:tr>
              <a:tr h="793129">
                <a:tc>
                  <a:txBody>
                    <a:bodyPr/>
                    <a:lstStyle/>
                    <a:p>
                      <a:pPr marL="0" marR="0">
                        <a:lnSpc>
                          <a:spcPct val="115000"/>
                        </a:lnSpc>
                        <a:spcAft>
                          <a:spcPts val="800"/>
                        </a:spcAft>
                        <a:buNone/>
                      </a:pPr>
                      <a:r>
                        <a:rPr lang="en-US" sz="2800" u="sng" kern="100">
                          <a:effectLst/>
                          <a:hlinkClick r:id="rId6"/>
                        </a:rPr>
                        <a:t>error</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a:effectLst/>
                        </a:rPr>
                        <a:t>.js .jsx .tsx</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tc>
                  <a:txBody>
                    <a:bodyPr/>
                    <a:lstStyle/>
                    <a:p>
                      <a:pPr marL="0" marR="0">
                        <a:lnSpc>
                          <a:spcPct val="115000"/>
                        </a:lnSpc>
                        <a:spcAft>
                          <a:spcPts val="800"/>
                        </a:spcAft>
                        <a:buNone/>
                      </a:pPr>
                      <a:r>
                        <a:rPr lang="en-US" sz="2800" kern="100" dirty="0">
                          <a:effectLst/>
                        </a:rPr>
                        <a:t>Error UI</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nchor="b"/>
                </a:tc>
                <a:extLst>
                  <a:ext uri="{0D108BD9-81ED-4DB2-BD59-A6C34878D82A}">
                    <a16:rowId xmlns:a16="http://schemas.microsoft.com/office/drawing/2014/main" val="1367115133"/>
                  </a:ext>
                </a:extLst>
              </a:tr>
            </a:tbl>
          </a:graphicData>
        </a:graphic>
      </p:graphicFrame>
    </p:spTree>
    <p:extLst>
      <p:ext uri="{BB962C8B-B14F-4D97-AF65-F5344CB8AC3E}">
        <p14:creationId xmlns:p14="http://schemas.microsoft.com/office/powerpoint/2010/main" val="3997417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2EA27-1D87-4468-BD58-682DD6E24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9D82B-2FBC-5072-D007-29D9AD479A79}"/>
              </a:ext>
            </a:extLst>
          </p:cNvPr>
          <p:cNvSpPr>
            <a:spLocks noGrp="1"/>
          </p:cNvSpPr>
          <p:nvPr>
            <p:ph type="title"/>
          </p:nvPr>
        </p:nvSpPr>
        <p:spPr/>
        <p:txBody>
          <a:bodyPr/>
          <a:lstStyle/>
          <a:p>
            <a:r>
              <a:rPr lang="en-US" dirty="0"/>
              <a:t>App Routing Conventions</a:t>
            </a:r>
          </a:p>
        </p:txBody>
      </p:sp>
      <p:sp>
        <p:nvSpPr>
          <p:cNvPr id="3" name="Content Placeholder 2">
            <a:extLst>
              <a:ext uri="{FF2B5EF4-FFF2-40B4-BE49-F238E27FC236}">
                <a16:creationId xmlns:a16="http://schemas.microsoft.com/office/drawing/2014/main" id="{EBA6A31A-BF83-1506-8A1C-DA9C703AA139}"/>
              </a:ext>
            </a:extLst>
          </p:cNvPr>
          <p:cNvSpPr>
            <a:spLocks noGrp="1"/>
          </p:cNvSpPr>
          <p:nvPr>
            <p:ph idx="1"/>
          </p:nvPr>
        </p:nvSpPr>
        <p:spPr/>
        <p:txBody>
          <a:bodyPr/>
          <a:lstStyle/>
          <a:p>
            <a:r>
              <a:rPr lang="en-US" b="1" dirty="0">
                <a:solidFill>
                  <a:srgbClr val="FF0000"/>
                </a:solidFill>
              </a:rPr>
              <a:t>Routing Files</a:t>
            </a:r>
          </a:p>
          <a:p>
            <a:endParaRPr lang="en-US" dirty="0"/>
          </a:p>
        </p:txBody>
      </p:sp>
      <p:graphicFrame>
        <p:nvGraphicFramePr>
          <p:cNvPr id="5" name="Table 4">
            <a:extLst>
              <a:ext uri="{FF2B5EF4-FFF2-40B4-BE49-F238E27FC236}">
                <a16:creationId xmlns:a16="http://schemas.microsoft.com/office/drawing/2014/main" id="{A11DDB7D-F523-9247-B296-C0C9809616FE}"/>
              </a:ext>
            </a:extLst>
          </p:cNvPr>
          <p:cNvGraphicFramePr>
            <a:graphicFrameLocks noGrp="1"/>
          </p:cNvGraphicFramePr>
          <p:nvPr/>
        </p:nvGraphicFramePr>
        <p:xfrm>
          <a:off x="1243013" y="2108933"/>
          <a:ext cx="9912667" cy="2812036"/>
        </p:xfrm>
        <a:graphic>
          <a:graphicData uri="http://schemas.openxmlformats.org/drawingml/2006/table">
            <a:tbl>
              <a:tblPr bandRow="1">
                <a:tableStyleId>{5940675A-B579-460E-94D1-54222C63F5DA}</a:tableStyleId>
              </a:tblPr>
              <a:tblGrid>
                <a:gridCol w="2429101">
                  <a:extLst>
                    <a:ext uri="{9D8B030D-6E8A-4147-A177-3AD203B41FA5}">
                      <a16:colId xmlns:a16="http://schemas.microsoft.com/office/drawing/2014/main" val="1227334019"/>
                    </a:ext>
                  </a:extLst>
                </a:gridCol>
                <a:gridCol w="2685143">
                  <a:extLst>
                    <a:ext uri="{9D8B030D-6E8A-4147-A177-3AD203B41FA5}">
                      <a16:colId xmlns:a16="http://schemas.microsoft.com/office/drawing/2014/main" val="1413030209"/>
                    </a:ext>
                  </a:extLst>
                </a:gridCol>
                <a:gridCol w="4798423">
                  <a:extLst>
                    <a:ext uri="{9D8B030D-6E8A-4147-A177-3AD203B41FA5}">
                      <a16:colId xmlns:a16="http://schemas.microsoft.com/office/drawing/2014/main" val="3764335744"/>
                    </a:ext>
                  </a:extLst>
                </a:gridCol>
              </a:tblGrid>
              <a:tr h="0">
                <a:tc>
                  <a:txBody>
                    <a:bodyPr/>
                    <a:lstStyle/>
                    <a:p>
                      <a:pPr marL="0" marR="0">
                        <a:lnSpc>
                          <a:spcPct val="115000"/>
                        </a:lnSpc>
                        <a:spcAft>
                          <a:spcPts val="800"/>
                        </a:spcAft>
                        <a:buNone/>
                      </a:pPr>
                      <a:r>
                        <a:rPr lang="en-US" sz="2800" u="sng" kern="100" dirty="0">
                          <a:effectLst/>
                          <a:hlinkClick r:id="rId2"/>
                        </a:rPr>
                        <a:t>global-error</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tc>
                  <a:txBody>
                    <a:bodyPr/>
                    <a:lstStyle/>
                    <a:p>
                      <a:pPr marL="0" marR="0">
                        <a:lnSpc>
                          <a:spcPct val="115000"/>
                        </a:lnSpc>
                        <a:spcAft>
                          <a:spcPts val="800"/>
                        </a:spcAft>
                        <a:buNone/>
                      </a:pPr>
                      <a:r>
                        <a:rPr lang="en-US" sz="2800" kern="100">
                          <a:effectLst/>
                        </a:rPr>
                        <a:t>.js .jsx .tsx</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tc>
                  <a:txBody>
                    <a:bodyPr/>
                    <a:lstStyle/>
                    <a:p>
                      <a:pPr marL="0" marR="0">
                        <a:lnSpc>
                          <a:spcPct val="115000"/>
                        </a:lnSpc>
                        <a:spcAft>
                          <a:spcPts val="800"/>
                        </a:spcAft>
                        <a:buNone/>
                      </a:pPr>
                      <a:r>
                        <a:rPr lang="en-US" sz="2800" kern="100" dirty="0">
                          <a:effectLst/>
                        </a:rPr>
                        <a:t>Global error UI</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extLst>
                  <a:ext uri="{0D108BD9-81ED-4DB2-BD59-A6C34878D82A}">
                    <a16:rowId xmlns:a16="http://schemas.microsoft.com/office/drawing/2014/main" val="518775974"/>
                  </a:ext>
                </a:extLst>
              </a:tr>
              <a:tr h="0">
                <a:tc>
                  <a:txBody>
                    <a:bodyPr/>
                    <a:lstStyle/>
                    <a:p>
                      <a:pPr marL="0" marR="0">
                        <a:lnSpc>
                          <a:spcPct val="115000"/>
                        </a:lnSpc>
                        <a:spcAft>
                          <a:spcPts val="800"/>
                        </a:spcAft>
                        <a:buNone/>
                      </a:pPr>
                      <a:r>
                        <a:rPr lang="en-US" sz="2800" u="sng" kern="100" dirty="0">
                          <a:effectLst/>
                          <a:hlinkClick r:id="rId3"/>
                        </a:rPr>
                        <a:t>route</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tc>
                  <a:txBody>
                    <a:bodyPr/>
                    <a:lstStyle/>
                    <a:p>
                      <a:pPr marL="0" marR="0">
                        <a:lnSpc>
                          <a:spcPct val="115000"/>
                        </a:lnSpc>
                        <a:spcAft>
                          <a:spcPts val="800"/>
                        </a:spcAft>
                        <a:buNone/>
                      </a:pPr>
                      <a:r>
                        <a:rPr lang="en-US" sz="2800" kern="100">
                          <a:effectLst/>
                        </a:rPr>
                        <a:t>.js .ts</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tc>
                  <a:txBody>
                    <a:bodyPr/>
                    <a:lstStyle/>
                    <a:p>
                      <a:pPr marL="0" marR="0">
                        <a:lnSpc>
                          <a:spcPct val="115000"/>
                        </a:lnSpc>
                        <a:spcAft>
                          <a:spcPts val="800"/>
                        </a:spcAft>
                        <a:buNone/>
                      </a:pPr>
                      <a:r>
                        <a:rPr lang="en-US" sz="2800" kern="100" dirty="0">
                          <a:effectLst/>
                        </a:rPr>
                        <a:t>API endpoint</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extLst>
                  <a:ext uri="{0D108BD9-81ED-4DB2-BD59-A6C34878D82A}">
                    <a16:rowId xmlns:a16="http://schemas.microsoft.com/office/drawing/2014/main" val="770435946"/>
                  </a:ext>
                </a:extLst>
              </a:tr>
              <a:tr h="0">
                <a:tc>
                  <a:txBody>
                    <a:bodyPr/>
                    <a:lstStyle/>
                    <a:p>
                      <a:pPr marL="0" marR="0">
                        <a:lnSpc>
                          <a:spcPct val="115000"/>
                        </a:lnSpc>
                        <a:spcAft>
                          <a:spcPts val="800"/>
                        </a:spcAft>
                        <a:buNone/>
                      </a:pPr>
                      <a:r>
                        <a:rPr lang="en-US" sz="2800" u="sng" kern="100">
                          <a:effectLst/>
                          <a:hlinkClick r:id="rId4"/>
                        </a:rPr>
                        <a:t>template</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tc>
                  <a:txBody>
                    <a:bodyPr/>
                    <a:lstStyle/>
                    <a:p>
                      <a:pPr marL="0" marR="0">
                        <a:lnSpc>
                          <a:spcPct val="115000"/>
                        </a:lnSpc>
                        <a:spcAft>
                          <a:spcPts val="800"/>
                        </a:spcAft>
                        <a:buNone/>
                      </a:pPr>
                      <a:r>
                        <a:rPr lang="en-US" sz="2800" kern="100" dirty="0">
                          <a:effectLst/>
                        </a:rPr>
                        <a:t>.</a:t>
                      </a:r>
                      <a:r>
                        <a:rPr lang="en-US" sz="2800" kern="100" dirty="0" err="1">
                          <a:effectLst/>
                        </a:rPr>
                        <a:t>js</a:t>
                      </a:r>
                      <a:r>
                        <a:rPr lang="en-US" sz="2800" kern="100" dirty="0">
                          <a:effectLst/>
                        </a:rPr>
                        <a:t> .</a:t>
                      </a:r>
                      <a:r>
                        <a:rPr lang="en-US" sz="2800" kern="100" dirty="0" err="1">
                          <a:effectLst/>
                        </a:rPr>
                        <a:t>jsx</a:t>
                      </a:r>
                      <a:r>
                        <a:rPr lang="en-US" sz="2800" kern="100" dirty="0">
                          <a:effectLst/>
                        </a:rPr>
                        <a:t> .</a:t>
                      </a:r>
                      <a:r>
                        <a:rPr lang="en-US" sz="2800" kern="100" dirty="0" err="1">
                          <a:effectLst/>
                        </a:rPr>
                        <a:t>tsx</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tc>
                  <a:txBody>
                    <a:bodyPr/>
                    <a:lstStyle/>
                    <a:p>
                      <a:pPr marL="0" marR="0">
                        <a:lnSpc>
                          <a:spcPct val="115000"/>
                        </a:lnSpc>
                        <a:spcAft>
                          <a:spcPts val="800"/>
                        </a:spcAft>
                        <a:buNone/>
                      </a:pPr>
                      <a:r>
                        <a:rPr lang="en-US" sz="2800" kern="100">
                          <a:effectLst/>
                        </a:rPr>
                        <a:t>Re-rendered layout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extLst>
                  <a:ext uri="{0D108BD9-81ED-4DB2-BD59-A6C34878D82A}">
                    <a16:rowId xmlns:a16="http://schemas.microsoft.com/office/drawing/2014/main" val="570199279"/>
                  </a:ext>
                </a:extLst>
              </a:tr>
              <a:tr h="0">
                <a:tc>
                  <a:txBody>
                    <a:bodyPr/>
                    <a:lstStyle/>
                    <a:p>
                      <a:pPr marL="0" marR="0">
                        <a:lnSpc>
                          <a:spcPct val="115000"/>
                        </a:lnSpc>
                        <a:spcAft>
                          <a:spcPts val="800"/>
                        </a:spcAft>
                        <a:buNone/>
                      </a:pPr>
                      <a:r>
                        <a:rPr lang="en-US" sz="2800" u="sng" kern="100">
                          <a:effectLst/>
                          <a:hlinkClick r:id="rId5"/>
                        </a:rPr>
                        <a:t>default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tc>
                  <a:txBody>
                    <a:bodyPr/>
                    <a:lstStyle/>
                    <a:p>
                      <a:pPr marL="0" marR="0">
                        <a:lnSpc>
                          <a:spcPct val="115000"/>
                        </a:lnSpc>
                        <a:spcAft>
                          <a:spcPts val="800"/>
                        </a:spcAft>
                        <a:buNone/>
                      </a:pPr>
                      <a:r>
                        <a:rPr lang="en-US" sz="2800" kern="100" dirty="0">
                          <a:effectLst/>
                        </a:rPr>
                        <a:t>.</a:t>
                      </a:r>
                      <a:r>
                        <a:rPr lang="en-US" sz="2800" kern="100" dirty="0" err="1">
                          <a:effectLst/>
                        </a:rPr>
                        <a:t>js</a:t>
                      </a:r>
                      <a:r>
                        <a:rPr lang="en-US" sz="2800" kern="100" dirty="0">
                          <a:effectLst/>
                        </a:rPr>
                        <a:t> .</a:t>
                      </a:r>
                      <a:r>
                        <a:rPr lang="en-US" sz="2800" kern="100" dirty="0" err="1">
                          <a:effectLst/>
                        </a:rPr>
                        <a:t>jsx</a:t>
                      </a:r>
                      <a:r>
                        <a:rPr lang="en-US" sz="2800" kern="100" dirty="0">
                          <a:effectLst/>
                        </a:rPr>
                        <a:t> .</a:t>
                      </a:r>
                      <a:r>
                        <a:rPr lang="en-US" sz="2800" kern="100" dirty="0" err="1">
                          <a:effectLst/>
                        </a:rPr>
                        <a:t>tsx</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tc>
                  <a:txBody>
                    <a:bodyPr/>
                    <a:lstStyle/>
                    <a:p>
                      <a:pPr marL="0" marR="0">
                        <a:lnSpc>
                          <a:spcPct val="115000"/>
                        </a:lnSpc>
                        <a:spcAft>
                          <a:spcPts val="800"/>
                        </a:spcAft>
                        <a:buNone/>
                      </a:pPr>
                      <a:r>
                        <a:rPr lang="en-US" sz="2800" kern="100" dirty="0">
                          <a:effectLst/>
                        </a:rPr>
                        <a:t>Parallel route fallback page</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R="0" marT="121920" marB="121920" anchor="b"/>
                </a:tc>
                <a:extLst>
                  <a:ext uri="{0D108BD9-81ED-4DB2-BD59-A6C34878D82A}">
                    <a16:rowId xmlns:a16="http://schemas.microsoft.com/office/drawing/2014/main" val="444436299"/>
                  </a:ext>
                </a:extLst>
              </a:tr>
            </a:tbl>
          </a:graphicData>
        </a:graphic>
      </p:graphicFrame>
    </p:spTree>
    <p:extLst>
      <p:ext uri="{BB962C8B-B14F-4D97-AF65-F5344CB8AC3E}">
        <p14:creationId xmlns:p14="http://schemas.microsoft.com/office/powerpoint/2010/main" val="3072526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2E3F5-24BF-FEAD-861E-2A3FD33DFAA9}"/>
              </a:ext>
            </a:extLst>
          </p:cNvPr>
          <p:cNvSpPr>
            <a:spLocks noGrp="1"/>
          </p:cNvSpPr>
          <p:nvPr>
            <p:ph type="title"/>
          </p:nvPr>
        </p:nvSpPr>
        <p:spPr/>
        <p:txBody>
          <a:bodyPr/>
          <a:lstStyle/>
          <a:p>
            <a:r>
              <a:rPr lang="en-US" dirty="0"/>
              <a:t>Organizing your project</a:t>
            </a:r>
          </a:p>
        </p:txBody>
      </p:sp>
      <p:sp>
        <p:nvSpPr>
          <p:cNvPr id="3" name="Content Placeholder 2">
            <a:extLst>
              <a:ext uri="{FF2B5EF4-FFF2-40B4-BE49-F238E27FC236}">
                <a16:creationId xmlns:a16="http://schemas.microsoft.com/office/drawing/2014/main" id="{152D8B14-633E-DA45-98FC-4D2262BBB8CC}"/>
              </a:ext>
            </a:extLst>
          </p:cNvPr>
          <p:cNvSpPr>
            <a:spLocks noGrp="1"/>
          </p:cNvSpPr>
          <p:nvPr>
            <p:ph idx="1"/>
          </p:nvPr>
        </p:nvSpPr>
        <p:spPr>
          <a:xfrm>
            <a:off x="1097280" y="1582219"/>
            <a:ext cx="10058400" cy="4586351"/>
          </a:xfrm>
        </p:spPr>
        <p:txBody>
          <a:bodyPr>
            <a:normAutofit lnSpcReduction="10000"/>
          </a:bodyPr>
          <a:lstStyle/>
          <a:p>
            <a:r>
              <a:rPr lang="en-US" dirty="0"/>
              <a:t>Next.js provides several features to help you organize your project.</a:t>
            </a:r>
          </a:p>
          <a:p>
            <a:r>
              <a:rPr lang="en-US" b="1" dirty="0">
                <a:solidFill>
                  <a:srgbClr val="FF0000"/>
                </a:solidFill>
              </a:rPr>
              <a:t>Component hierarchy</a:t>
            </a:r>
            <a:r>
              <a:rPr lang="en-US" b="1" dirty="0"/>
              <a:t>: </a:t>
            </a:r>
            <a:r>
              <a:rPr lang="en-US" dirty="0"/>
              <a:t>The components defined in special files are rendered in a specific hierarchy:</a:t>
            </a:r>
          </a:p>
          <a:p>
            <a:pPr lvl="1"/>
            <a:r>
              <a:rPr lang="en-US" dirty="0"/>
              <a:t>layout.js</a:t>
            </a:r>
          </a:p>
          <a:p>
            <a:pPr lvl="1"/>
            <a:r>
              <a:rPr lang="en-US" dirty="0"/>
              <a:t>template.js</a:t>
            </a:r>
          </a:p>
          <a:p>
            <a:pPr lvl="1"/>
            <a:r>
              <a:rPr lang="en-US" dirty="0"/>
              <a:t>error.js (React error boundary)</a:t>
            </a:r>
          </a:p>
          <a:p>
            <a:pPr lvl="1"/>
            <a:r>
              <a:rPr lang="en-US" dirty="0"/>
              <a:t>loading.js (React suspense boundary)</a:t>
            </a:r>
          </a:p>
          <a:p>
            <a:pPr lvl="1"/>
            <a:r>
              <a:rPr lang="en-US" dirty="0"/>
              <a:t>not-found.js (React error boundary for "not found" UI)</a:t>
            </a:r>
          </a:p>
          <a:p>
            <a:pPr lvl="1"/>
            <a:r>
              <a:rPr lang="en-US" dirty="0"/>
              <a:t>page.js or nested layout.js</a:t>
            </a:r>
          </a:p>
        </p:txBody>
      </p:sp>
    </p:spTree>
    <p:extLst>
      <p:ext uri="{BB962C8B-B14F-4D97-AF65-F5344CB8AC3E}">
        <p14:creationId xmlns:p14="http://schemas.microsoft.com/office/powerpoint/2010/main" val="3915178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D338-14C6-624C-52D1-522EF6C258FC}"/>
              </a:ext>
            </a:extLst>
          </p:cNvPr>
          <p:cNvSpPr>
            <a:spLocks noGrp="1"/>
          </p:cNvSpPr>
          <p:nvPr>
            <p:ph type="title"/>
          </p:nvPr>
        </p:nvSpPr>
        <p:spPr/>
        <p:txBody>
          <a:bodyPr/>
          <a:lstStyle/>
          <a:p>
            <a:r>
              <a:rPr lang="en-US" dirty="0"/>
              <a:t>Organizing your project</a:t>
            </a:r>
          </a:p>
        </p:txBody>
      </p:sp>
      <p:sp>
        <p:nvSpPr>
          <p:cNvPr id="3" name="Content Placeholder 2">
            <a:extLst>
              <a:ext uri="{FF2B5EF4-FFF2-40B4-BE49-F238E27FC236}">
                <a16:creationId xmlns:a16="http://schemas.microsoft.com/office/drawing/2014/main" id="{8EEF03C6-4BAF-6374-F83D-B17103D8DCA7}"/>
              </a:ext>
            </a:extLst>
          </p:cNvPr>
          <p:cNvSpPr>
            <a:spLocks noGrp="1"/>
          </p:cNvSpPr>
          <p:nvPr>
            <p:ph idx="1"/>
          </p:nvPr>
        </p:nvSpPr>
        <p:spPr/>
        <p:txBody>
          <a:bodyPr/>
          <a:lstStyle/>
          <a:p>
            <a:r>
              <a:rPr lang="en-US" b="1" dirty="0">
                <a:solidFill>
                  <a:srgbClr val="FF0000"/>
                </a:solidFill>
              </a:rPr>
              <a:t>Component hierarchy</a:t>
            </a:r>
            <a:endParaRPr lang="en-US" dirty="0"/>
          </a:p>
        </p:txBody>
      </p:sp>
      <p:pic>
        <p:nvPicPr>
          <p:cNvPr id="5" name="Picture 4">
            <a:extLst>
              <a:ext uri="{FF2B5EF4-FFF2-40B4-BE49-F238E27FC236}">
                <a16:creationId xmlns:a16="http://schemas.microsoft.com/office/drawing/2014/main" id="{F4A73805-BB0A-3A40-9585-387222BC08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79" y="2255560"/>
            <a:ext cx="9997441" cy="3828535"/>
          </a:xfrm>
          <a:prstGeom prst="rect">
            <a:avLst/>
          </a:prstGeom>
        </p:spPr>
      </p:pic>
    </p:spTree>
    <p:extLst>
      <p:ext uri="{BB962C8B-B14F-4D97-AF65-F5344CB8AC3E}">
        <p14:creationId xmlns:p14="http://schemas.microsoft.com/office/powerpoint/2010/main" val="2594779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7C1F6-2DFB-C29C-D95C-0A562624A49D}"/>
              </a:ext>
            </a:extLst>
          </p:cNvPr>
          <p:cNvSpPr>
            <a:spLocks noGrp="1"/>
          </p:cNvSpPr>
          <p:nvPr>
            <p:ph type="title"/>
          </p:nvPr>
        </p:nvSpPr>
        <p:spPr/>
        <p:txBody>
          <a:bodyPr/>
          <a:lstStyle/>
          <a:p>
            <a:r>
              <a:rPr lang="en-US" dirty="0"/>
              <a:t>Organizing your project</a:t>
            </a:r>
          </a:p>
        </p:txBody>
      </p:sp>
      <p:sp>
        <p:nvSpPr>
          <p:cNvPr id="3" name="Content Placeholder 2">
            <a:extLst>
              <a:ext uri="{FF2B5EF4-FFF2-40B4-BE49-F238E27FC236}">
                <a16:creationId xmlns:a16="http://schemas.microsoft.com/office/drawing/2014/main" id="{93958B03-1795-E3D4-B71C-F3408DB01C90}"/>
              </a:ext>
            </a:extLst>
          </p:cNvPr>
          <p:cNvSpPr>
            <a:spLocks noGrp="1"/>
          </p:cNvSpPr>
          <p:nvPr>
            <p:ph idx="1"/>
          </p:nvPr>
        </p:nvSpPr>
        <p:spPr/>
        <p:txBody>
          <a:bodyPr/>
          <a:lstStyle/>
          <a:p>
            <a:r>
              <a:rPr lang="en-US" dirty="0"/>
              <a:t>The components are rendered recursively in nested routes</a:t>
            </a:r>
          </a:p>
        </p:txBody>
      </p:sp>
      <p:pic>
        <p:nvPicPr>
          <p:cNvPr id="5" name="Picture 4">
            <a:extLst>
              <a:ext uri="{FF2B5EF4-FFF2-40B4-BE49-F238E27FC236}">
                <a16:creationId xmlns:a16="http://schemas.microsoft.com/office/drawing/2014/main" id="{9F828DC5-9A05-C78B-09B9-8C68BFF42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9908" y="2000604"/>
            <a:ext cx="7552183" cy="4371167"/>
          </a:xfrm>
          <a:prstGeom prst="rect">
            <a:avLst/>
          </a:prstGeom>
        </p:spPr>
      </p:pic>
    </p:spTree>
    <p:extLst>
      <p:ext uri="{BB962C8B-B14F-4D97-AF65-F5344CB8AC3E}">
        <p14:creationId xmlns:p14="http://schemas.microsoft.com/office/powerpoint/2010/main" val="2418012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85A84-6C09-5FA1-A49A-4919D4655BCF}"/>
              </a:ext>
            </a:extLst>
          </p:cNvPr>
          <p:cNvSpPr>
            <a:spLocks noGrp="1"/>
          </p:cNvSpPr>
          <p:nvPr>
            <p:ph type="title"/>
          </p:nvPr>
        </p:nvSpPr>
        <p:spPr/>
        <p:txBody>
          <a:bodyPr/>
          <a:lstStyle/>
          <a:p>
            <a:r>
              <a:rPr lang="en-US" dirty="0"/>
              <a:t>Organizing your project</a:t>
            </a:r>
          </a:p>
        </p:txBody>
      </p:sp>
      <p:sp>
        <p:nvSpPr>
          <p:cNvPr id="3" name="Content Placeholder 2">
            <a:extLst>
              <a:ext uri="{FF2B5EF4-FFF2-40B4-BE49-F238E27FC236}">
                <a16:creationId xmlns:a16="http://schemas.microsoft.com/office/drawing/2014/main" id="{2873335D-D192-AD64-4973-3BA21FABBF51}"/>
              </a:ext>
            </a:extLst>
          </p:cNvPr>
          <p:cNvSpPr>
            <a:spLocks noGrp="1"/>
          </p:cNvSpPr>
          <p:nvPr>
            <p:ph idx="1"/>
          </p:nvPr>
        </p:nvSpPr>
        <p:spPr/>
        <p:txBody>
          <a:bodyPr/>
          <a:lstStyle/>
          <a:p>
            <a:r>
              <a:rPr lang="en-US" dirty="0"/>
              <a:t>In the app directory, nested folders define route structure. Each folder represents a route segment that is mapped to a corresponding segment in a URL path.</a:t>
            </a:r>
          </a:p>
        </p:txBody>
      </p:sp>
      <p:pic>
        <p:nvPicPr>
          <p:cNvPr id="5" name="Picture 4">
            <a:extLst>
              <a:ext uri="{FF2B5EF4-FFF2-40B4-BE49-F238E27FC236}">
                <a16:creationId xmlns:a16="http://schemas.microsoft.com/office/drawing/2014/main" id="{3DB14A2E-2483-51A9-3511-C5E4629D7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126" y="3005804"/>
            <a:ext cx="9332707" cy="28632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82627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C1A24-0E63-964C-1D0E-7DE307556B2B}"/>
              </a:ext>
            </a:extLst>
          </p:cNvPr>
          <p:cNvSpPr>
            <a:spLocks noGrp="1"/>
          </p:cNvSpPr>
          <p:nvPr>
            <p:ph type="title"/>
          </p:nvPr>
        </p:nvSpPr>
        <p:spPr/>
        <p:txBody>
          <a:bodyPr/>
          <a:lstStyle/>
          <a:p>
            <a:r>
              <a:rPr lang="en-US" dirty="0"/>
              <a:t>Organizing your project</a:t>
            </a:r>
          </a:p>
        </p:txBody>
      </p:sp>
      <p:sp>
        <p:nvSpPr>
          <p:cNvPr id="3" name="Content Placeholder 2">
            <a:extLst>
              <a:ext uri="{FF2B5EF4-FFF2-40B4-BE49-F238E27FC236}">
                <a16:creationId xmlns:a16="http://schemas.microsoft.com/office/drawing/2014/main" id="{642DB13F-30F6-A989-B621-F3D519EA8DDE}"/>
              </a:ext>
            </a:extLst>
          </p:cNvPr>
          <p:cNvSpPr>
            <a:spLocks noGrp="1"/>
          </p:cNvSpPr>
          <p:nvPr>
            <p:ph idx="1"/>
          </p:nvPr>
        </p:nvSpPr>
        <p:spPr/>
        <p:txBody>
          <a:bodyPr/>
          <a:lstStyle/>
          <a:p>
            <a:r>
              <a:rPr lang="en-US" dirty="0"/>
              <a:t>When a route is made publicly accessible, only the content returned by page.js or route.js is sent to the client.</a:t>
            </a:r>
          </a:p>
        </p:txBody>
      </p:sp>
      <p:pic>
        <p:nvPicPr>
          <p:cNvPr id="5" name="Picture 4">
            <a:extLst>
              <a:ext uri="{FF2B5EF4-FFF2-40B4-BE49-F238E27FC236}">
                <a16:creationId xmlns:a16="http://schemas.microsoft.com/office/drawing/2014/main" id="{1DB57B9A-1937-E33D-9369-A772DD3B8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2593" y="2604824"/>
            <a:ext cx="6826813" cy="36021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50352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391F6-0804-8529-0A23-C0D17DF9ACE1}"/>
              </a:ext>
            </a:extLst>
          </p:cNvPr>
          <p:cNvSpPr>
            <a:spLocks noGrp="1"/>
          </p:cNvSpPr>
          <p:nvPr>
            <p:ph type="title"/>
          </p:nvPr>
        </p:nvSpPr>
        <p:spPr/>
        <p:txBody>
          <a:bodyPr/>
          <a:lstStyle/>
          <a:p>
            <a:r>
              <a:rPr lang="en-US" dirty="0"/>
              <a:t>Organizing your project</a:t>
            </a:r>
          </a:p>
        </p:txBody>
      </p:sp>
      <p:sp>
        <p:nvSpPr>
          <p:cNvPr id="3" name="Content Placeholder 2">
            <a:extLst>
              <a:ext uri="{FF2B5EF4-FFF2-40B4-BE49-F238E27FC236}">
                <a16:creationId xmlns:a16="http://schemas.microsoft.com/office/drawing/2014/main" id="{99976332-7416-2510-AAF5-32F268348AC7}"/>
              </a:ext>
            </a:extLst>
          </p:cNvPr>
          <p:cNvSpPr>
            <a:spLocks noGrp="1"/>
          </p:cNvSpPr>
          <p:nvPr>
            <p:ph idx="1"/>
          </p:nvPr>
        </p:nvSpPr>
        <p:spPr/>
        <p:txBody>
          <a:bodyPr/>
          <a:lstStyle/>
          <a:p>
            <a:r>
              <a:rPr lang="en-US" b="1" dirty="0">
                <a:solidFill>
                  <a:srgbClr val="FF0000"/>
                </a:solidFill>
              </a:rPr>
              <a:t>Private folders: </a:t>
            </a:r>
            <a:r>
              <a:rPr lang="en-US" dirty="0"/>
              <a:t>can be created by prefixing a folder with an underscore: </a:t>
            </a:r>
            <a:r>
              <a:rPr lang="en-US" b="1" dirty="0"/>
              <a:t>_</a:t>
            </a:r>
            <a:r>
              <a:rPr lang="en-US" b="1" dirty="0" err="1"/>
              <a:t>folderName</a:t>
            </a:r>
            <a:endParaRPr lang="en-US" b="1" dirty="0"/>
          </a:p>
          <a:p>
            <a:r>
              <a:rPr lang="en-US" dirty="0"/>
              <a:t>This indicates the folder is a private implementation detail and should not be considered by the routing system, thereby opting the folder and all its subfolders out of routing.</a:t>
            </a:r>
          </a:p>
        </p:txBody>
      </p:sp>
    </p:spTree>
    <p:extLst>
      <p:ext uri="{BB962C8B-B14F-4D97-AF65-F5344CB8AC3E}">
        <p14:creationId xmlns:p14="http://schemas.microsoft.com/office/powerpoint/2010/main" val="1689778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04BE2-D796-0328-B4F8-988FF2810BF4}"/>
              </a:ext>
            </a:extLst>
          </p:cNvPr>
          <p:cNvSpPr>
            <a:spLocks noGrp="1"/>
          </p:cNvSpPr>
          <p:nvPr>
            <p:ph type="title"/>
          </p:nvPr>
        </p:nvSpPr>
        <p:spPr/>
        <p:txBody>
          <a:bodyPr/>
          <a:lstStyle/>
          <a:p>
            <a:r>
              <a:rPr lang="en-US" dirty="0"/>
              <a:t>Organizing your project</a:t>
            </a:r>
          </a:p>
        </p:txBody>
      </p:sp>
      <p:sp>
        <p:nvSpPr>
          <p:cNvPr id="3" name="Content Placeholder 2">
            <a:extLst>
              <a:ext uri="{FF2B5EF4-FFF2-40B4-BE49-F238E27FC236}">
                <a16:creationId xmlns:a16="http://schemas.microsoft.com/office/drawing/2014/main" id="{26936290-AC9A-228B-8706-1BD2E7B71C14}"/>
              </a:ext>
            </a:extLst>
          </p:cNvPr>
          <p:cNvSpPr>
            <a:spLocks noGrp="1"/>
          </p:cNvSpPr>
          <p:nvPr>
            <p:ph idx="1"/>
          </p:nvPr>
        </p:nvSpPr>
        <p:spPr/>
        <p:txBody>
          <a:bodyPr/>
          <a:lstStyle/>
          <a:p>
            <a:r>
              <a:rPr lang="en-US" b="1" dirty="0">
                <a:solidFill>
                  <a:srgbClr val="FF0000"/>
                </a:solidFill>
              </a:rPr>
              <a:t>Private folders:</a:t>
            </a:r>
            <a:endParaRPr lang="en-US" dirty="0"/>
          </a:p>
        </p:txBody>
      </p:sp>
      <p:pic>
        <p:nvPicPr>
          <p:cNvPr id="5" name="Picture 4">
            <a:extLst>
              <a:ext uri="{FF2B5EF4-FFF2-40B4-BE49-F238E27FC236}">
                <a16:creationId xmlns:a16="http://schemas.microsoft.com/office/drawing/2014/main" id="{2F2ECA11-0858-EDEA-C692-1F130CE25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3301" y="1649230"/>
            <a:ext cx="6992379" cy="42198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52329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5F8E-C654-B5E0-8E5D-373C3C18A088}"/>
              </a:ext>
            </a:extLst>
          </p:cNvPr>
          <p:cNvSpPr>
            <a:spLocks noGrp="1"/>
          </p:cNvSpPr>
          <p:nvPr>
            <p:ph type="title"/>
          </p:nvPr>
        </p:nvSpPr>
        <p:spPr/>
        <p:txBody>
          <a:bodyPr/>
          <a:lstStyle/>
          <a:p>
            <a:r>
              <a:rPr lang="en-US" dirty="0"/>
              <a:t>Organizing your project</a:t>
            </a:r>
          </a:p>
        </p:txBody>
      </p:sp>
      <p:sp>
        <p:nvSpPr>
          <p:cNvPr id="3" name="Content Placeholder 2">
            <a:extLst>
              <a:ext uri="{FF2B5EF4-FFF2-40B4-BE49-F238E27FC236}">
                <a16:creationId xmlns:a16="http://schemas.microsoft.com/office/drawing/2014/main" id="{3CF20248-F7B4-5926-9A59-AAF40DA21665}"/>
              </a:ext>
            </a:extLst>
          </p:cNvPr>
          <p:cNvSpPr>
            <a:spLocks noGrp="1"/>
          </p:cNvSpPr>
          <p:nvPr>
            <p:ph idx="1"/>
          </p:nvPr>
        </p:nvSpPr>
        <p:spPr/>
        <p:txBody>
          <a:bodyPr/>
          <a:lstStyle/>
          <a:p>
            <a:r>
              <a:rPr lang="en-US" b="1" dirty="0" err="1">
                <a:solidFill>
                  <a:srgbClr val="FF0000"/>
                </a:solidFill>
              </a:rPr>
              <a:t>src</a:t>
            </a:r>
            <a:r>
              <a:rPr lang="en-US" b="1" dirty="0">
                <a:solidFill>
                  <a:srgbClr val="FF0000"/>
                </a:solidFill>
              </a:rPr>
              <a:t> folder: </a:t>
            </a:r>
            <a:r>
              <a:rPr lang="en-US" dirty="0"/>
              <a:t>Next.js supports storing application code inside an optional </a:t>
            </a:r>
            <a:r>
              <a:rPr lang="en-US" b="1" dirty="0" err="1"/>
              <a:t>src</a:t>
            </a:r>
            <a:r>
              <a:rPr lang="en-US" dirty="0"/>
              <a:t> folder. This separates application code from project configuration files which mostly live in the root of a project.</a:t>
            </a:r>
          </a:p>
        </p:txBody>
      </p:sp>
      <p:pic>
        <p:nvPicPr>
          <p:cNvPr id="5" name="Picture 4">
            <a:extLst>
              <a:ext uri="{FF2B5EF4-FFF2-40B4-BE49-F238E27FC236}">
                <a16:creationId xmlns:a16="http://schemas.microsoft.com/office/drawing/2014/main" id="{BAFF3C6F-9AC4-6126-7B60-6589C4026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2334" y="2947933"/>
            <a:ext cx="2478809" cy="33449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332574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5AF96-751B-DA6B-8395-B9BF34CF81F9}"/>
              </a:ext>
            </a:extLst>
          </p:cNvPr>
          <p:cNvSpPr>
            <a:spLocks noGrp="1"/>
          </p:cNvSpPr>
          <p:nvPr>
            <p:ph type="title"/>
          </p:nvPr>
        </p:nvSpPr>
        <p:spPr/>
        <p:txBody>
          <a:bodyPr/>
          <a:lstStyle/>
          <a:p>
            <a:r>
              <a:rPr lang="en-US" dirty="0"/>
              <a:t>App Router and Page Router in Next.js</a:t>
            </a:r>
          </a:p>
        </p:txBody>
      </p:sp>
      <p:sp>
        <p:nvSpPr>
          <p:cNvPr id="3" name="Content Placeholder 2">
            <a:extLst>
              <a:ext uri="{FF2B5EF4-FFF2-40B4-BE49-F238E27FC236}">
                <a16:creationId xmlns:a16="http://schemas.microsoft.com/office/drawing/2014/main" id="{7E40730A-9792-A185-7876-900A5DB25A1C}"/>
              </a:ext>
            </a:extLst>
          </p:cNvPr>
          <p:cNvSpPr>
            <a:spLocks noGrp="1"/>
          </p:cNvSpPr>
          <p:nvPr>
            <p:ph idx="1"/>
          </p:nvPr>
        </p:nvSpPr>
        <p:spPr/>
        <p:txBody>
          <a:bodyPr/>
          <a:lstStyle/>
          <a:p>
            <a:r>
              <a:rPr lang="en-US" b="1" dirty="0">
                <a:solidFill>
                  <a:srgbClr val="FF0000"/>
                </a:solidFill>
              </a:rPr>
              <a:t>Overview of Routing in Next.js: </a:t>
            </a:r>
            <a:r>
              <a:rPr lang="en-US" dirty="0"/>
              <a:t>In Next.js, the </a:t>
            </a:r>
            <a:r>
              <a:rPr lang="en-US" b="1" dirty="0"/>
              <a:t>Router</a:t>
            </a:r>
            <a:r>
              <a:rPr lang="en-US" dirty="0"/>
              <a:t> is responsible for:</a:t>
            </a:r>
          </a:p>
          <a:p>
            <a:pPr lvl="1"/>
            <a:r>
              <a:rPr lang="en-US" dirty="0"/>
              <a:t>Mapping URLs to files/components</a:t>
            </a:r>
          </a:p>
          <a:p>
            <a:pPr lvl="1"/>
            <a:r>
              <a:rPr lang="en-US" dirty="0"/>
              <a:t>Determining whether rendering happens on the </a:t>
            </a:r>
            <a:r>
              <a:rPr lang="en-US" b="1" dirty="0"/>
              <a:t>server or client</a:t>
            </a:r>
            <a:endParaRPr lang="en-US" dirty="0"/>
          </a:p>
          <a:p>
            <a:pPr lvl="1"/>
            <a:r>
              <a:rPr lang="en-US" dirty="0"/>
              <a:t>Organizing the overall project structure</a:t>
            </a:r>
          </a:p>
        </p:txBody>
      </p:sp>
    </p:spTree>
    <p:extLst>
      <p:ext uri="{BB962C8B-B14F-4D97-AF65-F5344CB8AC3E}">
        <p14:creationId xmlns:p14="http://schemas.microsoft.com/office/powerpoint/2010/main" val="3066864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BA692-CF9F-691E-A999-B6F92552C648}"/>
              </a:ext>
            </a:extLst>
          </p:cNvPr>
          <p:cNvSpPr>
            <a:spLocks noGrp="1"/>
          </p:cNvSpPr>
          <p:nvPr>
            <p:ph type="title"/>
          </p:nvPr>
        </p:nvSpPr>
        <p:spPr/>
        <p:txBody>
          <a:bodyPr/>
          <a:lstStyle/>
          <a:p>
            <a:r>
              <a:rPr lang="en-US" dirty="0"/>
              <a:t>App Router and Page Router in Next.js</a:t>
            </a:r>
          </a:p>
        </p:txBody>
      </p:sp>
      <p:sp>
        <p:nvSpPr>
          <p:cNvPr id="3" name="Content Placeholder 2">
            <a:extLst>
              <a:ext uri="{FF2B5EF4-FFF2-40B4-BE49-F238E27FC236}">
                <a16:creationId xmlns:a16="http://schemas.microsoft.com/office/drawing/2014/main" id="{DE264C5C-2B65-9864-1807-67D4DC8BE629}"/>
              </a:ext>
            </a:extLst>
          </p:cNvPr>
          <p:cNvSpPr>
            <a:spLocks noGrp="1"/>
          </p:cNvSpPr>
          <p:nvPr>
            <p:ph idx="1"/>
          </p:nvPr>
        </p:nvSpPr>
        <p:spPr/>
        <p:txBody>
          <a:bodyPr/>
          <a:lstStyle/>
          <a:p>
            <a:r>
              <a:rPr lang="en-US" dirty="0"/>
              <a:t>Currently, Next.js provides </a:t>
            </a:r>
            <a:r>
              <a:rPr lang="en-US" b="1" dirty="0"/>
              <a:t>two routing systems</a:t>
            </a:r>
            <a:r>
              <a:rPr lang="en-US" dirty="0"/>
              <a:t>:</a:t>
            </a:r>
          </a:p>
        </p:txBody>
      </p:sp>
      <p:pic>
        <p:nvPicPr>
          <p:cNvPr id="5" name="Picture 4">
            <a:extLst>
              <a:ext uri="{FF2B5EF4-FFF2-40B4-BE49-F238E27FC236}">
                <a16:creationId xmlns:a16="http://schemas.microsoft.com/office/drawing/2014/main" id="{DAEA7C4B-EA70-8D46-E4AB-20AF6BFC6B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321" y="2652457"/>
            <a:ext cx="10058400" cy="20680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54436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3660E-D276-9E44-923A-40952EE4EA6D}"/>
              </a:ext>
            </a:extLst>
          </p:cNvPr>
          <p:cNvSpPr>
            <a:spLocks noGrp="1"/>
          </p:cNvSpPr>
          <p:nvPr>
            <p:ph type="title"/>
          </p:nvPr>
        </p:nvSpPr>
        <p:spPr/>
        <p:txBody>
          <a:bodyPr/>
          <a:lstStyle/>
          <a:p>
            <a:r>
              <a:rPr lang="en-US" dirty="0"/>
              <a:t>What is the Page Router?</a:t>
            </a:r>
          </a:p>
        </p:txBody>
      </p:sp>
      <p:sp>
        <p:nvSpPr>
          <p:cNvPr id="3" name="Content Placeholder 2">
            <a:extLst>
              <a:ext uri="{FF2B5EF4-FFF2-40B4-BE49-F238E27FC236}">
                <a16:creationId xmlns:a16="http://schemas.microsoft.com/office/drawing/2014/main" id="{7F2FFDF2-5765-E7D6-FF76-2E368D223DF3}"/>
              </a:ext>
            </a:extLst>
          </p:cNvPr>
          <p:cNvSpPr>
            <a:spLocks noGrp="1"/>
          </p:cNvSpPr>
          <p:nvPr>
            <p:ph idx="1"/>
          </p:nvPr>
        </p:nvSpPr>
        <p:spPr/>
        <p:txBody>
          <a:bodyPr/>
          <a:lstStyle/>
          <a:p>
            <a:r>
              <a:rPr lang="en-US" b="1" dirty="0"/>
              <a:t>Concept: </a:t>
            </a:r>
            <a:r>
              <a:rPr lang="en-US" dirty="0"/>
              <a:t>The </a:t>
            </a:r>
            <a:r>
              <a:rPr lang="en-US" b="1" dirty="0"/>
              <a:t>Page Router</a:t>
            </a:r>
            <a:r>
              <a:rPr lang="en-US" dirty="0"/>
              <a:t> uses the </a:t>
            </a:r>
            <a:r>
              <a:rPr lang="en-US" b="1" dirty="0">
                <a:solidFill>
                  <a:srgbClr val="FF0000"/>
                </a:solidFill>
                <a:latin typeface="Consolas" panose="020B0609020204030204" pitchFamily="49" charset="0"/>
              </a:rPr>
              <a:t>pages/</a:t>
            </a:r>
            <a:r>
              <a:rPr lang="en-US" b="1" dirty="0"/>
              <a:t> directory</a:t>
            </a:r>
            <a:r>
              <a:rPr lang="en-US" dirty="0"/>
              <a:t>.</a:t>
            </a:r>
          </a:p>
          <a:p>
            <a:pPr lvl="1"/>
            <a:r>
              <a:rPr lang="en-US" dirty="0"/>
              <a:t>Each </a:t>
            </a:r>
            <a:r>
              <a:rPr lang="en-US" dirty="0">
                <a:solidFill>
                  <a:srgbClr val="FF0000"/>
                </a:solidFill>
              </a:rPr>
              <a:t>.</a:t>
            </a:r>
            <a:r>
              <a:rPr lang="en-US" dirty="0" err="1">
                <a:solidFill>
                  <a:srgbClr val="FF0000"/>
                </a:solidFill>
              </a:rPr>
              <a:t>js</a:t>
            </a:r>
            <a:r>
              <a:rPr lang="en-US" dirty="0">
                <a:solidFill>
                  <a:srgbClr val="FF0000"/>
                </a:solidFill>
              </a:rPr>
              <a:t> </a:t>
            </a:r>
            <a:r>
              <a:rPr lang="en-US" dirty="0"/>
              <a:t>or </a:t>
            </a:r>
            <a:r>
              <a:rPr lang="en-US" dirty="0">
                <a:solidFill>
                  <a:srgbClr val="FF0000"/>
                </a:solidFill>
              </a:rPr>
              <a:t>.</a:t>
            </a:r>
            <a:r>
              <a:rPr lang="en-US" dirty="0" err="1">
                <a:solidFill>
                  <a:srgbClr val="FF0000"/>
                </a:solidFill>
              </a:rPr>
              <a:t>tsx</a:t>
            </a:r>
            <a:r>
              <a:rPr lang="en-US" dirty="0">
                <a:solidFill>
                  <a:srgbClr val="FF0000"/>
                </a:solidFill>
              </a:rPr>
              <a:t> </a:t>
            </a:r>
            <a:r>
              <a:rPr lang="en-US" dirty="0"/>
              <a:t>file inside pages/ corresponds to a URL path.</a:t>
            </a:r>
          </a:p>
          <a:p>
            <a:r>
              <a:rPr lang="en-US" b="1" dirty="0"/>
              <a:t>Example folder structure:</a:t>
            </a:r>
          </a:p>
          <a:p>
            <a:endParaRPr lang="en-US" dirty="0"/>
          </a:p>
        </p:txBody>
      </p:sp>
      <p:pic>
        <p:nvPicPr>
          <p:cNvPr id="5" name="Picture 4">
            <a:extLst>
              <a:ext uri="{FF2B5EF4-FFF2-40B4-BE49-F238E27FC236}">
                <a16:creationId xmlns:a16="http://schemas.microsoft.com/office/drawing/2014/main" id="{9E720FD7-FF4F-15FE-ADEC-5E17D365C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6786" y="3135496"/>
            <a:ext cx="5399387" cy="309741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55730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DF29D-1204-D37F-03CA-0C35EBD921F2}"/>
              </a:ext>
            </a:extLst>
          </p:cNvPr>
          <p:cNvSpPr>
            <a:spLocks noGrp="1"/>
          </p:cNvSpPr>
          <p:nvPr>
            <p:ph type="title"/>
          </p:nvPr>
        </p:nvSpPr>
        <p:spPr/>
        <p:txBody>
          <a:bodyPr/>
          <a:lstStyle/>
          <a:p>
            <a:r>
              <a:rPr lang="en-US" dirty="0"/>
              <a:t>What is the Page Router?</a:t>
            </a:r>
          </a:p>
        </p:txBody>
      </p:sp>
      <p:sp>
        <p:nvSpPr>
          <p:cNvPr id="3" name="Content Placeholder 2">
            <a:extLst>
              <a:ext uri="{FF2B5EF4-FFF2-40B4-BE49-F238E27FC236}">
                <a16:creationId xmlns:a16="http://schemas.microsoft.com/office/drawing/2014/main" id="{37415B22-21BD-2AEA-8B12-3FA268E598E5}"/>
              </a:ext>
            </a:extLst>
          </p:cNvPr>
          <p:cNvSpPr>
            <a:spLocks noGrp="1"/>
          </p:cNvSpPr>
          <p:nvPr>
            <p:ph idx="1"/>
          </p:nvPr>
        </p:nvSpPr>
        <p:spPr/>
        <p:txBody>
          <a:bodyPr/>
          <a:lstStyle/>
          <a:p>
            <a:r>
              <a:rPr lang="en-US" b="1" dirty="0"/>
              <a:t>How the Page Router Works</a:t>
            </a:r>
          </a:p>
        </p:txBody>
      </p:sp>
      <p:pic>
        <p:nvPicPr>
          <p:cNvPr id="5" name="Picture 4">
            <a:extLst>
              <a:ext uri="{FF2B5EF4-FFF2-40B4-BE49-F238E27FC236}">
                <a16:creationId xmlns:a16="http://schemas.microsoft.com/office/drawing/2014/main" id="{D6008232-B61C-4123-9BBD-F3463E3D31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3528" y="1582220"/>
            <a:ext cx="3907426" cy="47415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149739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0E3C-4E31-70CD-3D2E-6BA9C60F66EF}"/>
              </a:ext>
            </a:extLst>
          </p:cNvPr>
          <p:cNvSpPr>
            <a:spLocks noGrp="1"/>
          </p:cNvSpPr>
          <p:nvPr>
            <p:ph type="title"/>
          </p:nvPr>
        </p:nvSpPr>
        <p:spPr/>
        <p:txBody>
          <a:bodyPr/>
          <a:lstStyle/>
          <a:p>
            <a:r>
              <a:rPr lang="en-US" dirty="0"/>
              <a:t>What is the Page Router?</a:t>
            </a:r>
          </a:p>
        </p:txBody>
      </p:sp>
      <p:sp>
        <p:nvSpPr>
          <p:cNvPr id="3" name="Content Placeholder 2">
            <a:extLst>
              <a:ext uri="{FF2B5EF4-FFF2-40B4-BE49-F238E27FC236}">
                <a16:creationId xmlns:a16="http://schemas.microsoft.com/office/drawing/2014/main" id="{CD2D5482-97EC-240E-BEE7-5B86823B95A4}"/>
              </a:ext>
            </a:extLst>
          </p:cNvPr>
          <p:cNvSpPr>
            <a:spLocks noGrp="1"/>
          </p:cNvSpPr>
          <p:nvPr>
            <p:ph idx="1"/>
          </p:nvPr>
        </p:nvSpPr>
        <p:spPr/>
        <p:txBody>
          <a:bodyPr/>
          <a:lstStyle/>
          <a:p>
            <a:r>
              <a:rPr lang="en-US" b="1" dirty="0">
                <a:solidFill>
                  <a:srgbClr val="FF0000"/>
                </a:solidFill>
              </a:rPr>
              <a:t>Data Fetching in the Page Router: </a:t>
            </a:r>
            <a:r>
              <a:rPr lang="en-US" dirty="0"/>
              <a:t>The Page Router relies on special lifecycle functions:</a:t>
            </a:r>
          </a:p>
          <a:p>
            <a:endParaRPr lang="en-US" dirty="0"/>
          </a:p>
        </p:txBody>
      </p:sp>
      <p:graphicFrame>
        <p:nvGraphicFramePr>
          <p:cNvPr id="8" name="Table 7">
            <a:extLst>
              <a:ext uri="{FF2B5EF4-FFF2-40B4-BE49-F238E27FC236}">
                <a16:creationId xmlns:a16="http://schemas.microsoft.com/office/drawing/2014/main" id="{6F3AE30A-9FB1-2FB4-02A5-0C4394AD410F}"/>
              </a:ext>
            </a:extLst>
          </p:cNvPr>
          <p:cNvGraphicFramePr>
            <a:graphicFrameLocks noGrp="1"/>
          </p:cNvGraphicFramePr>
          <p:nvPr/>
        </p:nvGraphicFramePr>
        <p:xfrm>
          <a:off x="1257300" y="2755900"/>
          <a:ext cx="10058400" cy="2519880"/>
        </p:xfrm>
        <a:graphic>
          <a:graphicData uri="http://schemas.openxmlformats.org/drawingml/2006/table">
            <a:tbl>
              <a:tblPr firstRow="1" bandRow="1">
                <a:tableStyleId>{5C22544A-7EE6-4342-B048-85BDC9FD1C3A}</a:tableStyleId>
              </a:tblPr>
              <a:tblGrid>
                <a:gridCol w="3937000">
                  <a:extLst>
                    <a:ext uri="{9D8B030D-6E8A-4147-A177-3AD203B41FA5}">
                      <a16:colId xmlns:a16="http://schemas.microsoft.com/office/drawing/2014/main" val="2449627040"/>
                    </a:ext>
                  </a:extLst>
                </a:gridCol>
                <a:gridCol w="6121400">
                  <a:extLst>
                    <a:ext uri="{9D8B030D-6E8A-4147-A177-3AD203B41FA5}">
                      <a16:colId xmlns:a16="http://schemas.microsoft.com/office/drawing/2014/main" val="2416626457"/>
                    </a:ext>
                  </a:extLst>
                </a:gridCol>
              </a:tblGrid>
              <a:tr h="629970">
                <a:tc>
                  <a:txBody>
                    <a:bodyPr/>
                    <a:lstStyle/>
                    <a:p>
                      <a:pPr marL="0" marR="0">
                        <a:lnSpc>
                          <a:spcPct val="115000"/>
                        </a:lnSpc>
                        <a:spcAft>
                          <a:spcPts val="800"/>
                        </a:spcAft>
                        <a:buNone/>
                      </a:pPr>
                      <a:r>
                        <a:rPr lang="en-US" sz="2800" kern="100">
                          <a:effectLst/>
                        </a:rPr>
                        <a:t>Function</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800" kern="100">
                          <a:effectLst/>
                        </a:rPr>
                        <a:t>Purpose</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766961"/>
                  </a:ext>
                </a:extLst>
              </a:tr>
              <a:tr h="629970">
                <a:tc>
                  <a:txBody>
                    <a:bodyPr/>
                    <a:lstStyle/>
                    <a:p>
                      <a:pPr marL="0" marR="0">
                        <a:lnSpc>
                          <a:spcPct val="115000"/>
                        </a:lnSpc>
                        <a:spcAft>
                          <a:spcPts val="800"/>
                        </a:spcAft>
                        <a:buNone/>
                      </a:pPr>
                      <a:r>
                        <a:rPr lang="en-US" sz="2800" kern="100">
                          <a:effectLst/>
                        </a:rPr>
                        <a:t>getStaticProps</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800" kern="100">
                          <a:effectLst/>
                        </a:rPr>
                        <a:t>Static Site Generation (SSG)</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9701037"/>
                  </a:ext>
                </a:extLst>
              </a:tr>
              <a:tr h="629970">
                <a:tc>
                  <a:txBody>
                    <a:bodyPr/>
                    <a:lstStyle/>
                    <a:p>
                      <a:pPr marL="0" marR="0">
                        <a:lnSpc>
                          <a:spcPct val="115000"/>
                        </a:lnSpc>
                        <a:spcAft>
                          <a:spcPts val="800"/>
                        </a:spcAft>
                        <a:buNone/>
                      </a:pPr>
                      <a:r>
                        <a:rPr lang="en-US" sz="2800" kern="100">
                          <a:effectLst/>
                        </a:rPr>
                        <a:t>getServerSideProps</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800" kern="100">
                          <a:effectLst/>
                        </a:rPr>
                        <a:t>Server-Side Rendering (SSR)</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2275975"/>
                  </a:ext>
                </a:extLst>
              </a:tr>
              <a:tr h="629970">
                <a:tc>
                  <a:txBody>
                    <a:bodyPr/>
                    <a:lstStyle/>
                    <a:p>
                      <a:pPr marL="0" marR="0">
                        <a:lnSpc>
                          <a:spcPct val="115000"/>
                        </a:lnSpc>
                        <a:spcAft>
                          <a:spcPts val="800"/>
                        </a:spcAft>
                        <a:buNone/>
                      </a:pPr>
                      <a:r>
                        <a:rPr lang="en-US" sz="2800" kern="100">
                          <a:effectLst/>
                        </a:rPr>
                        <a:t>getStaticPaths</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800" kern="100" dirty="0">
                          <a:effectLst/>
                        </a:rPr>
                        <a:t>Dynamic routes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3186088"/>
                  </a:ext>
                </a:extLst>
              </a:tr>
            </a:tbl>
          </a:graphicData>
        </a:graphic>
      </p:graphicFrame>
    </p:spTree>
    <p:extLst>
      <p:ext uri="{BB962C8B-B14F-4D97-AF65-F5344CB8AC3E}">
        <p14:creationId xmlns:p14="http://schemas.microsoft.com/office/powerpoint/2010/main" val="39971960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4629A-9CE0-26D0-17F1-C16929BFC076}"/>
              </a:ext>
            </a:extLst>
          </p:cNvPr>
          <p:cNvSpPr>
            <a:spLocks noGrp="1"/>
          </p:cNvSpPr>
          <p:nvPr>
            <p:ph type="title"/>
          </p:nvPr>
        </p:nvSpPr>
        <p:spPr/>
        <p:txBody>
          <a:bodyPr/>
          <a:lstStyle/>
          <a:p>
            <a:r>
              <a:rPr lang="en-US" dirty="0"/>
              <a:t>What is the Page Router?</a:t>
            </a:r>
          </a:p>
        </p:txBody>
      </p:sp>
      <p:sp>
        <p:nvSpPr>
          <p:cNvPr id="3" name="Content Placeholder 2">
            <a:extLst>
              <a:ext uri="{FF2B5EF4-FFF2-40B4-BE49-F238E27FC236}">
                <a16:creationId xmlns:a16="http://schemas.microsoft.com/office/drawing/2014/main" id="{5A3DB856-767A-6705-53EA-1D13AB34A5E9}"/>
              </a:ext>
            </a:extLst>
          </p:cNvPr>
          <p:cNvSpPr>
            <a:spLocks noGrp="1"/>
          </p:cNvSpPr>
          <p:nvPr>
            <p:ph idx="1"/>
          </p:nvPr>
        </p:nvSpPr>
        <p:spPr/>
        <p:txBody>
          <a:bodyPr/>
          <a:lstStyle/>
          <a:p>
            <a:r>
              <a:rPr lang="en-US" dirty="0"/>
              <a:t>Example:</a:t>
            </a:r>
          </a:p>
        </p:txBody>
      </p:sp>
      <p:pic>
        <p:nvPicPr>
          <p:cNvPr id="5" name="Picture 4">
            <a:extLst>
              <a:ext uri="{FF2B5EF4-FFF2-40B4-BE49-F238E27FC236}">
                <a16:creationId xmlns:a16="http://schemas.microsoft.com/office/drawing/2014/main" id="{BE592484-A80E-D4D6-156B-FE968BD6E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403" y="2165120"/>
            <a:ext cx="9121897" cy="35330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85661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19226-A4B0-890D-529E-81231731F997}"/>
              </a:ext>
            </a:extLst>
          </p:cNvPr>
          <p:cNvSpPr>
            <a:spLocks noGrp="1"/>
          </p:cNvSpPr>
          <p:nvPr>
            <p:ph type="title"/>
          </p:nvPr>
        </p:nvSpPr>
        <p:spPr/>
        <p:txBody>
          <a:bodyPr/>
          <a:lstStyle/>
          <a:p>
            <a:r>
              <a:rPr lang="en-US" dirty="0"/>
              <a:t>What is the Page Router?</a:t>
            </a:r>
          </a:p>
        </p:txBody>
      </p:sp>
      <p:sp>
        <p:nvSpPr>
          <p:cNvPr id="3" name="Content Placeholder 2">
            <a:extLst>
              <a:ext uri="{FF2B5EF4-FFF2-40B4-BE49-F238E27FC236}">
                <a16:creationId xmlns:a16="http://schemas.microsoft.com/office/drawing/2014/main" id="{BDCB061C-B6E0-540C-C05C-C426A305AFC7}"/>
              </a:ext>
            </a:extLst>
          </p:cNvPr>
          <p:cNvSpPr>
            <a:spLocks noGrp="1"/>
          </p:cNvSpPr>
          <p:nvPr>
            <p:ph idx="1"/>
          </p:nvPr>
        </p:nvSpPr>
        <p:spPr/>
        <p:txBody>
          <a:bodyPr/>
          <a:lstStyle/>
          <a:p>
            <a:r>
              <a:rPr lang="en-US" b="1" dirty="0">
                <a:solidFill>
                  <a:srgbClr val="FF0000"/>
                </a:solidFill>
              </a:rPr>
              <a:t>Limitations:</a:t>
            </a:r>
          </a:p>
          <a:p>
            <a:pPr lvl="1"/>
            <a:r>
              <a:rPr lang="en-US" dirty="0"/>
              <a:t>Server and client logic are mixed</a:t>
            </a:r>
          </a:p>
          <a:p>
            <a:pPr lvl="1"/>
            <a:r>
              <a:rPr lang="en-US" dirty="0"/>
              <a:t>Layout reuse is limited</a:t>
            </a:r>
          </a:p>
          <a:p>
            <a:pPr lvl="1"/>
            <a:r>
              <a:rPr lang="en-US" dirty="0"/>
              <a:t>Does not fully leverage React Server Components</a:t>
            </a:r>
          </a:p>
        </p:txBody>
      </p:sp>
    </p:spTree>
    <p:extLst>
      <p:ext uri="{BB962C8B-B14F-4D97-AF65-F5344CB8AC3E}">
        <p14:creationId xmlns:p14="http://schemas.microsoft.com/office/powerpoint/2010/main" val="22862755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E1D34-EEEE-6A4F-5722-722D08DF5E9C}"/>
              </a:ext>
            </a:extLst>
          </p:cNvPr>
          <p:cNvSpPr>
            <a:spLocks noGrp="1"/>
          </p:cNvSpPr>
          <p:nvPr>
            <p:ph type="title"/>
          </p:nvPr>
        </p:nvSpPr>
        <p:spPr/>
        <p:txBody>
          <a:bodyPr>
            <a:normAutofit/>
          </a:bodyPr>
          <a:lstStyle/>
          <a:p>
            <a:r>
              <a:rPr lang="en-US" dirty="0"/>
              <a:t>App Router</a:t>
            </a:r>
          </a:p>
        </p:txBody>
      </p:sp>
      <p:sp>
        <p:nvSpPr>
          <p:cNvPr id="3" name="Content Placeholder 2">
            <a:extLst>
              <a:ext uri="{FF2B5EF4-FFF2-40B4-BE49-F238E27FC236}">
                <a16:creationId xmlns:a16="http://schemas.microsoft.com/office/drawing/2014/main" id="{C607B9A3-F135-B288-655B-793A165D2B1A}"/>
              </a:ext>
            </a:extLst>
          </p:cNvPr>
          <p:cNvSpPr>
            <a:spLocks noGrp="1"/>
          </p:cNvSpPr>
          <p:nvPr>
            <p:ph idx="1"/>
          </p:nvPr>
        </p:nvSpPr>
        <p:spPr/>
        <p:txBody>
          <a:bodyPr/>
          <a:lstStyle/>
          <a:p>
            <a:r>
              <a:rPr lang="en-US" dirty="0"/>
              <a:t> </a:t>
            </a:r>
            <a:r>
              <a:rPr lang="en-US" b="1" dirty="0">
                <a:solidFill>
                  <a:srgbClr val="FF0000"/>
                </a:solidFill>
              </a:rPr>
              <a:t>The Next.js App Router </a:t>
            </a:r>
            <a:r>
              <a:rPr lang="en-US" dirty="0"/>
              <a:t>is a modern, file-system based routing solution introduced in Next.js 13, and it is the recommended approach for new applications. </a:t>
            </a:r>
          </a:p>
          <a:p>
            <a:r>
              <a:rPr lang="en-US" dirty="0"/>
              <a:t>It is built on top of </a:t>
            </a:r>
            <a:r>
              <a:rPr lang="en-US" b="1" dirty="0"/>
              <a:t>React Server Components </a:t>
            </a:r>
            <a:r>
              <a:rPr lang="en-US" dirty="0"/>
              <a:t>and offers powerful features like shared layouts, nested routing, and enhanced data fetching capabilities. </a:t>
            </a:r>
          </a:p>
        </p:txBody>
      </p:sp>
    </p:spTree>
    <p:extLst>
      <p:ext uri="{BB962C8B-B14F-4D97-AF65-F5344CB8AC3E}">
        <p14:creationId xmlns:p14="http://schemas.microsoft.com/office/powerpoint/2010/main" val="1690958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EC550-2E16-6243-F181-FDCE5D592535}"/>
              </a:ext>
            </a:extLst>
          </p:cNvPr>
          <p:cNvSpPr>
            <a:spLocks noGrp="1"/>
          </p:cNvSpPr>
          <p:nvPr>
            <p:ph type="title"/>
          </p:nvPr>
        </p:nvSpPr>
        <p:spPr/>
        <p:txBody>
          <a:bodyPr/>
          <a:lstStyle/>
          <a:p>
            <a:r>
              <a:rPr lang="en-US" dirty="0"/>
              <a:t>App Router</a:t>
            </a:r>
          </a:p>
        </p:txBody>
      </p:sp>
      <p:sp>
        <p:nvSpPr>
          <p:cNvPr id="3" name="Content Placeholder 2">
            <a:extLst>
              <a:ext uri="{FF2B5EF4-FFF2-40B4-BE49-F238E27FC236}">
                <a16:creationId xmlns:a16="http://schemas.microsoft.com/office/drawing/2014/main" id="{5CCF15BE-8EA8-6444-0DF7-B91FB8FFCD10}"/>
              </a:ext>
            </a:extLst>
          </p:cNvPr>
          <p:cNvSpPr>
            <a:spLocks noGrp="1"/>
          </p:cNvSpPr>
          <p:nvPr>
            <p:ph idx="1"/>
          </p:nvPr>
        </p:nvSpPr>
        <p:spPr/>
        <p:txBody>
          <a:bodyPr/>
          <a:lstStyle/>
          <a:p>
            <a:r>
              <a:rPr lang="en-US" b="1" dirty="0">
                <a:solidFill>
                  <a:srgbClr val="FF0000"/>
                </a:solidFill>
              </a:rPr>
              <a:t>The App Router </a:t>
            </a:r>
            <a:r>
              <a:rPr lang="en-US" dirty="0"/>
              <a:t>uses the </a:t>
            </a:r>
            <a:r>
              <a:rPr lang="en-US" b="1" dirty="0">
                <a:solidFill>
                  <a:srgbClr val="FF0000"/>
                </a:solidFill>
              </a:rPr>
              <a:t>app/ </a:t>
            </a:r>
            <a:r>
              <a:rPr lang="en-US" dirty="0"/>
              <a:t>directory.</a:t>
            </a:r>
          </a:p>
          <a:p>
            <a:pPr lvl="1"/>
            <a:r>
              <a:rPr lang="en-US" dirty="0"/>
              <a:t>Routing is based on folders and special file conventions.</a:t>
            </a:r>
          </a:p>
          <a:p>
            <a:pPr lvl="1"/>
            <a:r>
              <a:rPr lang="en-US" dirty="0"/>
              <a:t>It is the modern routing system, designed to fully utilize:</a:t>
            </a:r>
          </a:p>
          <a:p>
            <a:pPr lvl="2"/>
            <a:r>
              <a:rPr lang="en-US" sz="2400" dirty="0"/>
              <a:t>React Server Components (RSC)</a:t>
            </a:r>
          </a:p>
          <a:p>
            <a:pPr lvl="2"/>
            <a:r>
              <a:rPr lang="en-US" sz="2400" dirty="0"/>
              <a:t>Streaming</a:t>
            </a:r>
          </a:p>
          <a:p>
            <a:pPr lvl="2"/>
            <a:r>
              <a:rPr lang="en-US" sz="2400" dirty="0"/>
              <a:t>Nested layouts</a:t>
            </a:r>
          </a:p>
          <a:p>
            <a:pPr lvl="2"/>
            <a:r>
              <a:rPr lang="en-US" sz="2400" dirty="0"/>
              <a:t>Improved SEO and performance</a:t>
            </a:r>
          </a:p>
        </p:txBody>
      </p:sp>
    </p:spTree>
    <p:extLst>
      <p:ext uri="{BB962C8B-B14F-4D97-AF65-F5344CB8AC3E}">
        <p14:creationId xmlns:p14="http://schemas.microsoft.com/office/powerpoint/2010/main" val="41390650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BB00-C183-F23D-2AA0-E2C755492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F2A8B-F385-B27B-0E90-5A82F7415802}"/>
              </a:ext>
            </a:extLst>
          </p:cNvPr>
          <p:cNvSpPr>
            <a:spLocks noGrp="1"/>
          </p:cNvSpPr>
          <p:nvPr>
            <p:ph type="title"/>
          </p:nvPr>
        </p:nvSpPr>
        <p:spPr/>
        <p:txBody>
          <a:bodyPr/>
          <a:lstStyle/>
          <a:p>
            <a:r>
              <a:rPr lang="en-US" dirty="0"/>
              <a:t>App Router</a:t>
            </a:r>
          </a:p>
        </p:txBody>
      </p:sp>
      <p:sp>
        <p:nvSpPr>
          <p:cNvPr id="3" name="Content Placeholder 2">
            <a:extLst>
              <a:ext uri="{FF2B5EF4-FFF2-40B4-BE49-F238E27FC236}">
                <a16:creationId xmlns:a16="http://schemas.microsoft.com/office/drawing/2014/main" id="{899E325D-33CC-C3B5-E847-39EAB90759A6}"/>
              </a:ext>
            </a:extLst>
          </p:cNvPr>
          <p:cNvSpPr>
            <a:spLocks noGrp="1"/>
          </p:cNvSpPr>
          <p:nvPr>
            <p:ph idx="1"/>
          </p:nvPr>
        </p:nvSpPr>
        <p:spPr/>
        <p:txBody>
          <a:bodyPr/>
          <a:lstStyle/>
          <a:p>
            <a:r>
              <a:rPr lang="en-US" b="1" dirty="0"/>
              <a:t>App Router Folder Structure</a:t>
            </a:r>
          </a:p>
          <a:p>
            <a:endParaRPr lang="en-US" dirty="0"/>
          </a:p>
        </p:txBody>
      </p:sp>
      <p:pic>
        <p:nvPicPr>
          <p:cNvPr id="5" name="Picture 4">
            <a:extLst>
              <a:ext uri="{FF2B5EF4-FFF2-40B4-BE49-F238E27FC236}">
                <a16:creationId xmlns:a16="http://schemas.microsoft.com/office/drawing/2014/main" id="{64165609-5C8F-43B1-0560-6383CA5B69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582220"/>
            <a:ext cx="4648271" cy="42111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120949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4DFC-4895-EBF3-2AC6-A2779503A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C774D-70EE-21A8-8E1C-CD2030E55139}"/>
              </a:ext>
            </a:extLst>
          </p:cNvPr>
          <p:cNvSpPr>
            <a:spLocks noGrp="1"/>
          </p:cNvSpPr>
          <p:nvPr>
            <p:ph type="title"/>
          </p:nvPr>
        </p:nvSpPr>
        <p:spPr/>
        <p:txBody>
          <a:bodyPr/>
          <a:lstStyle/>
          <a:p>
            <a:r>
              <a:rPr lang="en-US" dirty="0"/>
              <a:t>App Router</a:t>
            </a:r>
          </a:p>
        </p:txBody>
      </p:sp>
      <p:graphicFrame>
        <p:nvGraphicFramePr>
          <p:cNvPr id="4" name="Content Placeholder 3">
            <a:extLst>
              <a:ext uri="{FF2B5EF4-FFF2-40B4-BE49-F238E27FC236}">
                <a16:creationId xmlns:a16="http://schemas.microsoft.com/office/drawing/2014/main" id="{856F9243-EF9A-E508-E029-1A394FF56C6E}"/>
              </a:ext>
            </a:extLst>
          </p:cNvPr>
          <p:cNvGraphicFramePr>
            <a:graphicFrameLocks noGrp="1"/>
          </p:cNvGraphicFramePr>
          <p:nvPr>
            <p:ph idx="1"/>
          </p:nvPr>
        </p:nvGraphicFramePr>
        <p:xfrm>
          <a:off x="1097280" y="1755233"/>
          <a:ext cx="10058400" cy="3832766"/>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411404037"/>
                    </a:ext>
                  </a:extLst>
                </a:gridCol>
                <a:gridCol w="5029200">
                  <a:extLst>
                    <a:ext uri="{9D8B030D-6E8A-4147-A177-3AD203B41FA5}">
                      <a16:colId xmlns:a16="http://schemas.microsoft.com/office/drawing/2014/main" val="3732923460"/>
                    </a:ext>
                  </a:extLst>
                </a:gridCol>
              </a:tblGrid>
              <a:tr h="547538">
                <a:tc>
                  <a:txBody>
                    <a:bodyPr/>
                    <a:lstStyle/>
                    <a:p>
                      <a:pPr marL="0" marR="0">
                        <a:lnSpc>
                          <a:spcPct val="115000"/>
                        </a:lnSpc>
                        <a:spcAft>
                          <a:spcPts val="800"/>
                        </a:spcAft>
                        <a:buNone/>
                      </a:pPr>
                      <a:r>
                        <a:rPr lang="en-US" sz="2800" kern="100" dirty="0">
                          <a:effectLst/>
                        </a:rPr>
                        <a:t>File</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rPr>
                        <a:t>Purpose</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89985733"/>
                  </a:ext>
                </a:extLst>
              </a:tr>
              <a:tr h="547538">
                <a:tc>
                  <a:txBody>
                    <a:bodyPr/>
                    <a:lstStyle/>
                    <a:p>
                      <a:pPr marL="0" marR="0">
                        <a:lnSpc>
                          <a:spcPct val="115000"/>
                        </a:lnSpc>
                        <a:spcAft>
                          <a:spcPts val="800"/>
                        </a:spcAft>
                        <a:buNone/>
                      </a:pPr>
                      <a:r>
                        <a:rPr lang="en-US" sz="2800" kern="100" dirty="0">
                          <a:effectLst/>
                        </a:rPr>
                        <a:t>page.js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rPr>
                        <a:t>Page component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53747950"/>
                  </a:ext>
                </a:extLst>
              </a:tr>
              <a:tr h="547538">
                <a:tc>
                  <a:txBody>
                    <a:bodyPr/>
                    <a:lstStyle/>
                    <a:p>
                      <a:pPr marL="0" marR="0">
                        <a:lnSpc>
                          <a:spcPct val="115000"/>
                        </a:lnSpc>
                        <a:spcAft>
                          <a:spcPts val="800"/>
                        </a:spcAft>
                        <a:buNone/>
                      </a:pPr>
                      <a:r>
                        <a:rPr lang="en-US" sz="2800" kern="100" dirty="0">
                          <a:effectLst/>
                        </a:rPr>
                        <a:t>layout.js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rPr>
                        <a:t>Layout component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21899386"/>
                  </a:ext>
                </a:extLst>
              </a:tr>
              <a:tr h="547538">
                <a:tc>
                  <a:txBody>
                    <a:bodyPr/>
                    <a:lstStyle/>
                    <a:p>
                      <a:pPr marL="0" marR="0">
                        <a:lnSpc>
                          <a:spcPct val="115000"/>
                        </a:lnSpc>
                        <a:spcAft>
                          <a:spcPts val="800"/>
                        </a:spcAft>
                        <a:buNone/>
                      </a:pPr>
                      <a:r>
                        <a:rPr lang="en-US" sz="2800" kern="100" dirty="0">
                          <a:effectLst/>
                        </a:rPr>
                        <a:t>loading.js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rPr>
                        <a:t>Loading UI</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91086679"/>
                  </a:ext>
                </a:extLst>
              </a:tr>
              <a:tr h="547538">
                <a:tc>
                  <a:txBody>
                    <a:bodyPr/>
                    <a:lstStyle/>
                    <a:p>
                      <a:pPr marL="0" marR="0">
                        <a:lnSpc>
                          <a:spcPct val="115000"/>
                        </a:lnSpc>
                        <a:spcAft>
                          <a:spcPts val="800"/>
                        </a:spcAft>
                        <a:buNone/>
                      </a:pPr>
                      <a:r>
                        <a:rPr lang="en-US" sz="2800" kern="100" dirty="0">
                          <a:effectLst/>
                        </a:rPr>
                        <a:t>error.js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rPr>
                        <a:t>Error UI</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73645357"/>
                  </a:ext>
                </a:extLst>
              </a:tr>
              <a:tr h="547538">
                <a:tc>
                  <a:txBody>
                    <a:bodyPr/>
                    <a:lstStyle/>
                    <a:p>
                      <a:pPr marL="0" marR="0">
                        <a:lnSpc>
                          <a:spcPct val="115000"/>
                        </a:lnSpc>
                        <a:spcAft>
                          <a:spcPts val="800"/>
                        </a:spcAft>
                        <a:buNone/>
                      </a:pPr>
                      <a:r>
                        <a:rPr lang="en-US" sz="2800" kern="100" dirty="0">
                          <a:effectLst/>
                        </a:rPr>
                        <a:t>not-found.js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dirty="0">
                          <a:effectLst/>
                        </a:rPr>
                        <a:t>404 handling</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8603612"/>
                  </a:ext>
                </a:extLst>
              </a:tr>
              <a:tr h="547538">
                <a:tc>
                  <a:txBody>
                    <a:bodyPr/>
                    <a:lstStyle/>
                    <a:p>
                      <a:pPr marL="0" marR="0">
                        <a:lnSpc>
                          <a:spcPct val="115000"/>
                        </a:lnSpc>
                        <a:spcAft>
                          <a:spcPts val="800"/>
                        </a:spcAft>
                        <a:buNone/>
                      </a:pPr>
                      <a:r>
                        <a:rPr lang="en-US" sz="2800" kern="100">
                          <a:effectLst/>
                        </a:rPr>
                        <a:t>route.js</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dirty="0">
                          <a:effectLst/>
                        </a:rPr>
                        <a:t>API endpoints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10525491"/>
                  </a:ext>
                </a:extLst>
              </a:tr>
            </a:tbl>
          </a:graphicData>
        </a:graphic>
      </p:graphicFrame>
    </p:spTree>
    <p:extLst>
      <p:ext uri="{BB962C8B-B14F-4D97-AF65-F5344CB8AC3E}">
        <p14:creationId xmlns:p14="http://schemas.microsoft.com/office/powerpoint/2010/main" val="10068750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04C3-64D0-8315-0057-96343B27D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6A9DF-080B-9871-2D7E-887E525A8AB1}"/>
              </a:ext>
            </a:extLst>
          </p:cNvPr>
          <p:cNvSpPr>
            <a:spLocks noGrp="1"/>
          </p:cNvSpPr>
          <p:nvPr>
            <p:ph type="title"/>
          </p:nvPr>
        </p:nvSpPr>
        <p:spPr/>
        <p:txBody>
          <a:bodyPr/>
          <a:lstStyle/>
          <a:p>
            <a:r>
              <a:rPr lang="en-US" dirty="0"/>
              <a:t>App Router</a:t>
            </a:r>
          </a:p>
        </p:txBody>
      </p:sp>
      <p:sp>
        <p:nvSpPr>
          <p:cNvPr id="3" name="Content Placeholder 2">
            <a:extLst>
              <a:ext uri="{FF2B5EF4-FFF2-40B4-BE49-F238E27FC236}">
                <a16:creationId xmlns:a16="http://schemas.microsoft.com/office/drawing/2014/main" id="{15D92F99-A779-E013-6262-BFBE131F3D92}"/>
              </a:ext>
            </a:extLst>
          </p:cNvPr>
          <p:cNvSpPr>
            <a:spLocks noGrp="1"/>
          </p:cNvSpPr>
          <p:nvPr>
            <p:ph idx="1"/>
          </p:nvPr>
        </p:nvSpPr>
        <p:spPr/>
        <p:txBody>
          <a:bodyPr/>
          <a:lstStyle/>
          <a:p>
            <a:r>
              <a:rPr lang="en-US" b="1" dirty="0">
                <a:solidFill>
                  <a:srgbClr val="FF0000"/>
                </a:solidFill>
              </a:rPr>
              <a:t>How the App Router Works</a:t>
            </a:r>
          </a:p>
        </p:txBody>
      </p:sp>
      <p:pic>
        <p:nvPicPr>
          <p:cNvPr id="5" name="Picture 4">
            <a:extLst>
              <a:ext uri="{FF2B5EF4-FFF2-40B4-BE49-F238E27FC236}">
                <a16:creationId xmlns:a16="http://schemas.microsoft.com/office/drawing/2014/main" id="{ED3A05AD-5257-99CB-4C43-ED0CCC18AE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1780" y="1582220"/>
            <a:ext cx="3550920" cy="42050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381212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5CECC-4C06-ADC2-B677-1FE9E03D6B6C}"/>
              </a:ext>
            </a:extLst>
          </p:cNvPr>
          <p:cNvSpPr>
            <a:spLocks noGrp="1"/>
          </p:cNvSpPr>
          <p:nvPr>
            <p:ph type="title"/>
          </p:nvPr>
        </p:nvSpPr>
        <p:spPr/>
        <p:txBody>
          <a:bodyPr/>
          <a:lstStyle/>
          <a:p>
            <a:r>
              <a:rPr lang="fr-FR" dirty="0"/>
              <a:t>Page Router vs App Router </a:t>
            </a:r>
            <a:r>
              <a:rPr lang="fr-FR" dirty="0" err="1"/>
              <a:t>Comparison</a:t>
            </a:r>
            <a:endParaRPr lang="en-US" dirty="0"/>
          </a:p>
        </p:txBody>
      </p:sp>
      <p:graphicFrame>
        <p:nvGraphicFramePr>
          <p:cNvPr id="4" name="Content Placeholder 3">
            <a:extLst>
              <a:ext uri="{FF2B5EF4-FFF2-40B4-BE49-F238E27FC236}">
                <a16:creationId xmlns:a16="http://schemas.microsoft.com/office/drawing/2014/main" id="{562AB6BC-2F15-5881-7A11-65DB1551F7C2}"/>
              </a:ext>
            </a:extLst>
          </p:cNvPr>
          <p:cNvGraphicFramePr>
            <a:graphicFrameLocks noGrp="1"/>
          </p:cNvGraphicFramePr>
          <p:nvPr>
            <p:ph idx="1"/>
          </p:nvPr>
        </p:nvGraphicFramePr>
        <p:xfrm>
          <a:off x="1096963" y="1651000"/>
          <a:ext cx="10058400" cy="4370197"/>
        </p:xfrm>
        <a:graphic>
          <a:graphicData uri="http://schemas.openxmlformats.org/drawingml/2006/table">
            <a:tbl>
              <a:tblPr firstRow="1" bandRow="1">
                <a:tableStyleId>{9DCAF9ED-07DC-4A11-8D7F-57B35C25682E}</a:tableStyleId>
              </a:tblPr>
              <a:tblGrid>
                <a:gridCol w="3868737">
                  <a:extLst>
                    <a:ext uri="{9D8B030D-6E8A-4147-A177-3AD203B41FA5}">
                      <a16:colId xmlns:a16="http://schemas.microsoft.com/office/drawing/2014/main" val="2942938342"/>
                    </a:ext>
                  </a:extLst>
                </a:gridCol>
                <a:gridCol w="2921000">
                  <a:extLst>
                    <a:ext uri="{9D8B030D-6E8A-4147-A177-3AD203B41FA5}">
                      <a16:colId xmlns:a16="http://schemas.microsoft.com/office/drawing/2014/main" val="4138692802"/>
                    </a:ext>
                  </a:extLst>
                </a:gridCol>
                <a:gridCol w="3268663">
                  <a:extLst>
                    <a:ext uri="{9D8B030D-6E8A-4147-A177-3AD203B41FA5}">
                      <a16:colId xmlns:a16="http://schemas.microsoft.com/office/drawing/2014/main" val="3410348885"/>
                    </a:ext>
                  </a:extLst>
                </a:gridCol>
              </a:tblGrid>
              <a:tr h="508000">
                <a:tc>
                  <a:txBody>
                    <a:bodyPr/>
                    <a:lstStyle/>
                    <a:p>
                      <a:pPr marL="0" marR="0">
                        <a:lnSpc>
                          <a:spcPct val="115000"/>
                        </a:lnSpc>
                        <a:spcAft>
                          <a:spcPts val="800"/>
                        </a:spcAft>
                        <a:buNone/>
                      </a:pPr>
                      <a:r>
                        <a:rPr lang="en-US" sz="2400" kern="100">
                          <a:effectLst/>
                        </a:rPr>
                        <a:t>Criteria</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rPr>
                        <a:t>Page Router</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rPr>
                        <a:t>App Router</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9677821"/>
                  </a:ext>
                </a:extLst>
              </a:tr>
              <a:tr h="508000">
                <a:tc>
                  <a:txBody>
                    <a:bodyPr/>
                    <a:lstStyle/>
                    <a:p>
                      <a:pPr marL="0" marR="0">
                        <a:lnSpc>
                          <a:spcPct val="115000"/>
                        </a:lnSpc>
                        <a:spcAft>
                          <a:spcPts val="800"/>
                        </a:spcAft>
                        <a:buNone/>
                      </a:pPr>
                      <a:r>
                        <a:rPr lang="en-US" sz="2400" kern="100" dirty="0">
                          <a:effectLst/>
                        </a:rPr>
                        <a:t>Directory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rPr>
                        <a:t>pages/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rPr>
                        <a:t>app/</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7822221"/>
                  </a:ext>
                </a:extLst>
              </a:tr>
              <a:tr h="508000">
                <a:tc>
                  <a:txBody>
                    <a:bodyPr/>
                    <a:lstStyle/>
                    <a:p>
                      <a:pPr marL="0" marR="0">
                        <a:lnSpc>
                          <a:spcPct val="115000"/>
                        </a:lnSpc>
                        <a:spcAft>
                          <a:spcPts val="800"/>
                        </a:spcAft>
                        <a:buNone/>
                      </a:pPr>
                      <a:r>
                        <a:rPr lang="en-US" sz="2400" kern="100" dirty="0">
                          <a:effectLst/>
                        </a:rPr>
                        <a:t>Layout handling</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rPr>
                        <a:t>_app.js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dirty="0">
                          <a:effectLst/>
                        </a:rPr>
                        <a:t>layout.js (nested)</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43944265"/>
                  </a:ext>
                </a:extLst>
              </a:tr>
              <a:tr h="508000">
                <a:tc>
                  <a:txBody>
                    <a:bodyPr/>
                    <a:lstStyle/>
                    <a:p>
                      <a:pPr marL="0" marR="0">
                        <a:lnSpc>
                          <a:spcPct val="115000"/>
                        </a:lnSpc>
                        <a:spcAft>
                          <a:spcPts val="800"/>
                        </a:spcAft>
                        <a:buNone/>
                      </a:pPr>
                      <a:r>
                        <a:rPr lang="en-US" sz="2400" kern="100" dirty="0">
                          <a:effectLst/>
                        </a:rPr>
                        <a:t>Server Components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800" b="1" kern="100" dirty="0">
                          <a:effectLst/>
                          <a:sym typeface="Wingdings" panose="05000000000000000000" pitchFamily="2" charset="2"/>
                        </a:rPr>
                        <a:t></a:t>
                      </a:r>
                      <a:endParaRPr lang="en-US" sz="2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5435469"/>
                  </a:ext>
                </a:extLst>
              </a:tr>
              <a:tr h="508000">
                <a:tc>
                  <a:txBody>
                    <a:bodyPr/>
                    <a:lstStyle/>
                    <a:p>
                      <a:pPr marL="0" marR="0">
                        <a:lnSpc>
                          <a:spcPct val="115000"/>
                        </a:lnSpc>
                        <a:spcAft>
                          <a:spcPts val="800"/>
                        </a:spcAft>
                        <a:buNone/>
                      </a:pPr>
                      <a:r>
                        <a:rPr lang="en-US" sz="2400" kern="100" dirty="0">
                          <a:effectLst/>
                        </a:rPr>
                        <a:t>Data fetching</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rPr>
                        <a:t>Special functions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rPr>
                        <a:t>Direct fetch()</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6283354"/>
                  </a:ext>
                </a:extLst>
              </a:tr>
              <a:tr h="508000">
                <a:tc>
                  <a:txBody>
                    <a:bodyPr/>
                    <a:lstStyle/>
                    <a:p>
                      <a:pPr marL="0" marR="0">
                        <a:lnSpc>
                          <a:spcPct val="115000"/>
                        </a:lnSpc>
                        <a:spcAft>
                          <a:spcPts val="800"/>
                        </a:spcAft>
                        <a:buNone/>
                      </a:pPr>
                      <a:r>
                        <a:rPr lang="en-US" sz="2400" kern="100" dirty="0">
                          <a:effectLst/>
                        </a:rPr>
                        <a:t>Streaming</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800" b="1" kern="100" dirty="0">
                          <a:effectLst/>
                          <a:sym typeface="Wingdings" panose="05000000000000000000" pitchFamily="2" charset="2"/>
                        </a:rPr>
                        <a:t></a:t>
                      </a:r>
                      <a:endParaRPr lang="en-US" sz="2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80467931"/>
                  </a:ext>
                </a:extLst>
              </a:tr>
              <a:tr h="508000">
                <a:tc>
                  <a:txBody>
                    <a:bodyPr/>
                    <a:lstStyle/>
                    <a:p>
                      <a:pPr marL="0" marR="0">
                        <a:lnSpc>
                          <a:spcPct val="115000"/>
                        </a:lnSpc>
                        <a:spcAft>
                          <a:spcPts val="800"/>
                        </a:spcAft>
                        <a:buNone/>
                      </a:pPr>
                      <a:r>
                        <a:rPr lang="en-US" sz="2400" kern="100" dirty="0">
                          <a:effectLst/>
                        </a:rPr>
                        <a:t>SEO</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rPr>
                        <a:t>Good</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kern="100">
                          <a:effectLst/>
                        </a:rPr>
                        <a:t>Excellent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4087769"/>
                  </a:ext>
                </a:extLst>
              </a:tr>
              <a:tr h="508000">
                <a:tc>
                  <a:txBody>
                    <a:bodyPr/>
                    <a:lstStyle/>
                    <a:p>
                      <a:pPr marL="0" marR="0">
                        <a:lnSpc>
                          <a:spcPct val="115000"/>
                        </a:lnSpc>
                        <a:spcAft>
                          <a:spcPts val="800"/>
                        </a:spcAft>
                        <a:buNone/>
                      </a:pPr>
                      <a:r>
                        <a:rPr lang="en-US" sz="2400" kern="100" dirty="0">
                          <a:effectLst/>
                        </a:rPr>
                        <a:t>Recommended for new projects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800" b="1" kern="100" dirty="0">
                          <a:effectLst/>
                          <a:sym typeface="Wingdings" panose="05000000000000000000" pitchFamily="2" charset="2"/>
                        </a:rPr>
                        <a:t></a:t>
                      </a:r>
                      <a:endParaRPr lang="en-US" sz="2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6066250"/>
                  </a:ext>
                </a:extLst>
              </a:tr>
            </a:tbl>
          </a:graphicData>
        </a:graphic>
      </p:graphicFrame>
      <p:sp>
        <p:nvSpPr>
          <p:cNvPr id="5" name="Multiplication Sign 4">
            <a:extLst>
              <a:ext uri="{FF2B5EF4-FFF2-40B4-BE49-F238E27FC236}">
                <a16:creationId xmlns:a16="http://schemas.microsoft.com/office/drawing/2014/main" id="{3F0B92AD-96D2-493A-3B44-EE67D63E791F}"/>
              </a:ext>
            </a:extLst>
          </p:cNvPr>
          <p:cNvSpPr/>
          <p:nvPr/>
        </p:nvSpPr>
        <p:spPr>
          <a:xfrm>
            <a:off x="4997450" y="3263900"/>
            <a:ext cx="622300" cy="419100"/>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Multiplication Sign 5">
            <a:extLst>
              <a:ext uri="{FF2B5EF4-FFF2-40B4-BE49-F238E27FC236}">
                <a16:creationId xmlns:a16="http://schemas.microsoft.com/office/drawing/2014/main" id="{2FFE5F4A-61CD-42E7-BFA6-4813FBF56D16}"/>
              </a:ext>
            </a:extLst>
          </p:cNvPr>
          <p:cNvSpPr/>
          <p:nvPr/>
        </p:nvSpPr>
        <p:spPr>
          <a:xfrm>
            <a:off x="4997450" y="4223448"/>
            <a:ext cx="622300" cy="419100"/>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ultiplication Sign 6">
            <a:extLst>
              <a:ext uri="{FF2B5EF4-FFF2-40B4-BE49-F238E27FC236}">
                <a16:creationId xmlns:a16="http://schemas.microsoft.com/office/drawing/2014/main" id="{0E648D1B-8841-3778-41DB-644279E92493}"/>
              </a:ext>
            </a:extLst>
          </p:cNvPr>
          <p:cNvSpPr/>
          <p:nvPr/>
        </p:nvSpPr>
        <p:spPr>
          <a:xfrm>
            <a:off x="4997450" y="5435600"/>
            <a:ext cx="622300" cy="419100"/>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29985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1409A-0E5C-4089-037D-6FC9185F88B2}"/>
              </a:ext>
            </a:extLst>
          </p:cNvPr>
          <p:cNvSpPr>
            <a:spLocks noGrp="1"/>
          </p:cNvSpPr>
          <p:nvPr>
            <p:ph type="title"/>
          </p:nvPr>
        </p:nvSpPr>
        <p:spPr/>
        <p:txBody>
          <a:bodyPr/>
          <a:lstStyle/>
          <a:p>
            <a:r>
              <a:rPr lang="en-US" dirty="0"/>
              <a:t>Data Fetching Comparison</a:t>
            </a:r>
          </a:p>
        </p:txBody>
      </p:sp>
      <p:sp>
        <p:nvSpPr>
          <p:cNvPr id="3" name="Content Placeholder 2">
            <a:extLst>
              <a:ext uri="{FF2B5EF4-FFF2-40B4-BE49-F238E27FC236}">
                <a16:creationId xmlns:a16="http://schemas.microsoft.com/office/drawing/2014/main" id="{44C20E1F-ECB3-D099-3EEA-CFA10E91D8CB}"/>
              </a:ext>
            </a:extLst>
          </p:cNvPr>
          <p:cNvSpPr>
            <a:spLocks noGrp="1"/>
          </p:cNvSpPr>
          <p:nvPr>
            <p:ph idx="1"/>
          </p:nvPr>
        </p:nvSpPr>
        <p:spPr/>
        <p:txBody>
          <a:bodyPr/>
          <a:lstStyle/>
          <a:p>
            <a:r>
              <a:rPr lang="en-US" b="1" dirty="0">
                <a:solidFill>
                  <a:srgbClr val="FF0000"/>
                </a:solidFill>
              </a:rPr>
              <a:t>Page Router</a:t>
            </a:r>
          </a:p>
        </p:txBody>
      </p:sp>
      <p:pic>
        <p:nvPicPr>
          <p:cNvPr id="5" name="Picture 4">
            <a:extLst>
              <a:ext uri="{FF2B5EF4-FFF2-40B4-BE49-F238E27FC236}">
                <a16:creationId xmlns:a16="http://schemas.microsoft.com/office/drawing/2014/main" id="{B621D4CF-4868-07F0-0B77-F8CA744964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8868" y="2404844"/>
            <a:ext cx="9295224" cy="26416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392061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E5A3-94B7-023C-F58D-EF2014BC27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D092E-5A41-3054-9893-FF540A47C76E}"/>
              </a:ext>
            </a:extLst>
          </p:cNvPr>
          <p:cNvSpPr>
            <a:spLocks noGrp="1"/>
          </p:cNvSpPr>
          <p:nvPr>
            <p:ph type="title"/>
          </p:nvPr>
        </p:nvSpPr>
        <p:spPr/>
        <p:txBody>
          <a:bodyPr/>
          <a:lstStyle/>
          <a:p>
            <a:r>
              <a:rPr lang="en-US" dirty="0"/>
              <a:t>Data Fetching Comparison</a:t>
            </a:r>
          </a:p>
        </p:txBody>
      </p:sp>
      <p:sp>
        <p:nvSpPr>
          <p:cNvPr id="3" name="Content Placeholder 2">
            <a:extLst>
              <a:ext uri="{FF2B5EF4-FFF2-40B4-BE49-F238E27FC236}">
                <a16:creationId xmlns:a16="http://schemas.microsoft.com/office/drawing/2014/main" id="{C3020DFD-910A-1DBC-34B0-13E7E5C384E3}"/>
              </a:ext>
            </a:extLst>
          </p:cNvPr>
          <p:cNvSpPr>
            <a:spLocks noGrp="1"/>
          </p:cNvSpPr>
          <p:nvPr>
            <p:ph idx="1"/>
          </p:nvPr>
        </p:nvSpPr>
        <p:spPr/>
        <p:txBody>
          <a:bodyPr/>
          <a:lstStyle/>
          <a:p>
            <a:r>
              <a:rPr lang="en-US" b="1" dirty="0">
                <a:solidFill>
                  <a:srgbClr val="FF0000"/>
                </a:solidFill>
              </a:rPr>
              <a:t>App Router</a:t>
            </a:r>
          </a:p>
        </p:txBody>
      </p:sp>
      <p:pic>
        <p:nvPicPr>
          <p:cNvPr id="5" name="Picture 4">
            <a:extLst>
              <a:ext uri="{FF2B5EF4-FFF2-40B4-BE49-F238E27FC236}">
                <a16:creationId xmlns:a16="http://schemas.microsoft.com/office/drawing/2014/main" id="{81C99D64-85C6-3F78-D316-D63E2DDB1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8016" y="2436798"/>
            <a:ext cx="8969483" cy="2238979"/>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0319CD5E-AEB2-C19B-6DBA-13330858CB0D}"/>
              </a:ext>
            </a:extLst>
          </p:cNvPr>
          <p:cNvSpPr txBox="1"/>
          <p:nvPr/>
        </p:nvSpPr>
        <p:spPr>
          <a:xfrm>
            <a:off x="1508016" y="5091114"/>
            <a:ext cx="9121884" cy="523220"/>
          </a:xfrm>
          <a:prstGeom prst="rect">
            <a:avLst/>
          </a:prstGeom>
          <a:noFill/>
        </p:spPr>
        <p:txBody>
          <a:bodyPr wrap="square">
            <a:spAutoFit/>
          </a:bodyPr>
          <a:lstStyle/>
          <a:p>
            <a:r>
              <a:rPr lang="en-US" sz="2800" i="1" dirty="0">
                <a:solidFill>
                  <a:srgbClr val="FF0000"/>
                </a:solidFill>
              </a:rPr>
              <a:t>Cleaner, simpler, and closer to standard React patterns.</a:t>
            </a:r>
          </a:p>
        </p:txBody>
      </p:sp>
    </p:spTree>
    <p:extLst>
      <p:ext uri="{BB962C8B-B14F-4D97-AF65-F5344CB8AC3E}">
        <p14:creationId xmlns:p14="http://schemas.microsoft.com/office/powerpoint/2010/main" val="902919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9D96-E1EE-3002-4777-F624E2985E3E}"/>
              </a:ext>
            </a:extLst>
          </p:cNvPr>
          <p:cNvSpPr>
            <a:spLocks noGrp="1"/>
          </p:cNvSpPr>
          <p:nvPr>
            <p:ph type="title"/>
          </p:nvPr>
        </p:nvSpPr>
        <p:spPr/>
        <p:txBody>
          <a:bodyPr>
            <a:normAutofit fontScale="90000"/>
          </a:bodyPr>
          <a:lstStyle/>
          <a:p>
            <a:r>
              <a:rPr lang="en-US" dirty="0"/>
              <a:t>Layouts in the App Router (Key Advantage)</a:t>
            </a:r>
          </a:p>
        </p:txBody>
      </p:sp>
      <p:sp>
        <p:nvSpPr>
          <p:cNvPr id="3" name="Content Placeholder 2">
            <a:extLst>
              <a:ext uri="{FF2B5EF4-FFF2-40B4-BE49-F238E27FC236}">
                <a16:creationId xmlns:a16="http://schemas.microsoft.com/office/drawing/2014/main" id="{B46CF433-6FEA-E25A-EBE2-1DE458C24747}"/>
              </a:ext>
            </a:extLst>
          </p:cNvPr>
          <p:cNvSpPr>
            <a:spLocks noGrp="1"/>
          </p:cNvSpPr>
          <p:nvPr>
            <p:ph idx="1"/>
          </p:nvPr>
        </p:nvSpPr>
        <p:spPr/>
        <p:txBody>
          <a:bodyPr/>
          <a:lstStyle/>
          <a:p>
            <a:r>
              <a:rPr lang="en-US" b="1" dirty="0">
                <a:solidFill>
                  <a:srgbClr val="FF0000"/>
                </a:solidFill>
              </a:rPr>
              <a:t>Page Router</a:t>
            </a:r>
          </a:p>
          <a:p>
            <a:pPr lvl="1"/>
            <a:r>
              <a:rPr lang="en-US" dirty="0"/>
              <a:t>Only one global layout via _app.js</a:t>
            </a:r>
          </a:p>
          <a:p>
            <a:pPr lvl="1"/>
            <a:r>
              <a:rPr lang="en-US" dirty="0"/>
              <a:t>Difficult to create section-specific layouts</a:t>
            </a:r>
          </a:p>
          <a:p>
            <a:r>
              <a:rPr lang="en-US" b="1" dirty="0">
                <a:solidFill>
                  <a:srgbClr val="FF0000"/>
                </a:solidFill>
              </a:rPr>
              <a:t>App Router (Nested Layouts)</a:t>
            </a:r>
          </a:p>
          <a:p>
            <a:endParaRPr lang="en-US" dirty="0"/>
          </a:p>
        </p:txBody>
      </p:sp>
      <p:pic>
        <p:nvPicPr>
          <p:cNvPr id="7" name="Picture 6">
            <a:extLst>
              <a:ext uri="{FF2B5EF4-FFF2-40B4-BE49-F238E27FC236}">
                <a16:creationId xmlns:a16="http://schemas.microsoft.com/office/drawing/2014/main" id="{D86288D9-C36A-9E81-A910-C346A6BF2F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7201" y="3789157"/>
            <a:ext cx="7997597" cy="21934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891282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6C604-9903-48A9-155B-87CD35FCA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8FDE9-6841-1BD4-F2E1-8FC729D28340}"/>
              </a:ext>
            </a:extLst>
          </p:cNvPr>
          <p:cNvSpPr>
            <a:spLocks noGrp="1"/>
          </p:cNvSpPr>
          <p:nvPr>
            <p:ph type="title"/>
          </p:nvPr>
        </p:nvSpPr>
        <p:spPr/>
        <p:txBody>
          <a:bodyPr>
            <a:normAutofit fontScale="90000"/>
          </a:bodyPr>
          <a:lstStyle/>
          <a:p>
            <a:r>
              <a:rPr lang="fr-FR" dirty="0"/>
              <a:t>Server Components vs Client Components</a:t>
            </a:r>
            <a:endParaRPr lang="en-US" dirty="0"/>
          </a:p>
        </p:txBody>
      </p:sp>
      <p:sp>
        <p:nvSpPr>
          <p:cNvPr id="3" name="Content Placeholder 2">
            <a:extLst>
              <a:ext uri="{FF2B5EF4-FFF2-40B4-BE49-F238E27FC236}">
                <a16:creationId xmlns:a16="http://schemas.microsoft.com/office/drawing/2014/main" id="{1CBEBABC-F141-9339-4CCC-92F735BF1286}"/>
              </a:ext>
            </a:extLst>
          </p:cNvPr>
          <p:cNvSpPr>
            <a:spLocks noGrp="1"/>
          </p:cNvSpPr>
          <p:nvPr>
            <p:ph idx="1"/>
          </p:nvPr>
        </p:nvSpPr>
        <p:spPr/>
        <p:txBody>
          <a:bodyPr/>
          <a:lstStyle/>
          <a:p>
            <a:r>
              <a:rPr lang="en-US" b="1" dirty="0">
                <a:solidFill>
                  <a:srgbClr val="FF0000"/>
                </a:solidFill>
              </a:rPr>
              <a:t>Server Components (Default)</a:t>
            </a:r>
          </a:p>
          <a:p>
            <a:endParaRPr lang="en-US" b="1" dirty="0">
              <a:solidFill>
                <a:srgbClr val="FF0000"/>
              </a:solidFill>
            </a:endParaRPr>
          </a:p>
          <a:p>
            <a:endParaRPr lang="en-US" dirty="0"/>
          </a:p>
          <a:p>
            <a:endParaRPr lang="en-US" dirty="0"/>
          </a:p>
          <a:p>
            <a:endParaRPr lang="en-US" dirty="0"/>
          </a:p>
        </p:txBody>
      </p:sp>
      <p:pic>
        <p:nvPicPr>
          <p:cNvPr id="5" name="Picture 4">
            <a:extLst>
              <a:ext uri="{FF2B5EF4-FFF2-40B4-BE49-F238E27FC236}">
                <a16:creationId xmlns:a16="http://schemas.microsoft.com/office/drawing/2014/main" id="{575B9EB2-16CD-4201-60A7-7D33A354265E}"/>
              </a:ext>
            </a:extLst>
          </p:cNvPr>
          <p:cNvPicPr>
            <a:picLocks noChangeAspect="1"/>
          </p:cNvPicPr>
          <p:nvPr/>
        </p:nvPicPr>
        <p:blipFill>
          <a:blip r:embed="rId2">
            <a:extLst>
              <a:ext uri="{28A0092B-C50C-407E-A947-70E740481C1C}">
                <a14:useLocalDpi xmlns:a14="http://schemas.microsoft.com/office/drawing/2010/main" val="0"/>
              </a:ext>
            </a:extLst>
          </a:blip>
          <a:srcRect t="17558"/>
          <a:stretch>
            <a:fillRect/>
          </a:stretch>
        </p:blipFill>
        <p:spPr>
          <a:xfrm>
            <a:off x="2411351" y="2635250"/>
            <a:ext cx="6835897" cy="15874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318820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ED87F-EF7F-E071-3F54-39CDB672A9C2}"/>
              </a:ext>
            </a:extLst>
          </p:cNvPr>
          <p:cNvSpPr>
            <a:spLocks noGrp="1"/>
          </p:cNvSpPr>
          <p:nvPr>
            <p:ph type="title"/>
          </p:nvPr>
        </p:nvSpPr>
        <p:spPr/>
        <p:txBody>
          <a:bodyPr>
            <a:normAutofit fontScale="90000"/>
          </a:bodyPr>
          <a:lstStyle/>
          <a:p>
            <a:r>
              <a:rPr lang="fr-FR" dirty="0"/>
              <a:t>Server Components vs Client Components</a:t>
            </a:r>
            <a:endParaRPr lang="en-US" dirty="0"/>
          </a:p>
        </p:txBody>
      </p:sp>
      <p:sp>
        <p:nvSpPr>
          <p:cNvPr id="3" name="Content Placeholder 2">
            <a:extLst>
              <a:ext uri="{FF2B5EF4-FFF2-40B4-BE49-F238E27FC236}">
                <a16:creationId xmlns:a16="http://schemas.microsoft.com/office/drawing/2014/main" id="{E3D3A4EC-FE5A-0187-E0E2-FCDD2B2A06C3}"/>
              </a:ext>
            </a:extLst>
          </p:cNvPr>
          <p:cNvSpPr>
            <a:spLocks noGrp="1"/>
          </p:cNvSpPr>
          <p:nvPr>
            <p:ph idx="1"/>
          </p:nvPr>
        </p:nvSpPr>
        <p:spPr/>
        <p:txBody>
          <a:bodyPr/>
          <a:lstStyle/>
          <a:p>
            <a:r>
              <a:rPr lang="en-US" b="1" dirty="0">
                <a:solidFill>
                  <a:srgbClr val="FF0000"/>
                </a:solidFill>
              </a:rPr>
              <a:t>Client Components</a:t>
            </a:r>
            <a:r>
              <a:rPr lang="en-US" dirty="0"/>
              <a:t>: must explicitly declare "</a:t>
            </a:r>
            <a:r>
              <a:rPr lang="en-US" b="1" dirty="0"/>
              <a:t>use client":</a:t>
            </a:r>
          </a:p>
        </p:txBody>
      </p:sp>
      <p:pic>
        <p:nvPicPr>
          <p:cNvPr id="5" name="Picture 4">
            <a:extLst>
              <a:ext uri="{FF2B5EF4-FFF2-40B4-BE49-F238E27FC236}">
                <a16:creationId xmlns:a16="http://schemas.microsoft.com/office/drawing/2014/main" id="{83EF0ABD-B576-9D08-FB7E-58569B43A3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6390" y="2162117"/>
            <a:ext cx="5699219" cy="35186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87805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3D60-D697-CD4C-6C7A-2C7FBAA6C3D4}"/>
              </a:ext>
            </a:extLst>
          </p:cNvPr>
          <p:cNvSpPr>
            <a:spLocks noGrp="1"/>
          </p:cNvSpPr>
          <p:nvPr>
            <p:ph type="ctrTitle"/>
          </p:nvPr>
        </p:nvSpPr>
        <p:spPr/>
        <p:txBody>
          <a:bodyPr>
            <a:normAutofit/>
          </a:bodyPr>
          <a:lstStyle/>
          <a:p>
            <a:br>
              <a:rPr lang="en-US" sz="13800" spc="0" dirty="0">
                <a:ln w="13462">
                  <a:solidFill>
                    <a:schemeClr val="bg1"/>
                  </a:solidFill>
                  <a:prstDash val="solid"/>
                </a:ln>
                <a:effectLst>
                  <a:outerShdw dist="38100" dir="2700000" algn="bl" rotWithShape="0">
                    <a:schemeClr val="accent5"/>
                  </a:outerShdw>
                </a:effectLst>
              </a:rPr>
            </a:br>
            <a:r>
              <a:rPr lang="en-US" sz="8000"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reflection blurRad="6350" stA="55000" endA="300" endPos="45500" dir="5400000" sy="-100000" algn="bl" rotWithShape="0"/>
                </a:effectLst>
              </a:rPr>
              <a:t>Layouts and Pages</a:t>
            </a:r>
            <a:endParaRPr lang="en-US" sz="13800" spc="0" dirty="0">
              <a:ln w="13462">
                <a:solidFill>
                  <a:schemeClr val="bg1"/>
                </a:solidFill>
                <a:prstDash val="solid"/>
              </a:ln>
              <a:solidFill>
                <a:schemeClr val="bg2">
                  <a:lumMod val="25000"/>
                </a:schemeClr>
              </a:solidFill>
              <a:effectLst>
                <a:outerShdw dist="38100" dir="2640000" algn="bl" rotWithShape="0">
                  <a:schemeClr val="accent1"/>
                </a:outerShdw>
                <a:reflection blurRad="6350" stA="55000" endA="300" endPos="45500" dir="5400000" sy="-100000" algn="bl" rotWithShape="0"/>
              </a:effectLst>
            </a:endParaRPr>
          </a:p>
        </p:txBody>
      </p:sp>
    </p:spTree>
    <p:extLst>
      <p:ext uri="{BB962C8B-B14F-4D97-AF65-F5344CB8AC3E}">
        <p14:creationId xmlns:p14="http://schemas.microsoft.com/office/powerpoint/2010/main" val="18802892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176C-CF6B-5D1F-9A7C-685D25C50DC6}"/>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F5A7E145-E32E-464D-9D94-56BA216C2EC7}"/>
              </a:ext>
            </a:extLst>
          </p:cNvPr>
          <p:cNvSpPr>
            <a:spLocks noGrp="1"/>
          </p:cNvSpPr>
          <p:nvPr>
            <p:ph idx="1"/>
          </p:nvPr>
        </p:nvSpPr>
        <p:spPr/>
        <p:txBody>
          <a:bodyPr/>
          <a:lstStyle/>
          <a:p>
            <a:r>
              <a:rPr lang="en-US" dirty="0"/>
              <a:t>Next.js uses </a:t>
            </a:r>
            <a:r>
              <a:rPr lang="en-US" b="1" dirty="0"/>
              <a:t>file-system based routing</a:t>
            </a:r>
            <a:r>
              <a:rPr lang="en-US" dirty="0"/>
              <a:t>, meaning you can use folders and files to define routes.</a:t>
            </a:r>
          </a:p>
          <a:p>
            <a:r>
              <a:rPr lang="en-US" dirty="0"/>
              <a:t>Two core concepts are:</a:t>
            </a:r>
          </a:p>
        </p:txBody>
      </p:sp>
      <p:graphicFrame>
        <p:nvGraphicFramePr>
          <p:cNvPr id="4" name="Table 3">
            <a:extLst>
              <a:ext uri="{FF2B5EF4-FFF2-40B4-BE49-F238E27FC236}">
                <a16:creationId xmlns:a16="http://schemas.microsoft.com/office/drawing/2014/main" id="{43794ABC-E4B4-1922-4315-E074085B30A0}"/>
              </a:ext>
            </a:extLst>
          </p:cNvPr>
          <p:cNvGraphicFramePr>
            <a:graphicFrameLocks noGrp="1"/>
          </p:cNvGraphicFramePr>
          <p:nvPr/>
        </p:nvGraphicFramePr>
        <p:xfrm>
          <a:off x="1097280" y="3429000"/>
          <a:ext cx="10166124" cy="1810657"/>
        </p:xfrm>
        <a:graphic>
          <a:graphicData uri="http://schemas.openxmlformats.org/drawingml/2006/table">
            <a:tbl>
              <a:tblPr>
                <a:tableStyleId>{BC89EF96-8CEA-46FF-86C4-4CE0E7609802}</a:tableStyleId>
              </a:tblPr>
              <a:tblGrid>
                <a:gridCol w="3112181">
                  <a:extLst>
                    <a:ext uri="{9D8B030D-6E8A-4147-A177-3AD203B41FA5}">
                      <a16:colId xmlns:a16="http://schemas.microsoft.com/office/drawing/2014/main" val="1744324684"/>
                    </a:ext>
                  </a:extLst>
                </a:gridCol>
                <a:gridCol w="7053943">
                  <a:extLst>
                    <a:ext uri="{9D8B030D-6E8A-4147-A177-3AD203B41FA5}">
                      <a16:colId xmlns:a16="http://schemas.microsoft.com/office/drawing/2014/main" val="2845242359"/>
                    </a:ext>
                  </a:extLst>
                </a:gridCol>
              </a:tblGrid>
              <a:tr h="571583">
                <a:tc>
                  <a:txBody>
                    <a:bodyPr/>
                    <a:lstStyle/>
                    <a:p>
                      <a:pPr>
                        <a:buNone/>
                      </a:pPr>
                      <a:r>
                        <a:rPr lang="en-US" sz="2400" b="1" dirty="0"/>
                        <a:t>Component</a:t>
                      </a:r>
                    </a:p>
                  </a:txBody>
                  <a:tcPr anchor="ctr">
                    <a:solidFill>
                      <a:schemeClr val="accent3">
                        <a:lumMod val="20000"/>
                        <a:lumOff val="80000"/>
                      </a:schemeClr>
                    </a:solidFill>
                  </a:tcPr>
                </a:tc>
                <a:tc>
                  <a:txBody>
                    <a:bodyPr/>
                    <a:lstStyle/>
                    <a:p>
                      <a:pPr>
                        <a:buNone/>
                      </a:pPr>
                      <a:r>
                        <a:rPr lang="en-US" sz="2400" b="1" dirty="0"/>
                        <a:t>Role</a:t>
                      </a:r>
                    </a:p>
                  </a:txBody>
                  <a:tcPr anchor="ctr">
                    <a:solidFill>
                      <a:schemeClr val="accent3">
                        <a:lumMod val="20000"/>
                        <a:lumOff val="80000"/>
                      </a:schemeClr>
                    </a:solidFill>
                  </a:tcPr>
                </a:tc>
                <a:extLst>
                  <a:ext uri="{0D108BD9-81ED-4DB2-BD59-A6C34878D82A}">
                    <a16:rowId xmlns:a16="http://schemas.microsoft.com/office/drawing/2014/main" val="347584114"/>
                  </a:ext>
                </a:extLst>
              </a:tr>
              <a:tr h="571583">
                <a:tc>
                  <a:txBody>
                    <a:bodyPr/>
                    <a:lstStyle/>
                    <a:p>
                      <a:pPr>
                        <a:buNone/>
                      </a:pPr>
                      <a:r>
                        <a:rPr lang="en-US" sz="2400" b="1"/>
                        <a:t>Page</a:t>
                      </a:r>
                      <a:endParaRPr lang="en-US" sz="2400"/>
                    </a:p>
                  </a:txBody>
                  <a:tcPr anchor="ctr"/>
                </a:tc>
                <a:tc>
                  <a:txBody>
                    <a:bodyPr/>
                    <a:lstStyle/>
                    <a:p>
                      <a:pPr>
                        <a:buNone/>
                      </a:pPr>
                      <a:r>
                        <a:rPr lang="en-US" sz="2400"/>
                        <a:t>Represents a </a:t>
                      </a:r>
                      <a:r>
                        <a:rPr lang="en-US" sz="2400" b="1"/>
                        <a:t>specific route (web page)</a:t>
                      </a:r>
                      <a:endParaRPr lang="en-US" sz="2400"/>
                    </a:p>
                  </a:txBody>
                  <a:tcPr anchor="ctr"/>
                </a:tc>
                <a:extLst>
                  <a:ext uri="{0D108BD9-81ED-4DB2-BD59-A6C34878D82A}">
                    <a16:rowId xmlns:a16="http://schemas.microsoft.com/office/drawing/2014/main" val="345296599"/>
                  </a:ext>
                </a:extLst>
              </a:tr>
              <a:tr h="667491">
                <a:tc>
                  <a:txBody>
                    <a:bodyPr/>
                    <a:lstStyle/>
                    <a:p>
                      <a:pPr>
                        <a:buNone/>
                      </a:pPr>
                      <a:r>
                        <a:rPr lang="en-US" sz="2400" b="1"/>
                        <a:t>Layout</a:t>
                      </a:r>
                      <a:endParaRPr lang="en-US" sz="2400"/>
                    </a:p>
                  </a:txBody>
                  <a:tcPr anchor="ctr"/>
                </a:tc>
                <a:tc>
                  <a:txBody>
                    <a:bodyPr/>
                    <a:lstStyle/>
                    <a:p>
                      <a:pPr>
                        <a:buNone/>
                      </a:pPr>
                      <a:r>
                        <a:rPr lang="en-US" sz="2400" dirty="0"/>
                        <a:t>Defines a </a:t>
                      </a:r>
                      <a:r>
                        <a:rPr lang="en-US" sz="2400" b="1" dirty="0"/>
                        <a:t>shared UI structure</a:t>
                      </a:r>
                      <a:r>
                        <a:rPr lang="en-US" sz="2400" dirty="0"/>
                        <a:t> for multiple pages</a:t>
                      </a:r>
                    </a:p>
                  </a:txBody>
                  <a:tcPr anchor="ctr"/>
                </a:tc>
                <a:extLst>
                  <a:ext uri="{0D108BD9-81ED-4DB2-BD59-A6C34878D82A}">
                    <a16:rowId xmlns:a16="http://schemas.microsoft.com/office/drawing/2014/main" val="1815575703"/>
                  </a:ext>
                </a:extLst>
              </a:tr>
            </a:tbl>
          </a:graphicData>
        </a:graphic>
      </p:graphicFrame>
    </p:spTree>
    <p:extLst>
      <p:ext uri="{BB962C8B-B14F-4D97-AF65-F5344CB8AC3E}">
        <p14:creationId xmlns:p14="http://schemas.microsoft.com/office/powerpoint/2010/main" val="10877246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7BE70-2D58-520A-547F-830A7B3A9B49}"/>
              </a:ext>
            </a:extLst>
          </p:cNvPr>
          <p:cNvSpPr>
            <a:spLocks noGrp="1"/>
          </p:cNvSpPr>
          <p:nvPr>
            <p:ph type="title"/>
          </p:nvPr>
        </p:nvSpPr>
        <p:spPr/>
        <p:txBody>
          <a:bodyPr/>
          <a:lstStyle/>
          <a:p>
            <a:r>
              <a:rPr lang="en-US" dirty="0"/>
              <a:t>Pages in Next.js</a:t>
            </a:r>
          </a:p>
        </p:txBody>
      </p:sp>
      <p:sp>
        <p:nvSpPr>
          <p:cNvPr id="3" name="Content Placeholder 2">
            <a:extLst>
              <a:ext uri="{FF2B5EF4-FFF2-40B4-BE49-F238E27FC236}">
                <a16:creationId xmlns:a16="http://schemas.microsoft.com/office/drawing/2014/main" id="{5A48789E-C3DB-2BB5-93FE-3F76D74C8774}"/>
              </a:ext>
            </a:extLst>
          </p:cNvPr>
          <p:cNvSpPr>
            <a:spLocks noGrp="1"/>
          </p:cNvSpPr>
          <p:nvPr>
            <p:ph idx="1"/>
          </p:nvPr>
        </p:nvSpPr>
        <p:spPr/>
        <p:txBody>
          <a:bodyPr/>
          <a:lstStyle/>
          <a:p>
            <a:r>
              <a:rPr lang="en-US" b="1" dirty="0">
                <a:solidFill>
                  <a:srgbClr val="FF0000"/>
                </a:solidFill>
              </a:rPr>
              <a:t>A Page </a:t>
            </a:r>
            <a:r>
              <a:rPr lang="en-US" dirty="0"/>
              <a:t>is a </a:t>
            </a:r>
            <a:r>
              <a:rPr lang="en-US" b="1" dirty="0"/>
              <a:t>React component </a:t>
            </a:r>
            <a:r>
              <a:rPr lang="en-US" dirty="0"/>
              <a:t>defined in a file named: </a:t>
            </a:r>
          </a:p>
          <a:p>
            <a:pPr marL="0" indent="0" algn="ctr">
              <a:buNone/>
            </a:pPr>
            <a:r>
              <a:rPr lang="fr-FR" b="1" dirty="0">
                <a:solidFill>
                  <a:schemeClr val="accent5">
                    <a:lumMod val="75000"/>
                  </a:schemeClr>
                </a:solidFill>
              </a:rPr>
              <a:t>page</a:t>
            </a:r>
            <a:r>
              <a:rPr lang="fr-FR" b="1" dirty="0"/>
              <a:t>.</a:t>
            </a:r>
            <a:r>
              <a:rPr lang="fr-FR" b="1" dirty="0">
                <a:solidFill>
                  <a:schemeClr val="tx2">
                    <a:lumMod val="40000"/>
                    <a:lumOff val="60000"/>
                  </a:schemeClr>
                </a:solidFill>
              </a:rPr>
              <a:t>js</a:t>
            </a:r>
            <a:r>
              <a:rPr lang="fr-FR" b="1" dirty="0"/>
              <a:t> (or </a:t>
            </a:r>
            <a:r>
              <a:rPr lang="fr-FR" b="1" dirty="0" err="1">
                <a:solidFill>
                  <a:schemeClr val="accent3">
                    <a:lumMod val="60000"/>
                    <a:lumOff val="40000"/>
                  </a:schemeClr>
                </a:solidFill>
              </a:rPr>
              <a:t>page.tsx</a:t>
            </a:r>
            <a:r>
              <a:rPr lang="fr-FR" b="1" dirty="0"/>
              <a:t>)</a:t>
            </a:r>
          </a:p>
          <a:p>
            <a:r>
              <a:rPr lang="en-US" dirty="0"/>
              <a:t>Each </a:t>
            </a:r>
            <a:r>
              <a:rPr lang="en-US" b="1" dirty="0"/>
              <a:t>page.js </a:t>
            </a:r>
            <a:r>
              <a:rPr lang="en-US" dirty="0"/>
              <a:t>file automatically maps to a </a:t>
            </a:r>
            <a:r>
              <a:rPr lang="en-US" b="1" dirty="0"/>
              <a:t>URL route</a:t>
            </a:r>
            <a:r>
              <a:rPr lang="en-US" dirty="0"/>
              <a:t>.</a:t>
            </a:r>
          </a:p>
          <a:p>
            <a:r>
              <a:rPr lang="en-US" dirty="0"/>
              <a:t>Example: </a:t>
            </a:r>
          </a:p>
        </p:txBody>
      </p:sp>
      <p:graphicFrame>
        <p:nvGraphicFramePr>
          <p:cNvPr id="4" name="Table 3">
            <a:extLst>
              <a:ext uri="{FF2B5EF4-FFF2-40B4-BE49-F238E27FC236}">
                <a16:creationId xmlns:a16="http://schemas.microsoft.com/office/drawing/2014/main" id="{EB39F658-7B8D-1756-0644-198BE65E393C}"/>
              </a:ext>
            </a:extLst>
          </p:cNvPr>
          <p:cNvGraphicFramePr>
            <a:graphicFrameLocks noGrp="1"/>
          </p:cNvGraphicFramePr>
          <p:nvPr/>
        </p:nvGraphicFramePr>
        <p:xfrm>
          <a:off x="3190240" y="3595028"/>
          <a:ext cx="7904480" cy="2616381"/>
        </p:xfrm>
        <a:graphic>
          <a:graphicData uri="http://schemas.openxmlformats.org/drawingml/2006/table">
            <a:tbl>
              <a:tblPr>
                <a:tableStyleId>{5940675A-B579-460E-94D1-54222C63F5DA}</a:tableStyleId>
              </a:tblPr>
              <a:tblGrid>
                <a:gridCol w="4029166">
                  <a:extLst>
                    <a:ext uri="{9D8B030D-6E8A-4147-A177-3AD203B41FA5}">
                      <a16:colId xmlns:a16="http://schemas.microsoft.com/office/drawing/2014/main" val="2998886617"/>
                    </a:ext>
                  </a:extLst>
                </a:gridCol>
                <a:gridCol w="3875314">
                  <a:extLst>
                    <a:ext uri="{9D8B030D-6E8A-4147-A177-3AD203B41FA5}">
                      <a16:colId xmlns:a16="http://schemas.microsoft.com/office/drawing/2014/main" val="1553658057"/>
                    </a:ext>
                  </a:extLst>
                </a:gridCol>
              </a:tblGrid>
              <a:tr h="0">
                <a:tc>
                  <a:txBody>
                    <a:bodyPr/>
                    <a:lstStyle/>
                    <a:p>
                      <a:pPr>
                        <a:buNone/>
                      </a:pPr>
                      <a:r>
                        <a:rPr lang="en-US" sz="2800" b="1" dirty="0"/>
                        <a:t>File</a:t>
                      </a:r>
                    </a:p>
                  </a:txBody>
                  <a:tcPr anchor="ctr">
                    <a:solidFill>
                      <a:schemeClr val="accent3">
                        <a:lumMod val="20000"/>
                        <a:lumOff val="80000"/>
                      </a:schemeClr>
                    </a:solidFill>
                  </a:tcPr>
                </a:tc>
                <a:tc>
                  <a:txBody>
                    <a:bodyPr/>
                    <a:lstStyle/>
                    <a:p>
                      <a:pPr>
                        <a:buNone/>
                      </a:pPr>
                      <a:r>
                        <a:rPr lang="en-US" sz="2800" b="1" dirty="0"/>
                        <a:t>URL</a:t>
                      </a:r>
                    </a:p>
                  </a:txBody>
                  <a:tcPr anchor="ctr">
                    <a:solidFill>
                      <a:schemeClr val="accent3">
                        <a:lumMod val="20000"/>
                        <a:lumOff val="80000"/>
                      </a:schemeClr>
                    </a:solidFill>
                  </a:tcPr>
                </a:tc>
                <a:extLst>
                  <a:ext uri="{0D108BD9-81ED-4DB2-BD59-A6C34878D82A}">
                    <a16:rowId xmlns:a16="http://schemas.microsoft.com/office/drawing/2014/main" val="2146328147"/>
                  </a:ext>
                </a:extLst>
              </a:tr>
              <a:tr h="699407">
                <a:tc>
                  <a:txBody>
                    <a:bodyPr/>
                    <a:lstStyle/>
                    <a:p>
                      <a:pPr>
                        <a:buNone/>
                      </a:pPr>
                      <a:r>
                        <a:rPr lang="en-US" sz="2800"/>
                        <a:t>app/page.js</a:t>
                      </a:r>
                    </a:p>
                  </a:txBody>
                  <a:tcPr anchor="ctr"/>
                </a:tc>
                <a:tc>
                  <a:txBody>
                    <a:bodyPr/>
                    <a:lstStyle/>
                    <a:p>
                      <a:pPr>
                        <a:buNone/>
                      </a:pPr>
                      <a:r>
                        <a:rPr lang="en-US" sz="2800"/>
                        <a:t>/</a:t>
                      </a:r>
                    </a:p>
                  </a:txBody>
                  <a:tcPr anchor="ctr"/>
                </a:tc>
                <a:extLst>
                  <a:ext uri="{0D108BD9-81ED-4DB2-BD59-A6C34878D82A}">
                    <a16:rowId xmlns:a16="http://schemas.microsoft.com/office/drawing/2014/main" val="3757835864"/>
                  </a:ext>
                </a:extLst>
              </a:tr>
              <a:tr h="699407">
                <a:tc>
                  <a:txBody>
                    <a:bodyPr/>
                    <a:lstStyle/>
                    <a:p>
                      <a:pPr>
                        <a:buNone/>
                      </a:pPr>
                      <a:r>
                        <a:rPr lang="en-US" sz="2800" dirty="0"/>
                        <a:t>app/about/page.js</a:t>
                      </a:r>
                    </a:p>
                  </a:txBody>
                  <a:tcPr anchor="ctr"/>
                </a:tc>
                <a:tc>
                  <a:txBody>
                    <a:bodyPr/>
                    <a:lstStyle/>
                    <a:p>
                      <a:pPr>
                        <a:buNone/>
                      </a:pPr>
                      <a:r>
                        <a:rPr lang="en-US" sz="2800"/>
                        <a:t>/about</a:t>
                      </a:r>
                    </a:p>
                  </a:txBody>
                  <a:tcPr anchor="ctr"/>
                </a:tc>
                <a:extLst>
                  <a:ext uri="{0D108BD9-81ED-4DB2-BD59-A6C34878D82A}">
                    <a16:rowId xmlns:a16="http://schemas.microsoft.com/office/drawing/2014/main" val="2468055394"/>
                  </a:ext>
                </a:extLst>
              </a:tr>
              <a:tr h="699407">
                <a:tc>
                  <a:txBody>
                    <a:bodyPr/>
                    <a:lstStyle/>
                    <a:p>
                      <a:pPr>
                        <a:buNone/>
                      </a:pPr>
                      <a:r>
                        <a:rPr lang="en-US" sz="2800"/>
                        <a:t>app/blog/page.js</a:t>
                      </a:r>
                    </a:p>
                  </a:txBody>
                  <a:tcPr anchor="ctr"/>
                </a:tc>
                <a:tc>
                  <a:txBody>
                    <a:bodyPr/>
                    <a:lstStyle/>
                    <a:p>
                      <a:pPr>
                        <a:buNone/>
                      </a:pPr>
                      <a:r>
                        <a:rPr lang="en-US" sz="2800" dirty="0"/>
                        <a:t>/blog</a:t>
                      </a:r>
                    </a:p>
                  </a:txBody>
                  <a:tcPr anchor="ctr"/>
                </a:tc>
                <a:extLst>
                  <a:ext uri="{0D108BD9-81ED-4DB2-BD59-A6C34878D82A}">
                    <a16:rowId xmlns:a16="http://schemas.microsoft.com/office/drawing/2014/main" val="1227559490"/>
                  </a:ext>
                </a:extLst>
              </a:tr>
            </a:tbl>
          </a:graphicData>
        </a:graphic>
      </p:graphicFrame>
    </p:spTree>
    <p:extLst>
      <p:ext uri="{BB962C8B-B14F-4D97-AF65-F5344CB8AC3E}">
        <p14:creationId xmlns:p14="http://schemas.microsoft.com/office/powerpoint/2010/main" val="952721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133BA-00E4-DD10-DB7F-9B7367FF8FD4}"/>
              </a:ext>
            </a:extLst>
          </p:cNvPr>
          <p:cNvSpPr>
            <a:spLocks noGrp="1"/>
          </p:cNvSpPr>
          <p:nvPr>
            <p:ph type="title"/>
          </p:nvPr>
        </p:nvSpPr>
        <p:spPr/>
        <p:txBody>
          <a:bodyPr/>
          <a:lstStyle/>
          <a:p>
            <a:r>
              <a:rPr lang="en-US" dirty="0"/>
              <a:t>Pages in Next.js</a:t>
            </a:r>
          </a:p>
        </p:txBody>
      </p:sp>
      <p:sp>
        <p:nvSpPr>
          <p:cNvPr id="3" name="Content Placeholder 2">
            <a:extLst>
              <a:ext uri="{FF2B5EF4-FFF2-40B4-BE49-F238E27FC236}">
                <a16:creationId xmlns:a16="http://schemas.microsoft.com/office/drawing/2014/main" id="{185BB832-2760-DA9A-2F32-CD093BA68CEF}"/>
              </a:ext>
            </a:extLst>
          </p:cNvPr>
          <p:cNvSpPr>
            <a:spLocks noGrp="1"/>
          </p:cNvSpPr>
          <p:nvPr>
            <p:ph idx="1"/>
          </p:nvPr>
        </p:nvSpPr>
        <p:spPr/>
        <p:txBody>
          <a:bodyPr/>
          <a:lstStyle/>
          <a:p>
            <a:r>
              <a:rPr lang="en-US" b="1" dirty="0">
                <a:solidFill>
                  <a:srgbClr val="FF0000"/>
                </a:solidFill>
              </a:rPr>
              <a:t>Creating a page: </a:t>
            </a:r>
            <a:r>
              <a:rPr lang="en-US" dirty="0"/>
              <a:t>To create a page, add a </a:t>
            </a:r>
            <a:r>
              <a:rPr lang="en-US" b="1" dirty="0"/>
              <a:t>page</a:t>
            </a:r>
            <a:r>
              <a:rPr lang="en-US" dirty="0"/>
              <a:t> file inside the </a:t>
            </a:r>
            <a:r>
              <a:rPr lang="en-US" b="1" dirty="0"/>
              <a:t>app</a:t>
            </a:r>
            <a:r>
              <a:rPr lang="en-US" dirty="0"/>
              <a:t> directory and default export a React component. </a:t>
            </a:r>
          </a:p>
          <a:p>
            <a:r>
              <a:rPr lang="en-US" dirty="0"/>
              <a:t>For example, to create an index page (/):</a:t>
            </a:r>
          </a:p>
          <a:p>
            <a:endParaRPr lang="en-US" dirty="0"/>
          </a:p>
        </p:txBody>
      </p:sp>
      <p:pic>
        <p:nvPicPr>
          <p:cNvPr id="7" name="Picture 6">
            <a:extLst>
              <a:ext uri="{FF2B5EF4-FFF2-40B4-BE49-F238E27FC236}">
                <a16:creationId xmlns:a16="http://schemas.microsoft.com/office/drawing/2014/main" id="{D4E503E8-3398-E65A-CAAF-29C815915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8340" y="4031386"/>
            <a:ext cx="6292517" cy="1360939"/>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23A6A53D-0F44-A4EB-B4F6-A4DF7654AC24}"/>
              </a:ext>
            </a:extLst>
          </p:cNvPr>
          <p:cNvSpPr txBox="1"/>
          <p:nvPr/>
        </p:nvSpPr>
        <p:spPr>
          <a:xfrm>
            <a:off x="1320800" y="3209769"/>
            <a:ext cx="6096000" cy="523220"/>
          </a:xfrm>
          <a:prstGeom prst="rect">
            <a:avLst/>
          </a:prstGeom>
          <a:noFill/>
        </p:spPr>
        <p:txBody>
          <a:bodyPr wrap="square">
            <a:spAutoFit/>
          </a:bodyPr>
          <a:lstStyle/>
          <a:p>
            <a:r>
              <a:rPr lang="en-US" sz="2800" b="1" i="0" dirty="0">
                <a:solidFill>
                  <a:srgbClr val="666666"/>
                </a:solidFill>
                <a:effectLst/>
                <a:latin typeface="Geist"/>
              </a:rPr>
              <a:t>app/</a:t>
            </a:r>
            <a:r>
              <a:rPr lang="en-US" sz="2800" b="1" i="0" dirty="0" err="1">
                <a:solidFill>
                  <a:srgbClr val="666666"/>
                </a:solidFill>
                <a:effectLst/>
                <a:latin typeface="Geist"/>
              </a:rPr>
              <a:t>page.tsx</a:t>
            </a:r>
            <a:r>
              <a:rPr lang="en-US" sz="2800" b="1" i="0" dirty="0">
                <a:solidFill>
                  <a:srgbClr val="666666"/>
                </a:solidFill>
                <a:effectLst/>
                <a:latin typeface="Geist"/>
              </a:rPr>
              <a:t> </a:t>
            </a:r>
            <a:r>
              <a:rPr lang="en-US" sz="2800" b="0" i="0" dirty="0">
                <a:solidFill>
                  <a:srgbClr val="666666"/>
                </a:solidFill>
                <a:effectLst/>
                <a:latin typeface="Geist"/>
              </a:rPr>
              <a:t>(TypeScript)</a:t>
            </a:r>
            <a:endParaRPr lang="en-US" sz="2800" dirty="0"/>
          </a:p>
        </p:txBody>
      </p:sp>
    </p:spTree>
    <p:extLst>
      <p:ext uri="{BB962C8B-B14F-4D97-AF65-F5344CB8AC3E}">
        <p14:creationId xmlns:p14="http://schemas.microsoft.com/office/powerpoint/2010/main" val="7122426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5061-125F-2D7E-23BA-99E14A4770B2}"/>
              </a:ext>
            </a:extLst>
          </p:cNvPr>
          <p:cNvSpPr>
            <a:spLocks noGrp="1"/>
          </p:cNvSpPr>
          <p:nvPr>
            <p:ph type="title"/>
          </p:nvPr>
        </p:nvSpPr>
        <p:spPr/>
        <p:txBody>
          <a:bodyPr/>
          <a:lstStyle/>
          <a:p>
            <a:r>
              <a:rPr lang="en-US" dirty="0"/>
              <a:t>Pages in Next.js</a:t>
            </a:r>
          </a:p>
        </p:txBody>
      </p:sp>
      <p:sp>
        <p:nvSpPr>
          <p:cNvPr id="3" name="Content Placeholder 2">
            <a:extLst>
              <a:ext uri="{FF2B5EF4-FFF2-40B4-BE49-F238E27FC236}">
                <a16:creationId xmlns:a16="http://schemas.microsoft.com/office/drawing/2014/main" id="{7A7CB5AD-5E10-5840-F74A-1A6E46C59667}"/>
              </a:ext>
            </a:extLst>
          </p:cNvPr>
          <p:cNvSpPr>
            <a:spLocks noGrp="1"/>
          </p:cNvSpPr>
          <p:nvPr>
            <p:ph idx="1"/>
          </p:nvPr>
        </p:nvSpPr>
        <p:spPr/>
        <p:txBody>
          <a:bodyPr>
            <a:normAutofit/>
          </a:bodyPr>
          <a:lstStyle/>
          <a:p>
            <a:r>
              <a:rPr lang="en-US" b="1" dirty="0">
                <a:solidFill>
                  <a:srgbClr val="FF0000"/>
                </a:solidFill>
              </a:rPr>
              <a:t>Creating a layout</a:t>
            </a:r>
          </a:p>
          <a:p>
            <a:pPr lvl="1"/>
            <a:r>
              <a:rPr lang="en-US" dirty="0"/>
              <a:t>A layout is UI that is </a:t>
            </a:r>
            <a:r>
              <a:rPr lang="en-US" b="1" dirty="0"/>
              <a:t>shared</a:t>
            </a:r>
            <a:r>
              <a:rPr lang="en-US" dirty="0"/>
              <a:t> between multiple pages. On navigation, layouts preserve state, remain interactive, and do not re-render.</a:t>
            </a:r>
          </a:p>
          <a:p>
            <a:pPr lvl="1"/>
            <a:r>
              <a:rPr lang="en-US" dirty="0"/>
              <a:t>You can define a layout by default exporting a React component from a layout file. </a:t>
            </a:r>
          </a:p>
          <a:p>
            <a:pPr lvl="1"/>
            <a:r>
              <a:rPr lang="en-US" dirty="0"/>
              <a:t>The component should accept a children prop which can be a page or another layout.</a:t>
            </a:r>
          </a:p>
          <a:p>
            <a:pPr lvl="1"/>
            <a:r>
              <a:rPr lang="en-US" dirty="0"/>
              <a:t>The </a:t>
            </a:r>
            <a:r>
              <a:rPr lang="en-US" b="1" dirty="0"/>
              <a:t>layout.js </a:t>
            </a:r>
            <a:r>
              <a:rPr lang="en-US" dirty="0"/>
              <a:t>File: Each folder can have its </a:t>
            </a:r>
            <a:r>
              <a:rPr lang="en-US" b="1" dirty="0"/>
              <a:t>own layout</a:t>
            </a:r>
            <a:r>
              <a:rPr lang="en-US" dirty="0"/>
              <a:t>.</a:t>
            </a:r>
          </a:p>
          <a:p>
            <a:pPr lvl="1"/>
            <a:r>
              <a:rPr lang="en-US" dirty="0"/>
              <a:t>The </a:t>
            </a:r>
            <a:r>
              <a:rPr lang="en-US" b="1" dirty="0"/>
              <a:t>Root Layout</a:t>
            </a:r>
            <a:r>
              <a:rPr lang="en-US" dirty="0"/>
              <a:t> is mandatory and located in the </a:t>
            </a:r>
            <a:r>
              <a:rPr lang="en-US" b="1" dirty="0"/>
              <a:t>app/</a:t>
            </a:r>
            <a:r>
              <a:rPr lang="en-US" dirty="0"/>
              <a:t> directory.</a:t>
            </a:r>
          </a:p>
          <a:p>
            <a:endParaRPr lang="en-US" dirty="0"/>
          </a:p>
        </p:txBody>
      </p:sp>
    </p:spTree>
    <p:extLst>
      <p:ext uri="{BB962C8B-B14F-4D97-AF65-F5344CB8AC3E}">
        <p14:creationId xmlns:p14="http://schemas.microsoft.com/office/powerpoint/2010/main" val="32305640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519BE-AC2A-E121-1FE1-F5D5006E4786}"/>
              </a:ext>
            </a:extLst>
          </p:cNvPr>
          <p:cNvSpPr>
            <a:spLocks noGrp="1"/>
          </p:cNvSpPr>
          <p:nvPr>
            <p:ph type="title"/>
          </p:nvPr>
        </p:nvSpPr>
        <p:spPr/>
        <p:txBody>
          <a:bodyPr/>
          <a:lstStyle/>
          <a:p>
            <a:r>
              <a:rPr lang="en-US" dirty="0"/>
              <a:t>Pages in Next.js</a:t>
            </a:r>
          </a:p>
        </p:txBody>
      </p:sp>
      <p:sp>
        <p:nvSpPr>
          <p:cNvPr id="3" name="Content Placeholder 2">
            <a:extLst>
              <a:ext uri="{FF2B5EF4-FFF2-40B4-BE49-F238E27FC236}">
                <a16:creationId xmlns:a16="http://schemas.microsoft.com/office/drawing/2014/main" id="{30DCAC18-B9CC-E2C9-8519-7079CB774107}"/>
              </a:ext>
            </a:extLst>
          </p:cNvPr>
          <p:cNvSpPr>
            <a:spLocks noGrp="1"/>
          </p:cNvSpPr>
          <p:nvPr>
            <p:ph idx="1"/>
          </p:nvPr>
        </p:nvSpPr>
        <p:spPr/>
        <p:txBody>
          <a:bodyPr/>
          <a:lstStyle/>
          <a:p>
            <a:r>
              <a:rPr lang="en-US" dirty="0"/>
              <a:t>For example, to create a layout that accepts your index page as child, add a layout file inside the </a:t>
            </a:r>
            <a:r>
              <a:rPr lang="en-US" b="1" dirty="0"/>
              <a:t>app</a:t>
            </a:r>
            <a:r>
              <a:rPr lang="en-US" dirty="0"/>
              <a:t> directory:</a:t>
            </a:r>
          </a:p>
          <a:p>
            <a:endParaRPr lang="en-US" dirty="0"/>
          </a:p>
        </p:txBody>
      </p:sp>
      <p:pic>
        <p:nvPicPr>
          <p:cNvPr id="5" name="Picture 4">
            <a:extLst>
              <a:ext uri="{FF2B5EF4-FFF2-40B4-BE49-F238E27FC236}">
                <a16:creationId xmlns:a16="http://schemas.microsoft.com/office/drawing/2014/main" id="{98828312-6901-3168-BCEC-6EE2ED56C0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937" y="3061190"/>
            <a:ext cx="7833086" cy="22145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45443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9D245-A760-581E-BC8F-095472A4A8F3}"/>
              </a:ext>
            </a:extLst>
          </p:cNvPr>
          <p:cNvSpPr>
            <a:spLocks noGrp="1"/>
          </p:cNvSpPr>
          <p:nvPr>
            <p:ph type="title"/>
          </p:nvPr>
        </p:nvSpPr>
        <p:spPr/>
        <p:txBody>
          <a:bodyPr/>
          <a:lstStyle/>
          <a:p>
            <a:r>
              <a:rPr lang="en-US" dirty="0"/>
              <a:t>Pages in Next.js</a:t>
            </a:r>
          </a:p>
        </p:txBody>
      </p:sp>
      <p:pic>
        <p:nvPicPr>
          <p:cNvPr id="5" name="Content Placeholder 4">
            <a:extLst>
              <a:ext uri="{FF2B5EF4-FFF2-40B4-BE49-F238E27FC236}">
                <a16:creationId xmlns:a16="http://schemas.microsoft.com/office/drawing/2014/main" id="{56FAABA0-F20C-5BB9-D2E1-38C9D797243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51144" y="1724478"/>
            <a:ext cx="9089712" cy="42934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917838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CAF99-6A6A-99C1-4094-211773EF2E06}"/>
              </a:ext>
            </a:extLst>
          </p:cNvPr>
          <p:cNvSpPr>
            <a:spLocks noGrp="1"/>
          </p:cNvSpPr>
          <p:nvPr>
            <p:ph type="title"/>
          </p:nvPr>
        </p:nvSpPr>
        <p:spPr/>
        <p:txBody>
          <a:bodyPr>
            <a:normAutofit/>
          </a:bodyPr>
          <a:lstStyle/>
          <a:p>
            <a:r>
              <a:rPr lang="en-US" dirty="0"/>
              <a:t>Creating a nested route</a:t>
            </a:r>
          </a:p>
        </p:txBody>
      </p:sp>
      <p:sp>
        <p:nvSpPr>
          <p:cNvPr id="3" name="Content Placeholder 2">
            <a:extLst>
              <a:ext uri="{FF2B5EF4-FFF2-40B4-BE49-F238E27FC236}">
                <a16:creationId xmlns:a16="http://schemas.microsoft.com/office/drawing/2014/main" id="{80278267-730B-0BC5-7AC2-2DD2333D8FD0}"/>
              </a:ext>
            </a:extLst>
          </p:cNvPr>
          <p:cNvSpPr>
            <a:spLocks noGrp="1"/>
          </p:cNvSpPr>
          <p:nvPr>
            <p:ph idx="1"/>
          </p:nvPr>
        </p:nvSpPr>
        <p:spPr>
          <a:xfrm>
            <a:off x="1097280" y="1582219"/>
            <a:ext cx="10470606" cy="4571837"/>
          </a:xfrm>
        </p:spPr>
        <p:txBody>
          <a:bodyPr>
            <a:normAutofit lnSpcReduction="10000"/>
          </a:bodyPr>
          <a:lstStyle/>
          <a:p>
            <a:r>
              <a:rPr lang="en-US" b="1" dirty="0">
                <a:solidFill>
                  <a:srgbClr val="FF0000"/>
                </a:solidFill>
              </a:rPr>
              <a:t>A nested route </a:t>
            </a:r>
            <a:r>
              <a:rPr lang="en-US" dirty="0"/>
              <a:t>is a route composed of multiple URL segments. For example, the /blog/[slug] route is composed of three segments:</a:t>
            </a:r>
          </a:p>
          <a:p>
            <a:pPr lvl="1"/>
            <a:r>
              <a:rPr lang="en-US" dirty="0"/>
              <a:t>/ (Root Segment)</a:t>
            </a:r>
          </a:p>
          <a:p>
            <a:pPr lvl="1"/>
            <a:r>
              <a:rPr lang="en-US" dirty="0"/>
              <a:t>blog (Segment)</a:t>
            </a:r>
          </a:p>
          <a:p>
            <a:pPr lvl="1"/>
            <a:r>
              <a:rPr lang="en-US" dirty="0"/>
              <a:t>[slug] (Leaf Segment)</a:t>
            </a:r>
          </a:p>
          <a:p>
            <a:r>
              <a:rPr lang="en-US" b="1" dirty="0"/>
              <a:t>In Next.js:</a:t>
            </a:r>
          </a:p>
          <a:p>
            <a:pPr lvl="1"/>
            <a:r>
              <a:rPr lang="en-US" b="1" dirty="0"/>
              <a:t>Folders</a:t>
            </a:r>
            <a:r>
              <a:rPr lang="en-US" dirty="0"/>
              <a:t> are used to define the route segments that map to URL segments.</a:t>
            </a:r>
          </a:p>
          <a:p>
            <a:pPr lvl="1"/>
            <a:r>
              <a:rPr lang="en-US" b="1" dirty="0"/>
              <a:t>Files</a:t>
            </a:r>
            <a:r>
              <a:rPr lang="en-US" dirty="0"/>
              <a:t> (like page and layout) are used to create UI that is shown for a segment.</a:t>
            </a:r>
          </a:p>
          <a:p>
            <a:endParaRPr lang="en-US" dirty="0"/>
          </a:p>
        </p:txBody>
      </p:sp>
    </p:spTree>
    <p:extLst>
      <p:ext uri="{BB962C8B-B14F-4D97-AF65-F5344CB8AC3E}">
        <p14:creationId xmlns:p14="http://schemas.microsoft.com/office/powerpoint/2010/main" val="42357677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76176-13D2-F249-6BB2-618185B3527F}"/>
              </a:ext>
            </a:extLst>
          </p:cNvPr>
          <p:cNvSpPr>
            <a:spLocks noGrp="1"/>
          </p:cNvSpPr>
          <p:nvPr>
            <p:ph type="title"/>
          </p:nvPr>
        </p:nvSpPr>
        <p:spPr/>
        <p:txBody>
          <a:bodyPr/>
          <a:lstStyle/>
          <a:p>
            <a:r>
              <a:rPr lang="en-US" dirty="0"/>
              <a:t>Creating a nested route</a:t>
            </a:r>
          </a:p>
        </p:txBody>
      </p:sp>
      <p:sp>
        <p:nvSpPr>
          <p:cNvPr id="3" name="Content Placeholder 2">
            <a:extLst>
              <a:ext uri="{FF2B5EF4-FFF2-40B4-BE49-F238E27FC236}">
                <a16:creationId xmlns:a16="http://schemas.microsoft.com/office/drawing/2014/main" id="{9A0D9A87-3374-DA78-3E3C-50C6FC1F5054}"/>
              </a:ext>
            </a:extLst>
          </p:cNvPr>
          <p:cNvSpPr>
            <a:spLocks noGrp="1"/>
          </p:cNvSpPr>
          <p:nvPr>
            <p:ph idx="1"/>
          </p:nvPr>
        </p:nvSpPr>
        <p:spPr/>
        <p:txBody>
          <a:bodyPr/>
          <a:lstStyle/>
          <a:p>
            <a:r>
              <a:rPr lang="en-US" b="1" dirty="0"/>
              <a:t>To create nested routes</a:t>
            </a:r>
            <a:r>
              <a:rPr lang="en-US" dirty="0"/>
              <a:t>, you can nest folders inside each other.</a:t>
            </a:r>
          </a:p>
          <a:p>
            <a:r>
              <a:rPr lang="en-US" dirty="0"/>
              <a:t> Example: </a:t>
            </a:r>
          </a:p>
          <a:p>
            <a:pPr lvl="1"/>
            <a:r>
              <a:rPr lang="en-US" sz="2800" dirty="0"/>
              <a:t>To add a route for</a:t>
            </a:r>
            <a:r>
              <a:rPr lang="en-US" sz="2800" b="1" dirty="0"/>
              <a:t> /blog</a:t>
            </a:r>
            <a:r>
              <a:rPr lang="en-US" sz="2800" dirty="0"/>
              <a:t>, we create a folder called </a:t>
            </a:r>
            <a:r>
              <a:rPr lang="en-US" sz="2800" b="1" dirty="0"/>
              <a:t>blog</a:t>
            </a:r>
            <a:r>
              <a:rPr lang="en-US" sz="2800" dirty="0"/>
              <a:t> in the </a:t>
            </a:r>
            <a:r>
              <a:rPr lang="en-US" sz="2800" b="1" dirty="0"/>
              <a:t>app</a:t>
            </a:r>
            <a:r>
              <a:rPr lang="en-US" sz="2800" dirty="0"/>
              <a:t> directory. </a:t>
            </a:r>
          </a:p>
          <a:p>
            <a:pPr lvl="1"/>
            <a:r>
              <a:rPr lang="en-US" sz="2800" dirty="0"/>
              <a:t>Then, to make</a:t>
            </a:r>
            <a:r>
              <a:rPr lang="en-US" sz="2800" b="1" dirty="0"/>
              <a:t> /blog </a:t>
            </a:r>
            <a:r>
              <a:rPr lang="en-US" sz="2800" dirty="0"/>
              <a:t>publicly accessible, add a</a:t>
            </a:r>
            <a:r>
              <a:rPr lang="en-US" sz="2800" b="1" dirty="0"/>
              <a:t> </a:t>
            </a:r>
            <a:r>
              <a:rPr lang="en-US" sz="2800" b="1" dirty="0" err="1"/>
              <a:t>page.tsx</a:t>
            </a:r>
            <a:r>
              <a:rPr lang="en-US" sz="2800" b="1" dirty="0"/>
              <a:t> </a:t>
            </a:r>
            <a:r>
              <a:rPr lang="en-US" sz="2800" dirty="0"/>
              <a:t>file:</a:t>
            </a:r>
            <a:br>
              <a:rPr lang="en-US" dirty="0"/>
            </a:br>
            <a:endParaRPr lang="en-US" dirty="0"/>
          </a:p>
        </p:txBody>
      </p:sp>
    </p:spTree>
    <p:extLst>
      <p:ext uri="{BB962C8B-B14F-4D97-AF65-F5344CB8AC3E}">
        <p14:creationId xmlns:p14="http://schemas.microsoft.com/office/powerpoint/2010/main" val="11609593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C062-BC2E-27AA-C021-CB6A0278456C}"/>
              </a:ext>
            </a:extLst>
          </p:cNvPr>
          <p:cNvSpPr>
            <a:spLocks noGrp="1"/>
          </p:cNvSpPr>
          <p:nvPr>
            <p:ph type="title"/>
          </p:nvPr>
        </p:nvSpPr>
        <p:spPr/>
        <p:txBody>
          <a:bodyPr/>
          <a:lstStyle/>
          <a:p>
            <a:r>
              <a:rPr lang="en-US" dirty="0"/>
              <a:t>Creating a nested route</a:t>
            </a:r>
          </a:p>
        </p:txBody>
      </p:sp>
      <p:pic>
        <p:nvPicPr>
          <p:cNvPr id="5" name="Content Placeholder 4">
            <a:extLst>
              <a:ext uri="{FF2B5EF4-FFF2-40B4-BE49-F238E27FC236}">
                <a16:creationId xmlns:a16="http://schemas.microsoft.com/office/drawing/2014/main" id="{CF13093C-90C3-D5C4-C97A-55DEDE3694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2000" y="1918731"/>
            <a:ext cx="8214294" cy="36257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828784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E7E63-C93E-9BD2-6F8F-8A4D745E8AC0}"/>
              </a:ext>
            </a:extLst>
          </p:cNvPr>
          <p:cNvSpPr>
            <a:spLocks noGrp="1"/>
          </p:cNvSpPr>
          <p:nvPr>
            <p:ph type="title"/>
          </p:nvPr>
        </p:nvSpPr>
        <p:spPr/>
        <p:txBody>
          <a:bodyPr/>
          <a:lstStyle/>
          <a:p>
            <a:r>
              <a:rPr lang="en-US" dirty="0"/>
              <a:t>Creating a nested route</a:t>
            </a:r>
          </a:p>
        </p:txBody>
      </p:sp>
      <p:pic>
        <p:nvPicPr>
          <p:cNvPr id="5" name="Content Placeholder 4">
            <a:extLst>
              <a:ext uri="{FF2B5EF4-FFF2-40B4-BE49-F238E27FC236}">
                <a16:creationId xmlns:a16="http://schemas.microsoft.com/office/drawing/2014/main" id="{C14D43ED-98E2-0934-42FB-3073F15407A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50318" y="1624076"/>
            <a:ext cx="5185681" cy="45463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825135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52D61-8182-6A7E-E11C-CF4EDC006D8F}"/>
              </a:ext>
            </a:extLst>
          </p:cNvPr>
          <p:cNvSpPr>
            <a:spLocks noGrp="1"/>
          </p:cNvSpPr>
          <p:nvPr>
            <p:ph type="title"/>
          </p:nvPr>
        </p:nvSpPr>
        <p:spPr/>
        <p:txBody>
          <a:bodyPr>
            <a:normAutofit/>
          </a:bodyPr>
          <a:lstStyle/>
          <a:p>
            <a:r>
              <a:rPr lang="en-US" dirty="0"/>
              <a:t>Nesting layouts</a:t>
            </a:r>
          </a:p>
        </p:txBody>
      </p:sp>
      <p:sp>
        <p:nvSpPr>
          <p:cNvPr id="3" name="Content Placeholder 2">
            <a:extLst>
              <a:ext uri="{FF2B5EF4-FFF2-40B4-BE49-F238E27FC236}">
                <a16:creationId xmlns:a16="http://schemas.microsoft.com/office/drawing/2014/main" id="{22DF8DD9-66B1-79F1-1A05-B76143C3C18F}"/>
              </a:ext>
            </a:extLst>
          </p:cNvPr>
          <p:cNvSpPr>
            <a:spLocks noGrp="1"/>
          </p:cNvSpPr>
          <p:nvPr>
            <p:ph idx="1"/>
          </p:nvPr>
        </p:nvSpPr>
        <p:spPr/>
        <p:txBody>
          <a:bodyPr/>
          <a:lstStyle/>
          <a:p>
            <a:r>
              <a:rPr lang="en-US" b="1" dirty="0"/>
              <a:t>Layouts</a:t>
            </a:r>
            <a:r>
              <a:rPr lang="en-US" dirty="0"/>
              <a:t> in the folder hierarchy are also nested, which means they wrap child layouts via their </a:t>
            </a:r>
            <a:r>
              <a:rPr lang="en-US" b="1" dirty="0"/>
              <a:t>children</a:t>
            </a:r>
            <a:r>
              <a:rPr lang="en-US" dirty="0"/>
              <a:t> prop.</a:t>
            </a:r>
          </a:p>
          <a:p>
            <a:r>
              <a:rPr lang="en-US" dirty="0"/>
              <a:t>Example: to create a layout for the /blog route, add a new layout file inside the blog folder.</a:t>
            </a:r>
          </a:p>
          <a:p>
            <a:endParaRPr lang="en-US" dirty="0"/>
          </a:p>
        </p:txBody>
      </p:sp>
      <p:pic>
        <p:nvPicPr>
          <p:cNvPr id="5" name="Picture 4">
            <a:extLst>
              <a:ext uri="{FF2B5EF4-FFF2-40B4-BE49-F238E27FC236}">
                <a16:creationId xmlns:a16="http://schemas.microsoft.com/office/drawing/2014/main" id="{5E4639A2-00C1-2B00-187E-7F4D344CD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7184" y="3528298"/>
            <a:ext cx="6157990" cy="27586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75276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0308-2928-AFF0-7D1F-8FD6C608823E}"/>
              </a:ext>
            </a:extLst>
          </p:cNvPr>
          <p:cNvSpPr>
            <a:spLocks noGrp="1"/>
          </p:cNvSpPr>
          <p:nvPr>
            <p:ph type="title"/>
          </p:nvPr>
        </p:nvSpPr>
        <p:spPr/>
        <p:txBody>
          <a:bodyPr/>
          <a:lstStyle/>
          <a:p>
            <a:r>
              <a:rPr lang="en-US" dirty="0"/>
              <a:t>Nesting layouts</a:t>
            </a:r>
          </a:p>
        </p:txBody>
      </p:sp>
      <p:pic>
        <p:nvPicPr>
          <p:cNvPr id="5" name="Content Placeholder 4">
            <a:extLst>
              <a:ext uri="{FF2B5EF4-FFF2-40B4-BE49-F238E27FC236}">
                <a16:creationId xmlns:a16="http://schemas.microsoft.com/office/drawing/2014/main" id="{344993DA-D8B1-6C86-924D-DAB5D4344F9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6375" y="1636195"/>
            <a:ext cx="7359249" cy="45474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70657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C37E-0541-EFE3-6FAC-D294631B0786}"/>
              </a:ext>
            </a:extLst>
          </p:cNvPr>
          <p:cNvSpPr>
            <a:spLocks noGrp="1"/>
          </p:cNvSpPr>
          <p:nvPr>
            <p:ph type="title"/>
          </p:nvPr>
        </p:nvSpPr>
        <p:spPr/>
        <p:txBody>
          <a:bodyPr>
            <a:normAutofit/>
          </a:bodyPr>
          <a:lstStyle/>
          <a:p>
            <a:r>
              <a:rPr lang="en-US" dirty="0"/>
              <a:t>Creating a dynamic segment</a:t>
            </a:r>
          </a:p>
        </p:txBody>
      </p:sp>
      <p:sp>
        <p:nvSpPr>
          <p:cNvPr id="3" name="Content Placeholder 2">
            <a:extLst>
              <a:ext uri="{FF2B5EF4-FFF2-40B4-BE49-F238E27FC236}">
                <a16:creationId xmlns:a16="http://schemas.microsoft.com/office/drawing/2014/main" id="{467B3E65-B5F8-31B8-5A53-FAFFFBF86EE5}"/>
              </a:ext>
            </a:extLst>
          </p:cNvPr>
          <p:cNvSpPr>
            <a:spLocks noGrp="1"/>
          </p:cNvSpPr>
          <p:nvPr>
            <p:ph idx="1"/>
          </p:nvPr>
        </p:nvSpPr>
        <p:spPr/>
        <p:txBody>
          <a:bodyPr>
            <a:normAutofit/>
          </a:bodyPr>
          <a:lstStyle/>
          <a:p>
            <a:r>
              <a:rPr lang="en-US" b="1" dirty="0">
                <a:solidFill>
                  <a:srgbClr val="FF0000"/>
                </a:solidFill>
              </a:rPr>
              <a:t>Dynamic segments </a:t>
            </a:r>
            <a:r>
              <a:rPr lang="en-US" dirty="0"/>
              <a:t>allow you to create routes that are generated from data. </a:t>
            </a:r>
          </a:p>
          <a:p>
            <a:r>
              <a:rPr lang="en-US" dirty="0"/>
              <a:t>To create a dynamic segment, wrap the segment (folder) name in square brackets: </a:t>
            </a:r>
            <a:r>
              <a:rPr lang="en-US" b="1" dirty="0"/>
              <a:t>[</a:t>
            </a:r>
            <a:r>
              <a:rPr lang="en-US" b="1" dirty="0" err="1"/>
              <a:t>segmentName</a:t>
            </a:r>
            <a:r>
              <a:rPr lang="en-US" b="1" dirty="0"/>
              <a:t>]. </a:t>
            </a:r>
          </a:p>
          <a:p>
            <a:r>
              <a:rPr lang="en-US" dirty="0"/>
              <a:t>For example, in the app/blog/[slug]/</a:t>
            </a:r>
            <a:r>
              <a:rPr lang="en-US" dirty="0" err="1"/>
              <a:t>page.tsx</a:t>
            </a:r>
            <a:r>
              <a:rPr lang="en-US" dirty="0"/>
              <a:t> route, the [slug] is the dynamic segment.</a:t>
            </a:r>
          </a:p>
          <a:p>
            <a:endParaRPr lang="en-US" dirty="0"/>
          </a:p>
        </p:txBody>
      </p:sp>
    </p:spTree>
    <p:extLst>
      <p:ext uri="{BB962C8B-B14F-4D97-AF65-F5344CB8AC3E}">
        <p14:creationId xmlns:p14="http://schemas.microsoft.com/office/powerpoint/2010/main" val="32109391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091B3-8F4C-555D-7F31-D64DC086CC91}"/>
              </a:ext>
            </a:extLst>
          </p:cNvPr>
          <p:cNvSpPr>
            <a:spLocks noGrp="1"/>
          </p:cNvSpPr>
          <p:nvPr>
            <p:ph type="title"/>
          </p:nvPr>
        </p:nvSpPr>
        <p:spPr/>
        <p:txBody>
          <a:bodyPr/>
          <a:lstStyle/>
          <a:p>
            <a:r>
              <a:rPr lang="en-US" dirty="0"/>
              <a:t>Creating a dynamic segment</a:t>
            </a:r>
          </a:p>
        </p:txBody>
      </p:sp>
      <p:sp>
        <p:nvSpPr>
          <p:cNvPr id="3" name="Content Placeholder 2">
            <a:extLst>
              <a:ext uri="{FF2B5EF4-FFF2-40B4-BE49-F238E27FC236}">
                <a16:creationId xmlns:a16="http://schemas.microsoft.com/office/drawing/2014/main" id="{05DD0068-4418-86A7-A229-57ADC7D3E149}"/>
              </a:ext>
            </a:extLst>
          </p:cNvPr>
          <p:cNvSpPr>
            <a:spLocks noGrp="1"/>
          </p:cNvSpPr>
          <p:nvPr>
            <p:ph idx="1"/>
          </p:nvPr>
        </p:nvSpPr>
        <p:spPr/>
        <p:txBody>
          <a:bodyPr/>
          <a:lstStyle/>
          <a:p>
            <a:r>
              <a:rPr lang="en-US" dirty="0"/>
              <a:t>app/blog/[slug]/</a:t>
            </a:r>
            <a:r>
              <a:rPr lang="en-US" dirty="0" err="1"/>
              <a:t>page.tsx</a:t>
            </a:r>
            <a:endParaRPr lang="en-US" dirty="0"/>
          </a:p>
        </p:txBody>
      </p:sp>
      <p:pic>
        <p:nvPicPr>
          <p:cNvPr id="5" name="Picture 4">
            <a:extLst>
              <a:ext uri="{FF2B5EF4-FFF2-40B4-BE49-F238E27FC236}">
                <a16:creationId xmlns:a16="http://schemas.microsoft.com/office/drawing/2014/main" id="{409240F1-F238-DAEC-E81C-0BB38B596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2256" y="1582220"/>
            <a:ext cx="5643424" cy="46817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735093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A2E89-D817-C618-2BDF-716C4F4453FD}"/>
              </a:ext>
            </a:extLst>
          </p:cNvPr>
          <p:cNvSpPr>
            <a:spLocks noGrp="1"/>
          </p:cNvSpPr>
          <p:nvPr>
            <p:ph type="title"/>
          </p:nvPr>
        </p:nvSpPr>
        <p:spPr/>
        <p:txBody>
          <a:bodyPr>
            <a:normAutofit/>
          </a:bodyPr>
          <a:lstStyle/>
          <a:p>
            <a:r>
              <a:rPr lang="en-US" dirty="0"/>
              <a:t>Rendering with search params</a:t>
            </a:r>
          </a:p>
        </p:txBody>
      </p:sp>
      <p:sp>
        <p:nvSpPr>
          <p:cNvPr id="3" name="Content Placeholder 2">
            <a:extLst>
              <a:ext uri="{FF2B5EF4-FFF2-40B4-BE49-F238E27FC236}">
                <a16:creationId xmlns:a16="http://schemas.microsoft.com/office/drawing/2014/main" id="{E5860B86-3630-E2C3-FDE9-F4030F4EADF2}"/>
              </a:ext>
            </a:extLst>
          </p:cNvPr>
          <p:cNvSpPr>
            <a:spLocks noGrp="1"/>
          </p:cNvSpPr>
          <p:nvPr>
            <p:ph idx="1"/>
          </p:nvPr>
        </p:nvSpPr>
        <p:spPr/>
        <p:txBody>
          <a:bodyPr/>
          <a:lstStyle/>
          <a:p>
            <a:r>
              <a:rPr lang="en-US" b="1" dirty="0"/>
              <a:t>In a Server Component page</a:t>
            </a:r>
            <a:r>
              <a:rPr lang="en-US" dirty="0"/>
              <a:t>, you can access search parameters using the </a:t>
            </a:r>
            <a:r>
              <a:rPr lang="en-US" b="1" dirty="0" err="1">
                <a:hlinkClick r:id="rId2"/>
              </a:rPr>
              <a:t>searchParams</a:t>
            </a:r>
            <a:r>
              <a:rPr lang="en-US" dirty="0"/>
              <a:t> prop:</a:t>
            </a:r>
          </a:p>
          <a:p>
            <a:endParaRPr lang="en-US" dirty="0"/>
          </a:p>
        </p:txBody>
      </p:sp>
      <p:pic>
        <p:nvPicPr>
          <p:cNvPr id="5" name="Picture 4">
            <a:extLst>
              <a:ext uri="{FF2B5EF4-FFF2-40B4-BE49-F238E27FC236}">
                <a16:creationId xmlns:a16="http://schemas.microsoft.com/office/drawing/2014/main" id="{620D6379-A344-5FD8-5403-7FACD0240F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2944099"/>
            <a:ext cx="10542166" cy="27164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897157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8450B-C02B-B4BD-1456-204C13F870FF}"/>
              </a:ext>
            </a:extLst>
          </p:cNvPr>
          <p:cNvSpPr>
            <a:spLocks noGrp="1"/>
          </p:cNvSpPr>
          <p:nvPr>
            <p:ph type="title"/>
          </p:nvPr>
        </p:nvSpPr>
        <p:spPr/>
        <p:txBody>
          <a:bodyPr/>
          <a:lstStyle/>
          <a:p>
            <a:r>
              <a:rPr lang="en-US" dirty="0"/>
              <a:t>Rendering with search params</a:t>
            </a:r>
          </a:p>
        </p:txBody>
      </p:sp>
      <p:sp>
        <p:nvSpPr>
          <p:cNvPr id="3" name="Content Placeholder 2">
            <a:extLst>
              <a:ext uri="{FF2B5EF4-FFF2-40B4-BE49-F238E27FC236}">
                <a16:creationId xmlns:a16="http://schemas.microsoft.com/office/drawing/2014/main" id="{974D24A0-7659-8A8F-1214-7A6D41A3EC36}"/>
              </a:ext>
            </a:extLst>
          </p:cNvPr>
          <p:cNvSpPr>
            <a:spLocks noGrp="1"/>
          </p:cNvSpPr>
          <p:nvPr>
            <p:ph idx="1"/>
          </p:nvPr>
        </p:nvSpPr>
        <p:spPr/>
        <p:txBody>
          <a:bodyPr/>
          <a:lstStyle/>
          <a:p>
            <a:r>
              <a:rPr lang="en-US" dirty="0"/>
              <a:t>Using </a:t>
            </a:r>
            <a:r>
              <a:rPr lang="en-US" b="1" dirty="0" err="1"/>
              <a:t>searchParams</a:t>
            </a:r>
            <a:r>
              <a:rPr lang="en-US" dirty="0"/>
              <a:t> opts your page into dynamic rendering because it requires an incoming request to read the search parameters from.</a:t>
            </a:r>
          </a:p>
          <a:p>
            <a:r>
              <a:rPr lang="en-US" b="1" dirty="0"/>
              <a:t>Client Components </a:t>
            </a:r>
            <a:r>
              <a:rPr lang="en-US" dirty="0"/>
              <a:t>can read search params using the </a:t>
            </a:r>
            <a:r>
              <a:rPr lang="en-US" b="1" dirty="0" err="1"/>
              <a:t>useSearchParams</a:t>
            </a:r>
            <a:r>
              <a:rPr lang="en-US" dirty="0"/>
              <a:t> hook.</a:t>
            </a:r>
          </a:p>
          <a:p>
            <a:r>
              <a:rPr lang="en-US" dirty="0"/>
              <a:t>Learn more about </a:t>
            </a:r>
            <a:r>
              <a:rPr lang="en-US" b="1" dirty="0" err="1"/>
              <a:t>useSearchParams</a:t>
            </a:r>
            <a:r>
              <a:rPr lang="en-US" dirty="0"/>
              <a:t> in statically rendered and dynamically rendered routes.</a:t>
            </a:r>
          </a:p>
        </p:txBody>
      </p:sp>
    </p:spTree>
    <p:extLst>
      <p:ext uri="{BB962C8B-B14F-4D97-AF65-F5344CB8AC3E}">
        <p14:creationId xmlns:p14="http://schemas.microsoft.com/office/powerpoint/2010/main" val="11276743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9F31-04AE-CE7A-6735-44B82E2069A1}"/>
              </a:ext>
            </a:extLst>
          </p:cNvPr>
          <p:cNvSpPr>
            <a:spLocks noGrp="1"/>
          </p:cNvSpPr>
          <p:nvPr>
            <p:ph type="title"/>
          </p:nvPr>
        </p:nvSpPr>
        <p:spPr/>
        <p:txBody>
          <a:bodyPr>
            <a:normAutofit/>
          </a:bodyPr>
          <a:lstStyle/>
          <a:p>
            <a:r>
              <a:rPr lang="en-US" dirty="0"/>
              <a:t>Linking between pages</a:t>
            </a:r>
          </a:p>
        </p:txBody>
      </p:sp>
      <p:sp>
        <p:nvSpPr>
          <p:cNvPr id="3" name="Content Placeholder 2">
            <a:extLst>
              <a:ext uri="{FF2B5EF4-FFF2-40B4-BE49-F238E27FC236}">
                <a16:creationId xmlns:a16="http://schemas.microsoft.com/office/drawing/2014/main" id="{12F23D27-1DCF-E0F8-3018-41114581D295}"/>
              </a:ext>
            </a:extLst>
          </p:cNvPr>
          <p:cNvSpPr>
            <a:spLocks noGrp="1"/>
          </p:cNvSpPr>
          <p:nvPr>
            <p:ph idx="1"/>
          </p:nvPr>
        </p:nvSpPr>
        <p:spPr>
          <a:xfrm>
            <a:off x="1097279" y="1582220"/>
            <a:ext cx="10427063" cy="4286874"/>
          </a:xfrm>
        </p:spPr>
        <p:txBody>
          <a:bodyPr/>
          <a:lstStyle/>
          <a:p>
            <a:r>
              <a:rPr lang="en-US" dirty="0"/>
              <a:t>Use the </a:t>
            </a:r>
            <a:r>
              <a:rPr lang="en-US" b="1" dirty="0"/>
              <a:t>&lt;Link&gt; </a:t>
            </a:r>
            <a:r>
              <a:rPr lang="en-US" dirty="0"/>
              <a:t>component to navigate between routes.</a:t>
            </a:r>
          </a:p>
          <a:p>
            <a:r>
              <a:rPr lang="en-US" b="1" dirty="0"/>
              <a:t>&lt;Link&gt; </a:t>
            </a:r>
            <a:r>
              <a:rPr lang="en-US" dirty="0"/>
              <a:t>is a </a:t>
            </a:r>
            <a:r>
              <a:rPr lang="en-US" b="1" dirty="0"/>
              <a:t>built-in Next.js </a:t>
            </a:r>
            <a:r>
              <a:rPr lang="en-US" dirty="0"/>
              <a:t>component that extends the HTML &lt;a&gt; tag to provide prefetching and client-side navigation.</a:t>
            </a:r>
          </a:p>
          <a:p>
            <a:r>
              <a:rPr lang="en-US" dirty="0"/>
              <a:t>For example, to generate a list of blog posts</a:t>
            </a:r>
          </a:p>
          <a:p>
            <a:r>
              <a:rPr lang="en-US" dirty="0"/>
              <a:t>import </a:t>
            </a:r>
            <a:r>
              <a:rPr lang="en-US" b="1" dirty="0"/>
              <a:t>&lt;Link&gt; </a:t>
            </a:r>
            <a:r>
              <a:rPr lang="en-US" dirty="0"/>
              <a:t>from next/link and pass a </a:t>
            </a:r>
            <a:r>
              <a:rPr lang="en-US" b="1" dirty="0" err="1"/>
              <a:t>href</a:t>
            </a:r>
            <a:r>
              <a:rPr lang="en-US" dirty="0"/>
              <a:t> prop to the component:</a:t>
            </a:r>
          </a:p>
        </p:txBody>
      </p:sp>
    </p:spTree>
    <p:extLst>
      <p:ext uri="{BB962C8B-B14F-4D97-AF65-F5344CB8AC3E}">
        <p14:creationId xmlns:p14="http://schemas.microsoft.com/office/powerpoint/2010/main" val="33954072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38F6D-E3A8-33D2-9075-393854092033}"/>
              </a:ext>
            </a:extLst>
          </p:cNvPr>
          <p:cNvSpPr>
            <a:spLocks noGrp="1"/>
          </p:cNvSpPr>
          <p:nvPr>
            <p:ph type="title"/>
          </p:nvPr>
        </p:nvSpPr>
        <p:spPr/>
        <p:txBody>
          <a:bodyPr/>
          <a:lstStyle/>
          <a:p>
            <a:r>
              <a:rPr lang="en-US" dirty="0"/>
              <a:t>Linking between pages</a:t>
            </a:r>
          </a:p>
        </p:txBody>
      </p:sp>
      <p:pic>
        <p:nvPicPr>
          <p:cNvPr id="5" name="Content Placeholder 4">
            <a:extLst>
              <a:ext uri="{FF2B5EF4-FFF2-40B4-BE49-F238E27FC236}">
                <a16:creationId xmlns:a16="http://schemas.microsoft.com/office/drawing/2014/main" id="{96AF939B-DC49-DCBA-4CBE-2234F683E9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4212" y="1527205"/>
            <a:ext cx="8283575" cy="47379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70229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AEB35-1657-6781-9D35-A7FF158AB549}"/>
              </a:ext>
            </a:extLst>
          </p:cNvPr>
          <p:cNvSpPr>
            <a:spLocks noGrp="1"/>
          </p:cNvSpPr>
          <p:nvPr>
            <p:ph type="title"/>
          </p:nvPr>
        </p:nvSpPr>
        <p:spPr/>
        <p:txBody>
          <a:bodyPr>
            <a:normAutofit/>
          </a:bodyPr>
          <a:lstStyle/>
          <a:p>
            <a:r>
              <a:rPr lang="en-US" dirty="0"/>
              <a:t>Route Props Helpers</a:t>
            </a:r>
          </a:p>
        </p:txBody>
      </p:sp>
      <p:sp>
        <p:nvSpPr>
          <p:cNvPr id="3" name="Content Placeholder 2">
            <a:extLst>
              <a:ext uri="{FF2B5EF4-FFF2-40B4-BE49-F238E27FC236}">
                <a16:creationId xmlns:a16="http://schemas.microsoft.com/office/drawing/2014/main" id="{B303C428-0CF9-D02D-9D86-48DFE8FFACD1}"/>
              </a:ext>
            </a:extLst>
          </p:cNvPr>
          <p:cNvSpPr>
            <a:spLocks noGrp="1"/>
          </p:cNvSpPr>
          <p:nvPr>
            <p:ph idx="1"/>
          </p:nvPr>
        </p:nvSpPr>
        <p:spPr>
          <a:xfrm>
            <a:off x="1097280" y="1582219"/>
            <a:ext cx="10058400" cy="4542809"/>
          </a:xfrm>
        </p:spPr>
        <p:txBody>
          <a:bodyPr>
            <a:normAutofit/>
          </a:bodyPr>
          <a:lstStyle/>
          <a:p>
            <a:r>
              <a:rPr lang="en-US" b="1" dirty="0"/>
              <a:t>Next.js </a:t>
            </a:r>
            <a:r>
              <a:rPr lang="en-US" dirty="0"/>
              <a:t>exposes utility types that infer params and named slots from your route structure:</a:t>
            </a:r>
          </a:p>
          <a:p>
            <a:pPr lvl="1"/>
            <a:r>
              <a:rPr lang="en-US" b="1" dirty="0" err="1"/>
              <a:t>PageProps</a:t>
            </a:r>
            <a:r>
              <a:rPr lang="en-US" dirty="0"/>
              <a:t>: Props for page components, including params and </a:t>
            </a:r>
            <a:r>
              <a:rPr lang="en-US" dirty="0" err="1"/>
              <a:t>searchParams</a:t>
            </a:r>
            <a:r>
              <a:rPr lang="en-US" dirty="0"/>
              <a:t>.</a:t>
            </a:r>
          </a:p>
          <a:p>
            <a:pPr lvl="1"/>
            <a:r>
              <a:rPr lang="en-US" b="1" dirty="0" err="1"/>
              <a:t>LayoutProps</a:t>
            </a:r>
            <a:r>
              <a:rPr lang="en-US" dirty="0"/>
              <a:t>: Props for layout components, including children and any named slots (e.g. folders like @analytics).</a:t>
            </a:r>
          </a:p>
          <a:p>
            <a:r>
              <a:rPr lang="en-US" dirty="0"/>
              <a:t>These are globally available helpers, generated when running either next dev, next build or next </a:t>
            </a:r>
            <a:r>
              <a:rPr lang="en-US" b="1" dirty="0" err="1"/>
              <a:t>typegen</a:t>
            </a:r>
            <a:r>
              <a:rPr lang="en-US" dirty="0"/>
              <a:t>.</a:t>
            </a:r>
          </a:p>
        </p:txBody>
      </p:sp>
    </p:spTree>
    <p:extLst>
      <p:ext uri="{BB962C8B-B14F-4D97-AF65-F5344CB8AC3E}">
        <p14:creationId xmlns:p14="http://schemas.microsoft.com/office/powerpoint/2010/main" val="2100875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7495F-81F0-E162-D4BE-85BF78EB461E}"/>
              </a:ext>
            </a:extLst>
          </p:cNvPr>
          <p:cNvSpPr>
            <a:spLocks noGrp="1"/>
          </p:cNvSpPr>
          <p:nvPr>
            <p:ph type="title"/>
          </p:nvPr>
        </p:nvSpPr>
        <p:spPr/>
        <p:txBody>
          <a:bodyPr/>
          <a:lstStyle/>
          <a:p>
            <a:r>
              <a:rPr lang="en-US" dirty="0"/>
              <a:t>Route Props Helpers</a:t>
            </a:r>
          </a:p>
        </p:txBody>
      </p:sp>
      <p:pic>
        <p:nvPicPr>
          <p:cNvPr id="5" name="Content Placeholder 4">
            <a:extLst>
              <a:ext uri="{FF2B5EF4-FFF2-40B4-BE49-F238E27FC236}">
                <a16:creationId xmlns:a16="http://schemas.microsoft.com/office/drawing/2014/main" id="{1C5E4C0B-F871-F349-286C-81BDC6F250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1508332"/>
            <a:ext cx="9955894" cy="1499879"/>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54F8A75C-82EE-7CAE-557E-6400DBE73A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3287442"/>
            <a:ext cx="9955894" cy="27901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615178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0DEBD-0902-25A8-E8BA-65D48CE8DD32}"/>
              </a:ext>
            </a:extLst>
          </p:cNvPr>
          <p:cNvSpPr>
            <a:spLocks noGrp="1"/>
          </p:cNvSpPr>
          <p:nvPr>
            <p:ph type="title"/>
          </p:nvPr>
        </p:nvSpPr>
        <p:spPr/>
        <p:txBody>
          <a:bodyPr>
            <a:normAutofit/>
          </a:bodyPr>
          <a:lstStyle/>
          <a:p>
            <a:r>
              <a:rPr lang="en-US" dirty="0"/>
              <a:t>Linking and Navigating</a:t>
            </a:r>
          </a:p>
        </p:txBody>
      </p:sp>
      <p:sp>
        <p:nvSpPr>
          <p:cNvPr id="3" name="Content Placeholder 2">
            <a:extLst>
              <a:ext uri="{FF2B5EF4-FFF2-40B4-BE49-F238E27FC236}">
                <a16:creationId xmlns:a16="http://schemas.microsoft.com/office/drawing/2014/main" id="{E7CC0153-5401-F945-5177-1F79B03B6B6D}"/>
              </a:ext>
            </a:extLst>
          </p:cNvPr>
          <p:cNvSpPr>
            <a:spLocks noGrp="1"/>
          </p:cNvSpPr>
          <p:nvPr>
            <p:ph idx="1"/>
          </p:nvPr>
        </p:nvSpPr>
        <p:spPr/>
        <p:txBody>
          <a:bodyPr>
            <a:normAutofit/>
          </a:bodyPr>
          <a:lstStyle/>
          <a:p>
            <a:r>
              <a:rPr lang="en-US" b="1" dirty="0">
                <a:solidFill>
                  <a:srgbClr val="FF0000"/>
                </a:solidFill>
              </a:rPr>
              <a:t>Server Rendering</a:t>
            </a:r>
          </a:p>
          <a:p>
            <a:pPr lvl="1"/>
            <a:r>
              <a:rPr lang="en-US" dirty="0"/>
              <a:t>In Next.js, routes are rendered on the server by default. This often means the client has to wait for a server response before a new route can be shown. </a:t>
            </a:r>
          </a:p>
          <a:p>
            <a:pPr lvl="1"/>
            <a:r>
              <a:rPr lang="en-US" dirty="0"/>
              <a:t>When a user navigates to a new route (for example, from /products to /products/1):</a:t>
            </a:r>
          </a:p>
          <a:p>
            <a:pPr lvl="2">
              <a:buFont typeface="Wingdings" panose="05000000000000000000" pitchFamily="2" charset="2"/>
              <a:buChar char="ü"/>
            </a:pPr>
            <a:r>
              <a:rPr lang="en-US" sz="2200" dirty="0"/>
              <a:t>The page is rendered on the server</a:t>
            </a:r>
          </a:p>
          <a:p>
            <a:pPr lvl="2">
              <a:buFont typeface="Wingdings" panose="05000000000000000000" pitchFamily="2" charset="2"/>
              <a:buChar char="ü"/>
            </a:pPr>
            <a:r>
              <a:rPr lang="en-US" sz="2200" dirty="0"/>
              <a:t>HTML is generated on the server</a:t>
            </a:r>
          </a:p>
          <a:p>
            <a:pPr lvl="2">
              <a:buFont typeface="Wingdings" panose="05000000000000000000" pitchFamily="2" charset="2"/>
              <a:buChar char="ü"/>
            </a:pPr>
            <a:r>
              <a:rPr lang="en-US" sz="2200" dirty="0"/>
              <a:t>The result is sent to the browser</a:t>
            </a:r>
          </a:p>
          <a:p>
            <a:pPr lvl="1"/>
            <a:endParaRPr lang="en-US" dirty="0"/>
          </a:p>
          <a:p>
            <a:pPr lvl="1"/>
            <a:endParaRPr lang="en-US" dirty="0"/>
          </a:p>
          <a:p>
            <a:pPr marL="0" indent="0">
              <a:buNone/>
            </a:pPr>
            <a:endParaRPr lang="en-US" dirty="0"/>
          </a:p>
        </p:txBody>
      </p:sp>
    </p:spTree>
    <p:extLst>
      <p:ext uri="{BB962C8B-B14F-4D97-AF65-F5344CB8AC3E}">
        <p14:creationId xmlns:p14="http://schemas.microsoft.com/office/powerpoint/2010/main" val="40289435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99768-A563-31F6-0EEB-07B59E0BC2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E5115-D01D-3B5A-5967-3B28D846DB8B}"/>
              </a:ext>
            </a:extLst>
          </p:cNvPr>
          <p:cNvSpPr>
            <a:spLocks noGrp="1"/>
          </p:cNvSpPr>
          <p:nvPr>
            <p:ph type="title"/>
          </p:nvPr>
        </p:nvSpPr>
        <p:spPr/>
        <p:txBody>
          <a:bodyPr/>
          <a:lstStyle/>
          <a:p>
            <a:r>
              <a:rPr lang="en-US" dirty="0"/>
              <a:t>Linking and Navigating</a:t>
            </a:r>
          </a:p>
        </p:txBody>
      </p:sp>
      <p:sp>
        <p:nvSpPr>
          <p:cNvPr id="3" name="Content Placeholder 2">
            <a:extLst>
              <a:ext uri="{FF2B5EF4-FFF2-40B4-BE49-F238E27FC236}">
                <a16:creationId xmlns:a16="http://schemas.microsoft.com/office/drawing/2014/main" id="{6011BC2F-970F-C34A-B201-30F532E2F4B9}"/>
              </a:ext>
            </a:extLst>
          </p:cNvPr>
          <p:cNvSpPr>
            <a:spLocks noGrp="1"/>
          </p:cNvSpPr>
          <p:nvPr>
            <p:ph idx="1"/>
          </p:nvPr>
        </p:nvSpPr>
        <p:spPr>
          <a:xfrm>
            <a:off x="1097280" y="1582220"/>
            <a:ext cx="10058400" cy="4804066"/>
          </a:xfrm>
        </p:spPr>
        <p:txBody>
          <a:bodyPr>
            <a:normAutofit/>
          </a:bodyPr>
          <a:lstStyle/>
          <a:p>
            <a:r>
              <a:rPr lang="en-US" b="1" dirty="0">
                <a:solidFill>
                  <a:srgbClr val="FF0000"/>
                </a:solidFill>
              </a:rPr>
              <a:t>Server Rendering</a:t>
            </a:r>
          </a:p>
          <a:p>
            <a:pPr lvl="1"/>
            <a:r>
              <a:rPr lang="en-US" b="1" dirty="0"/>
              <a:t>Benefits</a:t>
            </a:r>
          </a:p>
          <a:p>
            <a:pPr lvl="2"/>
            <a:r>
              <a:rPr lang="en-US" sz="2200" dirty="0"/>
              <a:t>Better SEO</a:t>
            </a:r>
          </a:p>
          <a:p>
            <a:pPr lvl="2"/>
            <a:r>
              <a:rPr lang="en-US" sz="2200" dirty="0"/>
              <a:t>Faster initial page load</a:t>
            </a:r>
          </a:p>
          <a:p>
            <a:pPr lvl="2"/>
            <a:r>
              <a:rPr lang="en-US" sz="2200" dirty="0"/>
              <a:t>Always up-to-date data</a:t>
            </a:r>
          </a:p>
          <a:p>
            <a:pPr lvl="1"/>
            <a:r>
              <a:rPr lang="en-US" b="1" dirty="0"/>
              <a:t>Limitation</a:t>
            </a:r>
          </a:p>
          <a:p>
            <a:pPr lvl="2"/>
            <a:r>
              <a:rPr lang="en-US" sz="2200" dirty="0"/>
              <a:t>The client </a:t>
            </a:r>
            <a:r>
              <a:rPr lang="en-US" sz="2200" b="1" dirty="0"/>
              <a:t>must wait for the server response</a:t>
            </a:r>
            <a:r>
              <a:rPr lang="en-US" sz="2200" dirty="0"/>
              <a:t> before the new route is displayed.</a:t>
            </a:r>
          </a:p>
          <a:p>
            <a:pPr marL="0" indent="0">
              <a:buNone/>
            </a:pPr>
            <a:endParaRPr lang="en-US" dirty="0"/>
          </a:p>
        </p:txBody>
      </p:sp>
    </p:spTree>
    <p:extLst>
      <p:ext uri="{BB962C8B-B14F-4D97-AF65-F5344CB8AC3E}">
        <p14:creationId xmlns:p14="http://schemas.microsoft.com/office/powerpoint/2010/main" val="7513699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83E66-4E56-4082-56DC-BD4BE0F5F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43BEB-9C72-ECA8-ACE9-A6F960B543E6}"/>
              </a:ext>
            </a:extLst>
          </p:cNvPr>
          <p:cNvSpPr>
            <a:spLocks noGrp="1"/>
          </p:cNvSpPr>
          <p:nvPr>
            <p:ph type="title"/>
          </p:nvPr>
        </p:nvSpPr>
        <p:spPr/>
        <p:txBody>
          <a:bodyPr>
            <a:normAutofit/>
          </a:bodyPr>
          <a:lstStyle/>
          <a:p>
            <a:r>
              <a:rPr lang="en-US" dirty="0"/>
              <a:t>Linking and Navigating</a:t>
            </a:r>
          </a:p>
        </p:txBody>
      </p:sp>
      <p:sp>
        <p:nvSpPr>
          <p:cNvPr id="3" name="Content Placeholder 2">
            <a:extLst>
              <a:ext uri="{FF2B5EF4-FFF2-40B4-BE49-F238E27FC236}">
                <a16:creationId xmlns:a16="http://schemas.microsoft.com/office/drawing/2014/main" id="{6E2E01C4-F790-3049-545C-DB128671FB97}"/>
              </a:ext>
            </a:extLst>
          </p:cNvPr>
          <p:cNvSpPr>
            <a:spLocks noGrp="1"/>
          </p:cNvSpPr>
          <p:nvPr>
            <p:ph idx="1"/>
          </p:nvPr>
        </p:nvSpPr>
        <p:spPr/>
        <p:txBody>
          <a:bodyPr/>
          <a:lstStyle/>
          <a:p>
            <a:r>
              <a:rPr lang="en-US" b="1" dirty="0"/>
              <a:t>Next.js addresses this delay by </a:t>
            </a:r>
            <a:r>
              <a:rPr lang="en-US" dirty="0"/>
              <a:t>provides </a:t>
            </a:r>
            <a:r>
              <a:rPr lang="en-US" b="1" dirty="0"/>
              <a:t>three built-in features</a:t>
            </a:r>
            <a:r>
              <a:rPr lang="en-US" dirty="0"/>
              <a:t> to keep navigation fast and responsive</a:t>
            </a:r>
            <a:endParaRPr lang="en-US" b="1" dirty="0"/>
          </a:p>
          <a:p>
            <a:pPr lvl="1">
              <a:buFont typeface="Wingdings" panose="05000000000000000000" pitchFamily="2" charset="2"/>
              <a:buChar char="ü"/>
            </a:pPr>
            <a:r>
              <a:rPr lang="en-US" sz="2800" dirty="0"/>
              <a:t>prefetching, </a:t>
            </a:r>
          </a:p>
          <a:p>
            <a:pPr lvl="1">
              <a:buFont typeface="Wingdings" panose="05000000000000000000" pitchFamily="2" charset="2"/>
              <a:buChar char="ü"/>
            </a:pPr>
            <a:r>
              <a:rPr lang="en-US" sz="2800" dirty="0"/>
              <a:t>streaming, </a:t>
            </a:r>
          </a:p>
          <a:p>
            <a:pPr lvl="1">
              <a:buFont typeface="Wingdings" panose="05000000000000000000" pitchFamily="2" charset="2"/>
              <a:buChar char="ü"/>
            </a:pPr>
            <a:r>
              <a:rPr lang="en-US" sz="2800" dirty="0"/>
              <a:t>client-side transitions </a:t>
            </a:r>
          </a:p>
          <a:p>
            <a:pPr marL="0" indent="0">
              <a:buNone/>
            </a:pPr>
            <a:endParaRPr lang="en-US" dirty="0"/>
          </a:p>
        </p:txBody>
      </p:sp>
    </p:spTree>
    <p:extLst>
      <p:ext uri="{BB962C8B-B14F-4D97-AF65-F5344CB8AC3E}">
        <p14:creationId xmlns:p14="http://schemas.microsoft.com/office/powerpoint/2010/main" val="11380874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72071-9D35-1642-34D9-829B7913842C}"/>
              </a:ext>
            </a:extLst>
          </p:cNvPr>
          <p:cNvSpPr>
            <a:spLocks noGrp="1"/>
          </p:cNvSpPr>
          <p:nvPr>
            <p:ph type="title"/>
          </p:nvPr>
        </p:nvSpPr>
        <p:spPr/>
        <p:txBody>
          <a:bodyPr>
            <a:normAutofit/>
          </a:bodyPr>
          <a:lstStyle/>
          <a:p>
            <a:r>
              <a:rPr lang="en-US" dirty="0"/>
              <a:t>Prefetching</a:t>
            </a:r>
          </a:p>
        </p:txBody>
      </p:sp>
      <p:sp>
        <p:nvSpPr>
          <p:cNvPr id="3" name="Content Placeholder 2">
            <a:extLst>
              <a:ext uri="{FF2B5EF4-FFF2-40B4-BE49-F238E27FC236}">
                <a16:creationId xmlns:a16="http://schemas.microsoft.com/office/drawing/2014/main" id="{8A9F8E10-606D-C641-B8FF-D6EA19AD6493}"/>
              </a:ext>
            </a:extLst>
          </p:cNvPr>
          <p:cNvSpPr>
            <a:spLocks noGrp="1"/>
          </p:cNvSpPr>
          <p:nvPr>
            <p:ph idx="1"/>
          </p:nvPr>
        </p:nvSpPr>
        <p:spPr/>
        <p:txBody>
          <a:bodyPr/>
          <a:lstStyle/>
          <a:p>
            <a:r>
              <a:rPr lang="en-US" b="1" dirty="0">
                <a:solidFill>
                  <a:srgbClr val="FF0000"/>
                </a:solidFill>
              </a:rPr>
              <a:t>Prefetching</a:t>
            </a:r>
            <a:r>
              <a:rPr lang="en-US" dirty="0"/>
              <a:t> is a mechanism in </a:t>
            </a:r>
            <a:r>
              <a:rPr lang="en-US" b="1" dirty="0"/>
              <a:t>Next.js</a:t>
            </a:r>
            <a:r>
              <a:rPr lang="en-US" dirty="0"/>
              <a:t> that automatically </a:t>
            </a:r>
            <a:r>
              <a:rPr lang="en-US" b="1" dirty="0"/>
              <a:t>loads resources for the next page in advance</a:t>
            </a:r>
            <a:r>
              <a:rPr lang="en-US" dirty="0"/>
              <a:t>, </a:t>
            </a:r>
            <a:r>
              <a:rPr lang="en-US" i="1" dirty="0"/>
              <a:t>before the user actually clicks a link</a:t>
            </a:r>
            <a:r>
              <a:rPr lang="en-US" dirty="0"/>
              <a:t>.</a:t>
            </a:r>
          </a:p>
          <a:p>
            <a:r>
              <a:rPr lang="en-US" b="1" dirty="0"/>
              <a:t>Purpose</a:t>
            </a:r>
            <a:r>
              <a:rPr lang="en-US" dirty="0"/>
              <a:t>:</a:t>
            </a:r>
          </a:p>
          <a:p>
            <a:pPr lvl="1">
              <a:buFont typeface="Wingdings" panose="05000000000000000000" pitchFamily="2" charset="2"/>
              <a:buChar char="ü"/>
            </a:pPr>
            <a:r>
              <a:rPr lang="en-US" dirty="0"/>
              <a:t>When the user clicks → </a:t>
            </a:r>
            <a:r>
              <a:rPr lang="en-US" b="1" dirty="0"/>
              <a:t>almost instant navigation</a:t>
            </a:r>
            <a:endParaRPr lang="en-US" dirty="0"/>
          </a:p>
          <a:p>
            <a:pPr lvl="1">
              <a:buFont typeface="Wingdings" panose="05000000000000000000" pitchFamily="2" charset="2"/>
              <a:buChar char="ü"/>
            </a:pPr>
            <a:r>
              <a:rPr lang="en-US" dirty="0"/>
              <a:t>Smooth experience like a desktop application</a:t>
            </a:r>
          </a:p>
          <a:p>
            <a:endParaRPr lang="en-US" dirty="0"/>
          </a:p>
        </p:txBody>
      </p:sp>
    </p:spTree>
    <p:extLst>
      <p:ext uri="{BB962C8B-B14F-4D97-AF65-F5344CB8AC3E}">
        <p14:creationId xmlns:p14="http://schemas.microsoft.com/office/powerpoint/2010/main" val="21275919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1420-6D5D-FA29-2A9F-2E3D28E2B525}"/>
              </a:ext>
            </a:extLst>
          </p:cNvPr>
          <p:cNvSpPr>
            <a:spLocks noGrp="1"/>
          </p:cNvSpPr>
          <p:nvPr>
            <p:ph type="title"/>
          </p:nvPr>
        </p:nvSpPr>
        <p:spPr/>
        <p:txBody>
          <a:bodyPr/>
          <a:lstStyle/>
          <a:p>
            <a:r>
              <a:rPr lang="en-US" dirty="0"/>
              <a:t>Prefetching</a:t>
            </a:r>
          </a:p>
        </p:txBody>
      </p:sp>
      <p:sp>
        <p:nvSpPr>
          <p:cNvPr id="3" name="Content Placeholder 2">
            <a:extLst>
              <a:ext uri="{FF2B5EF4-FFF2-40B4-BE49-F238E27FC236}">
                <a16:creationId xmlns:a16="http://schemas.microsoft.com/office/drawing/2014/main" id="{A8691ECA-4161-9A98-0097-8C9B823DC596}"/>
              </a:ext>
            </a:extLst>
          </p:cNvPr>
          <p:cNvSpPr>
            <a:spLocks noGrp="1"/>
          </p:cNvSpPr>
          <p:nvPr>
            <p:ph idx="1"/>
          </p:nvPr>
        </p:nvSpPr>
        <p:spPr>
          <a:xfrm>
            <a:off x="1097279" y="1582220"/>
            <a:ext cx="10920549" cy="4989176"/>
          </a:xfrm>
        </p:spPr>
        <p:txBody>
          <a:bodyPr>
            <a:normAutofit/>
          </a:bodyPr>
          <a:lstStyle/>
          <a:p>
            <a:r>
              <a:rPr lang="en-US" b="1" dirty="0"/>
              <a:t>How Prefetching works: </a:t>
            </a:r>
            <a:r>
              <a:rPr lang="en-US" dirty="0"/>
              <a:t>When you use: </a:t>
            </a:r>
            <a:r>
              <a:rPr lang="en-US" b="1" dirty="0">
                <a:solidFill>
                  <a:srgbClr val="FF0000"/>
                </a:solidFill>
              </a:rPr>
              <a:t>import Link from "next/link“, </a:t>
            </a:r>
            <a:r>
              <a:rPr lang="en-US" dirty="0"/>
              <a:t>Next.js will:</a:t>
            </a:r>
          </a:p>
          <a:p>
            <a:pPr marL="508000" lvl="1" indent="-307975">
              <a:buFont typeface="Wingdings" panose="05000000000000000000" pitchFamily="2" charset="2"/>
              <a:buChar char="v"/>
            </a:pPr>
            <a:r>
              <a:rPr lang="en-US" sz="2800" dirty="0"/>
              <a:t>Detect </a:t>
            </a:r>
            <a:r>
              <a:rPr lang="en-US" sz="2800" b="1" dirty="0"/>
              <a:t>&lt;Link /&gt; </a:t>
            </a:r>
            <a:r>
              <a:rPr lang="en-US" sz="2800" dirty="0"/>
              <a:t>components that appear </a:t>
            </a:r>
            <a:r>
              <a:rPr lang="en-US" sz="2800" b="1" dirty="0"/>
              <a:t>inside the viewport</a:t>
            </a:r>
            <a:endParaRPr lang="en-US" sz="2800" dirty="0"/>
          </a:p>
          <a:p>
            <a:pPr marL="364617" indent="-457200"/>
            <a:r>
              <a:rPr lang="en-US" b="1" dirty="0"/>
              <a:t>Prefetch</a:t>
            </a:r>
            <a:r>
              <a:rPr lang="en-US" dirty="0"/>
              <a:t>:</a:t>
            </a:r>
          </a:p>
          <a:p>
            <a:pPr marL="508000" lvl="2" indent="-307975">
              <a:buFont typeface="Wingdings" panose="05000000000000000000" pitchFamily="2" charset="2"/>
              <a:buChar char="v"/>
            </a:pPr>
            <a:r>
              <a:rPr lang="en-US" sz="2400" dirty="0"/>
              <a:t>The JavaScript for the target page</a:t>
            </a:r>
          </a:p>
          <a:p>
            <a:pPr marL="508000" lvl="2" indent="-307975">
              <a:buFont typeface="Wingdings" panose="05000000000000000000" pitchFamily="2" charset="2"/>
              <a:buChar char="v"/>
            </a:pPr>
            <a:r>
              <a:rPr lang="en-US" sz="2400" dirty="0"/>
              <a:t>Required data (if any)</a:t>
            </a:r>
          </a:p>
          <a:p>
            <a:pPr marL="364617" indent="-457200"/>
            <a:r>
              <a:rPr lang="en-US" dirty="0"/>
              <a:t>When the user clicks:</a:t>
            </a:r>
          </a:p>
          <a:p>
            <a:pPr marL="508000" lvl="2" indent="-307975">
              <a:buFont typeface="Wingdings" panose="05000000000000000000" pitchFamily="2" charset="2"/>
              <a:buChar char="v"/>
            </a:pPr>
            <a:r>
              <a:rPr lang="en-US" sz="2400" dirty="0"/>
              <a:t>No long server wait</a:t>
            </a:r>
          </a:p>
          <a:p>
            <a:pPr marL="508000" lvl="2" indent="-307975">
              <a:buFont typeface="Wingdings" panose="05000000000000000000" pitchFamily="2" charset="2"/>
              <a:buChar char="v"/>
            </a:pPr>
            <a:r>
              <a:rPr lang="en-US" sz="2400" dirty="0"/>
              <a:t>The page appears almost instantly</a:t>
            </a:r>
          </a:p>
          <a:p>
            <a:endParaRPr lang="en-US" dirty="0"/>
          </a:p>
        </p:txBody>
      </p:sp>
    </p:spTree>
    <p:extLst>
      <p:ext uri="{BB962C8B-B14F-4D97-AF65-F5344CB8AC3E}">
        <p14:creationId xmlns:p14="http://schemas.microsoft.com/office/powerpoint/2010/main" val="12226243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48CCA-262C-B537-4249-306F6970BF7B}"/>
              </a:ext>
            </a:extLst>
          </p:cNvPr>
          <p:cNvSpPr>
            <a:spLocks noGrp="1"/>
          </p:cNvSpPr>
          <p:nvPr>
            <p:ph type="title"/>
          </p:nvPr>
        </p:nvSpPr>
        <p:spPr/>
        <p:txBody>
          <a:bodyPr/>
          <a:lstStyle/>
          <a:p>
            <a:r>
              <a:rPr lang="en-US" dirty="0"/>
              <a:t>Prefetching</a:t>
            </a:r>
          </a:p>
        </p:txBody>
      </p:sp>
      <p:sp>
        <p:nvSpPr>
          <p:cNvPr id="3" name="Content Placeholder 2">
            <a:extLst>
              <a:ext uri="{FF2B5EF4-FFF2-40B4-BE49-F238E27FC236}">
                <a16:creationId xmlns:a16="http://schemas.microsoft.com/office/drawing/2014/main" id="{015832E3-16CA-2A44-1BFC-39C8097E2DE7}"/>
              </a:ext>
            </a:extLst>
          </p:cNvPr>
          <p:cNvSpPr>
            <a:spLocks noGrp="1"/>
          </p:cNvSpPr>
          <p:nvPr>
            <p:ph idx="1"/>
          </p:nvPr>
        </p:nvSpPr>
        <p:spPr/>
        <p:txBody>
          <a:bodyPr/>
          <a:lstStyle/>
          <a:p>
            <a:r>
              <a:rPr lang="en-US" dirty="0"/>
              <a:t>Example: </a:t>
            </a:r>
          </a:p>
        </p:txBody>
      </p:sp>
      <p:pic>
        <p:nvPicPr>
          <p:cNvPr id="5" name="Picture 4">
            <a:extLst>
              <a:ext uri="{FF2B5EF4-FFF2-40B4-BE49-F238E27FC236}">
                <a16:creationId xmlns:a16="http://schemas.microsoft.com/office/drawing/2014/main" id="{214ECB50-EA39-109A-34A8-3F964BBB5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2030" y="1582220"/>
            <a:ext cx="8391767" cy="468210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514628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14E4B-BF00-76A9-523A-F7D43ADFD602}"/>
              </a:ext>
            </a:extLst>
          </p:cNvPr>
          <p:cNvSpPr>
            <a:spLocks noGrp="1"/>
          </p:cNvSpPr>
          <p:nvPr>
            <p:ph type="title"/>
          </p:nvPr>
        </p:nvSpPr>
        <p:spPr/>
        <p:txBody>
          <a:bodyPr/>
          <a:lstStyle/>
          <a:p>
            <a:r>
              <a:rPr lang="en-US" dirty="0"/>
              <a:t>Prefetching</a:t>
            </a:r>
          </a:p>
        </p:txBody>
      </p:sp>
      <p:sp>
        <p:nvSpPr>
          <p:cNvPr id="3" name="Content Placeholder 2">
            <a:extLst>
              <a:ext uri="{FF2B5EF4-FFF2-40B4-BE49-F238E27FC236}">
                <a16:creationId xmlns:a16="http://schemas.microsoft.com/office/drawing/2014/main" id="{F565A831-33D7-7086-ACEF-8A3735DF5E65}"/>
              </a:ext>
            </a:extLst>
          </p:cNvPr>
          <p:cNvSpPr>
            <a:spLocks noGrp="1"/>
          </p:cNvSpPr>
          <p:nvPr>
            <p:ph idx="1"/>
          </p:nvPr>
        </p:nvSpPr>
        <p:spPr/>
        <p:txBody>
          <a:bodyPr>
            <a:normAutofit/>
          </a:bodyPr>
          <a:lstStyle/>
          <a:p>
            <a:r>
              <a:rPr lang="en-US" dirty="0"/>
              <a:t>How much of the route is prefetched depends on whether it's static or dynamic:</a:t>
            </a:r>
          </a:p>
          <a:p>
            <a:pPr lvl="1"/>
            <a:r>
              <a:rPr lang="en-US" b="1" dirty="0"/>
              <a:t>Static Route</a:t>
            </a:r>
            <a:r>
              <a:rPr lang="en-US" dirty="0"/>
              <a:t>: the full route is prefetched.</a:t>
            </a:r>
          </a:p>
          <a:p>
            <a:pPr lvl="1"/>
            <a:r>
              <a:rPr lang="en-US" dirty="0"/>
              <a:t>Dynamic Route: prefetching is skipped, or the route is partially prefetched if </a:t>
            </a:r>
            <a:r>
              <a:rPr lang="en-US" dirty="0" err="1"/>
              <a:t>loading.tsx</a:t>
            </a:r>
            <a:r>
              <a:rPr lang="en-US" dirty="0"/>
              <a:t> is present.</a:t>
            </a:r>
          </a:p>
          <a:p>
            <a:r>
              <a:rPr lang="en-US" dirty="0"/>
              <a:t>By skipping or partially prefetching dynamic routes, Next.js avoids unnecessary work on the server for routes the users may never visit. </a:t>
            </a:r>
          </a:p>
        </p:txBody>
      </p:sp>
    </p:spTree>
    <p:extLst>
      <p:ext uri="{BB962C8B-B14F-4D97-AF65-F5344CB8AC3E}">
        <p14:creationId xmlns:p14="http://schemas.microsoft.com/office/powerpoint/2010/main" val="39033433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844F8-3B00-B87D-A969-6B9019E448FD}"/>
              </a:ext>
            </a:extLst>
          </p:cNvPr>
          <p:cNvSpPr>
            <a:spLocks noGrp="1"/>
          </p:cNvSpPr>
          <p:nvPr>
            <p:ph type="title"/>
          </p:nvPr>
        </p:nvSpPr>
        <p:spPr/>
        <p:txBody>
          <a:bodyPr/>
          <a:lstStyle/>
          <a:p>
            <a:r>
              <a:rPr lang="en-US" dirty="0"/>
              <a:t>Streaming</a:t>
            </a:r>
          </a:p>
        </p:txBody>
      </p:sp>
      <p:sp>
        <p:nvSpPr>
          <p:cNvPr id="3" name="Content Placeholder 2">
            <a:extLst>
              <a:ext uri="{FF2B5EF4-FFF2-40B4-BE49-F238E27FC236}">
                <a16:creationId xmlns:a16="http://schemas.microsoft.com/office/drawing/2014/main" id="{A0CBDF82-A534-AB88-C774-C46BB3663404}"/>
              </a:ext>
            </a:extLst>
          </p:cNvPr>
          <p:cNvSpPr>
            <a:spLocks noGrp="1"/>
          </p:cNvSpPr>
          <p:nvPr>
            <p:ph idx="1"/>
          </p:nvPr>
        </p:nvSpPr>
        <p:spPr/>
        <p:txBody>
          <a:bodyPr/>
          <a:lstStyle/>
          <a:p>
            <a:r>
              <a:rPr lang="en-US" b="1" dirty="0">
                <a:solidFill>
                  <a:srgbClr val="FF0000"/>
                </a:solidFill>
              </a:rPr>
              <a:t>Streaming</a:t>
            </a:r>
            <a:r>
              <a:rPr lang="en-US" b="1" dirty="0"/>
              <a:t> </a:t>
            </a:r>
            <a:r>
              <a:rPr lang="en-US" dirty="0"/>
              <a:t>is a technique that allows the server to </a:t>
            </a:r>
            <a:r>
              <a:rPr lang="en-US" b="1" dirty="0"/>
              <a:t>render and send UI content in chunks</a:t>
            </a:r>
            <a:r>
              <a:rPr lang="en-US" dirty="0"/>
              <a:t> to the browser, instead of waiting for the entire page to finish rendering.</a:t>
            </a:r>
          </a:p>
          <a:p>
            <a:r>
              <a:rPr lang="en-US" b="1" dirty="0"/>
              <a:t>Key idea</a:t>
            </a:r>
          </a:p>
          <a:p>
            <a:pPr lvl="1"/>
            <a:r>
              <a:rPr lang="en-US" dirty="0"/>
              <a:t>The page </a:t>
            </a:r>
            <a:r>
              <a:rPr lang="en-US" b="1" dirty="0"/>
              <a:t>shows available content early</a:t>
            </a:r>
            <a:r>
              <a:rPr lang="en-US" dirty="0"/>
              <a:t>, while slower parts continue loading.</a:t>
            </a:r>
          </a:p>
          <a:p>
            <a:pPr lvl="1"/>
            <a:r>
              <a:rPr lang="en-US" dirty="0"/>
              <a:t>Improves </a:t>
            </a:r>
            <a:r>
              <a:rPr lang="en-US" b="1" dirty="0"/>
              <a:t>user experience</a:t>
            </a:r>
            <a:r>
              <a:rPr lang="en-US" dirty="0"/>
              <a:t> and </a:t>
            </a:r>
            <a:r>
              <a:rPr lang="en-US" b="1" dirty="0"/>
              <a:t>perceived performance</a:t>
            </a:r>
            <a:r>
              <a:rPr lang="en-US" dirty="0"/>
              <a:t>.</a:t>
            </a:r>
          </a:p>
          <a:p>
            <a:endParaRPr lang="en-US" dirty="0"/>
          </a:p>
        </p:txBody>
      </p:sp>
    </p:spTree>
    <p:extLst>
      <p:ext uri="{BB962C8B-B14F-4D97-AF65-F5344CB8AC3E}">
        <p14:creationId xmlns:p14="http://schemas.microsoft.com/office/powerpoint/2010/main" val="34242199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EA75B-EC70-978C-6D31-511C73ABE682}"/>
              </a:ext>
            </a:extLst>
          </p:cNvPr>
          <p:cNvSpPr>
            <a:spLocks noGrp="1"/>
          </p:cNvSpPr>
          <p:nvPr>
            <p:ph type="title"/>
          </p:nvPr>
        </p:nvSpPr>
        <p:spPr/>
        <p:txBody>
          <a:bodyPr/>
          <a:lstStyle/>
          <a:p>
            <a:r>
              <a:rPr lang="en-US" dirty="0"/>
              <a:t>Streaming</a:t>
            </a:r>
          </a:p>
        </p:txBody>
      </p:sp>
      <p:sp>
        <p:nvSpPr>
          <p:cNvPr id="3" name="Content Placeholder 2">
            <a:extLst>
              <a:ext uri="{FF2B5EF4-FFF2-40B4-BE49-F238E27FC236}">
                <a16:creationId xmlns:a16="http://schemas.microsoft.com/office/drawing/2014/main" id="{3E8FAF5C-99C7-FD84-D124-573702F1E187}"/>
              </a:ext>
            </a:extLst>
          </p:cNvPr>
          <p:cNvSpPr>
            <a:spLocks noGrp="1"/>
          </p:cNvSpPr>
          <p:nvPr>
            <p:ph idx="1"/>
          </p:nvPr>
        </p:nvSpPr>
        <p:spPr/>
        <p:txBody>
          <a:bodyPr/>
          <a:lstStyle/>
          <a:p>
            <a:r>
              <a:rPr lang="en-US" b="1" dirty="0"/>
              <a:t>How it works in Next.js</a:t>
            </a:r>
          </a:p>
          <a:p>
            <a:pPr lvl="1"/>
            <a:r>
              <a:rPr lang="en-US" dirty="0"/>
              <a:t>Built on </a:t>
            </a:r>
            <a:r>
              <a:rPr lang="en-US" b="1" dirty="0"/>
              <a:t>React Server Components</a:t>
            </a:r>
            <a:r>
              <a:rPr lang="en-US" dirty="0"/>
              <a:t> and </a:t>
            </a:r>
            <a:r>
              <a:rPr lang="en-US" b="1" dirty="0"/>
              <a:t>Suspense</a:t>
            </a:r>
            <a:r>
              <a:rPr lang="en-US" dirty="0"/>
              <a:t>.</a:t>
            </a:r>
          </a:p>
          <a:p>
            <a:pPr lvl="1"/>
            <a:r>
              <a:rPr lang="en-US" dirty="0"/>
              <a:t>The server streams HTML as soon as data is ready.</a:t>
            </a:r>
          </a:p>
          <a:p>
            <a:pPr lvl="1"/>
            <a:r>
              <a:rPr lang="en-US" dirty="0"/>
              <a:t>The browser progressively renders the content.</a:t>
            </a:r>
          </a:p>
          <a:p>
            <a:endParaRPr lang="en-US" dirty="0"/>
          </a:p>
        </p:txBody>
      </p:sp>
      <p:pic>
        <p:nvPicPr>
          <p:cNvPr id="5" name="Picture 4">
            <a:extLst>
              <a:ext uri="{FF2B5EF4-FFF2-40B4-BE49-F238E27FC236}">
                <a16:creationId xmlns:a16="http://schemas.microsoft.com/office/drawing/2014/main" id="{7DFDFA71-A75A-F427-3A93-F0516E5AE1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4449" y="3788229"/>
            <a:ext cx="6853028" cy="17391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814677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5E7F7-4F02-323F-2E27-41574FD858A0}"/>
              </a:ext>
            </a:extLst>
          </p:cNvPr>
          <p:cNvSpPr>
            <a:spLocks noGrp="1"/>
          </p:cNvSpPr>
          <p:nvPr>
            <p:ph type="title"/>
          </p:nvPr>
        </p:nvSpPr>
        <p:spPr/>
        <p:txBody>
          <a:bodyPr/>
          <a:lstStyle/>
          <a:p>
            <a:r>
              <a:rPr lang="en-US" dirty="0"/>
              <a:t>Streaming</a:t>
            </a:r>
          </a:p>
        </p:txBody>
      </p:sp>
      <p:sp>
        <p:nvSpPr>
          <p:cNvPr id="7" name="Content Placeholder 6">
            <a:extLst>
              <a:ext uri="{FF2B5EF4-FFF2-40B4-BE49-F238E27FC236}">
                <a16:creationId xmlns:a16="http://schemas.microsoft.com/office/drawing/2014/main" id="{309AF018-66E9-6F02-8CD2-EAE063DA21DA}"/>
              </a:ext>
            </a:extLst>
          </p:cNvPr>
          <p:cNvSpPr>
            <a:spLocks noGrp="1"/>
          </p:cNvSpPr>
          <p:nvPr>
            <p:ph idx="1"/>
          </p:nvPr>
        </p:nvSpPr>
        <p:spPr/>
        <p:txBody>
          <a:bodyPr/>
          <a:lstStyle/>
          <a:p>
            <a:r>
              <a:rPr lang="en-US" dirty="0"/>
              <a:t>Example:</a:t>
            </a:r>
          </a:p>
        </p:txBody>
      </p:sp>
      <p:pic>
        <p:nvPicPr>
          <p:cNvPr id="8" name="Content Placeholder 4">
            <a:extLst>
              <a:ext uri="{FF2B5EF4-FFF2-40B4-BE49-F238E27FC236}">
                <a16:creationId xmlns:a16="http://schemas.microsoft.com/office/drawing/2014/main" id="{9D98C74D-7C7E-486B-8A3E-F4EE671C7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8062" y="1664063"/>
            <a:ext cx="8027618" cy="3529874"/>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C6D7EE78-B30C-3953-594B-E4F039108415}"/>
              </a:ext>
            </a:extLst>
          </p:cNvPr>
          <p:cNvSpPr txBox="1"/>
          <p:nvPr/>
        </p:nvSpPr>
        <p:spPr>
          <a:xfrm>
            <a:off x="1097280" y="5574691"/>
            <a:ext cx="10467703" cy="461665"/>
          </a:xfrm>
          <a:prstGeom prst="rect">
            <a:avLst/>
          </a:prstGeom>
          <a:noFill/>
        </p:spPr>
        <p:txBody>
          <a:bodyPr wrap="square">
            <a:spAutoFit/>
          </a:bodyPr>
          <a:lstStyle/>
          <a:p>
            <a:r>
              <a:rPr lang="en-US" sz="2400" i="1" dirty="0"/>
              <a:t>Even if </a:t>
            </a:r>
            <a:r>
              <a:rPr lang="en-US" sz="2400" i="1" dirty="0" err="1">
                <a:latin typeface="Courier New" panose="02070309020205020404" pitchFamily="49" charset="0"/>
              </a:rPr>
              <a:t>ProductList</a:t>
            </a:r>
            <a:r>
              <a:rPr lang="en-US" sz="2400" i="1" dirty="0"/>
              <a:t> loads slowly, the page title is displayed immediately</a:t>
            </a:r>
          </a:p>
        </p:txBody>
      </p:sp>
    </p:spTree>
    <p:extLst>
      <p:ext uri="{BB962C8B-B14F-4D97-AF65-F5344CB8AC3E}">
        <p14:creationId xmlns:p14="http://schemas.microsoft.com/office/powerpoint/2010/main" val="4338151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7CE4-2C5C-B518-EE3D-2C49614A8E1E}"/>
              </a:ext>
            </a:extLst>
          </p:cNvPr>
          <p:cNvSpPr>
            <a:spLocks noGrp="1"/>
          </p:cNvSpPr>
          <p:nvPr>
            <p:ph type="title"/>
          </p:nvPr>
        </p:nvSpPr>
        <p:spPr/>
        <p:txBody>
          <a:bodyPr/>
          <a:lstStyle/>
          <a:p>
            <a:r>
              <a:rPr lang="en-US" dirty="0"/>
              <a:t>Client-side transitions</a:t>
            </a:r>
          </a:p>
        </p:txBody>
      </p:sp>
      <p:sp>
        <p:nvSpPr>
          <p:cNvPr id="3" name="Content Placeholder 2">
            <a:extLst>
              <a:ext uri="{FF2B5EF4-FFF2-40B4-BE49-F238E27FC236}">
                <a16:creationId xmlns:a16="http://schemas.microsoft.com/office/drawing/2014/main" id="{7CA6ABD8-30EB-2149-DAEF-E8C6C1102672}"/>
              </a:ext>
            </a:extLst>
          </p:cNvPr>
          <p:cNvSpPr>
            <a:spLocks noGrp="1"/>
          </p:cNvSpPr>
          <p:nvPr>
            <p:ph idx="1"/>
          </p:nvPr>
        </p:nvSpPr>
        <p:spPr/>
        <p:txBody>
          <a:bodyPr>
            <a:normAutofit/>
          </a:bodyPr>
          <a:lstStyle/>
          <a:p>
            <a:r>
              <a:rPr lang="en-US" dirty="0"/>
              <a:t>Client-side transitions in Next.js allow navigation between pages </a:t>
            </a:r>
            <a:r>
              <a:rPr lang="en-US" b="1" dirty="0"/>
              <a:t>without a full page reload</a:t>
            </a:r>
            <a:r>
              <a:rPr lang="en-US" dirty="0"/>
              <a:t>, making the app feel fast and smooth—similar to a Single-Page Application (SPA).</a:t>
            </a:r>
          </a:p>
          <a:p>
            <a:r>
              <a:rPr lang="en-US" b="1" dirty="0"/>
              <a:t>How it works: </a:t>
            </a:r>
            <a:r>
              <a:rPr lang="en-US" dirty="0"/>
              <a:t>Next.js uses the </a:t>
            </a:r>
            <a:r>
              <a:rPr lang="en-US" b="1" dirty="0"/>
              <a:t>next/link</a:t>
            </a:r>
            <a:r>
              <a:rPr lang="en-US" dirty="0"/>
              <a:t> component and </a:t>
            </a:r>
            <a:r>
              <a:rPr lang="en-US" b="1" dirty="0"/>
              <a:t>App Router navigation</a:t>
            </a:r>
            <a:r>
              <a:rPr lang="en-US" dirty="0"/>
              <a:t>.</a:t>
            </a:r>
          </a:p>
          <a:p>
            <a:pPr lvl="1"/>
            <a:r>
              <a:rPr lang="en-US" dirty="0"/>
              <a:t>When a user clicks a link, Next.js:</a:t>
            </a:r>
          </a:p>
          <a:p>
            <a:pPr lvl="2"/>
            <a:r>
              <a:rPr lang="en-US" sz="2400" dirty="0"/>
              <a:t>Loads the new page </a:t>
            </a:r>
            <a:r>
              <a:rPr lang="en-US" sz="2400" b="1" dirty="0"/>
              <a:t>in the background</a:t>
            </a:r>
            <a:endParaRPr lang="en-US" sz="2400" dirty="0"/>
          </a:p>
          <a:p>
            <a:pPr lvl="2"/>
            <a:r>
              <a:rPr lang="en-US" sz="2400" dirty="0"/>
              <a:t>Updates the UI </a:t>
            </a:r>
            <a:r>
              <a:rPr lang="en-US" sz="2400" b="1" dirty="0"/>
              <a:t>without reloading the browser</a:t>
            </a:r>
            <a:endParaRPr lang="en-US" sz="2400" dirty="0"/>
          </a:p>
          <a:p>
            <a:pPr lvl="2"/>
            <a:r>
              <a:rPr lang="en-US" sz="2400" dirty="0"/>
              <a:t>Preserves state where possible</a:t>
            </a:r>
          </a:p>
          <a:p>
            <a:endParaRPr lang="en-US" dirty="0"/>
          </a:p>
        </p:txBody>
      </p:sp>
    </p:spTree>
    <p:extLst>
      <p:ext uri="{BB962C8B-B14F-4D97-AF65-F5344CB8AC3E}">
        <p14:creationId xmlns:p14="http://schemas.microsoft.com/office/powerpoint/2010/main" val="17924576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9A98-19BA-83B3-1D3C-C37AEE23AF69}"/>
              </a:ext>
            </a:extLst>
          </p:cNvPr>
          <p:cNvSpPr>
            <a:spLocks noGrp="1"/>
          </p:cNvSpPr>
          <p:nvPr>
            <p:ph type="title"/>
          </p:nvPr>
        </p:nvSpPr>
        <p:spPr/>
        <p:txBody>
          <a:bodyPr>
            <a:normAutofit/>
          </a:bodyPr>
          <a:lstStyle/>
          <a:p>
            <a:r>
              <a:rPr lang="en-US" dirty="0"/>
              <a:t>Server and Client Components</a:t>
            </a:r>
          </a:p>
        </p:txBody>
      </p:sp>
      <p:sp>
        <p:nvSpPr>
          <p:cNvPr id="3" name="Content Placeholder 2">
            <a:extLst>
              <a:ext uri="{FF2B5EF4-FFF2-40B4-BE49-F238E27FC236}">
                <a16:creationId xmlns:a16="http://schemas.microsoft.com/office/drawing/2014/main" id="{91DDA97D-6B37-6715-E968-6693C8D47606}"/>
              </a:ext>
            </a:extLst>
          </p:cNvPr>
          <p:cNvSpPr>
            <a:spLocks noGrp="1"/>
          </p:cNvSpPr>
          <p:nvPr>
            <p:ph idx="1"/>
          </p:nvPr>
        </p:nvSpPr>
        <p:spPr/>
        <p:txBody>
          <a:bodyPr/>
          <a:lstStyle/>
          <a:p>
            <a:r>
              <a:rPr lang="en-US" dirty="0"/>
              <a:t>Next.js (App Router) uses </a:t>
            </a:r>
            <a:r>
              <a:rPr lang="en-US" b="1" dirty="0"/>
              <a:t>React Server Components (RSC)</a:t>
            </a:r>
            <a:r>
              <a:rPr lang="en-US" dirty="0"/>
              <a:t> to separate components into </a:t>
            </a:r>
            <a:r>
              <a:rPr lang="en-US" b="1" dirty="0"/>
              <a:t>Server Components</a:t>
            </a:r>
            <a:r>
              <a:rPr lang="en-US" dirty="0"/>
              <a:t> and </a:t>
            </a:r>
            <a:r>
              <a:rPr lang="en-US" b="1" dirty="0"/>
              <a:t>Client Components</a:t>
            </a:r>
            <a:r>
              <a:rPr lang="en-US" dirty="0"/>
              <a:t>, helping improve performance and scalability.</a:t>
            </a:r>
          </a:p>
          <a:p>
            <a:r>
              <a:rPr lang="en-US" b="1" dirty="0"/>
              <a:t>When to use Server and Client Components</a:t>
            </a:r>
            <a:r>
              <a:rPr lang="en-US" dirty="0"/>
              <a:t>?</a:t>
            </a:r>
          </a:p>
          <a:p>
            <a:pPr lvl="1"/>
            <a:r>
              <a:rPr lang="en-US" i="1" dirty="0"/>
              <a:t>The client and server environments have different capabilities</a:t>
            </a:r>
            <a:r>
              <a:rPr lang="en-US" dirty="0"/>
              <a:t>. Server and Client components allow you to run logic in each environment depending on your use case.</a:t>
            </a:r>
          </a:p>
          <a:p>
            <a:endParaRPr lang="en-US" dirty="0"/>
          </a:p>
        </p:txBody>
      </p:sp>
    </p:spTree>
    <p:extLst>
      <p:ext uri="{BB962C8B-B14F-4D97-AF65-F5344CB8AC3E}">
        <p14:creationId xmlns:p14="http://schemas.microsoft.com/office/powerpoint/2010/main" val="32594668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A16A6-CA3D-7201-19C0-7EF74E3B04C6}"/>
              </a:ext>
            </a:extLst>
          </p:cNvPr>
          <p:cNvSpPr>
            <a:spLocks noGrp="1"/>
          </p:cNvSpPr>
          <p:nvPr>
            <p:ph type="title"/>
          </p:nvPr>
        </p:nvSpPr>
        <p:spPr/>
        <p:txBody>
          <a:bodyPr/>
          <a:lstStyle/>
          <a:p>
            <a:r>
              <a:rPr lang="en-US" dirty="0"/>
              <a:t>Server Components (Default)</a:t>
            </a:r>
          </a:p>
        </p:txBody>
      </p:sp>
      <p:sp>
        <p:nvSpPr>
          <p:cNvPr id="3" name="Content Placeholder 2">
            <a:extLst>
              <a:ext uri="{FF2B5EF4-FFF2-40B4-BE49-F238E27FC236}">
                <a16:creationId xmlns:a16="http://schemas.microsoft.com/office/drawing/2014/main" id="{7098BC8B-1033-E4A4-2AF0-25570CEFBD6B}"/>
              </a:ext>
            </a:extLst>
          </p:cNvPr>
          <p:cNvSpPr>
            <a:spLocks noGrp="1"/>
          </p:cNvSpPr>
          <p:nvPr>
            <p:ph idx="1"/>
          </p:nvPr>
        </p:nvSpPr>
        <p:spPr/>
        <p:txBody>
          <a:bodyPr/>
          <a:lstStyle/>
          <a:p>
            <a:r>
              <a:rPr lang="en-US" b="1" dirty="0"/>
              <a:t>Server Components</a:t>
            </a:r>
            <a:r>
              <a:rPr lang="en-US" dirty="0"/>
              <a:t> run </a:t>
            </a:r>
            <a:r>
              <a:rPr lang="en-US" b="1" dirty="0"/>
              <a:t>only on the server</a:t>
            </a:r>
            <a:r>
              <a:rPr lang="en-US" dirty="0"/>
              <a:t> and are the default in the app/ directory.</a:t>
            </a:r>
          </a:p>
          <a:p>
            <a:r>
              <a:rPr lang="en-US" b="1" dirty="0"/>
              <a:t>Characteristics</a:t>
            </a:r>
          </a:p>
          <a:p>
            <a:pPr lvl="1"/>
            <a:r>
              <a:rPr lang="en-US" dirty="0"/>
              <a:t>Rendered on the server</a:t>
            </a:r>
          </a:p>
          <a:p>
            <a:pPr lvl="1"/>
            <a:r>
              <a:rPr lang="en-US" dirty="0"/>
              <a:t>Can directly access </a:t>
            </a:r>
            <a:r>
              <a:rPr lang="en-US" b="1" dirty="0"/>
              <a:t>databases, file system, and secrets</a:t>
            </a:r>
            <a:endParaRPr lang="en-US" dirty="0"/>
          </a:p>
          <a:p>
            <a:pPr lvl="1"/>
            <a:r>
              <a:rPr lang="en-US" dirty="0"/>
              <a:t>Do </a:t>
            </a:r>
            <a:r>
              <a:rPr lang="en-US" b="1" dirty="0"/>
              <a:t>not</a:t>
            </a:r>
            <a:r>
              <a:rPr lang="en-US" dirty="0"/>
              <a:t> include client-side JavaScript</a:t>
            </a:r>
          </a:p>
          <a:p>
            <a:pPr lvl="1"/>
            <a:r>
              <a:rPr lang="en-US" dirty="0"/>
              <a:t>Better performance and smaller JS bundles</a:t>
            </a:r>
          </a:p>
          <a:p>
            <a:endParaRPr lang="en-US" dirty="0"/>
          </a:p>
        </p:txBody>
      </p:sp>
    </p:spTree>
    <p:extLst>
      <p:ext uri="{BB962C8B-B14F-4D97-AF65-F5344CB8AC3E}">
        <p14:creationId xmlns:p14="http://schemas.microsoft.com/office/powerpoint/2010/main" val="31820335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64A4-2825-2B81-5476-7BBAC5F1884A}"/>
              </a:ext>
            </a:extLst>
          </p:cNvPr>
          <p:cNvSpPr>
            <a:spLocks noGrp="1"/>
          </p:cNvSpPr>
          <p:nvPr>
            <p:ph type="title"/>
          </p:nvPr>
        </p:nvSpPr>
        <p:spPr/>
        <p:txBody>
          <a:bodyPr/>
          <a:lstStyle/>
          <a:p>
            <a:r>
              <a:rPr lang="en-US" dirty="0"/>
              <a:t>Server Components (Default)</a:t>
            </a:r>
          </a:p>
        </p:txBody>
      </p:sp>
      <p:sp>
        <p:nvSpPr>
          <p:cNvPr id="3" name="Content Placeholder 2">
            <a:extLst>
              <a:ext uri="{FF2B5EF4-FFF2-40B4-BE49-F238E27FC236}">
                <a16:creationId xmlns:a16="http://schemas.microsoft.com/office/drawing/2014/main" id="{CC6CDC89-3D6D-299E-B0DD-918B33366867}"/>
              </a:ext>
            </a:extLst>
          </p:cNvPr>
          <p:cNvSpPr>
            <a:spLocks noGrp="1"/>
          </p:cNvSpPr>
          <p:nvPr>
            <p:ph idx="1"/>
          </p:nvPr>
        </p:nvSpPr>
        <p:spPr/>
        <p:txBody>
          <a:bodyPr/>
          <a:lstStyle/>
          <a:p>
            <a:r>
              <a:rPr lang="en-US" dirty="0"/>
              <a:t>Example </a:t>
            </a:r>
          </a:p>
        </p:txBody>
      </p:sp>
      <p:pic>
        <p:nvPicPr>
          <p:cNvPr id="5" name="Picture 4">
            <a:extLst>
              <a:ext uri="{FF2B5EF4-FFF2-40B4-BE49-F238E27FC236}">
                <a16:creationId xmlns:a16="http://schemas.microsoft.com/office/drawing/2014/main" id="{8C576199-D93D-7B69-F0F3-791B442EC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2187" y="2231506"/>
            <a:ext cx="9652533" cy="37268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243356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4C4F1-4CBD-2D8C-C2B3-63C7EC451DF4}"/>
              </a:ext>
            </a:extLst>
          </p:cNvPr>
          <p:cNvSpPr>
            <a:spLocks noGrp="1"/>
          </p:cNvSpPr>
          <p:nvPr>
            <p:ph type="title"/>
          </p:nvPr>
        </p:nvSpPr>
        <p:spPr/>
        <p:txBody>
          <a:bodyPr/>
          <a:lstStyle/>
          <a:p>
            <a:r>
              <a:rPr lang="en-US" dirty="0"/>
              <a:t>Client Components</a:t>
            </a:r>
          </a:p>
        </p:txBody>
      </p:sp>
      <p:sp>
        <p:nvSpPr>
          <p:cNvPr id="3" name="Content Placeholder 2">
            <a:extLst>
              <a:ext uri="{FF2B5EF4-FFF2-40B4-BE49-F238E27FC236}">
                <a16:creationId xmlns:a16="http://schemas.microsoft.com/office/drawing/2014/main" id="{AA7FCF31-AFE3-8F0D-915B-9AAB8F369FC6}"/>
              </a:ext>
            </a:extLst>
          </p:cNvPr>
          <p:cNvSpPr>
            <a:spLocks noGrp="1"/>
          </p:cNvSpPr>
          <p:nvPr>
            <p:ph idx="1"/>
          </p:nvPr>
        </p:nvSpPr>
        <p:spPr/>
        <p:txBody>
          <a:bodyPr/>
          <a:lstStyle/>
          <a:p>
            <a:r>
              <a:rPr lang="en-US" b="1" dirty="0"/>
              <a:t>Client Components</a:t>
            </a:r>
            <a:r>
              <a:rPr lang="en-US" dirty="0"/>
              <a:t> run in the </a:t>
            </a:r>
            <a:r>
              <a:rPr lang="en-US" b="1" dirty="0"/>
              <a:t>browser</a:t>
            </a:r>
            <a:r>
              <a:rPr lang="en-US" dirty="0"/>
              <a:t> and are required for interactivity.</a:t>
            </a:r>
          </a:p>
          <a:p>
            <a:r>
              <a:rPr lang="en-US" b="1" dirty="0"/>
              <a:t>Characteristics</a:t>
            </a:r>
          </a:p>
          <a:p>
            <a:pPr lvl="1"/>
            <a:r>
              <a:rPr lang="en-US" dirty="0"/>
              <a:t>Use "use client" directive</a:t>
            </a:r>
          </a:p>
          <a:p>
            <a:pPr lvl="1"/>
            <a:r>
              <a:rPr lang="en-US" dirty="0"/>
              <a:t>Support </a:t>
            </a:r>
            <a:r>
              <a:rPr lang="en-US" b="1" dirty="0"/>
              <a:t>state, effects, and event handlers</a:t>
            </a:r>
            <a:endParaRPr lang="en-US" dirty="0"/>
          </a:p>
          <a:p>
            <a:pPr lvl="1"/>
            <a:r>
              <a:rPr lang="en-US" dirty="0"/>
              <a:t>Can access browser APIs (window, </a:t>
            </a:r>
            <a:r>
              <a:rPr lang="en-US" dirty="0" err="1"/>
              <a:t>localStorage</a:t>
            </a:r>
            <a:r>
              <a:rPr lang="en-US" dirty="0"/>
              <a:t>, etc.)</a:t>
            </a:r>
          </a:p>
          <a:p>
            <a:pPr lvl="1"/>
            <a:r>
              <a:rPr lang="en-US" dirty="0"/>
              <a:t>Increase client-side JavaScript</a:t>
            </a:r>
          </a:p>
          <a:p>
            <a:endParaRPr lang="en-US" dirty="0"/>
          </a:p>
        </p:txBody>
      </p:sp>
    </p:spTree>
    <p:extLst>
      <p:ext uri="{BB962C8B-B14F-4D97-AF65-F5344CB8AC3E}">
        <p14:creationId xmlns:p14="http://schemas.microsoft.com/office/powerpoint/2010/main" val="20294206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E7B7A-D548-751A-5807-825D6CF53338}"/>
              </a:ext>
            </a:extLst>
          </p:cNvPr>
          <p:cNvSpPr>
            <a:spLocks noGrp="1"/>
          </p:cNvSpPr>
          <p:nvPr>
            <p:ph type="title"/>
          </p:nvPr>
        </p:nvSpPr>
        <p:spPr/>
        <p:txBody>
          <a:bodyPr/>
          <a:lstStyle/>
          <a:p>
            <a:r>
              <a:rPr lang="en-US" dirty="0"/>
              <a:t>Client Components</a:t>
            </a:r>
          </a:p>
        </p:txBody>
      </p:sp>
      <p:sp>
        <p:nvSpPr>
          <p:cNvPr id="3" name="Content Placeholder 2">
            <a:extLst>
              <a:ext uri="{FF2B5EF4-FFF2-40B4-BE49-F238E27FC236}">
                <a16:creationId xmlns:a16="http://schemas.microsoft.com/office/drawing/2014/main" id="{F64D3751-3D26-9009-3BCA-4277AB0C8018}"/>
              </a:ext>
            </a:extLst>
          </p:cNvPr>
          <p:cNvSpPr>
            <a:spLocks noGrp="1"/>
          </p:cNvSpPr>
          <p:nvPr>
            <p:ph idx="1"/>
          </p:nvPr>
        </p:nvSpPr>
        <p:spPr/>
        <p:txBody>
          <a:bodyPr/>
          <a:lstStyle/>
          <a:p>
            <a:r>
              <a:rPr lang="en-US" dirty="0"/>
              <a:t>Example </a:t>
            </a:r>
          </a:p>
        </p:txBody>
      </p:sp>
      <p:pic>
        <p:nvPicPr>
          <p:cNvPr id="5" name="Picture 4">
            <a:extLst>
              <a:ext uri="{FF2B5EF4-FFF2-40B4-BE49-F238E27FC236}">
                <a16:creationId xmlns:a16="http://schemas.microsoft.com/office/drawing/2014/main" id="{2A5E1E95-DCD4-5D37-FA8E-0F456A29A1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920" y="2412769"/>
            <a:ext cx="9878731" cy="26257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949400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9D5E-9C27-3972-B58D-56ED905762F7}"/>
              </a:ext>
            </a:extLst>
          </p:cNvPr>
          <p:cNvSpPr>
            <a:spLocks noGrp="1"/>
          </p:cNvSpPr>
          <p:nvPr>
            <p:ph type="title"/>
          </p:nvPr>
        </p:nvSpPr>
        <p:spPr/>
        <p:txBody>
          <a:bodyPr/>
          <a:lstStyle/>
          <a:p>
            <a:r>
              <a:rPr lang="en-US" dirty="0"/>
              <a:t>Using Server &amp; Client Together</a:t>
            </a:r>
          </a:p>
        </p:txBody>
      </p:sp>
      <p:sp>
        <p:nvSpPr>
          <p:cNvPr id="3" name="Content Placeholder 2">
            <a:extLst>
              <a:ext uri="{FF2B5EF4-FFF2-40B4-BE49-F238E27FC236}">
                <a16:creationId xmlns:a16="http://schemas.microsoft.com/office/drawing/2014/main" id="{EFE1567C-2CE3-2D8A-7958-9ABEC6136CB6}"/>
              </a:ext>
            </a:extLst>
          </p:cNvPr>
          <p:cNvSpPr>
            <a:spLocks noGrp="1"/>
          </p:cNvSpPr>
          <p:nvPr>
            <p:ph idx="1"/>
          </p:nvPr>
        </p:nvSpPr>
        <p:spPr/>
        <p:txBody>
          <a:bodyPr/>
          <a:lstStyle/>
          <a:p>
            <a:r>
              <a:rPr lang="en-US" dirty="0"/>
              <a:t>Server Components can </a:t>
            </a:r>
            <a:r>
              <a:rPr lang="en-US" b="1" dirty="0"/>
              <a:t>import Client Components</a:t>
            </a:r>
            <a:r>
              <a:rPr lang="en-US" dirty="0"/>
              <a:t>, but not the other way around.</a:t>
            </a:r>
          </a:p>
        </p:txBody>
      </p:sp>
      <p:pic>
        <p:nvPicPr>
          <p:cNvPr id="5" name="Picture 4">
            <a:extLst>
              <a:ext uri="{FF2B5EF4-FFF2-40B4-BE49-F238E27FC236}">
                <a16:creationId xmlns:a16="http://schemas.microsoft.com/office/drawing/2014/main" id="{4A249CB1-09D8-CFE1-73CD-6E4D049195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232" y="2696836"/>
            <a:ext cx="5056496" cy="33777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80427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481DE-5417-1F1D-A135-16CE61B4ACDA}"/>
              </a:ext>
            </a:extLst>
          </p:cNvPr>
          <p:cNvSpPr>
            <a:spLocks noGrp="1"/>
          </p:cNvSpPr>
          <p:nvPr>
            <p:ph type="title"/>
          </p:nvPr>
        </p:nvSpPr>
        <p:spPr/>
        <p:txBody>
          <a:bodyPr>
            <a:normAutofit/>
          </a:bodyPr>
          <a:lstStyle/>
          <a:p>
            <a:r>
              <a:rPr lang="en-US" dirty="0"/>
              <a:t>Fetching Data</a:t>
            </a:r>
          </a:p>
        </p:txBody>
      </p:sp>
      <p:sp>
        <p:nvSpPr>
          <p:cNvPr id="3" name="Content Placeholder 2">
            <a:extLst>
              <a:ext uri="{FF2B5EF4-FFF2-40B4-BE49-F238E27FC236}">
                <a16:creationId xmlns:a16="http://schemas.microsoft.com/office/drawing/2014/main" id="{5CE308E3-C2D2-3386-1C62-8B6DAC581E6D}"/>
              </a:ext>
            </a:extLst>
          </p:cNvPr>
          <p:cNvSpPr>
            <a:spLocks noGrp="1"/>
          </p:cNvSpPr>
          <p:nvPr>
            <p:ph idx="1"/>
          </p:nvPr>
        </p:nvSpPr>
        <p:spPr/>
        <p:txBody>
          <a:bodyPr>
            <a:normAutofit/>
          </a:bodyPr>
          <a:lstStyle/>
          <a:p>
            <a:r>
              <a:rPr lang="en-US" b="1" dirty="0">
                <a:solidFill>
                  <a:srgbClr val="FF0000"/>
                </a:solidFill>
              </a:rPr>
              <a:t>Fetching Data in Server Components (Recommended)</a:t>
            </a:r>
          </a:p>
          <a:p>
            <a:pPr lvl="1"/>
            <a:r>
              <a:rPr lang="en-US" dirty="0"/>
              <a:t>By default, components in the app/ directory are </a:t>
            </a:r>
            <a:r>
              <a:rPr lang="en-US" b="1" dirty="0"/>
              <a:t>Server Components</a:t>
            </a:r>
            <a:r>
              <a:rPr lang="en-US" dirty="0"/>
              <a:t>, so you can fetch data directly.</a:t>
            </a:r>
          </a:p>
          <a:p>
            <a:r>
              <a:rPr lang="en-US" dirty="0"/>
              <a:t>can fetch data in Server Components using any asynchronous I/O, such as:</a:t>
            </a:r>
          </a:p>
          <a:p>
            <a:pPr lvl="1"/>
            <a:r>
              <a:rPr lang="en-US" dirty="0"/>
              <a:t>The fetch API</a:t>
            </a:r>
          </a:p>
          <a:p>
            <a:pPr lvl="1"/>
            <a:r>
              <a:rPr lang="en-US" dirty="0"/>
              <a:t>An ORM or database</a:t>
            </a:r>
          </a:p>
          <a:p>
            <a:pPr lvl="1"/>
            <a:r>
              <a:rPr lang="en-US" dirty="0"/>
              <a:t>Reading from the filesystem using Node.js APIs like fs</a:t>
            </a:r>
          </a:p>
          <a:p>
            <a:pPr lvl="1"/>
            <a:endParaRPr lang="en-US" dirty="0"/>
          </a:p>
          <a:p>
            <a:endParaRPr lang="en-US" dirty="0"/>
          </a:p>
        </p:txBody>
      </p:sp>
    </p:spTree>
    <p:extLst>
      <p:ext uri="{BB962C8B-B14F-4D97-AF65-F5344CB8AC3E}">
        <p14:creationId xmlns:p14="http://schemas.microsoft.com/office/powerpoint/2010/main" val="209413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A32C8-A638-49C4-04C0-E4A8C2640FD2}"/>
              </a:ext>
            </a:extLst>
          </p:cNvPr>
          <p:cNvSpPr>
            <a:spLocks noGrp="1"/>
          </p:cNvSpPr>
          <p:nvPr>
            <p:ph type="title"/>
          </p:nvPr>
        </p:nvSpPr>
        <p:spPr/>
        <p:txBody>
          <a:bodyPr/>
          <a:lstStyle/>
          <a:p>
            <a:r>
              <a:rPr lang="en-US" dirty="0"/>
              <a:t>Fetching Data</a:t>
            </a:r>
          </a:p>
        </p:txBody>
      </p:sp>
      <p:sp>
        <p:nvSpPr>
          <p:cNvPr id="3" name="Content Placeholder 2">
            <a:extLst>
              <a:ext uri="{FF2B5EF4-FFF2-40B4-BE49-F238E27FC236}">
                <a16:creationId xmlns:a16="http://schemas.microsoft.com/office/drawing/2014/main" id="{70AE8345-3CDF-5257-AAAF-B02240F5BAD5}"/>
              </a:ext>
            </a:extLst>
          </p:cNvPr>
          <p:cNvSpPr>
            <a:spLocks noGrp="1"/>
          </p:cNvSpPr>
          <p:nvPr>
            <p:ph idx="1"/>
          </p:nvPr>
        </p:nvSpPr>
        <p:spPr/>
        <p:txBody>
          <a:bodyPr/>
          <a:lstStyle/>
          <a:p>
            <a:r>
              <a:rPr lang="en-US" b="1" dirty="0">
                <a:solidFill>
                  <a:srgbClr val="FF0000"/>
                </a:solidFill>
              </a:rPr>
              <a:t>Fetching Data in Server Components (Recommended)</a:t>
            </a:r>
          </a:p>
          <a:p>
            <a:pPr lvl="1"/>
            <a:r>
              <a:rPr lang="en-US" b="1" dirty="0"/>
              <a:t>With the fetch API: </a:t>
            </a:r>
            <a:r>
              <a:rPr lang="en-US" dirty="0"/>
              <a:t>To fetch data with the fetch API, turn your component into an asynchronous function, and await the fetch call</a:t>
            </a:r>
          </a:p>
          <a:p>
            <a:pPr lvl="1"/>
            <a:r>
              <a:rPr lang="en-US" dirty="0"/>
              <a:t>Example: </a:t>
            </a:r>
          </a:p>
          <a:p>
            <a:endParaRPr lang="en-US" dirty="0"/>
          </a:p>
        </p:txBody>
      </p:sp>
      <p:pic>
        <p:nvPicPr>
          <p:cNvPr id="5" name="Picture 4">
            <a:extLst>
              <a:ext uri="{FF2B5EF4-FFF2-40B4-BE49-F238E27FC236}">
                <a16:creationId xmlns:a16="http://schemas.microsoft.com/office/drawing/2014/main" id="{0C569776-6AC5-802B-4A72-7FDDD4F317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069" y="3098445"/>
            <a:ext cx="6249874" cy="29761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645465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CC4D1-C3F5-2489-D0E1-B136C8161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11B9E-7F41-E7D9-2BDE-635BC33DD2EF}"/>
              </a:ext>
            </a:extLst>
          </p:cNvPr>
          <p:cNvSpPr>
            <a:spLocks noGrp="1"/>
          </p:cNvSpPr>
          <p:nvPr>
            <p:ph type="title"/>
          </p:nvPr>
        </p:nvSpPr>
        <p:spPr/>
        <p:txBody>
          <a:bodyPr/>
          <a:lstStyle/>
          <a:p>
            <a:r>
              <a:rPr lang="en-US" dirty="0"/>
              <a:t>Fetching Data</a:t>
            </a:r>
          </a:p>
        </p:txBody>
      </p:sp>
      <p:sp>
        <p:nvSpPr>
          <p:cNvPr id="3" name="Content Placeholder 2">
            <a:extLst>
              <a:ext uri="{FF2B5EF4-FFF2-40B4-BE49-F238E27FC236}">
                <a16:creationId xmlns:a16="http://schemas.microsoft.com/office/drawing/2014/main" id="{488EA228-28B8-5899-364C-69189206D993}"/>
              </a:ext>
            </a:extLst>
          </p:cNvPr>
          <p:cNvSpPr>
            <a:spLocks noGrp="1"/>
          </p:cNvSpPr>
          <p:nvPr>
            <p:ph idx="1"/>
          </p:nvPr>
        </p:nvSpPr>
        <p:spPr/>
        <p:txBody>
          <a:bodyPr/>
          <a:lstStyle/>
          <a:p>
            <a:r>
              <a:rPr lang="en-US" b="1" dirty="0">
                <a:solidFill>
                  <a:srgbClr val="FF0000"/>
                </a:solidFill>
              </a:rPr>
              <a:t>Fetching Data in Client Components</a:t>
            </a:r>
            <a:r>
              <a:rPr lang="en-US" b="1" dirty="0"/>
              <a:t>: </a:t>
            </a:r>
            <a:r>
              <a:rPr lang="en-US" dirty="0"/>
              <a:t>There are two ways to fetch data in Client Components, using:</a:t>
            </a:r>
          </a:p>
          <a:p>
            <a:pPr lvl="1"/>
            <a:r>
              <a:rPr lang="en-US" dirty="0" err="1"/>
              <a:t>React's</a:t>
            </a:r>
            <a:r>
              <a:rPr lang="en-US" dirty="0"/>
              <a:t> use hook</a:t>
            </a:r>
          </a:p>
          <a:p>
            <a:pPr lvl="1"/>
            <a:r>
              <a:rPr lang="en-US" dirty="0"/>
              <a:t>A community library like SWR or React Query</a:t>
            </a:r>
          </a:p>
          <a:p>
            <a:endParaRPr lang="en-US" dirty="0"/>
          </a:p>
        </p:txBody>
      </p:sp>
    </p:spTree>
    <p:extLst>
      <p:ext uri="{BB962C8B-B14F-4D97-AF65-F5344CB8AC3E}">
        <p14:creationId xmlns:p14="http://schemas.microsoft.com/office/powerpoint/2010/main" val="34100703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4AAA5-21F5-C7D4-E845-E52A9D185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E8087-FD6B-7D48-1E51-D5A2459BBA26}"/>
              </a:ext>
            </a:extLst>
          </p:cNvPr>
          <p:cNvSpPr>
            <a:spLocks noGrp="1"/>
          </p:cNvSpPr>
          <p:nvPr>
            <p:ph type="title"/>
          </p:nvPr>
        </p:nvSpPr>
        <p:spPr/>
        <p:txBody>
          <a:bodyPr/>
          <a:lstStyle/>
          <a:p>
            <a:r>
              <a:rPr lang="en-US" dirty="0"/>
              <a:t>Fetching Data</a:t>
            </a:r>
          </a:p>
        </p:txBody>
      </p:sp>
      <p:sp>
        <p:nvSpPr>
          <p:cNvPr id="3" name="Content Placeholder 2">
            <a:extLst>
              <a:ext uri="{FF2B5EF4-FFF2-40B4-BE49-F238E27FC236}">
                <a16:creationId xmlns:a16="http://schemas.microsoft.com/office/drawing/2014/main" id="{14431523-2710-C64A-280D-EA56F88BABC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08492085"/>
      </p:ext>
    </p:extLst>
  </p:cSld>
  <p:clrMapOvr>
    <a:masterClrMapping/>
  </p:clrMapOvr>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4007</TotalTime>
  <Words>5549</Words>
  <Application>Microsoft Office PowerPoint</Application>
  <PresentationFormat>Widescreen</PresentationFormat>
  <Paragraphs>618</Paragraphs>
  <Slides>97</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97</vt:i4>
      </vt:variant>
    </vt:vector>
  </HeadingPairs>
  <TitlesOfParts>
    <vt:vector size="105" baseType="lpstr">
      <vt:lpstr>Arial</vt:lpstr>
      <vt:lpstr>Calibri</vt:lpstr>
      <vt:lpstr>Consolas</vt:lpstr>
      <vt:lpstr>Courier New</vt:lpstr>
      <vt:lpstr>Geist</vt:lpstr>
      <vt:lpstr>Geist Mono</vt:lpstr>
      <vt:lpstr>Wingdings</vt:lpstr>
      <vt:lpstr>Retrospect</vt:lpstr>
      <vt:lpstr>Overview of Next.js</vt:lpstr>
      <vt:lpstr>What is Next.js?</vt:lpstr>
      <vt:lpstr>Why use Next.js?</vt:lpstr>
      <vt:lpstr>Why use Next.js?</vt:lpstr>
      <vt:lpstr>App Router and Pages Router</vt:lpstr>
      <vt:lpstr>App Router and Pages Router</vt:lpstr>
      <vt:lpstr>Installation</vt:lpstr>
      <vt:lpstr>Installation</vt:lpstr>
      <vt:lpstr>Manual installation</vt:lpstr>
      <vt:lpstr>Manual installation</vt:lpstr>
      <vt:lpstr>Manual installation</vt:lpstr>
      <vt:lpstr>Manual installation</vt:lpstr>
      <vt:lpstr>Manual installation</vt:lpstr>
      <vt:lpstr>Manual installation</vt:lpstr>
      <vt:lpstr>Manual installation</vt:lpstr>
      <vt:lpstr>Run the development server</vt:lpstr>
      <vt:lpstr>Set up TypeScript</vt:lpstr>
      <vt:lpstr>Set up TypeScript</vt:lpstr>
      <vt:lpstr>Set up TypeScript</vt:lpstr>
      <vt:lpstr>Set up Absolute Imports and Module Path Aliases</vt:lpstr>
      <vt:lpstr>Set up Absolute Imports and Module Path Aliases</vt:lpstr>
      <vt:lpstr>Set up Absolute Imports and Module Path Aliases</vt:lpstr>
      <vt:lpstr> Project structure and organization </vt:lpstr>
      <vt:lpstr>Folder and file conventions</vt:lpstr>
      <vt:lpstr>Folder and file conventions</vt:lpstr>
      <vt:lpstr>Folder and file conventions</vt:lpstr>
      <vt:lpstr>Folder and file conventions</vt:lpstr>
      <vt:lpstr>App Routing Conventions</vt:lpstr>
      <vt:lpstr>App Routing Conventions</vt:lpstr>
      <vt:lpstr>Organizing your project</vt:lpstr>
      <vt:lpstr>Organizing your project</vt:lpstr>
      <vt:lpstr>Organizing your project</vt:lpstr>
      <vt:lpstr>Organizing your project</vt:lpstr>
      <vt:lpstr>Organizing your project</vt:lpstr>
      <vt:lpstr>Organizing your project</vt:lpstr>
      <vt:lpstr>Organizing your project</vt:lpstr>
      <vt:lpstr>Organizing your project</vt:lpstr>
      <vt:lpstr>App Router and Page Router in Next.js</vt:lpstr>
      <vt:lpstr>App Router and Page Router in Next.js</vt:lpstr>
      <vt:lpstr>What is the Page Router?</vt:lpstr>
      <vt:lpstr>What is the Page Router?</vt:lpstr>
      <vt:lpstr>What is the Page Router?</vt:lpstr>
      <vt:lpstr>What is the Page Router?</vt:lpstr>
      <vt:lpstr>What is the Page Router?</vt:lpstr>
      <vt:lpstr>App Router</vt:lpstr>
      <vt:lpstr>App Router</vt:lpstr>
      <vt:lpstr>App Router</vt:lpstr>
      <vt:lpstr>App Router</vt:lpstr>
      <vt:lpstr>App Router</vt:lpstr>
      <vt:lpstr>Page Router vs App Router Comparison</vt:lpstr>
      <vt:lpstr>Data Fetching Comparison</vt:lpstr>
      <vt:lpstr>Data Fetching Comparison</vt:lpstr>
      <vt:lpstr>Layouts in the App Router (Key Advantage)</vt:lpstr>
      <vt:lpstr>Server Components vs Client Components</vt:lpstr>
      <vt:lpstr>Server Components vs Client Components</vt:lpstr>
      <vt:lpstr> Layouts and Pages</vt:lpstr>
      <vt:lpstr>Overview</vt:lpstr>
      <vt:lpstr>Pages in Next.js</vt:lpstr>
      <vt:lpstr>Pages in Next.js</vt:lpstr>
      <vt:lpstr>Pages in Next.js</vt:lpstr>
      <vt:lpstr>Pages in Next.js</vt:lpstr>
      <vt:lpstr>Pages in Next.js</vt:lpstr>
      <vt:lpstr>Creating a nested route</vt:lpstr>
      <vt:lpstr>Creating a nested route</vt:lpstr>
      <vt:lpstr>Creating a nested route</vt:lpstr>
      <vt:lpstr>Creating a nested route</vt:lpstr>
      <vt:lpstr>Nesting layouts</vt:lpstr>
      <vt:lpstr>Nesting layouts</vt:lpstr>
      <vt:lpstr>Creating a dynamic segment</vt:lpstr>
      <vt:lpstr>Creating a dynamic segment</vt:lpstr>
      <vt:lpstr>Rendering with search params</vt:lpstr>
      <vt:lpstr>Rendering with search params</vt:lpstr>
      <vt:lpstr>Linking between pages</vt:lpstr>
      <vt:lpstr>Linking between pages</vt:lpstr>
      <vt:lpstr>Route Props Helpers</vt:lpstr>
      <vt:lpstr>Route Props Helpers</vt:lpstr>
      <vt:lpstr>Linking and Navigating</vt:lpstr>
      <vt:lpstr>Linking and Navigating</vt:lpstr>
      <vt:lpstr>Linking and Navigating</vt:lpstr>
      <vt:lpstr>Prefetching</vt:lpstr>
      <vt:lpstr>Prefetching</vt:lpstr>
      <vt:lpstr>Prefetching</vt:lpstr>
      <vt:lpstr>Prefetching</vt:lpstr>
      <vt:lpstr>Streaming</vt:lpstr>
      <vt:lpstr>Streaming</vt:lpstr>
      <vt:lpstr>Streaming</vt:lpstr>
      <vt:lpstr>Client-side transitions</vt:lpstr>
      <vt:lpstr>Server and Client Components</vt:lpstr>
      <vt:lpstr>Server Components (Default)</vt:lpstr>
      <vt:lpstr>Server Components (Default)</vt:lpstr>
      <vt:lpstr>Client Components</vt:lpstr>
      <vt:lpstr>Client Components</vt:lpstr>
      <vt:lpstr>Using Server &amp; Client Together</vt:lpstr>
      <vt:lpstr>Fetching Data</vt:lpstr>
      <vt:lpstr>Fetching Data</vt:lpstr>
      <vt:lpstr>Fetching Data</vt:lpstr>
      <vt:lpstr>Fetching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Xuan Hien</dc:creator>
  <cp:lastModifiedBy>Xuan Hien</cp:lastModifiedBy>
  <cp:revision>27</cp:revision>
  <dcterms:created xsi:type="dcterms:W3CDTF">2025-11-18T22:49:20Z</dcterms:created>
  <dcterms:modified xsi:type="dcterms:W3CDTF">2026-01-04T01:25:16Z</dcterms:modified>
</cp:coreProperties>
</file>