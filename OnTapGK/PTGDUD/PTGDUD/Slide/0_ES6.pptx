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0"/>
  </p:notesMasterIdLst>
  <p:handoutMasterIdLst>
    <p:handoutMasterId r:id="rId81"/>
  </p:handoutMasterIdLst>
  <p:sldIdLst>
    <p:sldId id="256" r:id="rId5"/>
    <p:sldId id="302" r:id="rId6"/>
    <p:sldId id="277" r:id="rId7"/>
    <p:sldId id="304" r:id="rId8"/>
    <p:sldId id="305" r:id="rId9"/>
    <p:sldId id="341" r:id="rId10"/>
    <p:sldId id="342" r:id="rId11"/>
    <p:sldId id="343" r:id="rId12"/>
    <p:sldId id="344" r:id="rId13"/>
    <p:sldId id="345" r:id="rId14"/>
    <p:sldId id="346" r:id="rId15"/>
    <p:sldId id="347" r:id="rId16"/>
    <p:sldId id="303" r:id="rId17"/>
    <p:sldId id="306" r:id="rId18"/>
    <p:sldId id="270" r:id="rId19"/>
    <p:sldId id="307" r:id="rId20"/>
    <p:sldId id="308" r:id="rId21"/>
    <p:sldId id="309" r:id="rId22"/>
    <p:sldId id="310" r:id="rId23"/>
    <p:sldId id="311" r:id="rId24"/>
    <p:sldId id="312" r:id="rId25"/>
    <p:sldId id="313" r:id="rId26"/>
    <p:sldId id="314" r:id="rId27"/>
    <p:sldId id="318" r:id="rId28"/>
    <p:sldId id="317" r:id="rId29"/>
    <p:sldId id="316" r:id="rId30"/>
    <p:sldId id="320" r:id="rId31"/>
    <p:sldId id="319" r:id="rId32"/>
    <p:sldId id="321" r:id="rId33"/>
    <p:sldId id="323" r:id="rId34"/>
    <p:sldId id="324" r:id="rId35"/>
    <p:sldId id="325" r:id="rId36"/>
    <p:sldId id="326" r:id="rId37"/>
    <p:sldId id="327" r:id="rId38"/>
    <p:sldId id="328" r:id="rId39"/>
    <p:sldId id="329" r:id="rId40"/>
    <p:sldId id="330" r:id="rId41"/>
    <p:sldId id="331" r:id="rId42"/>
    <p:sldId id="337" r:id="rId43"/>
    <p:sldId id="338" r:id="rId44"/>
    <p:sldId id="332" r:id="rId45"/>
    <p:sldId id="334" r:id="rId46"/>
    <p:sldId id="335" r:id="rId47"/>
    <p:sldId id="336" r:id="rId48"/>
    <p:sldId id="333" r:id="rId49"/>
    <p:sldId id="339" r:id="rId50"/>
    <p:sldId id="340" r:id="rId51"/>
    <p:sldId id="348" r:id="rId52"/>
    <p:sldId id="349" r:id="rId53"/>
    <p:sldId id="350" r:id="rId54"/>
    <p:sldId id="351" r:id="rId55"/>
    <p:sldId id="352" r:id="rId56"/>
    <p:sldId id="353" r:id="rId57"/>
    <p:sldId id="354" r:id="rId58"/>
    <p:sldId id="355" r:id="rId59"/>
    <p:sldId id="356" r:id="rId60"/>
    <p:sldId id="357" r:id="rId61"/>
    <p:sldId id="358" r:id="rId62"/>
    <p:sldId id="359" r:id="rId63"/>
    <p:sldId id="360" r:id="rId64"/>
    <p:sldId id="299" r:id="rId65"/>
    <p:sldId id="301" r:id="rId66"/>
    <p:sldId id="300" r:id="rId67"/>
    <p:sldId id="361" r:id="rId68"/>
    <p:sldId id="362" r:id="rId69"/>
    <p:sldId id="363" r:id="rId70"/>
    <p:sldId id="364" r:id="rId71"/>
    <p:sldId id="365" r:id="rId72"/>
    <p:sldId id="366" r:id="rId73"/>
    <p:sldId id="367" r:id="rId74"/>
    <p:sldId id="368" r:id="rId75"/>
    <p:sldId id="369" r:id="rId76"/>
    <p:sldId id="370" r:id="rId77"/>
    <p:sldId id="371" r:id="rId78"/>
    <p:sldId id="372"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5588" autoAdjust="0"/>
  </p:normalViewPr>
  <p:slideViewPr>
    <p:cSldViewPr snapToGrid="0" showGuides="1">
      <p:cViewPr varScale="1">
        <p:scale>
          <a:sx n="45" d="100"/>
          <a:sy n="45" d="100"/>
        </p:scale>
        <p:origin x="1428" y="5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presProps" Target="presProps.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1/3/2026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1/3/2026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google.com/search?q=Destructuring+trong+ES6&amp;oq=detrutering+trong+es6&amp;gs_lcrp=EgZjaHJvbWUyBggAEEUYOTIHCAEQIRigATIHCAIQIRigATIHCAMQIRiPAtIBCTEzOTI5ajBqN6gCALACAA&amp;sourceid=chrome&amp;ie=UTF-8&amp;mstk=AUtExfBtedrpWTzyu9Pv3nJtYdiHTFWnCX2B1srta7tgVcx_l2u8hG03LUek2nS7kBqX-s11glukPJLOot7Vo0nXQf1GlMncMn7JdZ04TM3PrzKcvK_e-n6Nyxzl_HdAILJfgyKM-pBiSQ_JMvVwRHB2WR-_wLr0iA-i9WbwnGleaVZTdc0&amp;csui=3&amp;ved=2ahUKEwiYydKr_-aRAxV1rVYBHXZdAM8QgK4QegQIARAB" TargetMode="External"/><Relationship Id="rId2" Type="http://schemas.openxmlformats.org/officeDocument/2006/relationships/slide" Target="../slides/slide48.xml"/><Relationship Id="rId1" Type="http://schemas.openxmlformats.org/officeDocument/2006/relationships/notesMaster" Target="../notesMasters/notesMaster1.xml"/><Relationship Id="rId5" Type="http://schemas.openxmlformats.org/officeDocument/2006/relationships/hyperlink" Target="https://www.google.com/search?q=%C4%91%E1%BB%91i+t%C6%B0%E1%BB%A3ng&amp;oq=detrutering+trong+es6&amp;gs_lcrp=EgZjaHJvbWUyBggAEEUYOTIHCAEQIRigATIHCAIQIRigATIHCAMQIRiPAtIBCTEzOTI5ajBqN6gCALACAA&amp;sourceid=chrome&amp;ie=UTF-8&amp;mstk=AUtExfBtedrpWTzyu9Pv3nJtYdiHTFWnCX2B1srta7tgVcx_l2u8hG03LUek2nS7kBqX-s11glukPJLOot7Vo0nXQf1GlMncMn7JdZ04TM3PrzKcvK_e-n6Nyxzl_HdAILJfgyKM-pBiSQ_JMvVwRHB2WR-_wLr0iA-i9WbwnGleaVZTdc0&amp;csui=3&amp;ved=2ahUKEwiYydKr_-aRAxV1rVYBHXZdAM8QgK4QegQIARAE" TargetMode="External"/><Relationship Id="rId4" Type="http://schemas.openxmlformats.org/officeDocument/2006/relationships/hyperlink" Target="https://www.google.com/search?q=m%E1%BA%A3ng&amp;oq=detrutering+trong+es6&amp;gs_lcrp=EgZjaHJvbWUyBggAEEUYOTIHCAEQIRigATIHCAIQIRigATIHCAMQIRiPAtIBCTEzOTI5ajBqN6gCALACAA&amp;sourceid=chrome&amp;ie=UTF-8&amp;mstk=AUtExfBtedrpWTzyu9Pv3nJtYdiHTFWnCX2B1srta7tgVcx_l2u8hG03LUek2nS7kBqX-s11glukPJLOot7Vo0nXQf1GlMncMn7JdZ04TM3PrzKcvK_e-n6Nyxzl_HdAILJfgyKM-pBiSQ_JMvVwRHB2WR-_wLr0iA-i9WbwnGleaVZTdc0&amp;csui=3&amp;ved=2ahUKEwiYydKr_-aRAxV1rVYBHXZdAM8QgK4QegQIARAD"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5</a:t>
            </a:fld>
            <a:endParaRPr lang="en-US"/>
          </a:p>
        </p:txBody>
      </p:sp>
    </p:spTree>
    <p:extLst>
      <p:ext uri="{BB962C8B-B14F-4D97-AF65-F5344CB8AC3E}">
        <p14:creationId xmlns:p14="http://schemas.microsoft.com/office/powerpoint/2010/main" val="1299941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Bất biến (immutable)</a:t>
            </a:r>
            <a:endParaRPr lang="vi-VN" dirty="0"/>
          </a:p>
          <a:p>
            <a:r>
              <a:rPr lang="vi-VN" b="1" dirty="0"/>
              <a:t>Lưu trữ trực tiếp giá trị</a:t>
            </a:r>
            <a:endParaRPr lang="vi-VN" dirty="0"/>
          </a:p>
          <a:p>
            <a:r>
              <a:rPr lang="vi-VN" b="1" dirty="0"/>
              <a:t>So sánh bằng giá trị</a:t>
            </a:r>
            <a:endParaRPr lang="vi-VN" dirty="0"/>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1548241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Kiểu</a:t>
            </a:r>
            <a:r>
              <a:rPr lang="en-US" dirty="0"/>
              <a:t> </a:t>
            </a:r>
            <a:r>
              <a:rPr lang="en-US" dirty="0" err="1"/>
              <a:t>dữ</a:t>
            </a:r>
            <a:r>
              <a:rPr lang="en-US" dirty="0"/>
              <a:t> </a:t>
            </a:r>
            <a:r>
              <a:rPr lang="en-US" dirty="0" err="1"/>
              <a:t>liệu</a:t>
            </a:r>
            <a:r>
              <a:rPr lang="en-US" dirty="0"/>
              <a:t> </a:t>
            </a:r>
            <a:r>
              <a:rPr lang="en-US" b="1" dirty="0" err="1"/>
              <a:t>tham</a:t>
            </a:r>
            <a:r>
              <a:rPr lang="en-US" b="1" dirty="0"/>
              <a:t> </a:t>
            </a:r>
            <a:r>
              <a:rPr lang="en-US" b="1" dirty="0" err="1"/>
              <a:t>chiếu</a:t>
            </a:r>
            <a:r>
              <a:rPr lang="en-US" b="1" dirty="0"/>
              <a:t> (reference type)</a:t>
            </a:r>
            <a:endParaRPr lang="en-US" dirty="0"/>
          </a:p>
          <a:p>
            <a:r>
              <a:rPr lang="en-US" dirty="0" err="1"/>
              <a:t>Có</a:t>
            </a:r>
            <a:r>
              <a:rPr lang="en-US" dirty="0"/>
              <a:t> </a:t>
            </a:r>
            <a:r>
              <a:rPr lang="en-US" dirty="0" err="1"/>
              <a:t>thể</a:t>
            </a:r>
            <a:r>
              <a:rPr lang="en-US" dirty="0"/>
              <a:t> </a:t>
            </a:r>
            <a:r>
              <a:rPr lang="en-US" dirty="0" err="1"/>
              <a:t>chứa</a:t>
            </a:r>
            <a:r>
              <a:rPr lang="en-US" dirty="0"/>
              <a:t> </a:t>
            </a:r>
            <a:r>
              <a:rPr lang="en-US" b="1" dirty="0" err="1"/>
              <a:t>nhiều</a:t>
            </a:r>
            <a:r>
              <a:rPr lang="en-US" b="1" dirty="0"/>
              <a:t> </a:t>
            </a:r>
            <a:r>
              <a:rPr lang="en-US" b="1" dirty="0" err="1"/>
              <a:t>cặp</a:t>
            </a:r>
            <a:r>
              <a:rPr lang="en-US" b="1" dirty="0"/>
              <a:t> key–value</a:t>
            </a:r>
            <a:endParaRPr lang="en-US" dirty="0"/>
          </a:p>
          <a:p>
            <a:r>
              <a:rPr lang="en-US" dirty="0" err="1"/>
              <a:t>Có</a:t>
            </a:r>
            <a:r>
              <a:rPr lang="en-US" dirty="0"/>
              <a:t> </a:t>
            </a:r>
            <a:r>
              <a:rPr lang="en-US" dirty="0" err="1"/>
              <a:t>thể</a:t>
            </a:r>
            <a:r>
              <a:rPr lang="en-US" dirty="0"/>
              <a:t> </a:t>
            </a:r>
            <a:r>
              <a:rPr lang="en-US" dirty="0" err="1"/>
              <a:t>thay</a:t>
            </a:r>
            <a:r>
              <a:rPr lang="en-US" dirty="0"/>
              <a:t> </a:t>
            </a:r>
            <a:r>
              <a:rPr lang="en-US" dirty="0" err="1"/>
              <a:t>đổi</a:t>
            </a:r>
            <a:r>
              <a:rPr lang="en-US" dirty="0"/>
              <a:t> </a:t>
            </a:r>
            <a:r>
              <a:rPr lang="en-US" dirty="0" err="1"/>
              <a:t>nội</a:t>
            </a:r>
            <a:r>
              <a:rPr lang="en-US" dirty="0"/>
              <a:t> dung (mutable)</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9</a:t>
            </a:fld>
            <a:endParaRPr lang="en-US"/>
          </a:p>
        </p:txBody>
      </p:sp>
    </p:spTree>
    <p:extLst>
      <p:ext uri="{BB962C8B-B14F-4D97-AF65-F5344CB8AC3E}">
        <p14:creationId xmlns:p14="http://schemas.microsoft.com/office/powerpoint/2010/main" val="683035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13</a:t>
            </a:fld>
            <a:endParaRPr lang="en-US"/>
          </a:p>
        </p:txBody>
      </p:sp>
    </p:spTree>
    <p:extLst>
      <p:ext uri="{BB962C8B-B14F-4D97-AF65-F5344CB8AC3E}">
        <p14:creationId xmlns:p14="http://schemas.microsoft.com/office/powerpoint/2010/main" val="3074850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FF0000"/>
                </a:solidFill>
              </a:rPr>
              <a:t>Named Export</a:t>
            </a:r>
            <a:r>
              <a:rPr lang="en-US" dirty="0"/>
              <a:t> </a:t>
            </a:r>
            <a:r>
              <a:rPr lang="vi-VN" dirty="0"/>
              <a:t>được sử dụng để xuất nhiều đối tượng từ một mô-đun bằng cách thêm từ khóa `export` vào phần khai báo của chúng.</a:t>
            </a:r>
            <a:endParaRPr lang="en-US" dirty="0"/>
          </a:p>
          <a:p>
            <a:r>
              <a:rPr lang="vi-VN" dirty="0"/>
              <a:t>Các </a:t>
            </a:r>
            <a:r>
              <a:rPr lang="en-US" b="1" dirty="0">
                <a:solidFill>
                  <a:srgbClr val="FF0000"/>
                </a:solidFill>
              </a:rPr>
              <a:t>Export</a:t>
            </a:r>
            <a:r>
              <a:rPr lang="vi-VN" dirty="0"/>
              <a:t>này được phân biệt bằng tên của chúng.Khi nhập các hàm hoặc biến được đặt tên này,có thể sử dụng cùng tên đó để tham chiếu đến các hàm hoặc biến tương ứng.</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22</a:t>
            </a:fld>
            <a:endParaRPr lang="en-US"/>
          </a:p>
        </p:txBody>
      </p:sp>
    </p:spTree>
    <p:extLst>
      <p:ext uri="{BB962C8B-B14F-4D97-AF65-F5344CB8AC3E}">
        <p14:creationId xmlns:p14="http://schemas.microsoft.com/office/powerpoint/2010/main" val="1006438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a:t>
            </a:r>
            <a:r>
              <a:rPr lang="en-US" b="1" dirty="0"/>
              <a:t>3 </a:t>
            </a:r>
            <a:r>
              <a:rPr lang="en-US" b="1" dirty="0" err="1"/>
              <a:t>thành</a:t>
            </a:r>
            <a:r>
              <a:rPr lang="en-US" b="1" dirty="0"/>
              <a:t> </a:t>
            </a:r>
            <a:r>
              <a:rPr lang="en-US" b="1" dirty="0" err="1"/>
              <a:t>phần</a:t>
            </a:r>
            <a:r>
              <a:rPr lang="en-US" dirty="0"/>
              <a:t>: </a:t>
            </a:r>
            <a:r>
              <a:rPr lang="en-US" sz="1200" kern="1200" dirty="0">
                <a:solidFill>
                  <a:schemeClr val="tx1"/>
                </a:solidFill>
                <a:latin typeface="+mn-lt"/>
                <a:ea typeface="+mn-ea"/>
                <a:cs typeface="+mn-cs"/>
              </a:rPr>
              <a:t>PI</a:t>
            </a:r>
            <a:r>
              <a:rPr lang="en-US" dirty="0"/>
              <a:t>, </a:t>
            </a:r>
            <a:r>
              <a:rPr lang="en-US" sz="1200" kern="1200" dirty="0">
                <a:solidFill>
                  <a:schemeClr val="tx1"/>
                </a:solidFill>
                <a:latin typeface="+mn-lt"/>
                <a:ea typeface="+mn-ea"/>
                <a:cs typeface="+mn-cs"/>
              </a:rPr>
              <a:t>add</a:t>
            </a:r>
            <a:r>
              <a:rPr lang="en-US" dirty="0"/>
              <a:t>, </a:t>
            </a:r>
            <a:r>
              <a:rPr lang="en-US" sz="1200" kern="1200" dirty="0">
                <a:solidFill>
                  <a:schemeClr val="tx1"/>
                </a:solidFill>
                <a:latin typeface="+mn-lt"/>
                <a:ea typeface="+mn-ea"/>
                <a:cs typeface="+mn-cs"/>
              </a:rPr>
              <a:t>subtract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23</a:t>
            </a:fld>
            <a:endParaRPr lang="en-US"/>
          </a:p>
        </p:txBody>
      </p:sp>
    </p:spTree>
    <p:extLst>
      <p:ext uri="{BB962C8B-B14F-4D97-AF65-F5344CB8AC3E}">
        <p14:creationId xmlns:p14="http://schemas.microsoft.com/office/powerpoint/2010/main" val="3214387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A4FC1-0CCF-D074-B30B-6B60A557F2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E372D-4B90-4F02-7853-A00D43B8C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F2D2F-76B4-AFB6-7C72-630B6B4603A6}"/>
              </a:ext>
            </a:extLst>
          </p:cNvPr>
          <p:cNvSpPr>
            <a:spLocks noGrp="1"/>
          </p:cNvSpPr>
          <p:nvPr>
            <p:ph type="body" idx="1"/>
          </p:nvPr>
        </p:nvSpPr>
        <p:spPr/>
        <p:txBody>
          <a:bodyPr/>
          <a:lstStyle/>
          <a:p>
            <a:r>
              <a:rPr lang="en-US" dirty="0" err="1"/>
              <a:t>Tên</a:t>
            </a:r>
            <a:r>
              <a:rPr lang="en-US" dirty="0"/>
              <a:t> </a:t>
            </a:r>
            <a:r>
              <a:rPr lang="en-US" dirty="0" err="1"/>
              <a:t>trong</a:t>
            </a:r>
            <a:r>
              <a:rPr lang="en-US" dirty="0"/>
              <a:t> </a:t>
            </a:r>
            <a:r>
              <a:rPr lang="en-US" sz="1200" kern="1200" dirty="0">
                <a:solidFill>
                  <a:schemeClr val="tx1"/>
                </a:solidFill>
                <a:latin typeface="+mn-lt"/>
                <a:ea typeface="+mn-ea"/>
                <a:cs typeface="+mn-cs"/>
              </a:rPr>
              <a:t>{ }</a:t>
            </a:r>
            <a:r>
              <a:rPr lang="en-US" dirty="0"/>
              <a:t> </a:t>
            </a:r>
            <a:r>
              <a:rPr lang="en-US" dirty="0" err="1"/>
              <a:t>phải</a:t>
            </a:r>
            <a:r>
              <a:rPr lang="en-US" dirty="0"/>
              <a:t> </a:t>
            </a:r>
            <a:r>
              <a:rPr lang="en-US" dirty="0" err="1"/>
              <a:t>trùng</a:t>
            </a:r>
            <a:r>
              <a:rPr lang="en-US" dirty="0"/>
              <a:t> </a:t>
            </a:r>
            <a:r>
              <a:rPr lang="en-US" dirty="0" err="1"/>
              <a:t>với</a:t>
            </a:r>
            <a:r>
              <a:rPr lang="en-US" dirty="0"/>
              <a:t> </a:t>
            </a:r>
            <a:r>
              <a:rPr lang="en-US" dirty="0" err="1"/>
              <a:t>tên</a:t>
            </a:r>
            <a:r>
              <a:rPr lang="en-US" dirty="0"/>
              <a:t> export</a:t>
            </a:r>
          </a:p>
        </p:txBody>
      </p:sp>
      <p:sp>
        <p:nvSpPr>
          <p:cNvPr id="4" name="Slide Number Placeholder 3">
            <a:extLst>
              <a:ext uri="{FF2B5EF4-FFF2-40B4-BE49-F238E27FC236}">
                <a16:creationId xmlns:a16="http://schemas.microsoft.com/office/drawing/2014/main" id="{A3D64F03-7243-C095-5EE3-1C7652A190B4}"/>
              </a:ext>
            </a:extLst>
          </p:cNvPr>
          <p:cNvSpPr>
            <a:spLocks noGrp="1"/>
          </p:cNvSpPr>
          <p:nvPr>
            <p:ph type="sldNum" sz="quarter" idx="5"/>
          </p:nvPr>
        </p:nvSpPr>
        <p:spPr/>
        <p:txBody>
          <a:bodyPr/>
          <a:lstStyle/>
          <a:p>
            <a:fld id="{0A3C37BE-C303-496D-B5CD-85F2937540FC}" type="slidenum">
              <a:rPr lang="en-US" smtClean="0"/>
              <a:t>25</a:t>
            </a:fld>
            <a:endParaRPr lang="en-US"/>
          </a:p>
        </p:txBody>
      </p:sp>
    </p:spTree>
    <p:extLst>
      <p:ext uri="{BB962C8B-B14F-4D97-AF65-F5344CB8AC3E}">
        <p14:creationId xmlns:p14="http://schemas.microsoft.com/office/powerpoint/2010/main" val="1812642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Dùng </a:t>
            </a:r>
            <a:r>
              <a:rPr lang="vi-VN" sz="1200" kern="1200" dirty="0">
                <a:solidFill>
                  <a:schemeClr val="tx1"/>
                </a:solidFill>
                <a:latin typeface="+mn-lt"/>
                <a:ea typeface="+mn-ea"/>
                <a:cs typeface="+mn-cs"/>
              </a:rPr>
              <a:t>as</a:t>
            </a:r>
            <a:r>
              <a:rPr lang="vi-VN" dirty="0"/>
              <a:t> để tránh trùng tên hoặc dễ đọc hơn</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26</a:t>
            </a:fld>
            <a:endParaRPr lang="en-US"/>
          </a:p>
        </p:txBody>
      </p:sp>
    </p:spTree>
    <p:extLst>
      <p:ext uri="{BB962C8B-B14F-4D97-AF65-F5344CB8AC3E}">
        <p14:creationId xmlns:p14="http://schemas.microsoft.com/office/powerpoint/2010/main" val="566153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Default Export</a:t>
            </a:r>
            <a:r>
              <a:rPr lang="vi-VN" dirty="0"/>
              <a:t> là cách xuất </a:t>
            </a:r>
            <a:r>
              <a:rPr lang="vi-VN" b="1" dirty="0"/>
              <a:t>một giá trị mặc định duy nhất</a:t>
            </a:r>
            <a:r>
              <a:rPr lang="vi-VN" dirty="0"/>
              <a:t> từ một module JavaScript.</a:t>
            </a:r>
            <a:br>
              <a:rPr lang="vi-VN" dirty="0"/>
            </a:br>
            <a:r>
              <a:rPr lang="vi-VN" dirty="0"/>
              <a:t>Module khác khi import </a:t>
            </a:r>
            <a:r>
              <a:rPr lang="vi-VN" b="1" dirty="0"/>
              <a:t>không cần dùng </a:t>
            </a:r>
            <a:r>
              <a:rPr lang="vi-VN" sz="1200" b="1" kern="1200" dirty="0">
                <a:solidFill>
                  <a:schemeClr val="tx1"/>
                </a:solidFill>
                <a:latin typeface="+mn-lt"/>
                <a:ea typeface="+mn-ea"/>
                <a:cs typeface="+mn-cs"/>
              </a:rPr>
              <a:t>{ }</a:t>
            </a:r>
            <a:r>
              <a:rPr lang="vi-VN" dirty="0"/>
              <a:t> và </a:t>
            </a:r>
            <a:r>
              <a:rPr lang="vi-VN" b="1" dirty="0"/>
              <a:t>có thể đặt tên tùy ý</a:t>
            </a:r>
            <a:r>
              <a:rPr lang="vi-VN" dirty="0"/>
              <a:t> cho giá trị được import.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28</a:t>
            </a:fld>
            <a:endParaRPr lang="en-US"/>
          </a:p>
        </p:txBody>
      </p:sp>
    </p:spTree>
    <p:extLst>
      <p:ext uri="{BB962C8B-B14F-4D97-AF65-F5344CB8AC3E}">
        <p14:creationId xmlns:p14="http://schemas.microsoft.com/office/powerpoint/2010/main" val="23159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Khi export default </a:t>
            </a:r>
            <a:r>
              <a:rPr lang="vi-VN" b="1" dirty="0"/>
              <a:t>không được dùng </a:t>
            </a:r>
            <a:r>
              <a:rPr lang="vi-VN" sz="1200" b="1" kern="1200" dirty="0">
                <a:solidFill>
                  <a:schemeClr val="tx1"/>
                </a:solidFill>
                <a:latin typeface="+mn-lt"/>
                <a:ea typeface="+mn-ea"/>
                <a:cs typeface="+mn-cs"/>
              </a:rPr>
              <a:t>const</a:t>
            </a:r>
            <a:r>
              <a:rPr lang="vi-VN" b="1" dirty="0"/>
              <a:t>, </a:t>
            </a:r>
            <a:r>
              <a:rPr lang="vi-VN" sz="1200" b="1" kern="1200" dirty="0">
                <a:solidFill>
                  <a:schemeClr val="tx1"/>
                </a:solidFill>
                <a:latin typeface="+mn-lt"/>
                <a:ea typeface="+mn-ea"/>
                <a:cs typeface="+mn-cs"/>
              </a:rPr>
              <a:t>let</a:t>
            </a:r>
            <a:r>
              <a:rPr lang="vi-VN" b="1" dirty="0"/>
              <a:t>, </a:t>
            </a:r>
            <a:r>
              <a:rPr lang="vi-VN" sz="1200" b="1" kern="1200" dirty="0">
                <a:solidFill>
                  <a:schemeClr val="tx1"/>
                </a:solidFill>
                <a:latin typeface="+mn-lt"/>
                <a:ea typeface="+mn-ea"/>
                <a:cs typeface="+mn-cs"/>
              </a:rPr>
              <a:t>var</a:t>
            </a:r>
            <a:r>
              <a:rPr lang="vi-VN" b="1" dirty="0"/>
              <a:t> phía trước</a:t>
            </a:r>
            <a:r>
              <a:rPr lang="vi-VN" dirty="0"/>
              <a:t>.</a:t>
            </a:r>
            <a:endParaRPr lang="en-US" dirty="0"/>
          </a:p>
          <a:p>
            <a:r>
              <a:rPr lang="en-US" dirty="0"/>
              <a:t>export default const x = 10;//</a:t>
            </a:r>
            <a:r>
              <a:rPr lang="en-US" dirty="0" err="1"/>
              <a:t>sai</a:t>
            </a:r>
            <a:endParaRPr lang="en-US" dirty="0"/>
          </a:p>
          <a:p>
            <a:r>
              <a:rPr lang="en-US" dirty="0"/>
              <a:t>const x = 10;</a:t>
            </a:r>
          </a:p>
          <a:p>
            <a:r>
              <a:rPr lang="en-US" dirty="0"/>
              <a:t>export default x; //</a:t>
            </a:r>
            <a:r>
              <a:rPr lang="en-US" dirty="0" err="1"/>
              <a:t>đúng</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30</a:t>
            </a:fld>
            <a:endParaRPr lang="en-US"/>
          </a:p>
        </p:txBody>
      </p:sp>
    </p:spTree>
    <p:extLst>
      <p:ext uri="{BB962C8B-B14F-4D97-AF65-F5344CB8AC3E}">
        <p14:creationId xmlns:p14="http://schemas.microsoft.com/office/powerpoint/2010/main" val="9417306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Không</a:t>
            </a:r>
            <a:r>
              <a:rPr lang="en-US" b="1" dirty="0"/>
              <a:t> </a:t>
            </a:r>
            <a:r>
              <a:rPr lang="en-US" b="1" dirty="0" err="1"/>
              <a:t>dùng</a:t>
            </a:r>
            <a:r>
              <a:rPr lang="en-US" b="1" dirty="0"/>
              <a:t> </a:t>
            </a:r>
            <a:r>
              <a:rPr lang="en-US" sz="1200" b="1" kern="120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31</a:t>
            </a:fld>
            <a:endParaRPr lang="en-US"/>
          </a:p>
        </p:txBody>
      </p:sp>
    </p:spTree>
    <p:extLst>
      <p:ext uri="{BB962C8B-B14F-4D97-AF65-F5344CB8AC3E}">
        <p14:creationId xmlns:p14="http://schemas.microsoft.com/office/powerpoint/2010/main" val="3017080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ES6, </a:t>
            </a:r>
            <a:r>
              <a:rPr lang="vi-VN" sz="1200" b="1" kern="1200" dirty="0">
                <a:solidFill>
                  <a:schemeClr val="tx1"/>
                </a:solidFill>
                <a:latin typeface="+mn-lt"/>
                <a:ea typeface="+mn-ea"/>
                <a:cs typeface="+mn-cs"/>
              </a:rPr>
              <a:t>class</a:t>
            </a:r>
            <a:r>
              <a:rPr lang="vi-VN" dirty="0"/>
              <a:t> là cú pháp mới giúp </a:t>
            </a:r>
            <a:r>
              <a:rPr lang="vi-VN" b="1" dirty="0"/>
              <a:t>định nghĩa lớp (class)</a:t>
            </a:r>
            <a:r>
              <a:rPr lang="vi-VN" dirty="0"/>
              <a:t> trong JavaScript một cách </a:t>
            </a:r>
            <a:r>
              <a:rPr lang="vi-VN" b="1" dirty="0"/>
              <a:t>rõ ràng, dễ đọc</a:t>
            </a:r>
            <a:r>
              <a:rPr lang="vi-VN" dirty="0"/>
              <a:t>, gần với các ngôn ngữ hướng đối tượng như </a:t>
            </a:r>
            <a:r>
              <a:rPr lang="vi-VN" b="1" dirty="0"/>
              <a:t>C#, Java</a:t>
            </a:r>
            <a:r>
              <a:rPr lang="vi-VN" dirty="0"/>
              <a:t>.</a:t>
            </a:r>
          </a:p>
          <a:p>
            <a:r>
              <a:rPr lang="vi-VN" dirty="0"/>
              <a:t>⚠️ Lưu ý quan trọng:</a:t>
            </a:r>
            <a:br>
              <a:rPr lang="vi-VN" dirty="0"/>
            </a:br>
            <a:r>
              <a:rPr lang="vi-VN" sz="1200" kern="1200" dirty="0">
                <a:solidFill>
                  <a:schemeClr val="tx1"/>
                </a:solidFill>
                <a:latin typeface="+mn-lt"/>
                <a:ea typeface="+mn-ea"/>
                <a:cs typeface="+mn-cs"/>
              </a:rPr>
              <a:t>class</a:t>
            </a:r>
            <a:r>
              <a:rPr lang="vi-VN" dirty="0"/>
              <a:t> trong ES6 </a:t>
            </a:r>
            <a:r>
              <a:rPr lang="vi-VN" b="1" dirty="0"/>
              <a:t>chỉ là “cú pháp đường” (syntactic sugar)</a:t>
            </a:r>
            <a:r>
              <a:rPr lang="vi-VN" dirty="0"/>
              <a:t> cho </a:t>
            </a:r>
            <a:r>
              <a:rPr lang="vi-VN" b="1" dirty="0"/>
              <a:t>prototype</a:t>
            </a:r>
            <a:r>
              <a:rPr lang="vi-VN" dirty="0"/>
              <a:t>, không phải OOP thuần như C#.</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32</a:t>
            </a:fld>
            <a:endParaRPr lang="en-US"/>
          </a:p>
        </p:txBody>
      </p:sp>
    </p:spTree>
    <p:extLst>
      <p:ext uri="{BB962C8B-B14F-4D97-AF65-F5344CB8AC3E}">
        <p14:creationId xmlns:p14="http://schemas.microsoft.com/office/powerpoint/2010/main" val="3075684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33</a:t>
            </a:fld>
            <a:endParaRPr lang="en-US"/>
          </a:p>
        </p:txBody>
      </p:sp>
    </p:spTree>
    <p:extLst>
      <p:ext uri="{BB962C8B-B14F-4D97-AF65-F5344CB8AC3E}">
        <p14:creationId xmlns:p14="http://schemas.microsoft.com/office/powerpoint/2010/main" val="1541154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An, I am 20 years old</a:t>
            </a:r>
          </a:p>
        </p:txBody>
      </p:sp>
      <p:sp>
        <p:nvSpPr>
          <p:cNvPr id="4" name="Slide Number Placeholder 3"/>
          <p:cNvSpPr>
            <a:spLocks noGrp="1"/>
          </p:cNvSpPr>
          <p:nvPr>
            <p:ph type="sldNum" sz="quarter" idx="5"/>
          </p:nvPr>
        </p:nvSpPr>
        <p:spPr/>
        <p:txBody>
          <a:bodyPr/>
          <a:lstStyle/>
          <a:p>
            <a:fld id="{0A3C37BE-C303-496D-B5CD-85F2937540FC}" type="slidenum">
              <a:rPr lang="en-US" smtClean="0"/>
              <a:t>35</a:t>
            </a:fld>
            <a:endParaRPr lang="en-US"/>
          </a:p>
        </p:txBody>
      </p:sp>
    </p:spTree>
    <p:extLst>
      <p:ext uri="{BB962C8B-B14F-4D97-AF65-F5344CB8AC3E}">
        <p14:creationId xmlns:p14="http://schemas.microsoft.com/office/powerpoint/2010/main" val="1736314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Dùng</a:t>
            </a:r>
            <a:r>
              <a:rPr lang="en-US" b="1" dirty="0"/>
              <a:t> </a:t>
            </a:r>
            <a:r>
              <a:rPr lang="en-US" b="1" dirty="0" err="1"/>
              <a:t>để</a:t>
            </a:r>
            <a:r>
              <a:rPr lang="en-US" b="1" dirty="0"/>
              <a:t> “</a:t>
            </a:r>
            <a:r>
              <a:rPr lang="en-US" b="1" dirty="0" err="1"/>
              <a:t>trải</a:t>
            </a:r>
            <a:r>
              <a:rPr lang="en-US" b="1" dirty="0"/>
              <a:t>” </a:t>
            </a:r>
            <a:r>
              <a:rPr lang="en-US" b="1" dirty="0" err="1"/>
              <a:t>các</a:t>
            </a:r>
            <a:r>
              <a:rPr lang="en-US" b="1" dirty="0"/>
              <a:t> </a:t>
            </a:r>
            <a:r>
              <a:rPr lang="en-US" b="1" dirty="0" err="1"/>
              <a:t>phần</a:t>
            </a:r>
            <a:r>
              <a:rPr lang="en-US" b="1" dirty="0"/>
              <a:t> </a:t>
            </a:r>
            <a:r>
              <a:rPr lang="en-US" b="1" dirty="0" err="1"/>
              <a:t>tử</a:t>
            </a:r>
            <a:r>
              <a:rPr lang="en-US" b="1" dirty="0"/>
              <a:t> </a:t>
            </a:r>
            <a:r>
              <a:rPr lang="en-US" b="1" dirty="0" err="1"/>
              <a:t>của</a:t>
            </a:r>
            <a:r>
              <a:rPr lang="en-US" b="1" dirty="0"/>
              <a:t> </a:t>
            </a:r>
            <a:r>
              <a:rPr lang="en-US" b="1" dirty="0" err="1"/>
              <a:t>mảng</a:t>
            </a:r>
            <a:r>
              <a:rPr lang="en-US" b="1" dirty="0"/>
              <a:t>, object </a:t>
            </a:r>
            <a:r>
              <a:rPr lang="en-US" b="1" dirty="0" err="1"/>
              <a:t>hoặc</a:t>
            </a:r>
            <a:r>
              <a:rPr lang="en-US" b="1" dirty="0"/>
              <a:t> </a:t>
            </a:r>
            <a:r>
              <a:rPr lang="en-US" b="1" dirty="0" err="1"/>
              <a:t>iterable</a:t>
            </a:r>
            <a:r>
              <a:rPr lang="en-US" b="1" dirty="0"/>
              <a:t> </a:t>
            </a:r>
            <a:r>
              <a:rPr lang="en-US" b="1" dirty="0" err="1"/>
              <a:t>ra</a:t>
            </a:r>
            <a:r>
              <a:rPr lang="en-US" b="1" dirty="0"/>
              <a:t> </a:t>
            </a:r>
            <a:r>
              <a:rPr lang="en-US" b="1" dirty="0" err="1"/>
              <a:t>bên</a:t>
            </a:r>
            <a:r>
              <a:rPr lang="en-US" b="1" dirty="0"/>
              <a:t> </a:t>
            </a:r>
            <a:r>
              <a:rPr lang="en-US" b="1" dirty="0" err="1"/>
              <a:t>ngoài</a:t>
            </a:r>
            <a:endParaRPr lang="en-US" dirty="0"/>
          </a:p>
          <a:p>
            <a:r>
              <a:rPr lang="vi-VN" dirty="0"/>
              <a:t>Toán tử trải rộng và toán tử REST được gọi là ba dấu chấm.</a:t>
            </a:r>
          </a:p>
          <a:p>
            <a:r>
              <a:rPr lang="vi-VN" dirty="0"/>
              <a:t>Toán tử này chỉ đơn giản là ba dấu chấm...</a:t>
            </a:r>
          </a:p>
          <a:p>
            <a:r>
              <a:rPr lang="vi-VN" dirty="0"/>
              <a:t>Toán tử trải rộng được sử dụng để tách các phần tử mảng hoặc thuộc tính đối tượng. Nói cách khác, để sao chép mảng hoặc thêm thuộc tính vào một đối tượng trong khi vẫn sao chép an toàn đối tượng cũ. Toán tử trải rộng lấy ra tất cả các phần tử, tất cả các thuộc tính và phân phối chúng vào một mảng hoặc đối tượng mới hoặc bất cứ nơi nào bạn đang sử dụng nó.</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41</a:t>
            </a:fld>
            <a:endParaRPr lang="en-US"/>
          </a:p>
        </p:txBody>
      </p:sp>
    </p:spTree>
    <p:extLst>
      <p:ext uri="{BB962C8B-B14F-4D97-AF65-F5344CB8AC3E}">
        <p14:creationId xmlns:p14="http://schemas.microsoft.com/office/powerpoint/2010/main" val="4802071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mn-lt"/>
                <a:ea typeface="+mn-ea"/>
                <a:cs typeface="+mn-cs"/>
                <a:hlinkClick r:id="rId3"/>
              </a:rPr>
              <a:t>Destructuring trong ES6</a:t>
            </a:r>
            <a:r>
              <a:rPr lang="vi-VN" sz="1200" b="0" i="0" kern="1200" dirty="0">
                <a:solidFill>
                  <a:schemeClr val="tx1"/>
                </a:solidFill>
                <a:effectLst/>
                <a:latin typeface="+mn-lt"/>
                <a:ea typeface="+mn-ea"/>
                <a:cs typeface="+mn-cs"/>
              </a:rPr>
              <a:t> </a:t>
            </a:r>
            <a:r>
              <a:rPr lang="vi-VN" dirty="0"/>
              <a:t>là tính năng cho phép bạn "phá vỡ cấu trúc" (destructure) các giá trị từ </a:t>
            </a:r>
            <a:r>
              <a:rPr lang="vi-VN" dirty="0">
                <a:effectLst/>
                <a:hlinkClick r:id="rId4"/>
              </a:rPr>
              <a:t>mảng</a:t>
            </a:r>
            <a:r>
              <a:rPr lang="vi-VN" dirty="0"/>
              <a:t> (Array) và </a:t>
            </a:r>
            <a:r>
              <a:rPr lang="vi-VN" dirty="0">
                <a:effectLst/>
                <a:hlinkClick r:id="rId5"/>
              </a:rPr>
              <a:t>đối tượng</a:t>
            </a:r>
            <a:r>
              <a:rPr lang="vi-VN" dirty="0"/>
              <a:t> (Object) và gán chúng trực tiếp cho các biến riêng biệt, giúp code ngắn gọn, dễ đọc hơn rất nhiều, thay vì phải truy cập từng thuộc tính/phần tử thủ công như trước</a:t>
            </a:r>
            <a:r>
              <a:rPr lang="vi-VN" sz="1200" b="0" i="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48</a:t>
            </a:fld>
            <a:endParaRPr lang="en-US"/>
          </a:p>
        </p:txBody>
      </p:sp>
    </p:spTree>
    <p:extLst>
      <p:ext uri="{BB962C8B-B14F-4D97-AF65-F5344CB8AC3E}">
        <p14:creationId xmlns:p14="http://schemas.microsoft.com/office/powerpoint/2010/main" val="1586425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64</a:t>
            </a:fld>
            <a:endParaRPr lang="en-US"/>
          </a:p>
        </p:txBody>
      </p:sp>
    </p:spTree>
    <p:extLst>
      <p:ext uri="{BB962C8B-B14F-4D97-AF65-F5344CB8AC3E}">
        <p14:creationId xmlns:p14="http://schemas.microsoft.com/office/powerpoint/2010/main" val="9806300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65</a:t>
            </a:fld>
            <a:endParaRPr lang="en-US"/>
          </a:p>
        </p:txBody>
      </p:sp>
    </p:spTree>
    <p:extLst>
      <p:ext uri="{BB962C8B-B14F-4D97-AF65-F5344CB8AC3E}">
        <p14:creationId xmlns:p14="http://schemas.microsoft.com/office/powerpoint/2010/main" val="8231913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72</a:t>
            </a:fld>
            <a:endParaRPr lang="en-US"/>
          </a:p>
        </p:txBody>
      </p:sp>
    </p:spTree>
    <p:extLst>
      <p:ext uri="{BB962C8B-B14F-4D97-AF65-F5344CB8AC3E}">
        <p14:creationId xmlns:p14="http://schemas.microsoft.com/office/powerpoint/2010/main" val="3503726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Kết</a:t>
            </a:r>
            <a:r>
              <a:rPr lang="en-US" dirty="0"/>
              <a:t> </a:t>
            </a:r>
            <a:r>
              <a:rPr lang="en-US" dirty="0" err="1"/>
              <a:t>xuất</a:t>
            </a:r>
            <a:r>
              <a:rPr lang="en-US" dirty="0"/>
              <a:t> lai – Next.js</a:t>
            </a:r>
          </a:p>
          <a:p>
            <a:r>
              <a:rPr lang="vi-VN" b="1" dirty="0"/>
              <a:t>SSG (Static Site Generation)</a:t>
            </a:r>
            <a:r>
              <a:rPr lang="vi-VN" dirty="0"/>
              <a:t> là một </a:t>
            </a:r>
            <a:r>
              <a:rPr lang="vi-VN" b="1" dirty="0"/>
              <a:t>kỹ thuật render website</a:t>
            </a:r>
            <a:r>
              <a:rPr lang="vi-VN" dirty="0"/>
              <a:t> trong đó </a:t>
            </a:r>
            <a:r>
              <a:rPr lang="vi-VN" b="1" dirty="0"/>
              <a:t>HTML được tạo sẵn trước (tại thời điểm build)</a:t>
            </a:r>
            <a:r>
              <a:rPr lang="vi-VN" dirty="0"/>
              <a:t>, thay vì tạo mỗi khi người dùng truy cập.</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74</a:t>
            </a:fld>
            <a:endParaRPr lang="en-US"/>
          </a:p>
        </p:txBody>
      </p:sp>
    </p:spTree>
    <p:extLst>
      <p:ext uri="{BB962C8B-B14F-4D97-AF65-F5344CB8AC3E}">
        <p14:creationId xmlns:p14="http://schemas.microsoft.com/office/powerpoint/2010/main" val="256455211"/>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1/3/2026</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1/3/2026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1/3/2026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1/3/2026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1/3/2026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1/3/2026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38A3-49C8-3939-5514-DFD2197B09C6}"/>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321ED9C-3F93-0473-3127-832B687404A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5189B-B69D-2360-30B6-5EAF8AC927B2}"/>
              </a:ext>
            </a:extLst>
          </p:cNvPr>
          <p:cNvSpPr>
            <a:spLocks noGrp="1"/>
          </p:cNvSpPr>
          <p:nvPr>
            <p:ph type="dt" sz="half" idx="10"/>
          </p:nvPr>
        </p:nvSpPr>
        <p:spPr/>
        <p:txBody>
          <a:bodyPr/>
          <a:lstStyle/>
          <a:p>
            <a:fld id="{E1A63BDD-BD48-499A-A2D9-DFA08F8444CC}" type="datetimeFigureOut">
              <a:rPr lang="en-US" smtClean="0"/>
              <a:t>1/3/2026</a:t>
            </a:fld>
            <a:endParaRPr lang="en-US"/>
          </a:p>
        </p:txBody>
      </p:sp>
      <p:sp>
        <p:nvSpPr>
          <p:cNvPr id="5" name="Footer Placeholder 4">
            <a:extLst>
              <a:ext uri="{FF2B5EF4-FFF2-40B4-BE49-F238E27FC236}">
                <a16:creationId xmlns:a16="http://schemas.microsoft.com/office/drawing/2014/main" id="{B407A681-DF48-FF54-3802-2680C559B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E3943-6181-007B-EE2D-020A388CAD8C}"/>
              </a:ext>
            </a:extLst>
          </p:cNvPr>
          <p:cNvSpPr>
            <a:spLocks noGrp="1"/>
          </p:cNvSpPr>
          <p:nvPr>
            <p:ph type="sldNum" sz="quarter" idx="12"/>
          </p:nvPr>
        </p:nvSpPr>
        <p:spPr/>
        <p:txBody>
          <a:bodyPr/>
          <a:lstStyle/>
          <a:p>
            <a:fld id="{C6629478-052B-42EB-8DB9-04044E8495EC}" type="slidenum">
              <a:rPr lang="en-US" smtClean="0"/>
              <a:t>‹#›</a:t>
            </a:fld>
            <a:endParaRPr lang="en-US"/>
          </a:p>
        </p:txBody>
      </p:sp>
    </p:spTree>
    <p:extLst>
      <p:ext uri="{BB962C8B-B14F-4D97-AF65-F5344CB8AC3E}">
        <p14:creationId xmlns:p14="http://schemas.microsoft.com/office/powerpoint/2010/main" val="2239948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1/3/2026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8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6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tm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29.tmp"/><Relationship Id="rId1" Type="http://schemas.openxmlformats.org/officeDocument/2006/relationships/slideLayout" Target="../slideLayouts/slideLayout2.xml"/><Relationship Id="rId4" Type="http://schemas.openxmlformats.org/officeDocument/2006/relationships/image" Target="../media/image31.tmp"/></Relationships>
</file>

<file path=ppt/slides/_rels/slide30.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4.tmp"/></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tmp"/><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image" Target="../media/image40.tmp"/><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tmp"/><Relationship Id="rId2" Type="http://schemas.openxmlformats.org/officeDocument/2006/relationships/image" Target="../media/image42.tmp"/><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tmp"/><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tmp"/><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8.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2.tmp"/><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3.tmp"/><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tmp"/><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5.tmp"/><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6.tmp"/><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9.tmp"/><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1.tmp"/><Relationship Id="rId2" Type="http://schemas.openxmlformats.org/officeDocument/2006/relationships/image" Target="../media/image60.tmp"/><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2.tmp"/><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3.tmp"/><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4.tmp"/><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65.tmp"/><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67.tmp"/><Relationship Id="rId2" Type="http://schemas.openxmlformats.org/officeDocument/2006/relationships/image" Target="../media/image66.tmp"/><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68.tmp"/><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69.tmp"/><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70.tmp"/><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71.tmp"/></Relationships>
</file>

<file path=ppt/slides/_rels/slide73.xml.rels><?xml version="1.0" encoding="UTF-8" standalone="yes"?>
<Relationships xmlns="http://schemas.openxmlformats.org/package/2006/relationships"><Relationship Id="rId2" Type="http://schemas.openxmlformats.org/officeDocument/2006/relationships/image" Target="../media/image72.tmp"/><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104900" y="4511784"/>
            <a:ext cx="5734050" cy="955565"/>
          </a:xfrm>
        </p:spPr>
        <p:txBody>
          <a:bodyPr/>
          <a:lstStyle/>
          <a:p>
            <a:r>
              <a:rPr lang="en-US" dirty="0" err="1"/>
              <a:t>Giảng</a:t>
            </a:r>
            <a:r>
              <a:rPr lang="en-US" dirty="0"/>
              <a:t> </a:t>
            </a:r>
            <a:r>
              <a:rPr lang="en-US" dirty="0" err="1"/>
              <a:t>viên</a:t>
            </a:r>
            <a:r>
              <a:rPr lang="en-US" dirty="0"/>
              <a:t>: </a:t>
            </a:r>
            <a:r>
              <a:rPr lang="en-US" dirty="0" err="1"/>
              <a:t>Từ</a:t>
            </a:r>
            <a:r>
              <a:rPr lang="en-US" dirty="0"/>
              <a:t> </a:t>
            </a:r>
            <a:r>
              <a:rPr lang="en-US" dirty="0" err="1"/>
              <a:t>Thị</a:t>
            </a:r>
            <a:r>
              <a:rPr lang="en-US" dirty="0"/>
              <a:t> Xuân </a:t>
            </a:r>
            <a:r>
              <a:rPr lang="en-US" dirty="0" err="1"/>
              <a:t>Hiền</a:t>
            </a:r>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p:blipFill>
        <p:spPr>
          <a:xfrm>
            <a:off x="6981063" y="1310656"/>
            <a:ext cx="5210937" cy="4208604"/>
          </a:xfrm>
        </p:spPr>
      </p:pic>
      <p:grpSp>
        <p:nvGrpSpPr>
          <p:cNvPr id="15" name="Group 14">
            <a:extLst>
              <a:ext uri="{FF2B5EF4-FFF2-40B4-BE49-F238E27FC236}">
                <a16:creationId xmlns:a16="http://schemas.microsoft.com/office/drawing/2014/main" id="{4D51ED84-5E96-E622-252E-09B155E63681}"/>
              </a:ext>
            </a:extLst>
          </p:cNvPr>
          <p:cNvGrpSpPr/>
          <p:nvPr/>
        </p:nvGrpSpPr>
        <p:grpSpPr>
          <a:xfrm>
            <a:off x="1049124" y="2930975"/>
            <a:ext cx="11142876" cy="1124712"/>
            <a:chOff x="871700" y="2712615"/>
            <a:chExt cx="5493600" cy="1218439"/>
          </a:xfrm>
          <a:effectLst>
            <a:reflection blurRad="6350" stA="52000" endA="300" endPos="35000" dir="5400000" sy="-100000" algn="bl" rotWithShape="0"/>
          </a:effectLst>
        </p:grpSpPr>
        <p:pic>
          <p:nvPicPr>
            <p:cNvPr id="13" name="Picture 12">
              <a:extLst>
                <a:ext uri="{FF2B5EF4-FFF2-40B4-BE49-F238E27FC236}">
                  <a16:creationId xmlns:a16="http://schemas.microsoft.com/office/drawing/2014/main" id="{52914BAE-8E30-A092-0C7D-8302CE2CB145}"/>
                </a:ext>
              </a:extLst>
            </p:cNvPr>
            <p:cNvPicPr>
              <a:picLocks noChangeAspect="1"/>
            </p:cNvPicPr>
            <p:nvPr/>
          </p:nvPicPr>
          <p:blipFill>
            <a:blip r:embed="rId4">
              <a:extLst>
                <a:ext uri="{28A0092B-C50C-407E-A947-70E740481C1C}">
                  <a14:useLocalDpi xmlns:a14="http://schemas.microsoft.com/office/drawing/2010/main" val="0"/>
                </a:ext>
              </a:extLst>
            </a:blip>
            <a:srcRect l="21349" r="19027" b="24624"/>
            <a:stretch/>
          </p:blipFill>
          <p:spPr>
            <a:xfrm>
              <a:off x="871700" y="2712615"/>
              <a:ext cx="614695" cy="1218439"/>
            </a:xfrm>
            <a:prstGeom prst="rect">
              <a:avLst/>
            </a:prstGeom>
          </p:spPr>
        </p:pic>
        <p:sp>
          <p:nvSpPr>
            <p:cNvPr id="14" name="Rectangle 13">
              <a:extLst>
                <a:ext uri="{FF2B5EF4-FFF2-40B4-BE49-F238E27FC236}">
                  <a16:creationId xmlns:a16="http://schemas.microsoft.com/office/drawing/2014/main" id="{D4251CA6-DC4D-3BE8-EB98-667D80B71479}"/>
                </a:ext>
              </a:extLst>
            </p:cNvPr>
            <p:cNvSpPr/>
            <p:nvPr/>
          </p:nvSpPr>
          <p:spPr>
            <a:xfrm>
              <a:off x="1421429" y="2723760"/>
              <a:ext cx="4943871" cy="1200330"/>
            </a:xfrm>
            <a:prstGeom prst="rect">
              <a:avLst/>
            </a:prstGeom>
            <a:solidFill>
              <a:schemeClr val="tx2"/>
            </a:solidFill>
          </p:spPr>
          <p:txBody>
            <a:bodyPr wrap="square" lIns="91440" tIns="45720" rIns="91440" bIns="45720">
              <a:spAutoFit/>
            </a:bodyPr>
            <a:lstStyle/>
            <a:p>
              <a:pPr algn="ctr"/>
              <a:r>
                <a:rPr lang="en-US" sz="66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Arial Black" panose="020B0A04020102020204" pitchFamily="34" charset="0"/>
                </a:rPr>
                <a:t>JavaScript 2015-ES6</a:t>
              </a:r>
            </a:p>
          </p:txBody>
        </p:sp>
      </p:grpSp>
    </p:spTree>
    <p:extLst>
      <p:ext uri="{BB962C8B-B14F-4D97-AF65-F5344CB8AC3E}">
        <p14:creationId xmlns:p14="http://schemas.microsoft.com/office/powerpoint/2010/main" val="165213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4152F-38A7-A76A-1746-29C6200F253B}"/>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EAE7C025-C32A-6325-30E6-5A74BCC0E610}"/>
              </a:ext>
            </a:extLst>
          </p:cNvPr>
          <p:cNvSpPr>
            <a:spLocks noGrp="1"/>
          </p:cNvSpPr>
          <p:nvPr>
            <p:ph idx="1"/>
          </p:nvPr>
        </p:nvSpPr>
        <p:spPr/>
        <p:txBody>
          <a:bodyPr/>
          <a:lstStyle/>
          <a:p>
            <a:r>
              <a:rPr lang="en-US" b="1" dirty="0"/>
              <a:t>ES6 stands for ECMAScript 6</a:t>
            </a:r>
            <a:r>
              <a:rPr lang="en-US" dirty="0"/>
              <a:t>. ECMAScript was created to standardize JavaScript, and ES6 is the 6th version of ECMAScript, it was published in 2015.</a:t>
            </a:r>
          </a:p>
          <a:p>
            <a:r>
              <a:rPr lang="en-US" dirty="0"/>
              <a:t>ES6 is so useful because all the ES6 features React, Angular and Vue apps typically use.</a:t>
            </a:r>
          </a:p>
          <a:p>
            <a:endParaRPr lang="en-US" dirty="0"/>
          </a:p>
          <a:p>
            <a:endParaRPr lang="en-US" dirty="0"/>
          </a:p>
        </p:txBody>
      </p:sp>
    </p:spTree>
    <p:extLst>
      <p:ext uri="{BB962C8B-B14F-4D97-AF65-F5344CB8AC3E}">
        <p14:creationId xmlns:p14="http://schemas.microsoft.com/office/powerpoint/2010/main" val="3685225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28047" y="624701"/>
            <a:ext cx="10781516" cy="561385"/>
          </a:xfrm>
          <a:prstGeom prst="rect">
            <a:avLst/>
          </a:prstGeom>
        </p:spPr>
        <p:txBody>
          <a:bodyPr vert="horz" wrap="square" lIns="0" tIns="7316" rIns="0" bIns="0" rtlCol="0" anchor="b">
            <a:spAutoFit/>
          </a:bodyPr>
          <a:lstStyle/>
          <a:p>
            <a:pPr marL="7701">
              <a:lnSpc>
                <a:spcPct val="100000"/>
              </a:lnSpc>
              <a:spcBef>
                <a:spcPts val="58"/>
              </a:spcBef>
              <a:tabLst>
                <a:tab pos="1760898" algn="l"/>
                <a:tab pos="3382787" algn="l"/>
                <a:tab pos="4284221" algn="l"/>
                <a:tab pos="5253428" algn="l"/>
                <a:tab pos="5968492" algn="l"/>
              </a:tabLst>
            </a:pPr>
            <a:r>
              <a:rPr lang="en-US" dirty="0" err="1"/>
              <a:t>Javascript</a:t>
            </a:r>
            <a:r>
              <a:rPr lang="en-US" dirty="0"/>
              <a:t> releases... (More about this	later)</a:t>
            </a:r>
          </a:p>
        </p:txBody>
      </p:sp>
      <p:sp>
        <p:nvSpPr>
          <p:cNvPr id="4" name="object 4"/>
          <p:cNvSpPr/>
          <p:nvPr/>
        </p:nvSpPr>
        <p:spPr>
          <a:xfrm>
            <a:off x="830613" y="2597738"/>
            <a:ext cx="1110526" cy="773210"/>
          </a:xfrm>
          <a:custGeom>
            <a:avLst/>
            <a:gdLst/>
            <a:ahLst/>
            <a:cxnLst/>
            <a:rect l="l" t="t" r="r" b="b"/>
            <a:pathLst>
              <a:path w="1831339" h="1275079">
                <a:moveTo>
                  <a:pt x="1831218" y="0"/>
                </a:moveTo>
                <a:lnTo>
                  <a:pt x="0" y="0"/>
                </a:lnTo>
                <a:lnTo>
                  <a:pt x="0" y="1274906"/>
                </a:lnTo>
                <a:lnTo>
                  <a:pt x="1831218" y="1274906"/>
                </a:lnTo>
                <a:lnTo>
                  <a:pt x="1831218" y="0"/>
                </a:lnTo>
                <a:close/>
              </a:path>
            </a:pathLst>
          </a:custGeom>
          <a:solidFill>
            <a:srgbClr val="F5E46F"/>
          </a:solidFill>
        </p:spPr>
        <p:txBody>
          <a:bodyPr wrap="square" lIns="0" tIns="0" rIns="0" bIns="0" rtlCol="0"/>
          <a:lstStyle/>
          <a:p>
            <a:endParaRPr sz="1092"/>
          </a:p>
        </p:txBody>
      </p:sp>
      <p:sp>
        <p:nvSpPr>
          <p:cNvPr id="5" name="object 5"/>
          <p:cNvSpPr txBox="1"/>
          <p:nvPr/>
        </p:nvSpPr>
        <p:spPr>
          <a:xfrm>
            <a:off x="1198217" y="2858802"/>
            <a:ext cx="375438" cy="253194"/>
          </a:xfrm>
          <a:prstGeom prst="rect">
            <a:avLst/>
          </a:prstGeom>
        </p:spPr>
        <p:txBody>
          <a:bodyPr vert="horz" wrap="square" lIns="0" tIns="10397" rIns="0" bIns="0" rtlCol="0">
            <a:spAutoFit/>
          </a:bodyPr>
          <a:lstStyle/>
          <a:p>
            <a:pPr marL="7701">
              <a:spcBef>
                <a:spcPts val="82"/>
              </a:spcBef>
            </a:pPr>
            <a:r>
              <a:rPr sz="1577" spc="-42" dirty="0">
                <a:solidFill>
                  <a:srgbClr val="444444"/>
                </a:solidFill>
                <a:latin typeface="Arial"/>
                <a:cs typeface="Arial"/>
              </a:rPr>
              <a:t>ES5</a:t>
            </a:r>
            <a:endParaRPr sz="1577">
              <a:latin typeface="Arial"/>
              <a:cs typeface="Arial"/>
            </a:endParaRPr>
          </a:p>
        </p:txBody>
      </p:sp>
      <p:sp>
        <p:nvSpPr>
          <p:cNvPr id="6" name="object 6"/>
          <p:cNvSpPr txBox="1"/>
          <p:nvPr/>
        </p:nvSpPr>
        <p:spPr>
          <a:xfrm>
            <a:off x="2390084" y="2597739"/>
            <a:ext cx="1110526" cy="643871"/>
          </a:xfrm>
          <a:prstGeom prst="rect">
            <a:avLst/>
          </a:prstGeom>
          <a:solidFill>
            <a:srgbClr val="F4DB1D"/>
          </a:solidFill>
        </p:spPr>
        <p:txBody>
          <a:bodyPr vert="horz" wrap="square" lIns="0" tIns="112054" rIns="0" bIns="0" rtlCol="0">
            <a:spAutoFit/>
          </a:bodyPr>
          <a:lstStyle/>
          <a:p>
            <a:pPr marL="199078" marR="194457" indent="133617">
              <a:lnSpc>
                <a:spcPct val="113599"/>
              </a:lnSpc>
              <a:spcBef>
                <a:spcPts val="882"/>
              </a:spcBef>
            </a:pPr>
            <a:r>
              <a:rPr sz="1577" b="1" spc="45" dirty="0">
                <a:solidFill>
                  <a:srgbClr val="444444"/>
                </a:solidFill>
                <a:latin typeface="Trebuchet MS"/>
                <a:cs typeface="Trebuchet MS"/>
              </a:rPr>
              <a:t>ES6/ </a:t>
            </a:r>
            <a:r>
              <a:rPr sz="1577" b="1" spc="-6" dirty="0">
                <a:solidFill>
                  <a:srgbClr val="444444"/>
                </a:solidFill>
                <a:latin typeface="Trebuchet MS"/>
                <a:cs typeface="Trebuchet MS"/>
              </a:rPr>
              <a:t>ES2015</a:t>
            </a:r>
            <a:endParaRPr sz="1577">
              <a:latin typeface="Trebuchet MS"/>
              <a:cs typeface="Trebuchet MS"/>
            </a:endParaRPr>
          </a:p>
        </p:txBody>
      </p:sp>
      <p:grpSp>
        <p:nvGrpSpPr>
          <p:cNvPr id="7" name="object 7"/>
          <p:cNvGrpSpPr/>
          <p:nvPr/>
        </p:nvGrpSpPr>
        <p:grpSpPr>
          <a:xfrm>
            <a:off x="2024145" y="2908095"/>
            <a:ext cx="283022" cy="152486"/>
            <a:chOff x="3337258" y="4795665"/>
            <a:chExt cx="466725" cy="251460"/>
          </a:xfrm>
        </p:grpSpPr>
        <p:sp>
          <p:nvSpPr>
            <p:cNvPr id="8" name="object 8"/>
            <p:cNvSpPr/>
            <p:nvPr/>
          </p:nvSpPr>
          <p:spPr>
            <a:xfrm>
              <a:off x="3337258" y="4921316"/>
              <a:ext cx="247015" cy="0"/>
            </a:xfrm>
            <a:custGeom>
              <a:avLst/>
              <a:gdLst/>
              <a:ahLst/>
              <a:cxnLst/>
              <a:rect l="l" t="t" r="r" b="b"/>
              <a:pathLst>
                <a:path w="247014">
                  <a:moveTo>
                    <a:pt x="0" y="0"/>
                  </a:moveTo>
                  <a:lnTo>
                    <a:pt x="215157" y="0"/>
                  </a:lnTo>
                  <a:lnTo>
                    <a:pt x="246569" y="0"/>
                  </a:lnTo>
                </a:path>
              </a:pathLst>
            </a:custGeom>
            <a:ln w="62825">
              <a:solidFill>
                <a:srgbClr val="444444"/>
              </a:solidFill>
            </a:ln>
          </p:spPr>
          <p:txBody>
            <a:bodyPr wrap="square" lIns="0" tIns="0" rIns="0" bIns="0" rtlCol="0"/>
            <a:lstStyle/>
            <a:p>
              <a:endParaRPr sz="1092"/>
            </a:p>
          </p:txBody>
        </p:sp>
        <p:sp>
          <p:nvSpPr>
            <p:cNvPr id="9" name="object 9"/>
            <p:cNvSpPr/>
            <p:nvPr/>
          </p:nvSpPr>
          <p:spPr>
            <a:xfrm>
              <a:off x="3552415" y="4795665"/>
              <a:ext cx="251460" cy="251460"/>
            </a:xfrm>
            <a:custGeom>
              <a:avLst/>
              <a:gdLst/>
              <a:ahLst/>
              <a:cxnLst/>
              <a:rect l="l" t="t" r="r" b="b"/>
              <a:pathLst>
                <a:path w="251460" h="251460">
                  <a:moveTo>
                    <a:pt x="0" y="0"/>
                  </a:moveTo>
                  <a:lnTo>
                    <a:pt x="0" y="251301"/>
                  </a:lnTo>
                  <a:lnTo>
                    <a:pt x="251301" y="125650"/>
                  </a:lnTo>
                  <a:lnTo>
                    <a:pt x="0" y="0"/>
                  </a:lnTo>
                  <a:close/>
                </a:path>
              </a:pathLst>
            </a:custGeom>
            <a:solidFill>
              <a:srgbClr val="444444"/>
            </a:solidFill>
          </p:spPr>
          <p:txBody>
            <a:bodyPr wrap="square" lIns="0" tIns="0" rIns="0" bIns="0" rtlCol="0"/>
            <a:lstStyle/>
            <a:p>
              <a:endParaRPr sz="1092"/>
            </a:p>
          </p:txBody>
        </p:sp>
      </p:grpSp>
      <p:sp>
        <p:nvSpPr>
          <p:cNvPr id="10" name="object 10"/>
          <p:cNvSpPr txBox="1"/>
          <p:nvPr/>
        </p:nvSpPr>
        <p:spPr>
          <a:xfrm>
            <a:off x="3949556" y="2597738"/>
            <a:ext cx="1110526" cy="643422"/>
          </a:xfrm>
          <a:prstGeom prst="rect">
            <a:avLst/>
          </a:prstGeom>
          <a:solidFill>
            <a:srgbClr val="F4DB1D"/>
          </a:solidFill>
        </p:spPr>
        <p:txBody>
          <a:bodyPr vert="horz" wrap="square" lIns="0" tIns="112054" rIns="0" bIns="0" rtlCol="0">
            <a:spAutoFit/>
          </a:bodyPr>
          <a:lstStyle/>
          <a:p>
            <a:pPr marL="203314" marR="199078" indent="129382">
              <a:lnSpc>
                <a:spcPct val="113599"/>
              </a:lnSpc>
              <a:spcBef>
                <a:spcPts val="882"/>
              </a:spcBef>
            </a:pPr>
            <a:r>
              <a:rPr sz="1577" spc="-12" dirty="0">
                <a:solidFill>
                  <a:srgbClr val="444444"/>
                </a:solidFill>
                <a:latin typeface="Arial"/>
                <a:cs typeface="Arial"/>
              </a:rPr>
              <a:t>ES7/ </a:t>
            </a:r>
            <a:r>
              <a:rPr sz="1577" spc="-21" dirty="0">
                <a:solidFill>
                  <a:srgbClr val="444444"/>
                </a:solidFill>
                <a:latin typeface="Arial"/>
                <a:cs typeface="Arial"/>
              </a:rPr>
              <a:t>ES2016</a:t>
            </a:r>
            <a:endParaRPr sz="1577">
              <a:latin typeface="Arial"/>
              <a:cs typeface="Arial"/>
            </a:endParaRPr>
          </a:p>
        </p:txBody>
      </p:sp>
      <p:sp>
        <p:nvSpPr>
          <p:cNvPr id="11" name="object 11"/>
          <p:cNvSpPr txBox="1"/>
          <p:nvPr/>
        </p:nvSpPr>
        <p:spPr>
          <a:xfrm>
            <a:off x="5509027" y="2597738"/>
            <a:ext cx="1110526" cy="643422"/>
          </a:xfrm>
          <a:prstGeom prst="rect">
            <a:avLst/>
          </a:prstGeom>
          <a:solidFill>
            <a:srgbClr val="F4DB1D"/>
          </a:solidFill>
        </p:spPr>
        <p:txBody>
          <a:bodyPr vert="horz" wrap="square" lIns="0" tIns="112054" rIns="0" bIns="0" rtlCol="0">
            <a:spAutoFit/>
          </a:bodyPr>
          <a:lstStyle/>
          <a:p>
            <a:pPr marL="203314" marR="199078" indent="129382">
              <a:lnSpc>
                <a:spcPct val="113599"/>
              </a:lnSpc>
              <a:spcBef>
                <a:spcPts val="882"/>
              </a:spcBef>
            </a:pPr>
            <a:r>
              <a:rPr sz="1577" spc="-12" dirty="0">
                <a:solidFill>
                  <a:srgbClr val="444444"/>
                </a:solidFill>
                <a:latin typeface="Arial"/>
                <a:cs typeface="Arial"/>
              </a:rPr>
              <a:t>ES8/ </a:t>
            </a:r>
            <a:r>
              <a:rPr sz="1577" spc="-21" dirty="0">
                <a:solidFill>
                  <a:srgbClr val="444444"/>
                </a:solidFill>
                <a:latin typeface="Arial"/>
                <a:cs typeface="Arial"/>
              </a:rPr>
              <a:t>ES2017</a:t>
            </a:r>
            <a:endParaRPr sz="1577">
              <a:latin typeface="Arial"/>
              <a:cs typeface="Arial"/>
            </a:endParaRPr>
          </a:p>
        </p:txBody>
      </p:sp>
      <p:sp>
        <p:nvSpPr>
          <p:cNvPr id="12" name="object 12"/>
          <p:cNvSpPr txBox="1"/>
          <p:nvPr/>
        </p:nvSpPr>
        <p:spPr>
          <a:xfrm>
            <a:off x="7068497" y="2597738"/>
            <a:ext cx="1110526" cy="643422"/>
          </a:xfrm>
          <a:prstGeom prst="rect">
            <a:avLst/>
          </a:prstGeom>
          <a:solidFill>
            <a:srgbClr val="F4DB1D"/>
          </a:solidFill>
        </p:spPr>
        <p:txBody>
          <a:bodyPr vert="horz" wrap="square" lIns="0" tIns="112054" rIns="0" bIns="0" rtlCol="0">
            <a:spAutoFit/>
          </a:bodyPr>
          <a:lstStyle/>
          <a:p>
            <a:pPr marL="203314" marR="199078" indent="129382">
              <a:lnSpc>
                <a:spcPct val="113599"/>
              </a:lnSpc>
              <a:spcBef>
                <a:spcPts val="882"/>
              </a:spcBef>
            </a:pPr>
            <a:r>
              <a:rPr sz="1577" spc="-12" dirty="0">
                <a:solidFill>
                  <a:srgbClr val="444444"/>
                </a:solidFill>
                <a:latin typeface="Arial"/>
                <a:cs typeface="Arial"/>
              </a:rPr>
              <a:t>ES9/ </a:t>
            </a:r>
            <a:r>
              <a:rPr sz="1577" spc="-21" dirty="0">
                <a:solidFill>
                  <a:srgbClr val="444444"/>
                </a:solidFill>
                <a:latin typeface="Arial"/>
                <a:cs typeface="Arial"/>
              </a:rPr>
              <a:t>ES2018</a:t>
            </a:r>
            <a:endParaRPr sz="1577">
              <a:latin typeface="Arial"/>
              <a:cs typeface="Arial"/>
            </a:endParaRPr>
          </a:p>
        </p:txBody>
      </p:sp>
      <p:sp>
        <p:nvSpPr>
          <p:cNvPr id="13" name="object 13"/>
          <p:cNvSpPr txBox="1"/>
          <p:nvPr/>
        </p:nvSpPr>
        <p:spPr>
          <a:xfrm>
            <a:off x="8627966" y="2597738"/>
            <a:ext cx="1110526" cy="643422"/>
          </a:xfrm>
          <a:prstGeom prst="rect">
            <a:avLst/>
          </a:prstGeom>
          <a:solidFill>
            <a:srgbClr val="F4DB1D"/>
          </a:solidFill>
        </p:spPr>
        <p:txBody>
          <a:bodyPr vert="horz" wrap="square" lIns="0" tIns="112054" rIns="0" bIns="0" rtlCol="0">
            <a:spAutoFit/>
          </a:bodyPr>
          <a:lstStyle/>
          <a:p>
            <a:pPr marL="203314" marR="199078" indent="72007">
              <a:lnSpc>
                <a:spcPct val="113599"/>
              </a:lnSpc>
              <a:spcBef>
                <a:spcPts val="882"/>
              </a:spcBef>
            </a:pPr>
            <a:r>
              <a:rPr sz="1577" spc="-12" dirty="0">
                <a:solidFill>
                  <a:srgbClr val="444444"/>
                </a:solidFill>
                <a:latin typeface="Arial"/>
                <a:cs typeface="Arial"/>
              </a:rPr>
              <a:t>ES10/ </a:t>
            </a:r>
            <a:r>
              <a:rPr sz="1577" spc="-21" dirty="0">
                <a:solidFill>
                  <a:srgbClr val="444444"/>
                </a:solidFill>
                <a:latin typeface="Arial"/>
                <a:cs typeface="Arial"/>
              </a:rPr>
              <a:t>ES2019</a:t>
            </a:r>
            <a:endParaRPr sz="1577">
              <a:latin typeface="Arial"/>
              <a:cs typeface="Arial"/>
            </a:endParaRPr>
          </a:p>
        </p:txBody>
      </p:sp>
      <p:sp>
        <p:nvSpPr>
          <p:cNvPr id="14" name="object 14"/>
          <p:cNvSpPr txBox="1"/>
          <p:nvPr/>
        </p:nvSpPr>
        <p:spPr>
          <a:xfrm>
            <a:off x="11723940" y="2744322"/>
            <a:ext cx="245671" cy="315292"/>
          </a:xfrm>
          <a:prstGeom prst="rect">
            <a:avLst/>
          </a:prstGeom>
        </p:spPr>
        <p:txBody>
          <a:bodyPr vert="horz" wrap="square" lIns="0" tIns="7316" rIns="0" bIns="0" rtlCol="0">
            <a:spAutoFit/>
          </a:bodyPr>
          <a:lstStyle/>
          <a:p>
            <a:pPr marL="7701">
              <a:spcBef>
                <a:spcPts val="58"/>
              </a:spcBef>
            </a:pPr>
            <a:r>
              <a:rPr sz="2001" b="1" spc="24" dirty="0">
                <a:solidFill>
                  <a:srgbClr val="38464D"/>
                </a:solidFill>
                <a:latin typeface="Arial"/>
                <a:cs typeface="Arial"/>
              </a:rPr>
              <a:t>...</a:t>
            </a:r>
            <a:endParaRPr sz="2001">
              <a:latin typeface="Arial"/>
              <a:cs typeface="Arial"/>
            </a:endParaRPr>
          </a:p>
        </p:txBody>
      </p:sp>
      <p:grpSp>
        <p:nvGrpSpPr>
          <p:cNvPr id="15" name="object 15"/>
          <p:cNvGrpSpPr/>
          <p:nvPr/>
        </p:nvGrpSpPr>
        <p:grpSpPr>
          <a:xfrm>
            <a:off x="2991067" y="1726820"/>
            <a:ext cx="1060467" cy="753571"/>
            <a:chOff x="4931785" y="2847654"/>
            <a:chExt cx="1748789" cy="1242695"/>
          </a:xfrm>
        </p:grpSpPr>
        <p:sp>
          <p:nvSpPr>
            <p:cNvPr id="16" name="object 16"/>
            <p:cNvSpPr/>
            <p:nvPr/>
          </p:nvSpPr>
          <p:spPr>
            <a:xfrm>
              <a:off x="5011558" y="2868596"/>
              <a:ext cx="1648460" cy="1071880"/>
            </a:xfrm>
            <a:custGeom>
              <a:avLst/>
              <a:gdLst/>
              <a:ahLst/>
              <a:cxnLst/>
              <a:rect l="l" t="t" r="r" b="b"/>
              <a:pathLst>
                <a:path w="1648459" h="1071879">
                  <a:moveTo>
                    <a:pt x="1647992" y="0"/>
                  </a:moveTo>
                  <a:lnTo>
                    <a:pt x="1585291" y="9910"/>
                  </a:lnTo>
                  <a:lnTo>
                    <a:pt x="1523757" y="20512"/>
                  </a:lnTo>
                  <a:lnTo>
                    <a:pt x="1463390" y="31806"/>
                  </a:lnTo>
                  <a:lnTo>
                    <a:pt x="1404190" y="43793"/>
                  </a:lnTo>
                  <a:lnTo>
                    <a:pt x="1346156" y="56471"/>
                  </a:lnTo>
                  <a:lnTo>
                    <a:pt x="1289288" y="69842"/>
                  </a:lnTo>
                  <a:lnTo>
                    <a:pt x="1233587" y="83904"/>
                  </a:lnTo>
                  <a:lnTo>
                    <a:pt x="1179053" y="98659"/>
                  </a:lnTo>
                  <a:lnTo>
                    <a:pt x="1125686" y="114105"/>
                  </a:lnTo>
                  <a:lnTo>
                    <a:pt x="1073485" y="130244"/>
                  </a:lnTo>
                  <a:lnTo>
                    <a:pt x="1022450" y="147075"/>
                  </a:lnTo>
                  <a:lnTo>
                    <a:pt x="972582" y="164597"/>
                  </a:lnTo>
                  <a:lnTo>
                    <a:pt x="923881" y="182812"/>
                  </a:lnTo>
                  <a:lnTo>
                    <a:pt x="876347" y="201719"/>
                  </a:lnTo>
                  <a:lnTo>
                    <a:pt x="829979" y="221318"/>
                  </a:lnTo>
                  <a:lnTo>
                    <a:pt x="784777" y="241608"/>
                  </a:lnTo>
                  <a:lnTo>
                    <a:pt x="740743" y="262591"/>
                  </a:lnTo>
                  <a:lnTo>
                    <a:pt x="697874" y="284266"/>
                  </a:lnTo>
                  <a:lnTo>
                    <a:pt x="656173" y="306633"/>
                  </a:lnTo>
                  <a:lnTo>
                    <a:pt x="615638" y="329692"/>
                  </a:lnTo>
                  <a:lnTo>
                    <a:pt x="576269" y="353443"/>
                  </a:lnTo>
                  <a:lnTo>
                    <a:pt x="538068" y="377886"/>
                  </a:lnTo>
                  <a:lnTo>
                    <a:pt x="501033" y="403021"/>
                  </a:lnTo>
                  <a:lnTo>
                    <a:pt x="465164" y="428848"/>
                  </a:lnTo>
                  <a:lnTo>
                    <a:pt x="430462" y="455368"/>
                  </a:lnTo>
                  <a:lnTo>
                    <a:pt x="396927" y="482579"/>
                  </a:lnTo>
                  <a:lnTo>
                    <a:pt x="364558" y="510482"/>
                  </a:lnTo>
                  <a:lnTo>
                    <a:pt x="333356" y="539077"/>
                  </a:lnTo>
                  <a:lnTo>
                    <a:pt x="303320" y="568364"/>
                  </a:lnTo>
                  <a:lnTo>
                    <a:pt x="274451" y="598344"/>
                  </a:lnTo>
                  <a:lnTo>
                    <a:pt x="246749" y="629015"/>
                  </a:lnTo>
                  <a:lnTo>
                    <a:pt x="220213" y="660379"/>
                  </a:lnTo>
                  <a:lnTo>
                    <a:pt x="194844" y="692434"/>
                  </a:lnTo>
                  <a:lnTo>
                    <a:pt x="170642" y="725181"/>
                  </a:lnTo>
                  <a:lnTo>
                    <a:pt x="147606" y="758621"/>
                  </a:lnTo>
                  <a:lnTo>
                    <a:pt x="125736" y="792752"/>
                  </a:lnTo>
                  <a:lnTo>
                    <a:pt x="105034" y="827576"/>
                  </a:lnTo>
                  <a:lnTo>
                    <a:pt x="85498" y="863092"/>
                  </a:lnTo>
                  <a:lnTo>
                    <a:pt x="67128" y="899299"/>
                  </a:lnTo>
                  <a:lnTo>
                    <a:pt x="49925" y="936199"/>
                  </a:lnTo>
                  <a:lnTo>
                    <a:pt x="33889" y="973791"/>
                  </a:lnTo>
                  <a:lnTo>
                    <a:pt x="19019" y="1012074"/>
                  </a:lnTo>
                  <a:lnTo>
                    <a:pt x="5316" y="1051050"/>
                  </a:lnTo>
                  <a:lnTo>
                    <a:pt x="0" y="1071335"/>
                  </a:lnTo>
                </a:path>
              </a:pathLst>
            </a:custGeom>
            <a:ln w="41883">
              <a:solidFill>
                <a:srgbClr val="F2425D"/>
              </a:solidFill>
            </a:ln>
          </p:spPr>
          <p:txBody>
            <a:bodyPr wrap="square" lIns="0" tIns="0" rIns="0" bIns="0" rtlCol="0"/>
            <a:lstStyle/>
            <a:p>
              <a:endParaRPr sz="1092"/>
            </a:p>
          </p:txBody>
        </p:sp>
        <p:sp>
          <p:nvSpPr>
            <p:cNvPr id="17" name="object 17"/>
            <p:cNvSpPr/>
            <p:nvPr/>
          </p:nvSpPr>
          <p:spPr>
            <a:xfrm>
              <a:off x="4931785" y="3897375"/>
              <a:ext cx="170180" cy="193040"/>
            </a:xfrm>
            <a:custGeom>
              <a:avLst/>
              <a:gdLst/>
              <a:ahLst/>
              <a:cxnLst/>
              <a:rect l="l" t="t" r="r" b="b"/>
              <a:pathLst>
                <a:path w="170179" h="193039">
                  <a:moveTo>
                    <a:pt x="0" y="0"/>
                  </a:moveTo>
                  <a:lnTo>
                    <a:pt x="40483" y="192462"/>
                  </a:lnTo>
                  <a:lnTo>
                    <a:pt x="170163" y="44598"/>
                  </a:lnTo>
                  <a:lnTo>
                    <a:pt x="0" y="0"/>
                  </a:lnTo>
                  <a:close/>
                </a:path>
              </a:pathLst>
            </a:custGeom>
            <a:solidFill>
              <a:srgbClr val="F2425D"/>
            </a:solidFill>
          </p:spPr>
          <p:txBody>
            <a:bodyPr wrap="square" lIns="0" tIns="0" rIns="0" bIns="0" rtlCol="0"/>
            <a:lstStyle/>
            <a:p>
              <a:endParaRPr sz="1092"/>
            </a:p>
          </p:txBody>
        </p:sp>
      </p:grpSp>
      <p:sp>
        <p:nvSpPr>
          <p:cNvPr id="18" name="object 18"/>
          <p:cNvSpPr txBox="1"/>
          <p:nvPr/>
        </p:nvSpPr>
        <p:spPr>
          <a:xfrm>
            <a:off x="4148076" y="1507749"/>
            <a:ext cx="1985537" cy="477392"/>
          </a:xfrm>
          <a:prstGeom prst="rect">
            <a:avLst/>
          </a:prstGeom>
        </p:spPr>
        <p:txBody>
          <a:bodyPr vert="horz" wrap="square" lIns="0" tIns="7701" rIns="0" bIns="0" rtlCol="0">
            <a:spAutoFit/>
          </a:bodyPr>
          <a:lstStyle/>
          <a:p>
            <a:pPr marL="7701" marR="3081">
              <a:lnSpc>
                <a:spcPct val="108700"/>
              </a:lnSpc>
              <a:spcBef>
                <a:spcPts val="61"/>
              </a:spcBef>
            </a:pPr>
            <a:r>
              <a:rPr sz="1455" dirty="0">
                <a:solidFill>
                  <a:srgbClr val="F2425D"/>
                </a:solidFill>
                <a:latin typeface="Arial"/>
                <a:cs typeface="Arial"/>
              </a:rPr>
              <a:t>Biggest</a:t>
            </a:r>
            <a:r>
              <a:rPr sz="1455" spc="3" dirty="0">
                <a:solidFill>
                  <a:srgbClr val="F2425D"/>
                </a:solidFill>
                <a:latin typeface="Arial"/>
                <a:cs typeface="Arial"/>
              </a:rPr>
              <a:t> </a:t>
            </a:r>
            <a:r>
              <a:rPr sz="1455" dirty="0">
                <a:solidFill>
                  <a:srgbClr val="F2425D"/>
                </a:solidFill>
                <a:latin typeface="Arial"/>
                <a:cs typeface="Arial"/>
              </a:rPr>
              <a:t>update </a:t>
            </a:r>
            <a:r>
              <a:rPr sz="1455" spc="45" dirty="0">
                <a:solidFill>
                  <a:srgbClr val="F2425D"/>
                </a:solidFill>
                <a:latin typeface="Arial"/>
                <a:cs typeface="Arial"/>
              </a:rPr>
              <a:t>to</a:t>
            </a:r>
            <a:r>
              <a:rPr sz="1455" spc="3" dirty="0">
                <a:solidFill>
                  <a:srgbClr val="F2425D"/>
                </a:solidFill>
                <a:latin typeface="Arial"/>
                <a:cs typeface="Arial"/>
              </a:rPr>
              <a:t> </a:t>
            </a:r>
            <a:r>
              <a:rPr sz="1455" spc="-15" dirty="0">
                <a:solidFill>
                  <a:srgbClr val="F2425D"/>
                </a:solidFill>
                <a:latin typeface="Arial"/>
                <a:cs typeface="Arial"/>
              </a:rPr>
              <a:t>the </a:t>
            </a:r>
            <a:r>
              <a:rPr sz="1455" dirty="0">
                <a:solidFill>
                  <a:srgbClr val="F2425D"/>
                </a:solidFill>
                <a:latin typeface="Arial"/>
                <a:cs typeface="Arial"/>
              </a:rPr>
              <a:t>language</a:t>
            </a:r>
            <a:r>
              <a:rPr sz="1455" spc="-58" dirty="0">
                <a:solidFill>
                  <a:srgbClr val="F2425D"/>
                </a:solidFill>
                <a:latin typeface="Arial"/>
                <a:cs typeface="Arial"/>
              </a:rPr>
              <a:t> </a:t>
            </a:r>
            <a:r>
              <a:rPr sz="1455" spc="-12" dirty="0">
                <a:solidFill>
                  <a:srgbClr val="F2425D"/>
                </a:solidFill>
                <a:latin typeface="Arial"/>
                <a:cs typeface="Arial"/>
              </a:rPr>
              <a:t>EVER</a:t>
            </a:r>
            <a:endParaRPr sz="1455" dirty="0">
              <a:latin typeface="Arial"/>
              <a:cs typeface="Arial"/>
            </a:endParaRPr>
          </a:p>
        </p:txBody>
      </p:sp>
      <p:grpSp>
        <p:nvGrpSpPr>
          <p:cNvPr id="19" name="object 19"/>
          <p:cNvGrpSpPr/>
          <p:nvPr/>
        </p:nvGrpSpPr>
        <p:grpSpPr>
          <a:xfrm>
            <a:off x="10412376" y="1734648"/>
            <a:ext cx="1410106" cy="979604"/>
            <a:chOff x="17170074" y="2860563"/>
            <a:chExt cx="2325370" cy="1615440"/>
          </a:xfrm>
        </p:grpSpPr>
        <p:sp>
          <p:nvSpPr>
            <p:cNvPr id="20" name="object 20"/>
            <p:cNvSpPr/>
            <p:nvPr/>
          </p:nvSpPr>
          <p:spPr>
            <a:xfrm>
              <a:off x="17191016" y="2881504"/>
              <a:ext cx="2228215" cy="1459865"/>
            </a:xfrm>
            <a:custGeom>
              <a:avLst/>
              <a:gdLst/>
              <a:ahLst/>
              <a:cxnLst/>
              <a:rect l="l" t="t" r="r" b="b"/>
              <a:pathLst>
                <a:path w="2228215" h="1459864">
                  <a:moveTo>
                    <a:pt x="0" y="0"/>
                  </a:moveTo>
                  <a:lnTo>
                    <a:pt x="48055" y="952"/>
                  </a:lnTo>
                  <a:lnTo>
                    <a:pt x="95784" y="2773"/>
                  </a:lnTo>
                  <a:lnTo>
                    <a:pt x="143186" y="5463"/>
                  </a:lnTo>
                  <a:lnTo>
                    <a:pt x="190261" y="9023"/>
                  </a:lnTo>
                  <a:lnTo>
                    <a:pt x="237009" y="13451"/>
                  </a:lnTo>
                  <a:lnTo>
                    <a:pt x="283430" y="18749"/>
                  </a:lnTo>
                  <a:lnTo>
                    <a:pt x="329524" y="24916"/>
                  </a:lnTo>
                  <a:lnTo>
                    <a:pt x="375291" y="31951"/>
                  </a:lnTo>
                  <a:lnTo>
                    <a:pt x="420732" y="39856"/>
                  </a:lnTo>
                  <a:lnTo>
                    <a:pt x="465845" y="48631"/>
                  </a:lnTo>
                  <a:lnTo>
                    <a:pt x="510631" y="58274"/>
                  </a:lnTo>
                  <a:lnTo>
                    <a:pt x="555090" y="68786"/>
                  </a:lnTo>
                  <a:lnTo>
                    <a:pt x="599223" y="80168"/>
                  </a:lnTo>
                  <a:lnTo>
                    <a:pt x="643028" y="92418"/>
                  </a:lnTo>
                  <a:lnTo>
                    <a:pt x="686507" y="105538"/>
                  </a:lnTo>
                  <a:lnTo>
                    <a:pt x="729658" y="119527"/>
                  </a:lnTo>
                  <a:lnTo>
                    <a:pt x="772483" y="134385"/>
                  </a:lnTo>
                  <a:lnTo>
                    <a:pt x="814981" y="150112"/>
                  </a:lnTo>
                  <a:lnTo>
                    <a:pt x="857151" y="166708"/>
                  </a:lnTo>
                  <a:lnTo>
                    <a:pt x="898995" y="184173"/>
                  </a:lnTo>
                  <a:lnTo>
                    <a:pt x="940512" y="202507"/>
                  </a:lnTo>
                  <a:lnTo>
                    <a:pt x="981702" y="221711"/>
                  </a:lnTo>
                  <a:lnTo>
                    <a:pt x="1022564" y="241783"/>
                  </a:lnTo>
                  <a:lnTo>
                    <a:pt x="1063100" y="262725"/>
                  </a:lnTo>
                  <a:lnTo>
                    <a:pt x="1103309" y="284536"/>
                  </a:lnTo>
                  <a:lnTo>
                    <a:pt x="1143191" y="307216"/>
                  </a:lnTo>
                  <a:lnTo>
                    <a:pt x="1182746" y="330765"/>
                  </a:lnTo>
                  <a:lnTo>
                    <a:pt x="1221975" y="355183"/>
                  </a:lnTo>
                  <a:lnTo>
                    <a:pt x="1260876" y="380470"/>
                  </a:lnTo>
                  <a:lnTo>
                    <a:pt x="1299450" y="406626"/>
                  </a:lnTo>
                  <a:lnTo>
                    <a:pt x="1337697" y="433652"/>
                  </a:lnTo>
                  <a:lnTo>
                    <a:pt x="1375617" y="461546"/>
                  </a:lnTo>
                  <a:lnTo>
                    <a:pt x="1413211" y="490310"/>
                  </a:lnTo>
                  <a:lnTo>
                    <a:pt x="1450477" y="519943"/>
                  </a:lnTo>
                  <a:lnTo>
                    <a:pt x="1487417" y="550445"/>
                  </a:lnTo>
                  <a:lnTo>
                    <a:pt x="1524029" y="581816"/>
                  </a:lnTo>
                  <a:lnTo>
                    <a:pt x="1560315" y="614056"/>
                  </a:lnTo>
                  <a:lnTo>
                    <a:pt x="1596273" y="647165"/>
                  </a:lnTo>
                  <a:lnTo>
                    <a:pt x="1631905" y="681143"/>
                  </a:lnTo>
                  <a:lnTo>
                    <a:pt x="1667210" y="715991"/>
                  </a:lnTo>
                  <a:lnTo>
                    <a:pt x="1702187" y="751707"/>
                  </a:lnTo>
                  <a:lnTo>
                    <a:pt x="1736838" y="788293"/>
                  </a:lnTo>
                  <a:lnTo>
                    <a:pt x="1771162" y="825748"/>
                  </a:lnTo>
                  <a:lnTo>
                    <a:pt x="1805159" y="864072"/>
                  </a:lnTo>
                  <a:lnTo>
                    <a:pt x="1838829" y="903265"/>
                  </a:lnTo>
                  <a:lnTo>
                    <a:pt x="1872172" y="943327"/>
                  </a:lnTo>
                  <a:lnTo>
                    <a:pt x="1905188" y="984258"/>
                  </a:lnTo>
                  <a:lnTo>
                    <a:pt x="1937877" y="1026058"/>
                  </a:lnTo>
                  <a:lnTo>
                    <a:pt x="1970239" y="1068728"/>
                  </a:lnTo>
                  <a:lnTo>
                    <a:pt x="2002274" y="1112266"/>
                  </a:lnTo>
                  <a:lnTo>
                    <a:pt x="2033982" y="1156674"/>
                  </a:lnTo>
                  <a:lnTo>
                    <a:pt x="2065364" y="1201951"/>
                  </a:lnTo>
                  <a:lnTo>
                    <a:pt x="2096418" y="1248097"/>
                  </a:lnTo>
                  <a:lnTo>
                    <a:pt x="2127145" y="1295112"/>
                  </a:lnTo>
                  <a:lnTo>
                    <a:pt x="2157546" y="1342996"/>
                  </a:lnTo>
                  <a:lnTo>
                    <a:pt x="2187619" y="1391749"/>
                  </a:lnTo>
                  <a:lnTo>
                    <a:pt x="2217365" y="1441371"/>
                  </a:lnTo>
                  <a:lnTo>
                    <a:pt x="2227711" y="1459630"/>
                  </a:lnTo>
                </a:path>
              </a:pathLst>
            </a:custGeom>
            <a:ln w="41883">
              <a:solidFill>
                <a:srgbClr val="F2425D"/>
              </a:solidFill>
            </a:ln>
          </p:spPr>
          <p:txBody>
            <a:bodyPr wrap="square" lIns="0" tIns="0" rIns="0" bIns="0" rtlCol="0"/>
            <a:lstStyle/>
            <a:p>
              <a:endParaRPr sz="1092"/>
            </a:p>
          </p:txBody>
        </p:sp>
        <p:sp>
          <p:nvSpPr>
            <p:cNvPr id="21" name="object 21"/>
            <p:cNvSpPr/>
            <p:nvPr/>
          </p:nvSpPr>
          <p:spPr>
            <a:xfrm>
              <a:off x="19331882" y="4279556"/>
              <a:ext cx="163830" cy="196850"/>
            </a:xfrm>
            <a:custGeom>
              <a:avLst/>
              <a:gdLst/>
              <a:ahLst/>
              <a:cxnLst/>
              <a:rect l="l" t="t" r="r" b="b"/>
              <a:pathLst>
                <a:path w="163830" h="196850">
                  <a:moveTo>
                    <a:pt x="153052" y="0"/>
                  </a:moveTo>
                  <a:lnTo>
                    <a:pt x="0" y="86717"/>
                  </a:lnTo>
                  <a:lnTo>
                    <a:pt x="163241" y="196410"/>
                  </a:lnTo>
                  <a:lnTo>
                    <a:pt x="153052" y="0"/>
                  </a:lnTo>
                  <a:close/>
                </a:path>
              </a:pathLst>
            </a:custGeom>
            <a:solidFill>
              <a:srgbClr val="F2425D"/>
            </a:solidFill>
          </p:spPr>
          <p:txBody>
            <a:bodyPr wrap="square" lIns="0" tIns="0" rIns="0" bIns="0" rtlCol="0"/>
            <a:lstStyle/>
            <a:p>
              <a:endParaRPr sz="1092"/>
            </a:p>
          </p:txBody>
        </p:sp>
      </p:grpSp>
      <p:sp>
        <p:nvSpPr>
          <p:cNvPr id="22" name="object 22"/>
          <p:cNvSpPr txBox="1"/>
          <p:nvPr/>
        </p:nvSpPr>
        <p:spPr>
          <a:xfrm>
            <a:off x="8847485" y="1502246"/>
            <a:ext cx="1745657" cy="477392"/>
          </a:xfrm>
          <a:prstGeom prst="rect">
            <a:avLst/>
          </a:prstGeom>
        </p:spPr>
        <p:txBody>
          <a:bodyPr vert="horz" wrap="square" lIns="0" tIns="7701" rIns="0" bIns="0" rtlCol="0">
            <a:spAutoFit/>
          </a:bodyPr>
          <a:lstStyle/>
          <a:p>
            <a:pPr marL="7701" marR="3081">
              <a:lnSpc>
                <a:spcPct val="108700"/>
              </a:lnSpc>
              <a:spcBef>
                <a:spcPts val="61"/>
              </a:spcBef>
            </a:pPr>
            <a:r>
              <a:rPr sz="1455" dirty="0">
                <a:solidFill>
                  <a:srgbClr val="F2425D"/>
                </a:solidFill>
                <a:latin typeface="Arial"/>
                <a:cs typeface="Arial"/>
              </a:rPr>
              <a:t>New</a:t>
            </a:r>
            <a:r>
              <a:rPr sz="1455" spc="-33" dirty="0">
                <a:solidFill>
                  <a:srgbClr val="F2425D"/>
                </a:solidFill>
                <a:latin typeface="Arial"/>
                <a:cs typeface="Arial"/>
              </a:rPr>
              <a:t> </a:t>
            </a:r>
            <a:r>
              <a:rPr sz="1455" dirty="0">
                <a:solidFill>
                  <a:srgbClr val="F2425D"/>
                </a:solidFill>
                <a:latin typeface="Arial"/>
                <a:cs typeface="Arial"/>
              </a:rPr>
              <a:t>updates</a:t>
            </a:r>
            <a:r>
              <a:rPr sz="1455" spc="-30" dirty="0">
                <a:solidFill>
                  <a:srgbClr val="F2425D"/>
                </a:solidFill>
                <a:latin typeface="Arial"/>
                <a:cs typeface="Arial"/>
              </a:rPr>
              <a:t> </a:t>
            </a:r>
            <a:r>
              <a:rPr sz="1455" spc="45" dirty="0">
                <a:solidFill>
                  <a:srgbClr val="F2425D"/>
                </a:solidFill>
                <a:latin typeface="Arial"/>
                <a:cs typeface="Arial"/>
              </a:rPr>
              <a:t>to</a:t>
            </a:r>
            <a:r>
              <a:rPr sz="1455" spc="-30" dirty="0">
                <a:solidFill>
                  <a:srgbClr val="F2425D"/>
                </a:solidFill>
                <a:latin typeface="Arial"/>
                <a:cs typeface="Arial"/>
              </a:rPr>
              <a:t> </a:t>
            </a:r>
            <a:r>
              <a:rPr sz="1455" spc="-15" dirty="0">
                <a:solidFill>
                  <a:srgbClr val="F2425D"/>
                </a:solidFill>
                <a:latin typeface="Arial"/>
                <a:cs typeface="Arial"/>
              </a:rPr>
              <a:t>JS </a:t>
            </a:r>
            <a:r>
              <a:rPr sz="1455" spc="-6" dirty="0">
                <a:solidFill>
                  <a:srgbClr val="F2425D"/>
                </a:solidFill>
                <a:latin typeface="Arial"/>
                <a:cs typeface="Arial"/>
              </a:rPr>
              <a:t>every</a:t>
            </a:r>
            <a:r>
              <a:rPr sz="1455" spc="-18" dirty="0">
                <a:solidFill>
                  <a:srgbClr val="F2425D"/>
                </a:solidFill>
                <a:latin typeface="Arial"/>
                <a:cs typeface="Arial"/>
              </a:rPr>
              <a:t> </a:t>
            </a:r>
            <a:r>
              <a:rPr sz="1455" dirty="0">
                <a:solidFill>
                  <a:srgbClr val="F2425D"/>
                </a:solidFill>
                <a:latin typeface="Arial"/>
                <a:cs typeface="Arial"/>
              </a:rPr>
              <a:t>single</a:t>
            </a:r>
            <a:r>
              <a:rPr sz="1455" spc="-18" dirty="0">
                <a:solidFill>
                  <a:srgbClr val="F2425D"/>
                </a:solidFill>
                <a:latin typeface="Arial"/>
                <a:cs typeface="Arial"/>
              </a:rPr>
              <a:t> </a:t>
            </a:r>
            <a:r>
              <a:rPr sz="1455" spc="-12" dirty="0">
                <a:solidFill>
                  <a:srgbClr val="F2425D"/>
                </a:solidFill>
                <a:latin typeface="Arial"/>
                <a:cs typeface="Arial"/>
              </a:rPr>
              <a:t>year</a:t>
            </a:r>
            <a:endParaRPr sz="1455">
              <a:latin typeface="Arial"/>
              <a:cs typeface="Arial"/>
            </a:endParaRPr>
          </a:p>
        </p:txBody>
      </p:sp>
      <p:grpSp>
        <p:nvGrpSpPr>
          <p:cNvPr id="23" name="object 23"/>
          <p:cNvGrpSpPr/>
          <p:nvPr/>
        </p:nvGrpSpPr>
        <p:grpSpPr>
          <a:xfrm>
            <a:off x="3583616" y="2908095"/>
            <a:ext cx="283022" cy="152486"/>
            <a:chOff x="5908942" y="4795665"/>
            <a:chExt cx="466725" cy="251460"/>
          </a:xfrm>
        </p:grpSpPr>
        <p:sp>
          <p:nvSpPr>
            <p:cNvPr id="24" name="object 24"/>
            <p:cNvSpPr/>
            <p:nvPr/>
          </p:nvSpPr>
          <p:spPr>
            <a:xfrm>
              <a:off x="5908942" y="4921316"/>
              <a:ext cx="247015" cy="0"/>
            </a:xfrm>
            <a:custGeom>
              <a:avLst/>
              <a:gdLst/>
              <a:ahLst/>
              <a:cxnLst/>
              <a:rect l="l" t="t" r="r" b="b"/>
              <a:pathLst>
                <a:path w="247014">
                  <a:moveTo>
                    <a:pt x="0" y="0"/>
                  </a:moveTo>
                  <a:lnTo>
                    <a:pt x="215157" y="0"/>
                  </a:lnTo>
                  <a:lnTo>
                    <a:pt x="246569" y="0"/>
                  </a:lnTo>
                </a:path>
              </a:pathLst>
            </a:custGeom>
            <a:ln w="62825">
              <a:solidFill>
                <a:srgbClr val="444444"/>
              </a:solidFill>
            </a:ln>
          </p:spPr>
          <p:txBody>
            <a:bodyPr wrap="square" lIns="0" tIns="0" rIns="0" bIns="0" rtlCol="0"/>
            <a:lstStyle/>
            <a:p>
              <a:endParaRPr sz="1092"/>
            </a:p>
          </p:txBody>
        </p:sp>
        <p:sp>
          <p:nvSpPr>
            <p:cNvPr id="25" name="object 25"/>
            <p:cNvSpPr/>
            <p:nvPr/>
          </p:nvSpPr>
          <p:spPr>
            <a:xfrm>
              <a:off x="6124099" y="4795665"/>
              <a:ext cx="251460" cy="251460"/>
            </a:xfrm>
            <a:custGeom>
              <a:avLst/>
              <a:gdLst/>
              <a:ahLst/>
              <a:cxnLst/>
              <a:rect l="l" t="t" r="r" b="b"/>
              <a:pathLst>
                <a:path w="251460" h="251460">
                  <a:moveTo>
                    <a:pt x="0" y="0"/>
                  </a:moveTo>
                  <a:lnTo>
                    <a:pt x="0" y="251301"/>
                  </a:lnTo>
                  <a:lnTo>
                    <a:pt x="251301" y="125650"/>
                  </a:lnTo>
                  <a:lnTo>
                    <a:pt x="0" y="0"/>
                  </a:lnTo>
                  <a:close/>
                </a:path>
              </a:pathLst>
            </a:custGeom>
            <a:solidFill>
              <a:srgbClr val="444444"/>
            </a:solidFill>
          </p:spPr>
          <p:txBody>
            <a:bodyPr wrap="square" lIns="0" tIns="0" rIns="0" bIns="0" rtlCol="0"/>
            <a:lstStyle/>
            <a:p>
              <a:endParaRPr sz="1092"/>
            </a:p>
          </p:txBody>
        </p:sp>
      </p:grpSp>
      <p:grpSp>
        <p:nvGrpSpPr>
          <p:cNvPr id="26" name="object 26"/>
          <p:cNvGrpSpPr/>
          <p:nvPr/>
        </p:nvGrpSpPr>
        <p:grpSpPr>
          <a:xfrm>
            <a:off x="5143087" y="2908095"/>
            <a:ext cx="283022" cy="152486"/>
            <a:chOff x="8480625" y="4795665"/>
            <a:chExt cx="466725" cy="251460"/>
          </a:xfrm>
        </p:grpSpPr>
        <p:sp>
          <p:nvSpPr>
            <p:cNvPr id="27" name="object 27"/>
            <p:cNvSpPr/>
            <p:nvPr/>
          </p:nvSpPr>
          <p:spPr>
            <a:xfrm>
              <a:off x="8480625"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endParaRPr sz="1092"/>
            </a:p>
          </p:txBody>
        </p:sp>
        <p:sp>
          <p:nvSpPr>
            <p:cNvPr id="28" name="object 28"/>
            <p:cNvSpPr/>
            <p:nvPr/>
          </p:nvSpPr>
          <p:spPr>
            <a:xfrm>
              <a:off x="8695783"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endParaRPr sz="1092"/>
            </a:p>
          </p:txBody>
        </p:sp>
      </p:grpSp>
      <p:grpSp>
        <p:nvGrpSpPr>
          <p:cNvPr id="29" name="object 29"/>
          <p:cNvGrpSpPr/>
          <p:nvPr/>
        </p:nvGrpSpPr>
        <p:grpSpPr>
          <a:xfrm>
            <a:off x="6702560" y="2908095"/>
            <a:ext cx="283022" cy="152486"/>
            <a:chOff x="11052312" y="4795665"/>
            <a:chExt cx="466725" cy="251460"/>
          </a:xfrm>
        </p:grpSpPr>
        <p:sp>
          <p:nvSpPr>
            <p:cNvPr id="30" name="object 30"/>
            <p:cNvSpPr/>
            <p:nvPr/>
          </p:nvSpPr>
          <p:spPr>
            <a:xfrm>
              <a:off x="11052312"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endParaRPr sz="1092"/>
            </a:p>
          </p:txBody>
        </p:sp>
        <p:sp>
          <p:nvSpPr>
            <p:cNvPr id="31" name="object 31"/>
            <p:cNvSpPr/>
            <p:nvPr/>
          </p:nvSpPr>
          <p:spPr>
            <a:xfrm>
              <a:off x="11267468"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endParaRPr sz="1092"/>
            </a:p>
          </p:txBody>
        </p:sp>
      </p:grpSp>
      <p:grpSp>
        <p:nvGrpSpPr>
          <p:cNvPr id="32" name="object 32"/>
          <p:cNvGrpSpPr/>
          <p:nvPr/>
        </p:nvGrpSpPr>
        <p:grpSpPr>
          <a:xfrm>
            <a:off x="8262030" y="2908095"/>
            <a:ext cx="283022" cy="152486"/>
            <a:chOff x="13623993" y="4795665"/>
            <a:chExt cx="466725" cy="251460"/>
          </a:xfrm>
        </p:grpSpPr>
        <p:sp>
          <p:nvSpPr>
            <p:cNvPr id="33" name="object 33"/>
            <p:cNvSpPr/>
            <p:nvPr/>
          </p:nvSpPr>
          <p:spPr>
            <a:xfrm>
              <a:off x="13623993"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endParaRPr sz="1092"/>
            </a:p>
          </p:txBody>
        </p:sp>
        <p:sp>
          <p:nvSpPr>
            <p:cNvPr id="34" name="object 34"/>
            <p:cNvSpPr/>
            <p:nvPr/>
          </p:nvSpPr>
          <p:spPr>
            <a:xfrm>
              <a:off x="13839148"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endParaRPr sz="1092"/>
            </a:p>
          </p:txBody>
        </p:sp>
      </p:grpSp>
      <p:grpSp>
        <p:nvGrpSpPr>
          <p:cNvPr id="35" name="object 35"/>
          <p:cNvGrpSpPr/>
          <p:nvPr/>
        </p:nvGrpSpPr>
        <p:grpSpPr>
          <a:xfrm>
            <a:off x="9821500" y="2908095"/>
            <a:ext cx="283022" cy="152486"/>
            <a:chOff x="16195675" y="4795665"/>
            <a:chExt cx="466725" cy="251460"/>
          </a:xfrm>
        </p:grpSpPr>
        <p:sp>
          <p:nvSpPr>
            <p:cNvPr id="36" name="object 36"/>
            <p:cNvSpPr/>
            <p:nvPr/>
          </p:nvSpPr>
          <p:spPr>
            <a:xfrm>
              <a:off x="16195675"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endParaRPr sz="1092"/>
            </a:p>
          </p:txBody>
        </p:sp>
        <p:sp>
          <p:nvSpPr>
            <p:cNvPr id="37" name="object 37"/>
            <p:cNvSpPr/>
            <p:nvPr/>
          </p:nvSpPr>
          <p:spPr>
            <a:xfrm>
              <a:off x="16410830"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endParaRPr sz="1092"/>
            </a:p>
          </p:txBody>
        </p:sp>
      </p:grpSp>
      <p:sp>
        <p:nvSpPr>
          <p:cNvPr id="38" name="object 38"/>
          <p:cNvSpPr txBox="1"/>
          <p:nvPr/>
        </p:nvSpPr>
        <p:spPr>
          <a:xfrm>
            <a:off x="10187437" y="2597738"/>
            <a:ext cx="1110526" cy="643422"/>
          </a:xfrm>
          <a:prstGeom prst="rect">
            <a:avLst/>
          </a:prstGeom>
          <a:solidFill>
            <a:srgbClr val="F4DB1D"/>
          </a:solidFill>
        </p:spPr>
        <p:txBody>
          <a:bodyPr vert="horz" wrap="square" lIns="0" tIns="112054" rIns="0" bIns="0" rtlCol="0">
            <a:spAutoFit/>
          </a:bodyPr>
          <a:lstStyle/>
          <a:p>
            <a:pPr marL="203314" marR="199078" indent="72007">
              <a:lnSpc>
                <a:spcPct val="113599"/>
              </a:lnSpc>
              <a:spcBef>
                <a:spcPts val="882"/>
              </a:spcBef>
            </a:pPr>
            <a:r>
              <a:rPr sz="1577" spc="-6" dirty="0">
                <a:solidFill>
                  <a:srgbClr val="444444"/>
                </a:solidFill>
                <a:latin typeface="Arial"/>
                <a:cs typeface="Arial"/>
              </a:rPr>
              <a:t>ES11/ </a:t>
            </a:r>
            <a:r>
              <a:rPr sz="1577" spc="-21" dirty="0">
                <a:solidFill>
                  <a:srgbClr val="444444"/>
                </a:solidFill>
                <a:latin typeface="Arial"/>
                <a:cs typeface="Arial"/>
              </a:rPr>
              <a:t>ES2020</a:t>
            </a:r>
            <a:endParaRPr sz="1577">
              <a:latin typeface="Arial"/>
              <a:cs typeface="Arial"/>
            </a:endParaRPr>
          </a:p>
        </p:txBody>
      </p:sp>
      <p:grpSp>
        <p:nvGrpSpPr>
          <p:cNvPr id="39" name="object 39"/>
          <p:cNvGrpSpPr/>
          <p:nvPr/>
        </p:nvGrpSpPr>
        <p:grpSpPr>
          <a:xfrm>
            <a:off x="11380969" y="2908095"/>
            <a:ext cx="283022" cy="152486"/>
            <a:chOff x="18767355" y="4795665"/>
            <a:chExt cx="466725" cy="251460"/>
          </a:xfrm>
        </p:grpSpPr>
        <p:sp>
          <p:nvSpPr>
            <p:cNvPr id="40" name="object 40"/>
            <p:cNvSpPr/>
            <p:nvPr/>
          </p:nvSpPr>
          <p:spPr>
            <a:xfrm>
              <a:off x="18767355"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endParaRPr sz="1092"/>
            </a:p>
          </p:txBody>
        </p:sp>
        <p:sp>
          <p:nvSpPr>
            <p:cNvPr id="41" name="object 41"/>
            <p:cNvSpPr/>
            <p:nvPr/>
          </p:nvSpPr>
          <p:spPr>
            <a:xfrm>
              <a:off x="18982510"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endParaRPr sz="1092"/>
            </a:p>
          </p:txBody>
        </p:sp>
      </p:grpSp>
      <p:grpSp>
        <p:nvGrpSpPr>
          <p:cNvPr id="42" name="object 42"/>
          <p:cNvGrpSpPr/>
          <p:nvPr/>
        </p:nvGrpSpPr>
        <p:grpSpPr>
          <a:xfrm>
            <a:off x="464674" y="2908095"/>
            <a:ext cx="283022" cy="152486"/>
            <a:chOff x="765575" y="4795665"/>
            <a:chExt cx="466725" cy="251460"/>
          </a:xfrm>
        </p:grpSpPr>
        <p:sp>
          <p:nvSpPr>
            <p:cNvPr id="43" name="object 43"/>
            <p:cNvSpPr/>
            <p:nvPr/>
          </p:nvSpPr>
          <p:spPr>
            <a:xfrm>
              <a:off x="765575" y="4921316"/>
              <a:ext cx="247015" cy="0"/>
            </a:xfrm>
            <a:custGeom>
              <a:avLst/>
              <a:gdLst/>
              <a:ahLst/>
              <a:cxnLst/>
              <a:rect l="l" t="t" r="r" b="b"/>
              <a:pathLst>
                <a:path w="247015">
                  <a:moveTo>
                    <a:pt x="0" y="0"/>
                  </a:moveTo>
                  <a:lnTo>
                    <a:pt x="215157" y="0"/>
                  </a:lnTo>
                  <a:lnTo>
                    <a:pt x="246569" y="0"/>
                  </a:lnTo>
                </a:path>
              </a:pathLst>
            </a:custGeom>
            <a:ln w="62825">
              <a:solidFill>
                <a:srgbClr val="444444"/>
              </a:solidFill>
            </a:ln>
          </p:spPr>
          <p:txBody>
            <a:bodyPr wrap="square" lIns="0" tIns="0" rIns="0" bIns="0" rtlCol="0"/>
            <a:lstStyle/>
            <a:p>
              <a:endParaRPr sz="1092"/>
            </a:p>
          </p:txBody>
        </p:sp>
        <p:sp>
          <p:nvSpPr>
            <p:cNvPr id="44" name="object 44"/>
            <p:cNvSpPr/>
            <p:nvPr/>
          </p:nvSpPr>
          <p:spPr>
            <a:xfrm>
              <a:off x="980732" y="4795665"/>
              <a:ext cx="251460" cy="251460"/>
            </a:xfrm>
            <a:custGeom>
              <a:avLst/>
              <a:gdLst/>
              <a:ahLst/>
              <a:cxnLst/>
              <a:rect l="l" t="t" r="r" b="b"/>
              <a:pathLst>
                <a:path w="251459" h="251460">
                  <a:moveTo>
                    <a:pt x="0" y="0"/>
                  </a:moveTo>
                  <a:lnTo>
                    <a:pt x="0" y="251301"/>
                  </a:lnTo>
                  <a:lnTo>
                    <a:pt x="251301" y="125650"/>
                  </a:lnTo>
                  <a:lnTo>
                    <a:pt x="0" y="0"/>
                  </a:lnTo>
                  <a:close/>
                </a:path>
              </a:pathLst>
            </a:custGeom>
            <a:solidFill>
              <a:srgbClr val="444444"/>
            </a:solidFill>
          </p:spPr>
          <p:txBody>
            <a:bodyPr wrap="square" lIns="0" tIns="0" rIns="0" bIns="0" rtlCol="0"/>
            <a:lstStyle/>
            <a:p>
              <a:endParaRPr sz="1092"/>
            </a:p>
          </p:txBody>
        </p:sp>
      </p:grpSp>
      <p:sp>
        <p:nvSpPr>
          <p:cNvPr id="45" name="object 45"/>
          <p:cNvSpPr txBox="1"/>
          <p:nvPr/>
        </p:nvSpPr>
        <p:spPr>
          <a:xfrm>
            <a:off x="146170" y="2744322"/>
            <a:ext cx="245671" cy="315292"/>
          </a:xfrm>
          <a:prstGeom prst="rect">
            <a:avLst/>
          </a:prstGeom>
        </p:spPr>
        <p:txBody>
          <a:bodyPr vert="horz" wrap="square" lIns="0" tIns="7316" rIns="0" bIns="0" rtlCol="0">
            <a:spAutoFit/>
          </a:bodyPr>
          <a:lstStyle/>
          <a:p>
            <a:pPr marL="7701">
              <a:spcBef>
                <a:spcPts val="58"/>
              </a:spcBef>
            </a:pPr>
            <a:r>
              <a:rPr sz="2001" b="1" spc="24" dirty="0">
                <a:solidFill>
                  <a:srgbClr val="38464D"/>
                </a:solidFill>
                <a:latin typeface="Arial"/>
                <a:cs typeface="Arial"/>
              </a:rPr>
              <a:t>...</a:t>
            </a:r>
            <a:endParaRPr sz="2001">
              <a:latin typeface="Arial"/>
              <a:cs typeface="Arial"/>
            </a:endParaRPr>
          </a:p>
        </p:txBody>
      </p:sp>
      <p:grpSp>
        <p:nvGrpSpPr>
          <p:cNvPr id="46" name="object 46"/>
          <p:cNvGrpSpPr/>
          <p:nvPr/>
        </p:nvGrpSpPr>
        <p:grpSpPr>
          <a:xfrm>
            <a:off x="1457427" y="4730701"/>
            <a:ext cx="9277361" cy="1485964"/>
            <a:chOff x="2402699" y="7801276"/>
            <a:chExt cx="15299055" cy="2450465"/>
          </a:xfrm>
        </p:grpSpPr>
        <p:sp>
          <p:nvSpPr>
            <p:cNvPr id="47" name="object 47"/>
            <p:cNvSpPr/>
            <p:nvPr/>
          </p:nvSpPr>
          <p:spPr>
            <a:xfrm>
              <a:off x="2402699" y="7801276"/>
              <a:ext cx="15299055" cy="2450465"/>
            </a:xfrm>
            <a:custGeom>
              <a:avLst/>
              <a:gdLst/>
              <a:ahLst/>
              <a:cxnLst/>
              <a:rect l="l" t="t" r="r" b="b"/>
              <a:pathLst>
                <a:path w="15299055" h="2450465">
                  <a:moveTo>
                    <a:pt x="15298696" y="0"/>
                  </a:moveTo>
                  <a:lnTo>
                    <a:pt x="0" y="0"/>
                  </a:lnTo>
                  <a:lnTo>
                    <a:pt x="0" y="2450177"/>
                  </a:lnTo>
                  <a:lnTo>
                    <a:pt x="15298696" y="2450177"/>
                  </a:lnTo>
                  <a:lnTo>
                    <a:pt x="15298696" y="0"/>
                  </a:lnTo>
                  <a:close/>
                </a:path>
              </a:pathLst>
            </a:custGeom>
            <a:solidFill>
              <a:srgbClr val="E7E7E7"/>
            </a:solidFill>
          </p:spPr>
          <p:txBody>
            <a:bodyPr wrap="square" lIns="0" tIns="0" rIns="0" bIns="0" rtlCol="0"/>
            <a:lstStyle/>
            <a:p>
              <a:endParaRPr sz="1092"/>
            </a:p>
          </p:txBody>
        </p:sp>
        <p:pic>
          <p:nvPicPr>
            <p:cNvPr id="48" name="object 48"/>
            <p:cNvPicPr/>
            <p:nvPr/>
          </p:nvPicPr>
          <p:blipFill>
            <a:blip r:embed="rId2" cstate="print"/>
            <a:stretch>
              <a:fillRect/>
            </a:stretch>
          </p:blipFill>
          <p:spPr>
            <a:xfrm>
              <a:off x="3100041" y="8363181"/>
              <a:ext cx="429306" cy="429306"/>
            </a:xfrm>
            <a:prstGeom prst="rect">
              <a:avLst/>
            </a:prstGeom>
          </p:spPr>
        </p:pic>
        <p:pic>
          <p:nvPicPr>
            <p:cNvPr id="49" name="object 49"/>
            <p:cNvPicPr/>
            <p:nvPr/>
          </p:nvPicPr>
          <p:blipFill>
            <a:blip r:embed="rId3" cstate="print"/>
            <a:stretch>
              <a:fillRect/>
            </a:stretch>
          </p:blipFill>
          <p:spPr>
            <a:xfrm>
              <a:off x="7835285" y="9192342"/>
              <a:ext cx="429306" cy="429306"/>
            </a:xfrm>
            <a:prstGeom prst="rect">
              <a:avLst/>
            </a:prstGeom>
          </p:spPr>
        </p:pic>
      </p:grpSp>
      <p:sp>
        <p:nvSpPr>
          <p:cNvPr id="50" name="object 50"/>
          <p:cNvSpPr txBox="1"/>
          <p:nvPr/>
        </p:nvSpPr>
        <p:spPr>
          <a:xfrm>
            <a:off x="1457427" y="4730701"/>
            <a:ext cx="9815809" cy="1215994"/>
          </a:xfrm>
          <a:prstGeom prst="rect">
            <a:avLst/>
          </a:prstGeom>
        </p:spPr>
        <p:txBody>
          <a:bodyPr vert="horz" wrap="square" lIns="0" tIns="1925" rIns="0" bIns="0" rtlCol="0">
            <a:spAutoFit/>
          </a:bodyPr>
          <a:lstStyle/>
          <a:p>
            <a:pPr>
              <a:spcBef>
                <a:spcPts val="15"/>
              </a:spcBef>
            </a:pPr>
            <a:endParaRPr sz="2426">
              <a:latin typeface="Times New Roman"/>
              <a:cs typeface="Times New Roman"/>
            </a:endParaRPr>
          </a:p>
          <a:p>
            <a:pPr marL="342707" algn="ctr"/>
            <a:r>
              <a:rPr sz="1940" spc="-33" dirty="0">
                <a:solidFill>
                  <a:srgbClr val="444444"/>
                </a:solidFill>
                <a:latin typeface="Arial"/>
                <a:cs typeface="Arial"/>
              </a:rPr>
              <a:t>Learn</a:t>
            </a:r>
            <a:r>
              <a:rPr sz="1940" spc="-12" dirty="0">
                <a:solidFill>
                  <a:srgbClr val="444444"/>
                </a:solidFill>
                <a:latin typeface="Arial"/>
                <a:cs typeface="Arial"/>
              </a:rPr>
              <a:t> </a:t>
            </a:r>
            <a:r>
              <a:rPr sz="1940" dirty="0">
                <a:solidFill>
                  <a:srgbClr val="444444"/>
                </a:solidFill>
                <a:latin typeface="Arial"/>
                <a:cs typeface="Arial"/>
              </a:rPr>
              <a:t>modern JavaScript</a:t>
            </a:r>
            <a:r>
              <a:rPr sz="1940" spc="3" dirty="0">
                <a:solidFill>
                  <a:srgbClr val="444444"/>
                </a:solidFill>
                <a:latin typeface="Arial"/>
                <a:cs typeface="Arial"/>
              </a:rPr>
              <a:t> </a:t>
            </a:r>
            <a:r>
              <a:rPr sz="1940" spc="52" dirty="0">
                <a:solidFill>
                  <a:srgbClr val="444444"/>
                </a:solidFill>
                <a:latin typeface="Arial"/>
                <a:cs typeface="Arial"/>
              </a:rPr>
              <a:t>from</a:t>
            </a:r>
            <a:r>
              <a:rPr sz="1940" spc="3" dirty="0">
                <a:solidFill>
                  <a:srgbClr val="444444"/>
                </a:solidFill>
                <a:latin typeface="Arial"/>
                <a:cs typeface="Arial"/>
              </a:rPr>
              <a:t> </a:t>
            </a:r>
            <a:r>
              <a:rPr sz="1940" dirty="0">
                <a:solidFill>
                  <a:srgbClr val="444444"/>
                </a:solidFill>
                <a:latin typeface="Arial"/>
                <a:cs typeface="Arial"/>
              </a:rPr>
              <a:t>the</a:t>
            </a:r>
            <a:r>
              <a:rPr sz="1940" spc="3" dirty="0">
                <a:solidFill>
                  <a:srgbClr val="444444"/>
                </a:solidFill>
                <a:latin typeface="Arial"/>
                <a:cs typeface="Arial"/>
              </a:rPr>
              <a:t> </a:t>
            </a:r>
            <a:r>
              <a:rPr sz="1940" dirty="0">
                <a:solidFill>
                  <a:srgbClr val="444444"/>
                </a:solidFill>
                <a:latin typeface="Arial"/>
                <a:cs typeface="Arial"/>
              </a:rPr>
              <a:t>beginning,</a:t>
            </a:r>
            <a:r>
              <a:rPr sz="1940" spc="-12" dirty="0">
                <a:solidFill>
                  <a:srgbClr val="444444"/>
                </a:solidFill>
                <a:latin typeface="Arial"/>
                <a:cs typeface="Arial"/>
              </a:rPr>
              <a:t> </a:t>
            </a:r>
            <a:r>
              <a:rPr sz="1940" dirty="0">
                <a:solidFill>
                  <a:srgbClr val="444444"/>
                </a:solidFill>
                <a:latin typeface="Arial"/>
                <a:cs typeface="Arial"/>
              </a:rPr>
              <a:t>but</a:t>
            </a:r>
            <a:r>
              <a:rPr sz="1940" spc="-12" dirty="0">
                <a:solidFill>
                  <a:srgbClr val="444444"/>
                </a:solidFill>
                <a:latin typeface="Arial"/>
                <a:cs typeface="Arial"/>
              </a:rPr>
              <a:t> </a:t>
            </a:r>
            <a:r>
              <a:rPr sz="1940" spc="30" dirty="0">
                <a:solidFill>
                  <a:srgbClr val="444444"/>
                </a:solidFill>
                <a:latin typeface="Arial"/>
                <a:cs typeface="Arial"/>
              </a:rPr>
              <a:t>without</a:t>
            </a:r>
            <a:r>
              <a:rPr sz="1940" spc="-12" dirty="0">
                <a:solidFill>
                  <a:srgbClr val="444444"/>
                </a:solidFill>
                <a:latin typeface="Arial"/>
                <a:cs typeface="Arial"/>
              </a:rPr>
              <a:t> </a:t>
            </a:r>
            <a:r>
              <a:rPr sz="1940" dirty="0">
                <a:solidFill>
                  <a:srgbClr val="444444"/>
                </a:solidFill>
                <a:latin typeface="Arial"/>
                <a:cs typeface="Arial"/>
              </a:rPr>
              <a:t>forgetting</a:t>
            </a:r>
            <a:r>
              <a:rPr sz="1940" spc="-9" dirty="0">
                <a:solidFill>
                  <a:srgbClr val="444444"/>
                </a:solidFill>
                <a:latin typeface="Arial"/>
                <a:cs typeface="Arial"/>
              </a:rPr>
              <a:t> </a:t>
            </a:r>
            <a:r>
              <a:rPr sz="1940" dirty="0">
                <a:solidFill>
                  <a:srgbClr val="444444"/>
                </a:solidFill>
                <a:latin typeface="Arial"/>
                <a:cs typeface="Arial"/>
              </a:rPr>
              <a:t>the</a:t>
            </a:r>
            <a:r>
              <a:rPr sz="1940" spc="-12" dirty="0">
                <a:solidFill>
                  <a:srgbClr val="444444"/>
                </a:solidFill>
                <a:latin typeface="Arial"/>
                <a:cs typeface="Arial"/>
              </a:rPr>
              <a:t> </a:t>
            </a:r>
            <a:r>
              <a:rPr sz="1940" spc="-6" dirty="0">
                <a:solidFill>
                  <a:srgbClr val="444444"/>
                </a:solidFill>
                <a:latin typeface="Arial"/>
                <a:cs typeface="Arial"/>
              </a:rPr>
              <a:t>older</a:t>
            </a:r>
            <a:r>
              <a:rPr sz="1940" spc="-12" dirty="0">
                <a:solidFill>
                  <a:srgbClr val="444444"/>
                </a:solidFill>
                <a:latin typeface="Arial"/>
                <a:cs typeface="Arial"/>
              </a:rPr>
              <a:t> </a:t>
            </a:r>
            <a:r>
              <a:rPr sz="1940" spc="-6" dirty="0">
                <a:solidFill>
                  <a:srgbClr val="444444"/>
                </a:solidFill>
                <a:latin typeface="Arial"/>
                <a:cs typeface="Arial"/>
              </a:rPr>
              <a:t>parts!</a:t>
            </a:r>
            <a:endParaRPr sz="1940">
              <a:latin typeface="Arial"/>
              <a:cs typeface="Arial"/>
            </a:endParaRPr>
          </a:p>
          <a:p>
            <a:pPr marL="406243" algn="ctr">
              <a:spcBef>
                <a:spcPts val="1922"/>
              </a:spcBef>
            </a:pPr>
            <a:r>
              <a:rPr sz="1940" dirty="0">
                <a:solidFill>
                  <a:srgbClr val="444444"/>
                </a:solidFill>
                <a:latin typeface="Arial"/>
                <a:cs typeface="Arial"/>
              </a:rPr>
              <a:t>Let’s</a:t>
            </a:r>
            <a:r>
              <a:rPr sz="1940" spc="-33" dirty="0">
                <a:solidFill>
                  <a:srgbClr val="444444"/>
                </a:solidFill>
                <a:latin typeface="Arial"/>
                <a:cs typeface="Arial"/>
              </a:rPr>
              <a:t> </a:t>
            </a:r>
            <a:r>
              <a:rPr sz="1940" spc="39" dirty="0">
                <a:solidFill>
                  <a:srgbClr val="444444"/>
                </a:solidFill>
                <a:latin typeface="Arial"/>
                <a:cs typeface="Arial"/>
              </a:rPr>
              <a:t>finally</a:t>
            </a:r>
            <a:r>
              <a:rPr sz="1940" spc="-30" dirty="0">
                <a:solidFill>
                  <a:srgbClr val="444444"/>
                </a:solidFill>
                <a:latin typeface="Arial"/>
                <a:cs typeface="Arial"/>
              </a:rPr>
              <a:t> </a:t>
            </a:r>
            <a:r>
              <a:rPr sz="1940" dirty="0">
                <a:solidFill>
                  <a:srgbClr val="444444"/>
                </a:solidFill>
                <a:latin typeface="Arial"/>
                <a:cs typeface="Arial"/>
              </a:rPr>
              <a:t>get</a:t>
            </a:r>
            <a:r>
              <a:rPr sz="1940" spc="-30" dirty="0">
                <a:solidFill>
                  <a:srgbClr val="444444"/>
                </a:solidFill>
                <a:latin typeface="Arial"/>
                <a:cs typeface="Arial"/>
              </a:rPr>
              <a:t> </a:t>
            </a:r>
            <a:r>
              <a:rPr sz="1940" spc="-6" dirty="0">
                <a:solidFill>
                  <a:srgbClr val="444444"/>
                </a:solidFill>
                <a:latin typeface="Arial"/>
                <a:cs typeface="Arial"/>
              </a:rPr>
              <a:t>started!</a:t>
            </a:r>
            <a:endParaRPr sz="1940">
              <a:latin typeface="Arial"/>
              <a:cs typeface="Arial"/>
            </a:endParaRPr>
          </a:p>
        </p:txBody>
      </p:sp>
      <p:grpSp>
        <p:nvGrpSpPr>
          <p:cNvPr id="51" name="object 51"/>
          <p:cNvGrpSpPr/>
          <p:nvPr/>
        </p:nvGrpSpPr>
        <p:grpSpPr>
          <a:xfrm>
            <a:off x="1277250" y="3131079"/>
            <a:ext cx="656150" cy="1029662"/>
            <a:chOff x="2105574" y="5163380"/>
            <a:chExt cx="1082040" cy="1697989"/>
          </a:xfrm>
        </p:grpSpPr>
        <p:sp>
          <p:nvSpPr>
            <p:cNvPr id="52" name="object 52"/>
            <p:cNvSpPr/>
            <p:nvPr/>
          </p:nvSpPr>
          <p:spPr>
            <a:xfrm>
              <a:off x="2193508" y="5318311"/>
              <a:ext cx="972819" cy="1522095"/>
            </a:xfrm>
            <a:custGeom>
              <a:avLst/>
              <a:gdLst/>
              <a:ahLst/>
              <a:cxnLst/>
              <a:rect l="l" t="t" r="r" b="b"/>
              <a:pathLst>
                <a:path w="972819" h="1522095">
                  <a:moveTo>
                    <a:pt x="972594" y="1521656"/>
                  </a:moveTo>
                  <a:lnTo>
                    <a:pt x="926929" y="1511688"/>
                  </a:lnTo>
                  <a:lnTo>
                    <a:pt x="882362" y="1500462"/>
                  </a:lnTo>
                  <a:lnTo>
                    <a:pt x="838892" y="1487980"/>
                  </a:lnTo>
                  <a:lnTo>
                    <a:pt x="796521" y="1474242"/>
                  </a:lnTo>
                  <a:lnTo>
                    <a:pt x="755247" y="1459246"/>
                  </a:lnTo>
                  <a:lnTo>
                    <a:pt x="715072" y="1442994"/>
                  </a:lnTo>
                  <a:lnTo>
                    <a:pt x="675994" y="1425485"/>
                  </a:lnTo>
                  <a:lnTo>
                    <a:pt x="638015" y="1406720"/>
                  </a:lnTo>
                  <a:lnTo>
                    <a:pt x="601133" y="1386697"/>
                  </a:lnTo>
                  <a:lnTo>
                    <a:pt x="565350" y="1365418"/>
                  </a:lnTo>
                  <a:lnTo>
                    <a:pt x="530664" y="1342883"/>
                  </a:lnTo>
                  <a:lnTo>
                    <a:pt x="497076" y="1319090"/>
                  </a:lnTo>
                  <a:lnTo>
                    <a:pt x="464587" y="1294041"/>
                  </a:lnTo>
                  <a:lnTo>
                    <a:pt x="433195" y="1267735"/>
                  </a:lnTo>
                  <a:lnTo>
                    <a:pt x="402901" y="1240172"/>
                  </a:lnTo>
                  <a:lnTo>
                    <a:pt x="373705" y="1211353"/>
                  </a:lnTo>
                  <a:lnTo>
                    <a:pt x="345607" y="1181277"/>
                  </a:lnTo>
                  <a:lnTo>
                    <a:pt x="318607" y="1149944"/>
                  </a:lnTo>
                  <a:lnTo>
                    <a:pt x="292705" y="1117354"/>
                  </a:lnTo>
                  <a:lnTo>
                    <a:pt x="267901" y="1083508"/>
                  </a:lnTo>
                  <a:lnTo>
                    <a:pt x="244195" y="1048405"/>
                  </a:lnTo>
                  <a:lnTo>
                    <a:pt x="221587" y="1012045"/>
                  </a:lnTo>
                  <a:lnTo>
                    <a:pt x="200077" y="974429"/>
                  </a:lnTo>
                  <a:lnTo>
                    <a:pt x="179665" y="935555"/>
                  </a:lnTo>
                  <a:lnTo>
                    <a:pt x="160351" y="895425"/>
                  </a:lnTo>
                  <a:lnTo>
                    <a:pt x="142135" y="854039"/>
                  </a:lnTo>
                  <a:lnTo>
                    <a:pt x="125017" y="811395"/>
                  </a:lnTo>
                  <a:lnTo>
                    <a:pt x="108996" y="767495"/>
                  </a:lnTo>
                  <a:lnTo>
                    <a:pt x="94074" y="722338"/>
                  </a:lnTo>
                  <a:lnTo>
                    <a:pt x="80250" y="675925"/>
                  </a:lnTo>
                  <a:lnTo>
                    <a:pt x="67524" y="628254"/>
                  </a:lnTo>
                  <a:lnTo>
                    <a:pt x="55895" y="579327"/>
                  </a:lnTo>
                  <a:lnTo>
                    <a:pt x="45365" y="529143"/>
                  </a:lnTo>
                  <a:lnTo>
                    <a:pt x="35932" y="477703"/>
                  </a:lnTo>
                  <a:lnTo>
                    <a:pt x="27598" y="425006"/>
                  </a:lnTo>
                  <a:lnTo>
                    <a:pt x="20361" y="371052"/>
                  </a:lnTo>
                  <a:lnTo>
                    <a:pt x="14223" y="315841"/>
                  </a:lnTo>
                  <a:lnTo>
                    <a:pt x="9182" y="259373"/>
                  </a:lnTo>
                  <a:lnTo>
                    <a:pt x="5240" y="201649"/>
                  </a:lnTo>
                  <a:lnTo>
                    <a:pt x="2395" y="142668"/>
                  </a:lnTo>
                  <a:lnTo>
                    <a:pt x="648" y="82431"/>
                  </a:lnTo>
                  <a:lnTo>
                    <a:pt x="0" y="20936"/>
                  </a:lnTo>
                  <a:lnTo>
                    <a:pt x="463" y="0"/>
                  </a:lnTo>
                </a:path>
              </a:pathLst>
            </a:custGeom>
            <a:ln w="41883">
              <a:solidFill>
                <a:srgbClr val="F2425D"/>
              </a:solidFill>
            </a:ln>
          </p:spPr>
          <p:txBody>
            <a:bodyPr wrap="square" lIns="0" tIns="0" rIns="0" bIns="0" rtlCol="0"/>
            <a:lstStyle/>
            <a:p>
              <a:endParaRPr sz="1092"/>
            </a:p>
          </p:txBody>
        </p:sp>
        <p:sp>
          <p:nvSpPr>
            <p:cNvPr id="53" name="object 53"/>
            <p:cNvSpPr/>
            <p:nvPr/>
          </p:nvSpPr>
          <p:spPr>
            <a:xfrm>
              <a:off x="2105574" y="5163380"/>
              <a:ext cx="175895" cy="178435"/>
            </a:xfrm>
            <a:custGeom>
              <a:avLst/>
              <a:gdLst/>
              <a:ahLst/>
              <a:cxnLst/>
              <a:rect l="l" t="t" r="r" b="b"/>
              <a:pathLst>
                <a:path w="175894" h="178435">
                  <a:moveTo>
                    <a:pt x="91824" y="0"/>
                  </a:moveTo>
                  <a:lnTo>
                    <a:pt x="0" y="173923"/>
                  </a:lnTo>
                  <a:lnTo>
                    <a:pt x="175867" y="177813"/>
                  </a:lnTo>
                  <a:lnTo>
                    <a:pt x="91824" y="0"/>
                  </a:lnTo>
                  <a:close/>
                </a:path>
              </a:pathLst>
            </a:custGeom>
            <a:solidFill>
              <a:srgbClr val="F2425D"/>
            </a:solidFill>
          </p:spPr>
          <p:txBody>
            <a:bodyPr wrap="square" lIns="0" tIns="0" rIns="0" bIns="0" rtlCol="0"/>
            <a:lstStyle/>
            <a:p>
              <a:endParaRPr sz="1092"/>
            </a:p>
          </p:txBody>
        </p:sp>
      </p:grpSp>
      <p:sp>
        <p:nvSpPr>
          <p:cNvPr id="54" name="object 54"/>
          <p:cNvSpPr txBox="1"/>
          <p:nvPr/>
        </p:nvSpPr>
        <p:spPr>
          <a:xfrm>
            <a:off x="2017308" y="4031643"/>
            <a:ext cx="908752" cy="207695"/>
          </a:xfrm>
          <a:prstGeom prst="rect">
            <a:avLst/>
          </a:prstGeom>
        </p:spPr>
        <p:txBody>
          <a:bodyPr vert="horz" wrap="square" lIns="0" tIns="6931" rIns="0" bIns="0" rtlCol="0">
            <a:spAutoFit/>
          </a:bodyPr>
          <a:lstStyle/>
          <a:p>
            <a:pPr marL="7701">
              <a:spcBef>
                <a:spcPts val="55"/>
              </a:spcBef>
            </a:pPr>
            <a:r>
              <a:rPr sz="1304" spc="-6" dirty="0">
                <a:solidFill>
                  <a:srgbClr val="F2425D"/>
                </a:solidFill>
                <a:latin typeface="Arial"/>
                <a:cs typeface="Arial"/>
              </a:rPr>
              <a:t>ECMAScript</a:t>
            </a:r>
            <a:endParaRPr sz="1304">
              <a:latin typeface="Arial"/>
              <a:cs typeface="Arial"/>
            </a:endParaRPr>
          </a:p>
        </p:txBody>
      </p:sp>
      <p:grpSp>
        <p:nvGrpSpPr>
          <p:cNvPr id="55" name="object 55"/>
          <p:cNvGrpSpPr/>
          <p:nvPr/>
        </p:nvGrpSpPr>
        <p:grpSpPr>
          <a:xfrm>
            <a:off x="2403960" y="3521836"/>
            <a:ext cx="8882284" cy="212941"/>
            <a:chOff x="3963603" y="5784207"/>
            <a:chExt cx="14647544" cy="351155"/>
          </a:xfrm>
        </p:grpSpPr>
        <p:sp>
          <p:nvSpPr>
            <p:cNvPr id="56" name="object 56"/>
            <p:cNvSpPr/>
            <p:nvPr/>
          </p:nvSpPr>
          <p:spPr>
            <a:xfrm>
              <a:off x="3971145" y="6114320"/>
              <a:ext cx="14629130" cy="0"/>
            </a:xfrm>
            <a:custGeom>
              <a:avLst/>
              <a:gdLst/>
              <a:ahLst/>
              <a:cxnLst/>
              <a:rect l="l" t="t" r="r" b="b"/>
              <a:pathLst>
                <a:path w="14629130">
                  <a:moveTo>
                    <a:pt x="0" y="0"/>
                  </a:moveTo>
                  <a:lnTo>
                    <a:pt x="14628779" y="0"/>
                  </a:lnTo>
                </a:path>
              </a:pathLst>
            </a:custGeom>
            <a:ln w="41883">
              <a:solidFill>
                <a:srgbClr val="F1425D"/>
              </a:solidFill>
            </a:ln>
          </p:spPr>
          <p:txBody>
            <a:bodyPr wrap="square" lIns="0" tIns="0" rIns="0" bIns="0" rtlCol="0"/>
            <a:lstStyle/>
            <a:p>
              <a:endParaRPr sz="1092"/>
            </a:p>
          </p:txBody>
        </p:sp>
        <p:sp>
          <p:nvSpPr>
            <p:cNvPr id="57" name="object 57"/>
            <p:cNvSpPr/>
            <p:nvPr/>
          </p:nvSpPr>
          <p:spPr>
            <a:xfrm>
              <a:off x="3984545" y="5784207"/>
              <a:ext cx="0" cy="342900"/>
            </a:xfrm>
            <a:custGeom>
              <a:avLst/>
              <a:gdLst/>
              <a:ahLst/>
              <a:cxnLst/>
              <a:rect l="l" t="t" r="r" b="b"/>
              <a:pathLst>
                <a:path h="342900">
                  <a:moveTo>
                    <a:pt x="0" y="0"/>
                  </a:moveTo>
                  <a:lnTo>
                    <a:pt x="0" y="342557"/>
                  </a:lnTo>
                </a:path>
              </a:pathLst>
            </a:custGeom>
            <a:ln w="41883">
              <a:solidFill>
                <a:srgbClr val="F1425D"/>
              </a:solidFill>
            </a:ln>
          </p:spPr>
          <p:txBody>
            <a:bodyPr wrap="square" lIns="0" tIns="0" rIns="0" bIns="0" rtlCol="0"/>
            <a:lstStyle/>
            <a:p>
              <a:endParaRPr sz="1092"/>
            </a:p>
          </p:txBody>
        </p:sp>
        <p:sp>
          <p:nvSpPr>
            <p:cNvPr id="58" name="object 58"/>
            <p:cNvSpPr/>
            <p:nvPr/>
          </p:nvSpPr>
          <p:spPr>
            <a:xfrm>
              <a:off x="18589695" y="5784207"/>
              <a:ext cx="0" cy="342900"/>
            </a:xfrm>
            <a:custGeom>
              <a:avLst/>
              <a:gdLst/>
              <a:ahLst/>
              <a:cxnLst/>
              <a:rect l="l" t="t" r="r" b="b"/>
              <a:pathLst>
                <a:path h="342900">
                  <a:moveTo>
                    <a:pt x="0" y="0"/>
                  </a:moveTo>
                  <a:lnTo>
                    <a:pt x="0" y="342557"/>
                  </a:lnTo>
                </a:path>
              </a:pathLst>
            </a:custGeom>
            <a:ln w="41883">
              <a:solidFill>
                <a:srgbClr val="F1425D"/>
              </a:solidFill>
            </a:ln>
          </p:spPr>
          <p:txBody>
            <a:bodyPr wrap="square" lIns="0" tIns="0" rIns="0" bIns="0" rtlCol="0"/>
            <a:lstStyle/>
            <a:p>
              <a:endParaRPr sz="1092"/>
            </a:p>
          </p:txBody>
        </p:sp>
      </p:grpSp>
      <p:sp>
        <p:nvSpPr>
          <p:cNvPr id="59" name="object 59"/>
          <p:cNvSpPr txBox="1"/>
          <p:nvPr/>
        </p:nvSpPr>
        <p:spPr>
          <a:xfrm>
            <a:off x="6133613" y="3773309"/>
            <a:ext cx="1420888" cy="207695"/>
          </a:xfrm>
          <a:prstGeom prst="rect">
            <a:avLst/>
          </a:prstGeom>
        </p:spPr>
        <p:txBody>
          <a:bodyPr vert="horz" wrap="square" lIns="0" tIns="6931" rIns="0" bIns="0" rtlCol="0">
            <a:spAutoFit/>
          </a:bodyPr>
          <a:lstStyle/>
          <a:p>
            <a:pPr marL="7701">
              <a:spcBef>
                <a:spcPts val="55"/>
              </a:spcBef>
            </a:pPr>
            <a:r>
              <a:rPr sz="1304" dirty="0">
                <a:solidFill>
                  <a:srgbClr val="F2425D"/>
                </a:solidFill>
                <a:latin typeface="Arial"/>
                <a:cs typeface="Arial"/>
              </a:rPr>
              <a:t>Modern</a:t>
            </a:r>
            <a:r>
              <a:rPr sz="1304" spc="-6" dirty="0">
                <a:solidFill>
                  <a:srgbClr val="F2425D"/>
                </a:solidFill>
                <a:latin typeface="Arial"/>
                <a:cs typeface="Arial"/>
              </a:rPr>
              <a:t> JavaScript</a:t>
            </a:r>
            <a:endParaRPr sz="1304">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62829-D81C-0733-05B2-DAF7B935BCD5}"/>
              </a:ext>
            </a:extLst>
          </p:cNvPr>
          <p:cNvSpPr>
            <a:spLocks noGrp="1"/>
          </p:cNvSpPr>
          <p:nvPr>
            <p:ph type="title"/>
          </p:nvPr>
        </p:nvSpPr>
        <p:spPr/>
        <p:txBody>
          <a:bodyPr/>
          <a:lstStyle/>
          <a:p>
            <a:r>
              <a:rPr lang="en-US" dirty="0"/>
              <a:t>Let and const</a:t>
            </a:r>
          </a:p>
        </p:txBody>
      </p:sp>
      <p:sp>
        <p:nvSpPr>
          <p:cNvPr id="3" name="Content Placeholder 2">
            <a:extLst>
              <a:ext uri="{FF2B5EF4-FFF2-40B4-BE49-F238E27FC236}">
                <a16:creationId xmlns:a16="http://schemas.microsoft.com/office/drawing/2014/main" id="{373C3D40-9A1F-63F0-FE5B-E1FA407C0475}"/>
              </a:ext>
            </a:extLst>
          </p:cNvPr>
          <p:cNvSpPr>
            <a:spLocks noGrp="1"/>
          </p:cNvSpPr>
          <p:nvPr>
            <p:ph idx="1"/>
          </p:nvPr>
        </p:nvSpPr>
        <p:spPr/>
        <p:txBody>
          <a:bodyPr/>
          <a:lstStyle/>
          <a:p>
            <a:r>
              <a:rPr lang="en-US" b="1" dirty="0">
                <a:solidFill>
                  <a:srgbClr val="FF0000"/>
                </a:solidFill>
              </a:rPr>
              <a:t>let</a:t>
            </a:r>
            <a:r>
              <a:rPr lang="en-US" b="1" dirty="0"/>
              <a:t>: </a:t>
            </a:r>
            <a:r>
              <a:rPr lang="en-US" dirty="0"/>
              <a:t>allows you to declare a variable with block scope.</a:t>
            </a:r>
          </a:p>
          <a:p>
            <a:pPr lvl="1"/>
            <a:r>
              <a:rPr lang="en-US" dirty="0"/>
              <a:t>Example: </a:t>
            </a:r>
          </a:p>
          <a:p>
            <a:endParaRPr lang="en-US" dirty="0"/>
          </a:p>
          <a:p>
            <a:endParaRPr lang="en-US" dirty="0"/>
          </a:p>
        </p:txBody>
      </p:sp>
      <p:pic>
        <p:nvPicPr>
          <p:cNvPr id="5" name="Picture 4">
            <a:extLst>
              <a:ext uri="{FF2B5EF4-FFF2-40B4-BE49-F238E27FC236}">
                <a16:creationId xmlns:a16="http://schemas.microsoft.com/office/drawing/2014/main" id="{E7C57D0F-3542-1E74-F045-467DD6775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6732" y="2508238"/>
            <a:ext cx="5351518" cy="216869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5925824E-9EDF-CE10-0770-A07C7434BBB5}"/>
              </a:ext>
            </a:extLst>
          </p:cNvPr>
          <p:cNvSpPr txBox="1"/>
          <p:nvPr/>
        </p:nvSpPr>
        <p:spPr>
          <a:xfrm>
            <a:off x="1103382" y="5101398"/>
            <a:ext cx="9982199" cy="523220"/>
          </a:xfrm>
          <a:prstGeom prst="rect">
            <a:avLst/>
          </a:prstGeom>
          <a:noFill/>
        </p:spPr>
        <p:txBody>
          <a:bodyPr wrap="square">
            <a:spAutoFit/>
          </a:bodyPr>
          <a:lstStyle/>
          <a:p>
            <a:r>
              <a:rPr lang="en-US" sz="2800" b="0" i="1" dirty="0">
                <a:solidFill>
                  <a:srgbClr val="FF0000"/>
                </a:solidFill>
                <a:effectLst/>
                <a:latin typeface="-apple-system"/>
              </a:rPr>
              <a:t>In ES6, We can use </a:t>
            </a:r>
            <a:r>
              <a:rPr lang="en-US" sz="2800" b="1" i="1" dirty="0">
                <a:solidFill>
                  <a:srgbClr val="FF0000"/>
                </a:solidFill>
                <a:effectLst/>
                <a:latin typeface="-apple-system"/>
              </a:rPr>
              <a:t>let</a:t>
            </a:r>
            <a:r>
              <a:rPr lang="en-US" sz="2800" b="0" i="1" dirty="0">
                <a:solidFill>
                  <a:srgbClr val="FF0000"/>
                </a:solidFill>
                <a:effectLst/>
                <a:latin typeface="-apple-system"/>
              </a:rPr>
              <a:t> keyword instead of var to create a variable</a:t>
            </a:r>
            <a:endParaRPr lang="en-US" sz="2800" i="1" dirty="0">
              <a:solidFill>
                <a:srgbClr val="FF0000"/>
              </a:solidFill>
            </a:endParaRPr>
          </a:p>
        </p:txBody>
      </p:sp>
    </p:spTree>
    <p:extLst>
      <p:ext uri="{BB962C8B-B14F-4D97-AF65-F5344CB8AC3E}">
        <p14:creationId xmlns:p14="http://schemas.microsoft.com/office/powerpoint/2010/main" val="3432713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2FD7E-D7B9-6312-2906-FEB3A809E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BFCDF-48AB-E5FB-1BA8-E9C9260203B2}"/>
              </a:ext>
            </a:extLst>
          </p:cNvPr>
          <p:cNvSpPr>
            <a:spLocks noGrp="1"/>
          </p:cNvSpPr>
          <p:nvPr>
            <p:ph type="title"/>
          </p:nvPr>
        </p:nvSpPr>
        <p:spPr/>
        <p:txBody>
          <a:bodyPr/>
          <a:lstStyle/>
          <a:p>
            <a:r>
              <a:rPr lang="en-US" dirty="0"/>
              <a:t>Let and const</a:t>
            </a:r>
          </a:p>
        </p:txBody>
      </p:sp>
      <p:sp>
        <p:nvSpPr>
          <p:cNvPr id="3" name="Content Placeholder 2">
            <a:extLst>
              <a:ext uri="{FF2B5EF4-FFF2-40B4-BE49-F238E27FC236}">
                <a16:creationId xmlns:a16="http://schemas.microsoft.com/office/drawing/2014/main" id="{720E44AA-24A1-7D53-A519-97AB684E53BB}"/>
              </a:ext>
            </a:extLst>
          </p:cNvPr>
          <p:cNvSpPr>
            <a:spLocks noGrp="1"/>
          </p:cNvSpPr>
          <p:nvPr>
            <p:ph idx="1"/>
          </p:nvPr>
        </p:nvSpPr>
        <p:spPr/>
        <p:txBody>
          <a:bodyPr/>
          <a:lstStyle/>
          <a:p>
            <a:r>
              <a:rPr lang="en-US" b="1" dirty="0">
                <a:solidFill>
                  <a:srgbClr val="FF0000"/>
                </a:solidFill>
              </a:rPr>
              <a:t>c</a:t>
            </a:r>
            <a:r>
              <a:rPr lang="en-US" b="1">
                <a:solidFill>
                  <a:srgbClr val="FF0000"/>
                </a:solidFill>
              </a:rPr>
              <a:t>onst</a:t>
            </a:r>
            <a:r>
              <a:rPr lang="en-US" dirty="0"/>
              <a:t>: allows you to declare a constant (a JavaScript variable with a constant value). Constants are similar to let variables, except that the value </a:t>
            </a:r>
            <a:r>
              <a:rPr lang="en-US" b="1" dirty="0"/>
              <a:t>cannot be changed.</a:t>
            </a:r>
          </a:p>
          <a:p>
            <a:r>
              <a:rPr lang="en-US" dirty="0"/>
              <a:t>Example: </a:t>
            </a:r>
          </a:p>
          <a:p>
            <a:endParaRPr lang="en-US" b="1" dirty="0"/>
          </a:p>
        </p:txBody>
      </p:sp>
      <p:pic>
        <p:nvPicPr>
          <p:cNvPr id="6" name="Picture 5">
            <a:extLst>
              <a:ext uri="{FF2B5EF4-FFF2-40B4-BE49-F238E27FC236}">
                <a16:creationId xmlns:a16="http://schemas.microsoft.com/office/drawing/2014/main" id="{D77F8D69-2FDE-FB50-70A5-5B24A88811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1446" y="3429000"/>
            <a:ext cx="5535613" cy="1909786"/>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7D958376-8D3D-E370-B5E1-C8D9C2234B54}"/>
              </a:ext>
            </a:extLst>
          </p:cNvPr>
          <p:cNvSpPr txBox="1"/>
          <p:nvPr/>
        </p:nvSpPr>
        <p:spPr>
          <a:xfrm>
            <a:off x="1360884" y="5619410"/>
            <a:ext cx="10111979" cy="523220"/>
          </a:xfrm>
          <a:prstGeom prst="rect">
            <a:avLst/>
          </a:prstGeom>
          <a:noFill/>
        </p:spPr>
        <p:txBody>
          <a:bodyPr wrap="square">
            <a:spAutoFit/>
          </a:bodyPr>
          <a:lstStyle/>
          <a:p>
            <a:r>
              <a:rPr lang="en-US" sz="2800" b="0" i="1" dirty="0">
                <a:solidFill>
                  <a:srgbClr val="FF0000"/>
                </a:solidFill>
                <a:effectLst/>
                <a:latin typeface="-apple-system"/>
              </a:rPr>
              <a:t> We get an ERROR because we try to reassign a </a:t>
            </a:r>
            <a:r>
              <a:rPr lang="en-US" sz="2800" b="1" i="1" dirty="0">
                <a:solidFill>
                  <a:srgbClr val="FF0000"/>
                </a:solidFill>
                <a:effectLst/>
                <a:latin typeface="-apple-system"/>
              </a:rPr>
              <a:t>constant</a:t>
            </a:r>
            <a:r>
              <a:rPr lang="en-US" sz="2800" b="0" i="1" dirty="0">
                <a:solidFill>
                  <a:srgbClr val="FF0000"/>
                </a:solidFill>
                <a:effectLst/>
                <a:latin typeface="-apple-system"/>
              </a:rPr>
              <a:t> variable</a:t>
            </a:r>
            <a:endParaRPr lang="en-US" sz="2800" i="1" dirty="0">
              <a:solidFill>
                <a:srgbClr val="FF0000"/>
              </a:solidFill>
            </a:endParaRPr>
          </a:p>
        </p:txBody>
      </p:sp>
    </p:spTree>
    <p:extLst>
      <p:ext uri="{BB962C8B-B14F-4D97-AF65-F5344CB8AC3E}">
        <p14:creationId xmlns:p14="http://schemas.microsoft.com/office/powerpoint/2010/main" val="2186813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6A54E-41C3-6A5E-4582-8C38013B8ABB}"/>
              </a:ext>
            </a:extLst>
          </p:cNvPr>
          <p:cNvSpPr>
            <a:spLocks noGrp="1"/>
          </p:cNvSpPr>
          <p:nvPr>
            <p:ph type="title"/>
          </p:nvPr>
        </p:nvSpPr>
        <p:spPr/>
        <p:txBody>
          <a:bodyPr/>
          <a:lstStyle/>
          <a:p>
            <a:r>
              <a:rPr lang="en-US" dirty="0"/>
              <a:t>Objects and Primitives in ES6</a:t>
            </a:r>
          </a:p>
        </p:txBody>
      </p:sp>
      <p:sp>
        <p:nvSpPr>
          <p:cNvPr id="3" name="Content Placeholder 2">
            <a:extLst>
              <a:ext uri="{FF2B5EF4-FFF2-40B4-BE49-F238E27FC236}">
                <a16:creationId xmlns:a16="http://schemas.microsoft.com/office/drawing/2014/main" id="{70F59875-7CDB-B56D-FC59-003D6049E1F9}"/>
              </a:ext>
            </a:extLst>
          </p:cNvPr>
          <p:cNvSpPr>
            <a:spLocks noGrp="1"/>
          </p:cNvSpPr>
          <p:nvPr>
            <p:ph idx="1"/>
          </p:nvPr>
        </p:nvSpPr>
        <p:spPr/>
        <p:txBody>
          <a:bodyPr/>
          <a:lstStyle/>
          <a:p>
            <a:r>
              <a:rPr lang="en-US" dirty="0"/>
              <a:t>In JavaScript (ES6), every </a:t>
            </a:r>
            <a:r>
              <a:rPr lang="en-US" b="1" dirty="0">
                <a:solidFill>
                  <a:srgbClr val="FF0000"/>
                </a:solidFill>
              </a:rPr>
              <a:t>value</a:t>
            </a:r>
            <a:r>
              <a:rPr lang="en-US" dirty="0"/>
              <a:t> belongs to one of two categories:</a:t>
            </a:r>
          </a:p>
          <a:p>
            <a:endParaRPr lang="en-US" dirty="0"/>
          </a:p>
        </p:txBody>
      </p:sp>
      <p:graphicFrame>
        <p:nvGraphicFramePr>
          <p:cNvPr id="6" name="Table 5">
            <a:extLst>
              <a:ext uri="{FF2B5EF4-FFF2-40B4-BE49-F238E27FC236}">
                <a16:creationId xmlns:a16="http://schemas.microsoft.com/office/drawing/2014/main" id="{FA2B29CE-213C-1A39-13D0-825D9CFD5B64}"/>
              </a:ext>
            </a:extLst>
          </p:cNvPr>
          <p:cNvGraphicFramePr>
            <a:graphicFrameLocks noGrp="1"/>
          </p:cNvGraphicFramePr>
          <p:nvPr>
            <p:extLst>
              <p:ext uri="{D42A27DB-BD31-4B8C-83A1-F6EECF244321}">
                <p14:modId xmlns:p14="http://schemas.microsoft.com/office/powerpoint/2010/main" val="272190310"/>
              </p:ext>
            </p:extLst>
          </p:nvPr>
        </p:nvGraphicFramePr>
        <p:xfrm>
          <a:off x="1211262" y="2851879"/>
          <a:ext cx="9874320" cy="2091595"/>
        </p:xfrm>
        <a:graphic>
          <a:graphicData uri="http://schemas.openxmlformats.org/drawingml/2006/table">
            <a:tbl>
              <a:tblPr firstRow="1" firstCol="1" bandRow="1">
                <a:tableStyleId>{5C22544A-7EE6-4342-B048-85BDC9FD1C3A}</a:tableStyleId>
              </a:tblPr>
              <a:tblGrid>
                <a:gridCol w="2710463">
                  <a:extLst>
                    <a:ext uri="{9D8B030D-6E8A-4147-A177-3AD203B41FA5}">
                      <a16:colId xmlns:a16="http://schemas.microsoft.com/office/drawing/2014/main" val="3341061072"/>
                    </a:ext>
                  </a:extLst>
                </a:gridCol>
                <a:gridCol w="7163857">
                  <a:extLst>
                    <a:ext uri="{9D8B030D-6E8A-4147-A177-3AD203B41FA5}">
                      <a16:colId xmlns:a16="http://schemas.microsoft.com/office/drawing/2014/main" val="2893355184"/>
                    </a:ext>
                  </a:extLst>
                </a:gridCol>
              </a:tblGrid>
              <a:tr h="514066">
                <a:tc>
                  <a:txBody>
                    <a:bodyPr/>
                    <a:lstStyle/>
                    <a:p>
                      <a:pPr marL="0" marR="0">
                        <a:lnSpc>
                          <a:spcPct val="115000"/>
                        </a:lnSpc>
                        <a:spcAft>
                          <a:spcPts val="800"/>
                        </a:spcAft>
                        <a:buNone/>
                      </a:pPr>
                      <a:r>
                        <a:rPr lang="en-US" sz="2800" kern="100">
                          <a:effectLst/>
                        </a:rPr>
                        <a:t>Category</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Description</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833384405"/>
                  </a:ext>
                </a:extLst>
              </a:tr>
              <a:tr h="514066">
                <a:tc>
                  <a:txBody>
                    <a:bodyPr/>
                    <a:lstStyle/>
                    <a:p>
                      <a:pPr marL="0" marR="0">
                        <a:lnSpc>
                          <a:spcPct val="115000"/>
                        </a:lnSpc>
                        <a:spcAft>
                          <a:spcPts val="800"/>
                        </a:spcAft>
                        <a:buNone/>
                      </a:pPr>
                      <a:r>
                        <a:rPr lang="en-US" sz="2800" kern="100">
                          <a:effectLst/>
                        </a:rPr>
                        <a:t>Primitive types</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Simple, basic data types</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73119361"/>
                  </a:ext>
                </a:extLst>
              </a:tr>
              <a:tr h="1063463">
                <a:tc>
                  <a:txBody>
                    <a:bodyPr/>
                    <a:lstStyle/>
                    <a:p>
                      <a:pPr marL="0" marR="0">
                        <a:lnSpc>
                          <a:spcPct val="115000"/>
                        </a:lnSpc>
                        <a:spcAft>
                          <a:spcPts val="800"/>
                        </a:spcAft>
                        <a:buNone/>
                      </a:pPr>
                      <a:r>
                        <a:rPr lang="en-US" sz="2800" kern="100">
                          <a:effectLst/>
                        </a:rPr>
                        <a:t>Objects</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dirty="0">
                          <a:effectLst/>
                        </a:rPr>
                        <a:t>Complex data types that can store multiple values</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47477179"/>
                  </a:ext>
                </a:extLst>
              </a:tr>
            </a:tbl>
          </a:graphicData>
        </a:graphic>
      </p:graphicFrame>
    </p:spTree>
    <p:extLst>
      <p:ext uri="{BB962C8B-B14F-4D97-AF65-F5344CB8AC3E}">
        <p14:creationId xmlns:p14="http://schemas.microsoft.com/office/powerpoint/2010/main" val="802522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F5FF-DCF6-77C0-BB88-2742369CF957}"/>
              </a:ext>
            </a:extLst>
          </p:cNvPr>
          <p:cNvSpPr>
            <a:spLocks noGrp="1"/>
          </p:cNvSpPr>
          <p:nvPr>
            <p:ph type="title"/>
          </p:nvPr>
        </p:nvSpPr>
        <p:spPr/>
        <p:txBody>
          <a:bodyPr/>
          <a:lstStyle/>
          <a:p>
            <a:r>
              <a:rPr lang="en-US" dirty="0"/>
              <a:t>Objects and Primitives in ES6</a:t>
            </a:r>
          </a:p>
        </p:txBody>
      </p:sp>
      <p:sp>
        <p:nvSpPr>
          <p:cNvPr id="3" name="Content Placeholder 2">
            <a:extLst>
              <a:ext uri="{FF2B5EF4-FFF2-40B4-BE49-F238E27FC236}">
                <a16:creationId xmlns:a16="http://schemas.microsoft.com/office/drawing/2014/main" id="{2730A698-4358-711B-91C4-842F723E6D67}"/>
              </a:ext>
            </a:extLst>
          </p:cNvPr>
          <p:cNvSpPr>
            <a:spLocks noGrp="1"/>
          </p:cNvSpPr>
          <p:nvPr>
            <p:ph idx="1"/>
          </p:nvPr>
        </p:nvSpPr>
        <p:spPr/>
        <p:txBody>
          <a:bodyPr/>
          <a:lstStyle/>
          <a:p>
            <a:r>
              <a:rPr lang="en-US" b="1" dirty="0">
                <a:solidFill>
                  <a:srgbClr val="FF0000"/>
                </a:solidFill>
              </a:rPr>
              <a:t>Primitive Types in ES6</a:t>
            </a:r>
          </a:p>
          <a:p>
            <a:pPr lvl="1"/>
            <a:r>
              <a:rPr lang="en-US" dirty="0"/>
              <a:t>Is immutable (cannot be changed)</a:t>
            </a:r>
          </a:p>
          <a:p>
            <a:pPr lvl="1"/>
            <a:r>
              <a:rPr lang="en-US" dirty="0"/>
              <a:t>Stores the actual value directly</a:t>
            </a:r>
          </a:p>
          <a:p>
            <a:pPr lvl="1"/>
            <a:r>
              <a:rPr lang="en-US" dirty="0"/>
              <a:t>Is compared by value</a:t>
            </a:r>
          </a:p>
          <a:p>
            <a:pPr marL="457200" lvl="1" indent="0">
              <a:buNone/>
            </a:pPr>
            <a:r>
              <a:rPr lang="en-US" b="1" dirty="0"/>
              <a:t>Example</a:t>
            </a:r>
          </a:p>
        </p:txBody>
      </p:sp>
      <p:pic>
        <p:nvPicPr>
          <p:cNvPr id="6" name="Picture 5">
            <a:extLst>
              <a:ext uri="{FF2B5EF4-FFF2-40B4-BE49-F238E27FC236}">
                <a16:creationId xmlns:a16="http://schemas.microsoft.com/office/drawing/2014/main" id="{C0355ACA-BDE5-9681-1BBF-CF9B3E87B3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5773" y="3545765"/>
            <a:ext cx="3760840" cy="30534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7027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EBFF7-BA63-7922-C105-F67DB8FD9163}"/>
              </a:ext>
            </a:extLst>
          </p:cNvPr>
          <p:cNvSpPr>
            <a:spLocks noGrp="1"/>
          </p:cNvSpPr>
          <p:nvPr>
            <p:ph type="title"/>
          </p:nvPr>
        </p:nvSpPr>
        <p:spPr/>
        <p:txBody>
          <a:bodyPr/>
          <a:lstStyle/>
          <a:p>
            <a:r>
              <a:rPr lang="en-US" dirty="0"/>
              <a:t>Objects and Primitives in ES6</a:t>
            </a:r>
          </a:p>
        </p:txBody>
      </p:sp>
      <p:sp>
        <p:nvSpPr>
          <p:cNvPr id="3" name="Content Placeholder 2">
            <a:extLst>
              <a:ext uri="{FF2B5EF4-FFF2-40B4-BE49-F238E27FC236}">
                <a16:creationId xmlns:a16="http://schemas.microsoft.com/office/drawing/2014/main" id="{F802D04D-917C-EEB2-910E-50CDD6D61E8C}"/>
              </a:ext>
            </a:extLst>
          </p:cNvPr>
          <p:cNvSpPr>
            <a:spLocks noGrp="1"/>
          </p:cNvSpPr>
          <p:nvPr>
            <p:ph idx="1"/>
          </p:nvPr>
        </p:nvSpPr>
        <p:spPr/>
        <p:txBody>
          <a:bodyPr/>
          <a:lstStyle/>
          <a:p>
            <a:r>
              <a:rPr lang="en-US" b="1" dirty="0">
                <a:solidFill>
                  <a:srgbClr val="FF0000"/>
                </a:solidFill>
              </a:rPr>
              <a:t>Primitive Types in ES6	</a:t>
            </a:r>
            <a:endParaRPr lang="en-US" dirty="0"/>
          </a:p>
          <a:p>
            <a:pPr lvl="1"/>
            <a:r>
              <a:rPr lang="en-US" dirty="0" err="1"/>
              <a:t>Có</a:t>
            </a:r>
            <a:r>
              <a:rPr lang="en-US" dirty="0"/>
              <a:t> 7 </a:t>
            </a:r>
            <a:r>
              <a:rPr lang="en-US" dirty="0" err="1"/>
              <a:t>loại</a:t>
            </a:r>
            <a:r>
              <a:rPr lang="en-US" dirty="0"/>
              <a:t> </a:t>
            </a:r>
          </a:p>
        </p:txBody>
      </p:sp>
      <p:graphicFrame>
        <p:nvGraphicFramePr>
          <p:cNvPr id="5" name="Table 4">
            <a:extLst>
              <a:ext uri="{FF2B5EF4-FFF2-40B4-BE49-F238E27FC236}">
                <a16:creationId xmlns:a16="http://schemas.microsoft.com/office/drawing/2014/main" id="{202F5FA2-66FC-E715-B88D-88496894A63C}"/>
              </a:ext>
            </a:extLst>
          </p:cNvPr>
          <p:cNvGraphicFramePr>
            <a:graphicFrameLocks noGrp="1"/>
          </p:cNvGraphicFramePr>
          <p:nvPr>
            <p:extLst>
              <p:ext uri="{D42A27DB-BD31-4B8C-83A1-F6EECF244321}">
                <p14:modId xmlns:p14="http://schemas.microsoft.com/office/powerpoint/2010/main" val="1134854271"/>
              </p:ext>
            </p:extLst>
          </p:nvPr>
        </p:nvGraphicFramePr>
        <p:xfrm>
          <a:off x="3513241" y="2379854"/>
          <a:ext cx="7572341" cy="3673352"/>
        </p:xfrm>
        <a:graphic>
          <a:graphicData uri="http://schemas.openxmlformats.org/drawingml/2006/table">
            <a:tbl>
              <a:tblPr firstRow="1" firstCol="1" bandRow="1">
                <a:tableStyleId>{5C22544A-7EE6-4342-B048-85BDC9FD1C3A}</a:tableStyleId>
              </a:tblPr>
              <a:tblGrid>
                <a:gridCol w="3410444">
                  <a:extLst>
                    <a:ext uri="{9D8B030D-6E8A-4147-A177-3AD203B41FA5}">
                      <a16:colId xmlns:a16="http://schemas.microsoft.com/office/drawing/2014/main" val="3195348871"/>
                    </a:ext>
                  </a:extLst>
                </a:gridCol>
                <a:gridCol w="4161897">
                  <a:extLst>
                    <a:ext uri="{9D8B030D-6E8A-4147-A177-3AD203B41FA5}">
                      <a16:colId xmlns:a16="http://schemas.microsoft.com/office/drawing/2014/main" val="808062193"/>
                    </a:ext>
                  </a:extLst>
                </a:gridCol>
              </a:tblGrid>
              <a:tr h="454200">
                <a:tc>
                  <a:txBody>
                    <a:bodyPr/>
                    <a:lstStyle/>
                    <a:p>
                      <a:pPr marL="0" marR="0">
                        <a:lnSpc>
                          <a:spcPct val="115000"/>
                        </a:lnSpc>
                        <a:spcAft>
                          <a:spcPts val="800"/>
                        </a:spcAft>
                        <a:buNone/>
                      </a:pPr>
                      <a:r>
                        <a:rPr lang="en-US" sz="2800" kern="100">
                          <a:effectLst/>
                        </a:rPr>
                        <a:t>Kiểu</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Ví dụ</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1014873"/>
                  </a:ext>
                </a:extLst>
              </a:tr>
              <a:tr h="454200">
                <a:tc>
                  <a:txBody>
                    <a:bodyPr/>
                    <a:lstStyle/>
                    <a:p>
                      <a:pPr marL="0" marR="0">
                        <a:lnSpc>
                          <a:spcPct val="115000"/>
                        </a:lnSpc>
                        <a:spcAft>
                          <a:spcPts val="800"/>
                        </a:spcAft>
                        <a:buNone/>
                      </a:pPr>
                      <a:r>
                        <a:rPr lang="en-US" sz="2800" kern="100">
                          <a:effectLst/>
                        </a:rPr>
                        <a:t>Number</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10, 3.14</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66837296"/>
                  </a:ext>
                </a:extLst>
              </a:tr>
              <a:tr h="454200">
                <a:tc>
                  <a:txBody>
                    <a:bodyPr/>
                    <a:lstStyle/>
                    <a:p>
                      <a:pPr marL="0" marR="0">
                        <a:lnSpc>
                          <a:spcPct val="115000"/>
                        </a:lnSpc>
                        <a:spcAft>
                          <a:spcPts val="800"/>
                        </a:spcAft>
                        <a:buNone/>
                      </a:pPr>
                      <a:r>
                        <a:rPr lang="en-US" sz="2800" kern="100">
                          <a:effectLst/>
                        </a:rPr>
                        <a:t>String</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"Hello"</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74196324"/>
                  </a:ext>
                </a:extLst>
              </a:tr>
              <a:tr h="454200">
                <a:tc>
                  <a:txBody>
                    <a:bodyPr/>
                    <a:lstStyle/>
                    <a:p>
                      <a:pPr marL="0" marR="0">
                        <a:lnSpc>
                          <a:spcPct val="115000"/>
                        </a:lnSpc>
                        <a:spcAft>
                          <a:spcPts val="800"/>
                        </a:spcAft>
                        <a:buNone/>
                      </a:pPr>
                      <a:r>
                        <a:rPr lang="en-US" sz="2800" kern="100">
                          <a:effectLst/>
                        </a:rPr>
                        <a:t>Boolean</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true, false</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72526740"/>
                  </a:ext>
                </a:extLst>
              </a:tr>
              <a:tr h="454200">
                <a:tc>
                  <a:txBody>
                    <a:bodyPr/>
                    <a:lstStyle/>
                    <a:p>
                      <a:pPr marL="0" marR="0">
                        <a:lnSpc>
                          <a:spcPct val="115000"/>
                        </a:lnSpc>
                        <a:spcAft>
                          <a:spcPts val="800"/>
                        </a:spcAft>
                        <a:buNone/>
                      </a:pPr>
                      <a:r>
                        <a:rPr lang="en-US" sz="2800" kern="100">
                          <a:effectLst/>
                        </a:rPr>
                        <a:t>Undefined</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undefined</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33328604"/>
                  </a:ext>
                </a:extLst>
              </a:tr>
              <a:tr h="454200">
                <a:tc>
                  <a:txBody>
                    <a:bodyPr/>
                    <a:lstStyle/>
                    <a:p>
                      <a:pPr marL="0" marR="0">
                        <a:lnSpc>
                          <a:spcPct val="115000"/>
                        </a:lnSpc>
                        <a:spcAft>
                          <a:spcPts val="800"/>
                        </a:spcAft>
                        <a:buNone/>
                      </a:pPr>
                      <a:r>
                        <a:rPr lang="en-US" sz="2800" kern="100">
                          <a:effectLst/>
                        </a:rPr>
                        <a:t>Null</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null</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91538608"/>
                  </a:ext>
                </a:extLst>
              </a:tr>
              <a:tr h="454200">
                <a:tc>
                  <a:txBody>
                    <a:bodyPr/>
                    <a:lstStyle/>
                    <a:p>
                      <a:pPr marL="0" marR="0">
                        <a:lnSpc>
                          <a:spcPct val="115000"/>
                        </a:lnSpc>
                        <a:spcAft>
                          <a:spcPts val="800"/>
                        </a:spcAft>
                        <a:buNone/>
                      </a:pPr>
                      <a:r>
                        <a:rPr lang="en-US" sz="2800" kern="100">
                          <a:effectLst/>
                        </a:rPr>
                        <a:t>Symbol (ES6)</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a:effectLst/>
                        </a:rPr>
                        <a:t>Symbol("id")</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50942352"/>
                  </a:ext>
                </a:extLst>
              </a:tr>
              <a:tr h="454200">
                <a:tc>
                  <a:txBody>
                    <a:bodyPr/>
                    <a:lstStyle/>
                    <a:p>
                      <a:pPr marL="0" marR="0">
                        <a:lnSpc>
                          <a:spcPct val="115000"/>
                        </a:lnSpc>
                        <a:spcAft>
                          <a:spcPts val="800"/>
                        </a:spcAft>
                        <a:buNone/>
                      </a:pPr>
                      <a:r>
                        <a:rPr lang="en-US" sz="2800" kern="100">
                          <a:effectLst/>
                        </a:rPr>
                        <a:t>BigInt</a:t>
                      </a:r>
                      <a:endParaRPr lang="en-US" sz="28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800" kern="100" dirty="0">
                          <a:effectLst/>
                        </a:rPr>
                        <a:t>123456789n</a:t>
                      </a:r>
                      <a:endParaRPr lang="en-US" sz="2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46756030"/>
                  </a:ext>
                </a:extLst>
              </a:tr>
            </a:tbl>
          </a:graphicData>
        </a:graphic>
      </p:graphicFrame>
    </p:spTree>
    <p:extLst>
      <p:ext uri="{BB962C8B-B14F-4D97-AF65-F5344CB8AC3E}">
        <p14:creationId xmlns:p14="http://schemas.microsoft.com/office/powerpoint/2010/main" val="419110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79921-5184-00EF-74C3-50BC6E853719}"/>
              </a:ext>
            </a:extLst>
          </p:cNvPr>
          <p:cNvSpPr>
            <a:spLocks noGrp="1"/>
          </p:cNvSpPr>
          <p:nvPr>
            <p:ph type="title"/>
          </p:nvPr>
        </p:nvSpPr>
        <p:spPr/>
        <p:txBody>
          <a:bodyPr/>
          <a:lstStyle/>
          <a:p>
            <a:r>
              <a:rPr lang="en-US" dirty="0"/>
              <a:t>Objects and Primitives in ES6</a:t>
            </a:r>
          </a:p>
        </p:txBody>
      </p:sp>
      <p:sp>
        <p:nvSpPr>
          <p:cNvPr id="3" name="Content Placeholder 2">
            <a:extLst>
              <a:ext uri="{FF2B5EF4-FFF2-40B4-BE49-F238E27FC236}">
                <a16:creationId xmlns:a16="http://schemas.microsoft.com/office/drawing/2014/main" id="{6DB28AD0-6A0A-5334-45A3-65688DA8AF49}"/>
              </a:ext>
            </a:extLst>
          </p:cNvPr>
          <p:cNvSpPr>
            <a:spLocks noGrp="1"/>
          </p:cNvSpPr>
          <p:nvPr>
            <p:ph idx="1"/>
          </p:nvPr>
        </p:nvSpPr>
        <p:spPr/>
        <p:txBody>
          <a:bodyPr/>
          <a:lstStyle/>
          <a:p>
            <a:r>
              <a:rPr lang="en-US" b="1" dirty="0">
                <a:solidFill>
                  <a:srgbClr val="FF0000"/>
                </a:solidFill>
              </a:rPr>
              <a:t>Objects in ES6:</a:t>
            </a:r>
          </a:p>
          <a:p>
            <a:pPr lvl="1"/>
            <a:r>
              <a:rPr lang="en-US" dirty="0"/>
              <a:t>A reference type</a:t>
            </a:r>
          </a:p>
          <a:p>
            <a:pPr lvl="1"/>
            <a:r>
              <a:rPr lang="en-US" dirty="0"/>
              <a:t>A collection of key–value pairs</a:t>
            </a:r>
          </a:p>
          <a:p>
            <a:pPr lvl="1"/>
            <a:r>
              <a:rPr lang="en-US" dirty="0"/>
              <a:t>Mutable (can be changed after creation)</a:t>
            </a:r>
          </a:p>
          <a:p>
            <a:pPr marL="457200" lvl="1" indent="0">
              <a:buNone/>
            </a:pPr>
            <a:r>
              <a:rPr lang="en-US" dirty="0"/>
              <a:t>Example</a:t>
            </a:r>
          </a:p>
        </p:txBody>
      </p:sp>
      <p:pic>
        <p:nvPicPr>
          <p:cNvPr id="6" name="Picture 5">
            <a:extLst>
              <a:ext uri="{FF2B5EF4-FFF2-40B4-BE49-F238E27FC236}">
                <a16:creationId xmlns:a16="http://schemas.microsoft.com/office/drawing/2014/main" id="{09F4F000-61B7-9B2E-30EF-7B30B3AC0F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6670" y="3629025"/>
            <a:ext cx="4098660" cy="28432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03155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DD902-547B-646B-8470-499D14D2A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4F72F-3D5F-A8FF-35BD-EFBA7D7F348E}"/>
              </a:ext>
            </a:extLst>
          </p:cNvPr>
          <p:cNvSpPr>
            <a:spLocks noGrp="1"/>
          </p:cNvSpPr>
          <p:nvPr>
            <p:ph type="title"/>
          </p:nvPr>
        </p:nvSpPr>
        <p:spPr/>
        <p:txBody>
          <a:bodyPr/>
          <a:lstStyle/>
          <a:p>
            <a:r>
              <a:rPr lang="en-US" dirty="0"/>
              <a:t>Objects and Primitives in ES6</a:t>
            </a:r>
          </a:p>
        </p:txBody>
      </p:sp>
      <p:sp>
        <p:nvSpPr>
          <p:cNvPr id="3" name="Content Placeholder 2">
            <a:extLst>
              <a:ext uri="{FF2B5EF4-FFF2-40B4-BE49-F238E27FC236}">
                <a16:creationId xmlns:a16="http://schemas.microsoft.com/office/drawing/2014/main" id="{D7AA2DB0-CC7E-9103-6415-810F6E9C2BD0}"/>
              </a:ext>
            </a:extLst>
          </p:cNvPr>
          <p:cNvSpPr>
            <a:spLocks noGrp="1"/>
          </p:cNvSpPr>
          <p:nvPr>
            <p:ph idx="1"/>
          </p:nvPr>
        </p:nvSpPr>
        <p:spPr/>
        <p:txBody>
          <a:bodyPr/>
          <a:lstStyle/>
          <a:p>
            <a:r>
              <a:rPr lang="en-US" b="1" dirty="0">
                <a:solidFill>
                  <a:srgbClr val="FF0000"/>
                </a:solidFill>
              </a:rPr>
              <a:t>Objects in ES6: </a:t>
            </a:r>
            <a:r>
              <a:rPr lang="en-US" dirty="0"/>
              <a:t>Common Object Types</a:t>
            </a:r>
            <a:endParaRPr lang="en-US" b="1" dirty="0">
              <a:solidFill>
                <a:srgbClr val="FF0000"/>
              </a:solidFill>
            </a:endParaRPr>
          </a:p>
          <a:p>
            <a:endParaRPr lang="en-US" dirty="0"/>
          </a:p>
        </p:txBody>
      </p:sp>
      <p:graphicFrame>
        <p:nvGraphicFramePr>
          <p:cNvPr id="4" name="Table 3">
            <a:extLst>
              <a:ext uri="{FF2B5EF4-FFF2-40B4-BE49-F238E27FC236}">
                <a16:creationId xmlns:a16="http://schemas.microsoft.com/office/drawing/2014/main" id="{05BD945B-6C9B-3559-CF1F-52B67CA47FAA}"/>
              </a:ext>
            </a:extLst>
          </p:cNvPr>
          <p:cNvGraphicFramePr>
            <a:graphicFrameLocks noGrp="1"/>
          </p:cNvGraphicFramePr>
          <p:nvPr>
            <p:extLst>
              <p:ext uri="{D42A27DB-BD31-4B8C-83A1-F6EECF244321}">
                <p14:modId xmlns:p14="http://schemas.microsoft.com/office/powerpoint/2010/main" val="360532218"/>
              </p:ext>
            </p:extLst>
          </p:nvPr>
        </p:nvGraphicFramePr>
        <p:xfrm>
          <a:off x="1489074" y="2355533"/>
          <a:ext cx="9596508" cy="3816669"/>
        </p:xfrm>
        <a:graphic>
          <a:graphicData uri="http://schemas.openxmlformats.org/drawingml/2006/table">
            <a:tbl>
              <a:tblPr firstRow="1" firstCol="1" bandRow="1">
                <a:tableStyleId>{5C22544A-7EE6-4342-B048-85BDC9FD1C3A}</a:tableStyleId>
              </a:tblPr>
              <a:tblGrid>
                <a:gridCol w="3454401">
                  <a:extLst>
                    <a:ext uri="{9D8B030D-6E8A-4147-A177-3AD203B41FA5}">
                      <a16:colId xmlns:a16="http://schemas.microsoft.com/office/drawing/2014/main" val="2065083178"/>
                    </a:ext>
                  </a:extLst>
                </a:gridCol>
                <a:gridCol w="6142107">
                  <a:extLst>
                    <a:ext uri="{9D8B030D-6E8A-4147-A177-3AD203B41FA5}">
                      <a16:colId xmlns:a16="http://schemas.microsoft.com/office/drawing/2014/main" val="17195654"/>
                    </a:ext>
                  </a:extLst>
                </a:gridCol>
              </a:tblGrid>
              <a:tr h="633162">
                <a:tc>
                  <a:txBody>
                    <a:bodyPr/>
                    <a:lstStyle/>
                    <a:p>
                      <a:pPr marL="0" marR="0">
                        <a:lnSpc>
                          <a:spcPct val="115000"/>
                        </a:lnSpc>
                        <a:spcAft>
                          <a:spcPts val="800"/>
                        </a:spcAft>
                        <a:buNone/>
                      </a:pPr>
                      <a:r>
                        <a:rPr lang="en-US" sz="2600" kern="100">
                          <a:effectLst/>
                        </a:rPr>
                        <a:t>Type</a:t>
                      </a:r>
                      <a:endParaRPr lang="en-US" sz="2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600" kern="100">
                          <a:effectLst/>
                        </a:rPr>
                        <a:t>Example</a:t>
                      </a:r>
                      <a:endParaRPr lang="en-US" sz="2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21916297"/>
                  </a:ext>
                </a:extLst>
              </a:tr>
              <a:tr h="633162">
                <a:tc>
                  <a:txBody>
                    <a:bodyPr/>
                    <a:lstStyle/>
                    <a:p>
                      <a:pPr marL="0" marR="0">
                        <a:lnSpc>
                          <a:spcPct val="115000"/>
                        </a:lnSpc>
                        <a:spcAft>
                          <a:spcPts val="800"/>
                        </a:spcAft>
                        <a:buNone/>
                      </a:pPr>
                      <a:r>
                        <a:rPr lang="en-US" sz="2600" kern="100">
                          <a:effectLst/>
                        </a:rPr>
                        <a:t>Object literal</a:t>
                      </a:r>
                      <a:endParaRPr lang="en-US" sz="2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600" b="1" kern="100" dirty="0">
                          <a:effectLst/>
                        </a:rPr>
                        <a:t>{ }</a:t>
                      </a:r>
                      <a:endParaRPr lang="en-US" sz="26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40339359"/>
                  </a:ext>
                </a:extLst>
              </a:tr>
              <a:tr h="633162">
                <a:tc>
                  <a:txBody>
                    <a:bodyPr/>
                    <a:lstStyle/>
                    <a:p>
                      <a:pPr marL="0" marR="0">
                        <a:lnSpc>
                          <a:spcPct val="115000"/>
                        </a:lnSpc>
                        <a:spcAft>
                          <a:spcPts val="800"/>
                        </a:spcAft>
                        <a:buNone/>
                      </a:pPr>
                      <a:r>
                        <a:rPr lang="en-US" sz="2600" kern="100">
                          <a:effectLst/>
                        </a:rPr>
                        <a:t>Array</a:t>
                      </a:r>
                      <a:endParaRPr lang="en-US" sz="2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600" b="1" kern="100" dirty="0">
                          <a:effectLst/>
                        </a:rPr>
                        <a:t>[ ]</a:t>
                      </a:r>
                      <a:endParaRPr lang="en-US" sz="26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93306585"/>
                  </a:ext>
                </a:extLst>
              </a:tr>
              <a:tr h="650859">
                <a:tc>
                  <a:txBody>
                    <a:bodyPr/>
                    <a:lstStyle/>
                    <a:p>
                      <a:pPr marL="0" marR="0">
                        <a:lnSpc>
                          <a:spcPct val="115000"/>
                        </a:lnSpc>
                        <a:spcAft>
                          <a:spcPts val="800"/>
                        </a:spcAft>
                        <a:buNone/>
                      </a:pPr>
                      <a:r>
                        <a:rPr lang="en-US" sz="2600" kern="100">
                          <a:effectLst/>
                        </a:rPr>
                        <a:t>Function</a:t>
                      </a:r>
                      <a:endParaRPr lang="en-US" sz="2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600" b="1" kern="100">
                          <a:effectLst/>
                        </a:rPr>
                        <a:t>function() {}</a:t>
                      </a:r>
                      <a:endParaRPr lang="en-US" sz="26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90744159"/>
                  </a:ext>
                </a:extLst>
              </a:tr>
              <a:tr h="633162">
                <a:tc>
                  <a:txBody>
                    <a:bodyPr/>
                    <a:lstStyle/>
                    <a:p>
                      <a:pPr marL="0" marR="0">
                        <a:lnSpc>
                          <a:spcPct val="115000"/>
                        </a:lnSpc>
                        <a:spcAft>
                          <a:spcPts val="800"/>
                        </a:spcAft>
                        <a:buNone/>
                      </a:pPr>
                      <a:r>
                        <a:rPr lang="en-US" sz="2600" kern="100">
                          <a:effectLst/>
                        </a:rPr>
                        <a:t>Date</a:t>
                      </a:r>
                      <a:endParaRPr lang="en-US" sz="2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600" b="1" kern="100">
                          <a:effectLst/>
                        </a:rPr>
                        <a:t>new Date()</a:t>
                      </a:r>
                      <a:endParaRPr lang="en-US" sz="26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2964932"/>
                  </a:ext>
                </a:extLst>
              </a:tr>
              <a:tr h="633162">
                <a:tc>
                  <a:txBody>
                    <a:bodyPr/>
                    <a:lstStyle/>
                    <a:p>
                      <a:pPr marL="0" marR="0">
                        <a:lnSpc>
                          <a:spcPct val="115000"/>
                        </a:lnSpc>
                        <a:spcAft>
                          <a:spcPts val="800"/>
                        </a:spcAft>
                        <a:buNone/>
                      </a:pPr>
                      <a:r>
                        <a:rPr lang="en-US" sz="2600" kern="100">
                          <a:effectLst/>
                        </a:rPr>
                        <a:t>Map / Set</a:t>
                      </a:r>
                      <a:endParaRPr lang="en-US" sz="26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15000"/>
                        </a:lnSpc>
                        <a:spcAft>
                          <a:spcPts val="800"/>
                        </a:spcAft>
                        <a:buNone/>
                      </a:pPr>
                      <a:r>
                        <a:rPr lang="en-US" sz="2600" b="1" kern="100" dirty="0">
                          <a:effectLst/>
                        </a:rPr>
                        <a:t>new Map(), new Set()</a:t>
                      </a:r>
                      <a:endParaRPr lang="en-US" sz="26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47185613"/>
                  </a:ext>
                </a:extLst>
              </a:tr>
            </a:tbl>
          </a:graphicData>
        </a:graphic>
      </p:graphicFrame>
    </p:spTree>
    <p:extLst>
      <p:ext uri="{BB962C8B-B14F-4D97-AF65-F5344CB8AC3E}">
        <p14:creationId xmlns:p14="http://schemas.microsoft.com/office/powerpoint/2010/main" val="2964515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6909A-AF32-EEF3-E995-9D1EC425052D}"/>
              </a:ext>
            </a:extLst>
          </p:cNvPr>
          <p:cNvSpPr>
            <a:spLocks noGrp="1"/>
          </p:cNvSpPr>
          <p:nvPr>
            <p:ph type="title"/>
          </p:nvPr>
        </p:nvSpPr>
        <p:spPr/>
        <p:txBody>
          <a:bodyPr/>
          <a:lstStyle/>
          <a:p>
            <a:r>
              <a:rPr lang="en-US" dirty="0"/>
              <a:t>Passing Values to Functions</a:t>
            </a:r>
          </a:p>
        </p:txBody>
      </p:sp>
      <p:sp>
        <p:nvSpPr>
          <p:cNvPr id="3" name="Content Placeholder 2">
            <a:extLst>
              <a:ext uri="{FF2B5EF4-FFF2-40B4-BE49-F238E27FC236}">
                <a16:creationId xmlns:a16="http://schemas.microsoft.com/office/drawing/2014/main" id="{350AC64B-2770-C35D-AE4F-6ABAE548379E}"/>
              </a:ext>
            </a:extLst>
          </p:cNvPr>
          <p:cNvSpPr>
            <a:spLocks noGrp="1"/>
          </p:cNvSpPr>
          <p:nvPr>
            <p:ph idx="1"/>
          </p:nvPr>
        </p:nvSpPr>
        <p:spPr/>
        <p:txBody>
          <a:bodyPr/>
          <a:lstStyle/>
          <a:p>
            <a:r>
              <a:rPr lang="en-US" b="1" dirty="0">
                <a:solidFill>
                  <a:srgbClr val="FF0000"/>
                </a:solidFill>
              </a:rPr>
              <a:t>Primitives – Passed by Value</a:t>
            </a:r>
          </a:p>
        </p:txBody>
      </p:sp>
      <p:pic>
        <p:nvPicPr>
          <p:cNvPr id="5" name="Picture 4">
            <a:extLst>
              <a:ext uri="{FF2B5EF4-FFF2-40B4-BE49-F238E27FC236}">
                <a16:creationId xmlns:a16="http://schemas.microsoft.com/office/drawing/2014/main" id="{A4E13587-4A08-8192-CC46-FDFA249BD9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9964" y="2246262"/>
            <a:ext cx="4672072" cy="40414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6610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111A3-8C5A-6879-1CA4-614889053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A54E2-F9B7-6989-CCB9-C41A34C943EB}"/>
              </a:ext>
            </a:extLst>
          </p:cNvPr>
          <p:cNvSpPr>
            <a:spLocks noGrp="1"/>
          </p:cNvSpPr>
          <p:nvPr>
            <p:ph type="title"/>
          </p:nvPr>
        </p:nvSpPr>
        <p:spPr/>
        <p:txBody>
          <a:bodyPr/>
          <a:lstStyle/>
          <a:p>
            <a:r>
              <a:rPr lang="en-US" dirty="0"/>
              <a:t>Passing Values to Functions</a:t>
            </a:r>
          </a:p>
        </p:txBody>
      </p:sp>
      <p:sp>
        <p:nvSpPr>
          <p:cNvPr id="3" name="Content Placeholder 2">
            <a:extLst>
              <a:ext uri="{FF2B5EF4-FFF2-40B4-BE49-F238E27FC236}">
                <a16:creationId xmlns:a16="http://schemas.microsoft.com/office/drawing/2014/main" id="{CFBE3286-45AA-E3B2-0148-D824AABF22FB}"/>
              </a:ext>
            </a:extLst>
          </p:cNvPr>
          <p:cNvSpPr>
            <a:spLocks noGrp="1"/>
          </p:cNvSpPr>
          <p:nvPr>
            <p:ph idx="1"/>
          </p:nvPr>
        </p:nvSpPr>
        <p:spPr/>
        <p:txBody>
          <a:bodyPr/>
          <a:lstStyle/>
          <a:p>
            <a:r>
              <a:rPr lang="en-US" b="1" dirty="0">
                <a:solidFill>
                  <a:srgbClr val="FF0000"/>
                </a:solidFill>
              </a:rPr>
              <a:t>Objects – Passed by Reference</a:t>
            </a:r>
          </a:p>
        </p:txBody>
      </p:sp>
      <p:pic>
        <p:nvPicPr>
          <p:cNvPr id="6" name="Picture 5">
            <a:extLst>
              <a:ext uri="{FF2B5EF4-FFF2-40B4-BE49-F238E27FC236}">
                <a16:creationId xmlns:a16="http://schemas.microsoft.com/office/drawing/2014/main" id="{1098DF4F-50D8-B355-3788-F99FA653A2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1373" y="2363749"/>
            <a:ext cx="5527735" cy="34943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58724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8869F-7B0A-DCF1-243D-67EDFA1E1CE3}"/>
              </a:ext>
            </a:extLst>
          </p:cNvPr>
          <p:cNvSpPr>
            <a:spLocks noGrp="1"/>
          </p:cNvSpPr>
          <p:nvPr>
            <p:ph type="title"/>
          </p:nvPr>
        </p:nvSpPr>
        <p:spPr/>
        <p:txBody>
          <a:bodyPr/>
          <a:lstStyle/>
          <a:p>
            <a:r>
              <a:rPr lang="en-US" dirty="0"/>
              <a:t>Arrow functions</a:t>
            </a:r>
          </a:p>
        </p:txBody>
      </p:sp>
      <p:sp>
        <p:nvSpPr>
          <p:cNvPr id="3" name="Content Placeholder 2">
            <a:extLst>
              <a:ext uri="{FF2B5EF4-FFF2-40B4-BE49-F238E27FC236}">
                <a16:creationId xmlns:a16="http://schemas.microsoft.com/office/drawing/2014/main" id="{3FD45AFB-3934-D7AF-D0FE-A1489E3A7297}"/>
              </a:ext>
            </a:extLst>
          </p:cNvPr>
          <p:cNvSpPr>
            <a:spLocks noGrp="1"/>
          </p:cNvSpPr>
          <p:nvPr>
            <p:ph idx="1"/>
          </p:nvPr>
        </p:nvSpPr>
        <p:spPr/>
        <p:txBody>
          <a:bodyPr/>
          <a:lstStyle/>
          <a:p>
            <a:r>
              <a:rPr lang="en-US" b="1" dirty="0">
                <a:solidFill>
                  <a:srgbClr val="FF0000"/>
                </a:solidFill>
              </a:rPr>
              <a:t>Arrow functions </a:t>
            </a:r>
            <a:r>
              <a:rPr lang="en-US" dirty="0"/>
              <a:t>is a different syntax for creating </a:t>
            </a:r>
            <a:r>
              <a:rPr lang="en-US" dirty="0" err="1"/>
              <a:t>Javascript</a:t>
            </a:r>
            <a:r>
              <a:rPr lang="en-US" dirty="0"/>
              <a:t> functions.</a:t>
            </a:r>
          </a:p>
          <a:p>
            <a:pPr lvl="1"/>
            <a:r>
              <a:rPr lang="en-US" b="1" dirty="0"/>
              <a:t>A normal JavaScript function:</a:t>
            </a:r>
            <a:endParaRPr lang="en-US" dirty="0"/>
          </a:p>
        </p:txBody>
      </p:sp>
      <p:pic>
        <p:nvPicPr>
          <p:cNvPr id="5" name="Picture 4">
            <a:extLst>
              <a:ext uri="{FF2B5EF4-FFF2-40B4-BE49-F238E27FC236}">
                <a16:creationId xmlns:a16="http://schemas.microsoft.com/office/drawing/2014/main" id="{33A5A023-DDD4-03B6-1F5A-22142C9553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1576" y="3429000"/>
            <a:ext cx="5887329" cy="25114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15054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6729-EBE9-C31F-CE35-97E6004A7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1AFC3F-D6DE-6D10-1C0C-890FA861AF55}"/>
              </a:ext>
            </a:extLst>
          </p:cNvPr>
          <p:cNvSpPr>
            <a:spLocks noGrp="1"/>
          </p:cNvSpPr>
          <p:nvPr>
            <p:ph type="title"/>
          </p:nvPr>
        </p:nvSpPr>
        <p:spPr/>
        <p:txBody>
          <a:bodyPr/>
          <a:lstStyle/>
          <a:p>
            <a:r>
              <a:rPr lang="en-US" dirty="0"/>
              <a:t>Arrow functions</a:t>
            </a:r>
          </a:p>
        </p:txBody>
      </p:sp>
      <p:sp>
        <p:nvSpPr>
          <p:cNvPr id="3" name="Content Placeholder 2">
            <a:extLst>
              <a:ext uri="{FF2B5EF4-FFF2-40B4-BE49-F238E27FC236}">
                <a16:creationId xmlns:a16="http://schemas.microsoft.com/office/drawing/2014/main" id="{356E6FFC-796D-2B83-37B9-1ADFDF93BDEC}"/>
              </a:ext>
            </a:extLst>
          </p:cNvPr>
          <p:cNvSpPr>
            <a:spLocks noGrp="1"/>
          </p:cNvSpPr>
          <p:nvPr>
            <p:ph idx="1"/>
          </p:nvPr>
        </p:nvSpPr>
        <p:spPr/>
        <p:txBody>
          <a:bodyPr/>
          <a:lstStyle/>
          <a:p>
            <a:r>
              <a:rPr lang="en-US" b="1" dirty="0">
                <a:solidFill>
                  <a:srgbClr val="FF0000"/>
                </a:solidFill>
              </a:rPr>
              <a:t>Arrow functions </a:t>
            </a:r>
            <a:r>
              <a:rPr lang="en-US" dirty="0"/>
              <a:t>is a different syntax for creating </a:t>
            </a:r>
            <a:r>
              <a:rPr lang="en-US" dirty="0" err="1"/>
              <a:t>Javascript</a:t>
            </a:r>
            <a:r>
              <a:rPr lang="en-US" dirty="0"/>
              <a:t> functions.</a:t>
            </a:r>
          </a:p>
          <a:p>
            <a:pPr lvl="1"/>
            <a:r>
              <a:rPr lang="en-US" b="1" dirty="0"/>
              <a:t>Arrow functions syntax:</a:t>
            </a:r>
          </a:p>
          <a:p>
            <a:pPr lvl="1"/>
            <a:endParaRPr lang="en-US" b="1" dirty="0"/>
          </a:p>
          <a:p>
            <a:pPr lvl="1"/>
            <a:endParaRPr lang="en-US" b="1" dirty="0"/>
          </a:p>
          <a:p>
            <a:pPr lvl="1"/>
            <a:r>
              <a:rPr lang="en-US" b="1" dirty="0"/>
              <a:t>Example: </a:t>
            </a:r>
            <a:endParaRPr lang="en-US" dirty="0"/>
          </a:p>
        </p:txBody>
      </p:sp>
      <p:pic>
        <p:nvPicPr>
          <p:cNvPr id="5" name="Picture 4">
            <a:extLst>
              <a:ext uri="{FF2B5EF4-FFF2-40B4-BE49-F238E27FC236}">
                <a16:creationId xmlns:a16="http://schemas.microsoft.com/office/drawing/2014/main" id="{237DB2B0-53E9-3547-0A97-9F12290329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1851" y="3886200"/>
            <a:ext cx="5112430" cy="2520042"/>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A5C04C50-7948-2DE1-AFB3-D11303F6C5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2093" y="2497574"/>
            <a:ext cx="5613489" cy="10731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2140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34370" y="471385"/>
            <a:ext cx="11237580" cy="561385"/>
          </a:xfrm>
          <a:prstGeom prst="rect">
            <a:avLst/>
          </a:prstGeom>
        </p:spPr>
        <p:txBody>
          <a:bodyPr vert="horz" wrap="square" lIns="0" tIns="7316" rIns="0" bIns="0" rtlCol="0" anchor="b">
            <a:spAutoFit/>
          </a:bodyPr>
          <a:lstStyle/>
          <a:p>
            <a:pPr marL="7701">
              <a:lnSpc>
                <a:spcPct val="100000"/>
              </a:lnSpc>
              <a:spcBef>
                <a:spcPts val="58"/>
              </a:spcBef>
              <a:tabLst>
                <a:tab pos="1534865" algn="l"/>
                <a:tab pos="2742426" algn="l"/>
                <a:tab pos="3012356" algn="l"/>
                <a:tab pos="4495237" algn="l"/>
                <a:tab pos="5863755" algn="l"/>
              </a:tabLst>
            </a:pPr>
            <a:r>
              <a:rPr dirty="0"/>
              <a:t>3</a:t>
            </a:r>
            <a:r>
              <a:rPr lang="en-US" dirty="0"/>
              <a:t> Different function types</a:t>
            </a:r>
            <a:endParaRPr dirty="0"/>
          </a:p>
        </p:txBody>
      </p:sp>
      <p:pic>
        <p:nvPicPr>
          <p:cNvPr id="4" name="object 4"/>
          <p:cNvPicPr/>
          <p:nvPr/>
        </p:nvPicPr>
        <p:blipFill>
          <a:blip r:embed="rId2" cstate="print"/>
          <a:stretch>
            <a:fillRect/>
          </a:stretch>
        </p:blipFill>
        <p:spPr>
          <a:xfrm>
            <a:off x="5067770" y="1576334"/>
            <a:ext cx="6457293" cy="3275437"/>
          </a:xfrm>
          <a:prstGeom prst="rect">
            <a:avLst/>
          </a:prstGeom>
        </p:spPr>
      </p:pic>
      <p:pic>
        <p:nvPicPr>
          <p:cNvPr id="5" name="object 5"/>
          <p:cNvPicPr/>
          <p:nvPr/>
        </p:nvPicPr>
        <p:blipFill>
          <a:blip r:embed="rId3" cstate="print"/>
          <a:stretch>
            <a:fillRect/>
          </a:stretch>
        </p:blipFill>
        <p:spPr>
          <a:xfrm>
            <a:off x="634768" y="1533474"/>
            <a:ext cx="203186" cy="203186"/>
          </a:xfrm>
          <a:prstGeom prst="rect">
            <a:avLst/>
          </a:prstGeom>
        </p:spPr>
      </p:pic>
      <p:grpSp>
        <p:nvGrpSpPr>
          <p:cNvPr id="6" name="object 6"/>
          <p:cNvGrpSpPr/>
          <p:nvPr/>
        </p:nvGrpSpPr>
        <p:grpSpPr>
          <a:xfrm>
            <a:off x="3301306" y="1657619"/>
            <a:ext cx="1542569" cy="437433"/>
            <a:chOff x="5443393" y="2733536"/>
            <a:chExt cx="2543810" cy="721360"/>
          </a:xfrm>
        </p:grpSpPr>
        <p:sp>
          <p:nvSpPr>
            <p:cNvPr id="7" name="object 7"/>
            <p:cNvSpPr/>
            <p:nvPr/>
          </p:nvSpPr>
          <p:spPr>
            <a:xfrm>
              <a:off x="5474805" y="2764949"/>
              <a:ext cx="2299335" cy="575945"/>
            </a:xfrm>
            <a:custGeom>
              <a:avLst/>
              <a:gdLst/>
              <a:ahLst/>
              <a:cxnLst/>
              <a:rect l="l" t="t" r="r" b="b"/>
              <a:pathLst>
                <a:path w="2299334" h="575945">
                  <a:moveTo>
                    <a:pt x="0" y="0"/>
                  </a:moveTo>
                  <a:lnTo>
                    <a:pt x="2268434" y="567972"/>
                  </a:lnTo>
                  <a:lnTo>
                    <a:pt x="2298942" y="575615"/>
                  </a:lnTo>
                </a:path>
              </a:pathLst>
            </a:custGeom>
            <a:ln w="62825">
              <a:solidFill>
                <a:srgbClr val="F2425D"/>
              </a:solidFill>
            </a:ln>
          </p:spPr>
          <p:txBody>
            <a:bodyPr wrap="square" lIns="0" tIns="0" rIns="0" bIns="0" rtlCol="0"/>
            <a:lstStyle/>
            <a:p>
              <a:endParaRPr sz="1092"/>
            </a:p>
          </p:txBody>
        </p:sp>
        <p:sp>
          <p:nvSpPr>
            <p:cNvPr id="8" name="object 8"/>
            <p:cNvSpPr/>
            <p:nvPr/>
          </p:nvSpPr>
          <p:spPr>
            <a:xfrm>
              <a:off x="7712760" y="3211047"/>
              <a:ext cx="274320" cy="243840"/>
            </a:xfrm>
            <a:custGeom>
              <a:avLst/>
              <a:gdLst/>
              <a:ahLst/>
              <a:cxnLst/>
              <a:rect l="l" t="t" r="r" b="b"/>
              <a:pathLst>
                <a:path w="274320" h="243839">
                  <a:moveTo>
                    <a:pt x="61031" y="0"/>
                  </a:moveTo>
                  <a:lnTo>
                    <a:pt x="0" y="243776"/>
                  </a:lnTo>
                  <a:lnTo>
                    <a:pt x="274293" y="182921"/>
                  </a:lnTo>
                  <a:lnTo>
                    <a:pt x="61031" y="0"/>
                  </a:lnTo>
                  <a:close/>
                </a:path>
              </a:pathLst>
            </a:custGeom>
            <a:solidFill>
              <a:srgbClr val="F2425D"/>
            </a:solidFill>
          </p:spPr>
          <p:txBody>
            <a:bodyPr wrap="square" lIns="0" tIns="0" rIns="0" bIns="0" rtlCol="0"/>
            <a:lstStyle/>
            <a:p>
              <a:endParaRPr sz="1092"/>
            </a:p>
          </p:txBody>
        </p:sp>
      </p:grpSp>
      <p:sp>
        <p:nvSpPr>
          <p:cNvPr id="9" name="object 9"/>
          <p:cNvSpPr txBox="1"/>
          <p:nvPr/>
        </p:nvSpPr>
        <p:spPr>
          <a:xfrm>
            <a:off x="963593" y="1496370"/>
            <a:ext cx="2130947" cy="923295"/>
          </a:xfrm>
          <a:prstGeom prst="rect">
            <a:avLst/>
          </a:prstGeom>
        </p:spPr>
        <p:txBody>
          <a:bodyPr vert="horz" wrap="square" lIns="0" tIns="8856" rIns="0" bIns="0" rtlCol="0">
            <a:spAutoFit/>
          </a:bodyPr>
          <a:lstStyle/>
          <a:p>
            <a:pPr marL="7701">
              <a:spcBef>
                <a:spcPts val="69"/>
              </a:spcBef>
            </a:pPr>
            <a:r>
              <a:rPr sz="1789" b="1" spc="-64" dirty="0">
                <a:solidFill>
                  <a:srgbClr val="444444"/>
                </a:solidFill>
                <a:latin typeface="Arial"/>
                <a:cs typeface="Arial"/>
              </a:rPr>
              <a:t>Function</a:t>
            </a:r>
            <a:r>
              <a:rPr sz="1789" b="1" spc="-39" dirty="0">
                <a:solidFill>
                  <a:srgbClr val="444444"/>
                </a:solidFill>
                <a:latin typeface="Arial"/>
                <a:cs typeface="Arial"/>
              </a:rPr>
              <a:t> </a:t>
            </a:r>
            <a:r>
              <a:rPr sz="1789" b="1" spc="-36" dirty="0">
                <a:solidFill>
                  <a:srgbClr val="444444"/>
                </a:solidFill>
                <a:latin typeface="Arial"/>
                <a:cs typeface="Arial"/>
              </a:rPr>
              <a:t>declaration</a:t>
            </a:r>
            <a:endParaRPr sz="1789">
              <a:latin typeface="Arial"/>
              <a:cs typeface="Arial"/>
            </a:endParaRPr>
          </a:p>
          <a:p>
            <a:pPr marL="25414" marR="14632">
              <a:lnSpc>
                <a:spcPct val="120300"/>
              </a:lnSpc>
              <a:spcBef>
                <a:spcPts val="885"/>
              </a:spcBef>
            </a:pPr>
            <a:r>
              <a:rPr sz="1486" spc="27" dirty="0">
                <a:solidFill>
                  <a:srgbClr val="444444"/>
                </a:solidFill>
                <a:latin typeface="Arial"/>
                <a:cs typeface="Arial"/>
              </a:rPr>
              <a:t>Function</a:t>
            </a:r>
            <a:r>
              <a:rPr sz="1486" spc="-12" dirty="0">
                <a:solidFill>
                  <a:srgbClr val="444444"/>
                </a:solidFill>
                <a:latin typeface="Arial"/>
                <a:cs typeface="Arial"/>
              </a:rPr>
              <a:t> </a:t>
            </a:r>
            <a:r>
              <a:rPr sz="1486" spc="55" dirty="0">
                <a:solidFill>
                  <a:srgbClr val="444444"/>
                </a:solidFill>
                <a:latin typeface="Arial"/>
                <a:cs typeface="Arial"/>
              </a:rPr>
              <a:t>that</a:t>
            </a:r>
            <a:r>
              <a:rPr sz="1486" spc="-9" dirty="0">
                <a:solidFill>
                  <a:srgbClr val="444444"/>
                </a:solidFill>
                <a:latin typeface="Arial"/>
                <a:cs typeface="Arial"/>
              </a:rPr>
              <a:t> </a:t>
            </a:r>
            <a:r>
              <a:rPr sz="1486" dirty="0">
                <a:solidFill>
                  <a:srgbClr val="444444"/>
                </a:solidFill>
                <a:latin typeface="Arial"/>
                <a:cs typeface="Arial"/>
              </a:rPr>
              <a:t>can</a:t>
            </a:r>
            <a:r>
              <a:rPr sz="1486" spc="-12" dirty="0">
                <a:solidFill>
                  <a:srgbClr val="444444"/>
                </a:solidFill>
                <a:latin typeface="Arial"/>
                <a:cs typeface="Arial"/>
              </a:rPr>
              <a:t> </a:t>
            </a:r>
            <a:r>
              <a:rPr sz="1486" spc="-15" dirty="0">
                <a:solidFill>
                  <a:srgbClr val="444444"/>
                </a:solidFill>
                <a:latin typeface="Arial"/>
                <a:cs typeface="Arial"/>
              </a:rPr>
              <a:t>be </a:t>
            </a:r>
            <a:r>
              <a:rPr sz="1486" dirty="0">
                <a:solidFill>
                  <a:srgbClr val="444444"/>
                </a:solidFill>
                <a:latin typeface="Arial"/>
                <a:cs typeface="Arial"/>
              </a:rPr>
              <a:t>used</a:t>
            </a:r>
            <a:r>
              <a:rPr sz="1486" spc="21" dirty="0">
                <a:solidFill>
                  <a:srgbClr val="444444"/>
                </a:solidFill>
                <a:latin typeface="Arial"/>
                <a:cs typeface="Arial"/>
              </a:rPr>
              <a:t> </a:t>
            </a:r>
            <a:r>
              <a:rPr sz="1486" dirty="0">
                <a:solidFill>
                  <a:srgbClr val="444444"/>
                </a:solidFill>
                <a:latin typeface="Arial"/>
                <a:cs typeface="Arial"/>
              </a:rPr>
              <a:t>before</a:t>
            </a:r>
            <a:r>
              <a:rPr sz="1486" spc="24" dirty="0">
                <a:solidFill>
                  <a:srgbClr val="444444"/>
                </a:solidFill>
                <a:latin typeface="Arial"/>
                <a:cs typeface="Arial"/>
              </a:rPr>
              <a:t> </a:t>
            </a:r>
            <a:r>
              <a:rPr sz="1486" dirty="0">
                <a:solidFill>
                  <a:srgbClr val="444444"/>
                </a:solidFill>
                <a:latin typeface="Arial"/>
                <a:cs typeface="Arial"/>
              </a:rPr>
              <a:t>it’s</a:t>
            </a:r>
            <a:r>
              <a:rPr sz="1486" spc="27" dirty="0">
                <a:solidFill>
                  <a:srgbClr val="444444"/>
                </a:solidFill>
                <a:latin typeface="Arial"/>
                <a:cs typeface="Arial"/>
              </a:rPr>
              <a:t> </a:t>
            </a:r>
            <a:r>
              <a:rPr sz="1486" spc="-6" dirty="0">
                <a:solidFill>
                  <a:srgbClr val="444444"/>
                </a:solidFill>
                <a:latin typeface="Arial"/>
                <a:cs typeface="Arial"/>
              </a:rPr>
              <a:t>declared</a:t>
            </a:r>
            <a:endParaRPr sz="1486">
              <a:latin typeface="Arial"/>
              <a:cs typeface="Arial"/>
            </a:endParaRPr>
          </a:p>
        </p:txBody>
      </p:sp>
      <p:pic>
        <p:nvPicPr>
          <p:cNvPr id="10" name="object 10"/>
          <p:cNvPicPr/>
          <p:nvPr/>
        </p:nvPicPr>
        <p:blipFill>
          <a:blip r:embed="rId3" cstate="print"/>
          <a:stretch>
            <a:fillRect/>
          </a:stretch>
        </p:blipFill>
        <p:spPr>
          <a:xfrm>
            <a:off x="634768" y="3124135"/>
            <a:ext cx="203186" cy="203186"/>
          </a:xfrm>
          <a:prstGeom prst="rect">
            <a:avLst/>
          </a:prstGeom>
        </p:spPr>
      </p:pic>
      <p:sp>
        <p:nvSpPr>
          <p:cNvPr id="11" name="object 11"/>
          <p:cNvSpPr txBox="1"/>
          <p:nvPr/>
        </p:nvSpPr>
        <p:spPr>
          <a:xfrm>
            <a:off x="963594" y="3087031"/>
            <a:ext cx="2135183" cy="946763"/>
          </a:xfrm>
          <a:prstGeom prst="rect">
            <a:avLst/>
          </a:prstGeom>
        </p:spPr>
        <p:txBody>
          <a:bodyPr vert="horz" wrap="square" lIns="0" tIns="8856" rIns="0" bIns="0" rtlCol="0">
            <a:spAutoFit/>
          </a:bodyPr>
          <a:lstStyle/>
          <a:p>
            <a:pPr marL="7701">
              <a:spcBef>
                <a:spcPts val="69"/>
              </a:spcBef>
            </a:pPr>
            <a:r>
              <a:rPr sz="1789" b="1" spc="-64" dirty="0">
                <a:solidFill>
                  <a:srgbClr val="444444"/>
                </a:solidFill>
                <a:latin typeface="Arial"/>
                <a:cs typeface="Arial"/>
              </a:rPr>
              <a:t>Function</a:t>
            </a:r>
            <a:r>
              <a:rPr sz="1789" b="1" spc="-36" dirty="0">
                <a:solidFill>
                  <a:srgbClr val="444444"/>
                </a:solidFill>
                <a:latin typeface="Arial"/>
                <a:cs typeface="Arial"/>
              </a:rPr>
              <a:t> </a:t>
            </a:r>
            <a:r>
              <a:rPr sz="1789" b="1" spc="-27" dirty="0">
                <a:solidFill>
                  <a:srgbClr val="444444"/>
                </a:solidFill>
                <a:latin typeface="Arial"/>
                <a:cs typeface="Arial"/>
              </a:rPr>
              <a:t>expression</a:t>
            </a:r>
            <a:endParaRPr sz="1789">
              <a:latin typeface="Arial"/>
              <a:cs typeface="Arial"/>
            </a:endParaRPr>
          </a:p>
          <a:p>
            <a:pPr marL="25414">
              <a:spcBef>
                <a:spcPts val="1249"/>
              </a:spcBef>
            </a:pPr>
            <a:r>
              <a:rPr sz="1486" dirty="0">
                <a:solidFill>
                  <a:srgbClr val="444444"/>
                </a:solidFill>
                <a:latin typeface="Arial"/>
                <a:cs typeface="Arial"/>
              </a:rPr>
              <a:t>Essentially</a:t>
            </a:r>
            <a:r>
              <a:rPr sz="1486" spc="36" dirty="0">
                <a:solidFill>
                  <a:srgbClr val="444444"/>
                </a:solidFill>
                <a:latin typeface="Arial"/>
                <a:cs typeface="Arial"/>
              </a:rPr>
              <a:t> </a:t>
            </a:r>
            <a:r>
              <a:rPr sz="1486" dirty="0">
                <a:solidFill>
                  <a:srgbClr val="444444"/>
                </a:solidFill>
                <a:latin typeface="Arial"/>
                <a:cs typeface="Arial"/>
              </a:rPr>
              <a:t>a</a:t>
            </a:r>
            <a:r>
              <a:rPr sz="1486" spc="36" dirty="0">
                <a:solidFill>
                  <a:srgbClr val="444444"/>
                </a:solidFill>
                <a:latin typeface="Arial"/>
                <a:cs typeface="Arial"/>
              </a:rPr>
              <a:t> </a:t>
            </a:r>
            <a:r>
              <a:rPr sz="1486" spc="42" dirty="0">
                <a:solidFill>
                  <a:srgbClr val="444444"/>
                </a:solidFill>
                <a:latin typeface="Arial"/>
                <a:cs typeface="Arial"/>
              </a:rPr>
              <a:t>function</a:t>
            </a:r>
            <a:endParaRPr sz="1486">
              <a:latin typeface="Arial"/>
              <a:cs typeface="Arial"/>
            </a:endParaRPr>
          </a:p>
          <a:p>
            <a:pPr marL="25414">
              <a:spcBef>
                <a:spcPts val="361"/>
              </a:spcBef>
            </a:pPr>
            <a:r>
              <a:rPr sz="1486" i="1" spc="-36" dirty="0">
                <a:solidFill>
                  <a:srgbClr val="444444"/>
                </a:solidFill>
                <a:latin typeface="Arial"/>
                <a:cs typeface="Arial"/>
              </a:rPr>
              <a:t>value</a:t>
            </a:r>
            <a:r>
              <a:rPr sz="1486" i="1" spc="-9" dirty="0">
                <a:solidFill>
                  <a:srgbClr val="444444"/>
                </a:solidFill>
                <a:latin typeface="Arial"/>
                <a:cs typeface="Arial"/>
              </a:rPr>
              <a:t> </a:t>
            </a:r>
            <a:r>
              <a:rPr sz="1486" dirty="0">
                <a:solidFill>
                  <a:srgbClr val="444444"/>
                </a:solidFill>
                <a:latin typeface="Arial"/>
                <a:cs typeface="Arial"/>
              </a:rPr>
              <a:t>stored</a:t>
            </a:r>
            <a:r>
              <a:rPr sz="1486" spc="-6" dirty="0">
                <a:solidFill>
                  <a:srgbClr val="444444"/>
                </a:solidFill>
                <a:latin typeface="Arial"/>
                <a:cs typeface="Arial"/>
              </a:rPr>
              <a:t> </a:t>
            </a:r>
            <a:r>
              <a:rPr sz="1486" spc="30" dirty="0">
                <a:solidFill>
                  <a:srgbClr val="444444"/>
                </a:solidFill>
                <a:latin typeface="Arial"/>
                <a:cs typeface="Arial"/>
              </a:rPr>
              <a:t>in</a:t>
            </a:r>
            <a:r>
              <a:rPr sz="1486" spc="-9" dirty="0">
                <a:solidFill>
                  <a:srgbClr val="444444"/>
                </a:solidFill>
                <a:latin typeface="Arial"/>
                <a:cs typeface="Arial"/>
              </a:rPr>
              <a:t> </a:t>
            </a:r>
            <a:r>
              <a:rPr sz="1486" dirty="0">
                <a:solidFill>
                  <a:srgbClr val="444444"/>
                </a:solidFill>
                <a:latin typeface="Arial"/>
                <a:cs typeface="Arial"/>
              </a:rPr>
              <a:t>a</a:t>
            </a:r>
            <a:r>
              <a:rPr sz="1486" spc="-6" dirty="0">
                <a:solidFill>
                  <a:srgbClr val="444444"/>
                </a:solidFill>
                <a:latin typeface="Arial"/>
                <a:cs typeface="Arial"/>
              </a:rPr>
              <a:t> variable</a:t>
            </a:r>
            <a:endParaRPr sz="1486">
              <a:latin typeface="Arial"/>
              <a:cs typeface="Arial"/>
            </a:endParaRPr>
          </a:p>
        </p:txBody>
      </p:sp>
      <p:grpSp>
        <p:nvGrpSpPr>
          <p:cNvPr id="12" name="object 12"/>
          <p:cNvGrpSpPr/>
          <p:nvPr/>
        </p:nvGrpSpPr>
        <p:grpSpPr>
          <a:xfrm>
            <a:off x="3301327" y="3268435"/>
            <a:ext cx="1504832" cy="205239"/>
            <a:chOff x="5443427" y="5389890"/>
            <a:chExt cx="2481580" cy="338455"/>
          </a:xfrm>
        </p:grpSpPr>
        <p:sp>
          <p:nvSpPr>
            <p:cNvPr id="13" name="object 13"/>
            <p:cNvSpPr/>
            <p:nvPr/>
          </p:nvSpPr>
          <p:spPr>
            <a:xfrm>
              <a:off x="5474839" y="5421303"/>
              <a:ext cx="2230755" cy="184785"/>
            </a:xfrm>
            <a:custGeom>
              <a:avLst/>
              <a:gdLst/>
              <a:ahLst/>
              <a:cxnLst/>
              <a:rect l="l" t="t" r="r" b="b"/>
              <a:pathLst>
                <a:path w="2230754" h="184785">
                  <a:moveTo>
                    <a:pt x="0" y="0"/>
                  </a:moveTo>
                  <a:lnTo>
                    <a:pt x="2199290" y="181623"/>
                  </a:lnTo>
                  <a:lnTo>
                    <a:pt x="2230601" y="184209"/>
                  </a:lnTo>
                </a:path>
              </a:pathLst>
            </a:custGeom>
            <a:ln w="62825">
              <a:solidFill>
                <a:srgbClr val="F2425D"/>
              </a:solidFill>
            </a:ln>
          </p:spPr>
          <p:txBody>
            <a:bodyPr wrap="square" lIns="0" tIns="0" rIns="0" bIns="0" rtlCol="0"/>
            <a:lstStyle/>
            <a:p>
              <a:endParaRPr sz="1092"/>
            </a:p>
          </p:txBody>
        </p:sp>
        <p:sp>
          <p:nvSpPr>
            <p:cNvPr id="14" name="object 14"/>
            <p:cNvSpPr/>
            <p:nvPr/>
          </p:nvSpPr>
          <p:spPr>
            <a:xfrm>
              <a:off x="7663794" y="5477703"/>
              <a:ext cx="260985" cy="250825"/>
            </a:xfrm>
            <a:custGeom>
              <a:avLst/>
              <a:gdLst/>
              <a:ahLst/>
              <a:cxnLst/>
              <a:rect l="l" t="t" r="r" b="b"/>
              <a:pathLst>
                <a:path w="260984" h="250825">
                  <a:moveTo>
                    <a:pt x="20682" y="0"/>
                  </a:moveTo>
                  <a:lnTo>
                    <a:pt x="0" y="250448"/>
                  </a:lnTo>
                  <a:lnTo>
                    <a:pt x="260788" y="145906"/>
                  </a:lnTo>
                  <a:lnTo>
                    <a:pt x="20682" y="0"/>
                  </a:lnTo>
                  <a:close/>
                </a:path>
              </a:pathLst>
            </a:custGeom>
            <a:solidFill>
              <a:srgbClr val="F2425D"/>
            </a:solidFill>
          </p:spPr>
          <p:txBody>
            <a:bodyPr wrap="square" lIns="0" tIns="0" rIns="0" bIns="0" rtlCol="0"/>
            <a:lstStyle/>
            <a:p>
              <a:endParaRPr sz="1092"/>
            </a:p>
          </p:txBody>
        </p:sp>
      </p:grpSp>
      <p:pic>
        <p:nvPicPr>
          <p:cNvPr id="15" name="object 15"/>
          <p:cNvPicPr/>
          <p:nvPr/>
        </p:nvPicPr>
        <p:blipFill>
          <a:blip r:embed="rId3" cstate="print"/>
          <a:stretch>
            <a:fillRect/>
          </a:stretch>
        </p:blipFill>
        <p:spPr>
          <a:xfrm>
            <a:off x="634370" y="4714797"/>
            <a:ext cx="203186" cy="203186"/>
          </a:xfrm>
          <a:prstGeom prst="rect">
            <a:avLst/>
          </a:prstGeom>
        </p:spPr>
      </p:pic>
      <p:sp>
        <p:nvSpPr>
          <p:cNvPr id="16" name="object 16"/>
          <p:cNvSpPr txBox="1"/>
          <p:nvPr/>
        </p:nvSpPr>
        <p:spPr>
          <a:xfrm>
            <a:off x="963196" y="4677692"/>
            <a:ext cx="2169454" cy="1197666"/>
          </a:xfrm>
          <a:prstGeom prst="rect">
            <a:avLst/>
          </a:prstGeom>
        </p:spPr>
        <p:txBody>
          <a:bodyPr vert="horz" wrap="square" lIns="0" tIns="8856" rIns="0" bIns="0" rtlCol="0">
            <a:spAutoFit/>
          </a:bodyPr>
          <a:lstStyle/>
          <a:p>
            <a:pPr marL="7701">
              <a:spcBef>
                <a:spcPts val="69"/>
              </a:spcBef>
            </a:pPr>
            <a:r>
              <a:rPr sz="1789" b="1" spc="-94" dirty="0">
                <a:solidFill>
                  <a:srgbClr val="444444"/>
                </a:solidFill>
                <a:latin typeface="Arial"/>
                <a:cs typeface="Arial"/>
              </a:rPr>
              <a:t>Arrow</a:t>
            </a:r>
            <a:r>
              <a:rPr sz="1789" b="1" spc="-24" dirty="0">
                <a:solidFill>
                  <a:srgbClr val="444444"/>
                </a:solidFill>
                <a:latin typeface="Arial"/>
                <a:cs typeface="Arial"/>
              </a:rPr>
              <a:t> </a:t>
            </a:r>
            <a:r>
              <a:rPr sz="1789" b="1" spc="-6" dirty="0">
                <a:solidFill>
                  <a:srgbClr val="444444"/>
                </a:solidFill>
                <a:latin typeface="Arial"/>
                <a:cs typeface="Arial"/>
              </a:rPr>
              <a:t>function</a:t>
            </a:r>
            <a:endParaRPr sz="1789">
              <a:latin typeface="Arial"/>
              <a:cs typeface="Arial"/>
            </a:endParaRPr>
          </a:p>
          <a:p>
            <a:pPr marL="25414" marR="3081">
              <a:lnSpc>
                <a:spcPct val="120400"/>
              </a:lnSpc>
              <a:spcBef>
                <a:spcPts val="885"/>
              </a:spcBef>
            </a:pPr>
            <a:r>
              <a:rPr sz="1486" spc="-12" dirty="0">
                <a:solidFill>
                  <a:srgbClr val="444444"/>
                </a:solidFill>
                <a:latin typeface="Arial"/>
                <a:cs typeface="Arial"/>
              </a:rPr>
              <a:t>Great</a:t>
            </a:r>
            <a:r>
              <a:rPr sz="1486" spc="-45" dirty="0">
                <a:solidFill>
                  <a:srgbClr val="444444"/>
                </a:solidFill>
                <a:latin typeface="Arial"/>
                <a:cs typeface="Arial"/>
              </a:rPr>
              <a:t> </a:t>
            </a:r>
            <a:r>
              <a:rPr sz="1486" spc="45" dirty="0">
                <a:solidFill>
                  <a:srgbClr val="444444"/>
                </a:solidFill>
                <a:latin typeface="Arial"/>
                <a:cs typeface="Arial"/>
              </a:rPr>
              <a:t>for</a:t>
            </a:r>
            <a:r>
              <a:rPr sz="1486" spc="-45" dirty="0">
                <a:solidFill>
                  <a:srgbClr val="444444"/>
                </a:solidFill>
                <a:latin typeface="Arial"/>
                <a:cs typeface="Arial"/>
              </a:rPr>
              <a:t> </a:t>
            </a:r>
            <a:r>
              <a:rPr sz="1486" dirty="0">
                <a:solidFill>
                  <a:srgbClr val="444444"/>
                </a:solidFill>
                <a:latin typeface="Arial"/>
                <a:cs typeface="Arial"/>
              </a:rPr>
              <a:t>a</a:t>
            </a:r>
            <a:r>
              <a:rPr sz="1486" spc="-45" dirty="0">
                <a:solidFill>
                  <a:srgbClr val="444444"/>
                </a:solidFill>
                <a:latin typeface="Arial"/>
                <a:cs typeface="Arial"/>
              </a:rPr>
              <a:t> </a:t>
            </a:r>
            <a:r>
              <a:rPr sz="1486" spc="33" dirty="0">
                <a:solidFill>
                  <a:srgbClr val="444444"/>
                </a:solidFill>
                <a:latin typeface="Arial"/>
                <a:cs typeface="Arial"/>
              </a:rPr>
              <a:t>quick</a:t>
            </a:r>
            <a:r>
              <a:rPr sz="1486" spc="-45" dirty="0">
                <a:solidFill>
                  <a:srgbClr val="444444"/>
                </a:solidFill>
                <a:latin typeface="Arial"/>
                <a:cs typeface="Arial"/>
              </a:rPr>
              <a:t> </a:t>
            </a:r>
            <a:r>
              <a:rPr sz="1486" spc="-24" dirty="0">
                <a:solidFill>
                  <a:srgbClr val="444444"/>
                </a:solidFill>
                <a:latin typeface="Arial"/>
                <a:cs typeface="Arial"/>
              </a:rPr>
              <a:t>one-</a:t>
            </a:r>
            <a:r>
              <a:rPr sz="1486" spc="-12" dirty="0">
                <a:solidFill>
                  <a:srgbClr val="444444"/>
                </a:solidFill>
                <a:latin typeface="Arial"/>
                <a:cs typeface="Arial"/>
              </a:rPr>
              <a:t>line </a:t>
            </a:r>
            <a:r>
              <a:rPr sz="1486" spc="39" dirty="0">
                <a:solidFill>
                  <a:srgbClr val="444444"/>
                </a:solidFill>
                <a:latin typeface="Arial"/>
                <a:cs typeface="Arial"/>
              </a:rPr>
              <a:t>functions.</a:t>
            </a:r>
            <a:r>
              <a:rPr sz="1486" spc="-12" dirty="0">
                <a:solidFill>
                  <a:srgbClr val="444444"/>
                </a:solidFill>
                <a:latin typeface="Arial"/>
                <a:cs typeface="Arial"/>
              </a:rPr>
              <a:t> </a:t>
            </a:r>
            <a:r>
              <a:rPr sz="1486" dirty="0">
                <a:solidFill>
                  <a:srgbClr val="444444"/>
                </a:solidFill>
                <a:latin typeface="Arial"/>
                <a:cs typeface="Arial"/>
              </a:rPr>
              <a:t>Has</a:t>
            </a:r>
            <a:r>
              <a:rPr sz="1486" spc="-12" dirty="0">
                <a:solidFill>
                  <a:srgbClr val="444444"/>
                </a:solidFill>
                <a:latin typeface="Arial"/>
                <a:cs typeface="Arial"/>
              </a:rPr>
              <a:t> </a:t>
            </a:r>
            <a:r>
              <a:rPr sz="1486" dirty="0">
                <a:solidFill>
                  <a:srgbClr val="444444"/>
                </a:solidFill>
                <a:latin typeface="Arial"/>
                <a:cs typeface="Arial"/>
              </a:rPr>
              <a:t>no</a:t>
            </a:r>
            <a:r>
              <a:rPr sz="1486" spc="-9" dirty="0">
                <a:solidFill>
                  <a:srgbClr val="444444"/>
                </a:solidFill>
                <a:latin typeface="Arial"/>
                <a:cs typeface="Arial"/>
              </a:rPr>
              <a:t> </a:t>
            </a:r>
            <a:r>
              <a:rPr sz="1486" spc="-12" dirty="0">
                <a:solidFill>
                  <a:srgbClr val="444444"/>
                </a:solidFill>
                <a:latin typeface="Courier New"/>
                <a:cs typeface="Courier New"/>
              </a:rPr>
              <a:t>this </a:t>
            </a:r>
            <a:r>
              <a:rPr sz="1486" dirty="0">
                <a:solidFill>
                  <a:srgbClr val="444444"/>
                </a:solidFill>
                <a:latin typeface="Arial"/>
                <a:cs typeface="Arial"/>
              </a:rPr>
              <a:t>keyword</a:t>
            </a:r>
            <a:r>
              <a:rPr sz="1486" spc="-3" dirty="0">
                <a:solidFill>
                  <a:srgbClr val="444444"/>
                </a:solidFill>
                <a:latin typeface="Arial"/>
                <a:cs typeface="Arial"/>
              </a:rPr>
              <a:t> </a:t>
            </a:r>
            <a:r>
              <a:rPr sz="1486" dirty="0">
                <a:solidFill>
                  <a:srgbClr val="444444"/>
                </a:solidFill>
                <a:latin typeface="Arial"/>
                <a:cs typeface="Arial"/>
              </a:rPr>
              <a:t>(more</a:t>
            </a:r>
            <a:r>
              <a:rPr sz="1486" spc="6" dirty="0">
                <a:solidFill>
                  <a:srgbClr val="444444"/>
                </a:solidFill>
                <a:latin typeface="Arial"/>
                <a:cs typeface="Arial"/>
              </a:rPr>
              <a:t> </a:t>
            </a:r>
            <a:r>
              <a:rPr sz="1486" spc="-6" dirty="0">
                <a:solidFill>
                  <a:srgbClr val="444444"/>
                </a:solidFill>
                <a:latin typeface="Arial"/>
                <a:cs typeface="Arial"/>
              </a:rPr>
              <a:t>later...)</a:t>
            </a:r>
            <a:endParaRPr sz="1486">
              <a:latin typeface="Arial"/>
              <a:cs typeface="Arial"/>
            </a:endParaRPr>
          </a:p>
        </p:txBody>
      </p:sp>
      <p:grpSp>
        <p:nvGrpSpPr>
          <p:cNvPr id="17" name="object 17"/>
          <p:cNvGrpSpPr/>
          <p:nvPr/>
        </p:nvGrpSpPr>
        <p:grpSpPr>
          <a:xfrm>
            <a:off x="2961407" y="4437794"/>
            <a:ext cx="1880270" cy="403933"/>
            <a:chOff x="4882873" y="7318250"/>
            <a:chExt cx="3100705" cy="666115"/>
          </a:xfrm>
        </p:grpSpPr>
        <p:sp>
          <p:nvSpPr>
            <p:cNvPr id="18" name="object 18"/>
            <p:cNvSpPr/>
            <p:nvPr/>
          </p:nvSpPr>
          <p:spPr>
            <a:xfrm>
              <a:off x="4914285" y="7436300"/>
              <a:ext cx="2852420" cy="516255"/>
            </a:xfrm>
            <a:custGeom>
              <a:avLst/>
              <a:gdLst/>
              <a:ahLst/>
              <a:cxnLst/>
              <a:rect l="l" t="t" r="r" b="b"/>
              <a:pathLst>
                <a:path w="2852420" h="516254">
                  <a:moveTo>
                    <a:pt x="0" y="516161"/>
                  </a:moveTo>
                  <a:lnTo>
                    <a:pt x="2821442" y="5600"/>
                  </a:lnTo>
                  <a:lnTo>
                    <a:pt x="2852374" y="0"/>
                  </a:lnTo>
                </a:path>
              </a:pathLst>
            </a:custGeom>
            <a:ln w="62825">
              <a:solidFill>
                <a:srgbClr val="F2425D"/>
              </a:solidFill>
            </a:ln>
          </p:spPr>
          <p:txBody>
            <a:bodyPr wrap="square" lIns="0" tIns="0" rIns="0" bIns="0" rtlCol="0"/>
            <a:lstStyle/>
            <a:p>
              <a:endParaRPr sz="1092"/>
            </a:p>
          </p:txBody>
        </p:sp>
        <p:sp>
          <p:nvSpPr>
            <p:cNvPr id="19" name="object 19"/>
            <p:cNvSpPr/>
            <p:nvPr/>
          </p:nvSpPr>
          <p:spPr>
            <a:xfrm>
              <a:off x="7713377" y="7318250"/>
              <a:ext cx="269875" cy="247650"/>
            </a:xfrm>
            <a:custGeom>
              <a:avLst/>
              <a:gdLst/>
              <a:ahLst/>
              <a:cxnLst/>
              <a:rect l="l" t="t" r="r" b="b"/>
              <a:pathLst>
                <a:path w="269875" h="247650">
                  <a:moveTo>
                    <a:pt x="0" y="0"/>
                  </a:moveTo>
                  <a:lnTo>
                    <a:pt x="44744" y="247286"/>
                  </a:lnTo>
                  <a:lnTo>
                    <a:pt x="269657" y="78899"/>
                  </a:lnTo>
                  <a:lnTo>
                    <a:pt x="0" y="0"/>
                  </a:lnTo>
                  <a:close/>
                </a:path>
              </a:pathLst>
            </a:custGeom>
            <a:solidFill>
              <a:srgbClr val="F2425D"/>
            </a:solidFill>
          </p:spPr>
          <p:txBody>
            <a:bodyPr wrap="square" lIns="0" tIns="0" rIns="0" bIns="0" rtlCol="0"/>
            <a:lstStyle/>
            <a:p>
              <a:endParaRPr sz="1092"/>
            </a:p>
          </p:txBody>
        </p:sp>
      </p:grpSp>
      <p:grpSp>
        <p:nvGrpSpPr>
          <p:cNvPr id="20" name="object 20"/>
          <p:cNvGrpSpPr/>
          <p:nvPr/>
        </p:nvGrpSpPr>
        <p:grpSpPr>
          <a:xfrm>
            <a:off x="4792710" y="5255245"/>
            <a:ext cx="7007790" cy="1134785"/>
            <a:chOff x="7902828" y="8666288"/>
            <a:chExt cx="11556365" cy="1871345"/>
          </a:xfrm>
        </p:grpSpPr>
        <p:sp>
          <p:nvSpPr>
            <p:cNvPr id="21" name="object 21"/>
            <p:cNvSpPr/>
            <p:nvPr/>
          </p:nvSpPr>
          <p:spPr>
            <a:xfrm>
              <a:off x="7902828" y="8666288"/>
              <a:ext cx="11556365" cy="1871345"/>
            </a:xfrm>
            <a:custGeom>
              <a:avLst/>
              <a:gdLst/>
              <a:ahLst/>
              <a:cxnLst/>
              <a:rect l="l" t="t" r="r" b="b"/>
              <a:pathLst>
                <a:path w="11556365" h="1871345">
                  <a:moveTo>
                    <a:pt x="11555742" y="0"/>
                  </a:moveTo>
                  <a:lnTo>
                    <a:pt x="0" y="0"/>
                  </a:lnTo>
                  <a:lnTo>
                    <a:pt x="0" y="1870777"/>
                  </a:lnTo>
                  <a:lnTo>
                    <a:pt x="11555742" y="1870777"/>
                  </a:lnTo>
                  <a:lnTo>
                    <a:pt x="11555742" y="0"/>
                  </a:lnTo>
                  <a:close/>
                </a:path>
              </a:pathLst>
            </a:custGeom>
            <a:solidFill>
              <a:srgbClr val="E7E7E7"/>
            </a:solidFill>
          </p:spPr>
          <p:txBody>
            <a:bodyPr wrap="square" lIns="0" tIns="0" rIns="0" bIns="0" rtlCol="0"/>
            <a:lstStyle/>
            <a:p>
              <a:endParaRPr sz="1092"/>
            </a:p>
          </p:txBody>
        </p:sp>
        <p:pic>
          <p:nvPicPr>
            <p:cNvPr id="22" name="object 22"/>
            <p:cNvPicPr/>
            <p:nvPr/>
          </p:nvPicPr>
          <p:blipFill>
            <a:blip r:embed="rId4" cstate="print"/>
            <a:stretch>
              <a:fillRect/>
            </a:stretch>
          </p:blipFill>
          <p:spPr>
            <a:xfrm>
              <a:off x="8473845" y="9160329"/>
              <a:ext cx="376951" cy="376951"/>
            </a:xfrm>
            <a:prstGeom prst="rect">
              <a:avLst/>
            </a:prstGeom>
          </p:spPr>
        </p:pic>
      </p:grpSp>
      <p:sp>
        <p:nvSpPr>
          <p:cNvPr id="23" name="object 23"/>
          <p:cNvSpPr txBox="1"/>
          <p:nvPr/>
        </p:nvSpPr>
        <p:spPr>
          <a:xfrm>
            <a:off x="4792710" y="5255245"/>
            <a:ext cx="7007790" cy="811453"/>
          </a:xfrm>
          <a:prstGeom prst="rect">
            <a:avLst/>
          </a:prstGeom>
        </p:spPr>
        <p:txBody>
          <a:bodyPr vert="horz" wrap="square" lIns="0" tIns="1155" rIns="0" bIns="0" rtlCol="0">
            <a:spAutoFit/>
          </a:bodyPr>
          <a:lstStyle/>
          <a:p>
            <a:pPr>
              <a:spcBef>
                <a:spcPts val="9"/>
              </a:spcBef>
            </a:pPr>
            <a:endParaRPr sz="1577" dirty="0">
              <a:latin typeface="Times New Roman"/>
              <a:cs typeface="Times New Roman"/>
            </a:endParaRPr>
          </a:p>
          <a:p>
            <a:pPr marL="758961" marR="371972">
              <a:lnSpc>
                <a:spcPct val="131200"/>
              </a:lnSpc>
            </a:pPr>
            <a:r>
              <a:rPr sz="1486" spc="-12" dirty="0">
                <a:solidFill>
                  <a:srgbClr val="444444"/>
                </a:solidFill>
                <a:latin typeface="Arial"/>
                <a:cs typeface="Arial"/>
              </a:rPr>
              <a:t>Three </a:t>
            </a:r>
            <a:r>
              <a:rPr sz="1486" spc="33" dirty="0">
                <a:solidFill>
                  <a:srgbClr val="444444"/>
                </a:solidFill>
                <a:latin typeface="Arial"/>
                <a:cs typeface="Arial"/>
              </a:rPr>
              <a:t>different</a:t>
            </a:r>
            <a:r>
              <a:rPr sz="1486" spc="-12" dirty="0">
                <a:solidFill>
                  <a:srgbClr val="444444"/>
                </a:solidFill>
                <a:latin typeface="Arial"/>
                <a:cs typeface="Arial"/>
              </a:rPr>
              <a:t> </a:t>
            </a:r>
            <a:r>
              <a:rPr sz="1486" dirty="0">
                <a:solidFill>
                  <a:srgbClr val="444444"/>
                </a:solidFill>
                <a:latin typeface="Arial"/>
                <a:cs typeface="Arial"/>
              </a:rPr>
              <a:t>ways</a:t>
            </a:r>
            <a:r>
              <a:rPr sz="1486" spc="-9" dirty="0">
                <a:solidFill>
                  <a:srgbClr val="444444"/>
                </a:solidFill>
                <a:latin typeface="Arial"/>
                <a:cs typeface="Arial"/>
              </a:rPr>
              <a:t> </a:t>
            </a:r>
            <a:r>
              <a:rPr sz="1486" spc="64" dirty="0">
                <a:solidFill>
                  <a:srgbClr val="444444"/>
                </a:solidFill>
                <a:latin typeface="Arial"/>
                <a:cs typeface="Arial"/>
              </a:rPr>
              <a:t>of</a:t>
            </a:r>
            <a:r>
              <a:rPr sz="1486" spc="-12" dirty="0">
                <a:solidFill>
                  <a:srgbClr val="444444"/>
                </a:solidFill>
                <a:latin typeface="Arial"/>
                <a:cs typeface="Arial"/>
              </a:rPr>
              <a:t> </a:t>
            </a:r>
            <a:r>
              <a:rPr sz="1486" spc="42" dirty="0">
                <a:solidFill>
                  <a:srgbClr val="444444"/>
                </a:solidFill>
                <a:latin typeface="Arial"/>
                <a:cs typeface="Arial"/>
              </a:rPr>
              <a:t>writing</a:t>
            </a:r>
            <a:r>
              <a:rPr sz="1486" spc="-12" dirty="0">
                <a:solidFill>
                  <a:srgbClr val="444444"/>
                </a:solidFill>
                <a:latin typeface="Arial"/>
                <a:cs typeface="Arial"/>
              </a:rPr>
              <a:t> </a:t>
            </a:r>
            <a:r>
              <a:rPr sz="1486" spc="30" dirty="0">
                <a:solidFill>
                  <a:srgbClr val="444444"/>
                </a:solidFill>
                <a:latin typeface="Arial"/>
                <a:cs typeface="Arial"/>
              </a:rPr>
              <a:t>functions,</a:t>
            </a:r>
            <a:r>
              <a:rPr sz="1486" spc="-9" dirty="0">
                <a:solidFill>
                  <a:srgbClr val="444444"/>
                </a:solidFill>
                <a:latin typeface="Arial"/>
                <a:cs typeface="Arial"/>
              </a:rPr>
              <a:t> </a:t>
            </a:r>
            <a:r>
              <a:rPr sz="1486" spc="49" dirty="0">
                <a:solidFill>
                  <a:srgbClr val="444444"/>
                </a:solidFill>
                <a:latin typeface="Arial"/>
                <a:cs typeface="Arial"/>
              </a:rPr>
              <a:t>but</a:t>
            </a:r>
            <a:r>
              <a:rPr sz="1486" spc="-12" dirty="0">
                <a:solidFill>
                  <a:srgbClr val="444444"/>
                </a:solidFill>
                <a:latin typeface="Arial"/>
                <a:cs typeface="Arial"/>
              </a:rPr>
              <a:t> </a:t>
            </a:r>
            <a:r>
              <a:rPr sz="1486" dirty="0">
                <a:solidFill>
                  <a:srgbClr val="444444"/>
                </a:solidFill>
                <a:latin typeface="Arial"/>
                <a:cs typeface="Arial"/>
              </a:rPr>
              <a:t>they</a:t>
            </a:r>
            <a:r>
              <a:rPr sz="1486" spc="-12" dirty="0">
                <a:solidFill>
                  <a:srgbClr val="444444"/>
                </a:solidFill>
                <a:latin typeface="Arial"/>
                <a:cs typeface="Arial"/>
              </a:rPr>
              <a:t> </a:t>
            </a:r>
            <a:r>
              <a:rPr sz="1486" dirty="0">
                <a:solidFill>
                  <a:srgbClr val="444444"/>
                </a:solidFill>
                <a:latin typeface="Arial"/>
                <a:cs typeface="Arial"/>
              </a:rPr>
              <a:t>all</a:t>
            </a:r>
            <a:r>
              <a:rPr sz="1486" spc="-9" dirty="0">
                <a:solidFill>
                  <a:srgbClr val="444444"/>
                </a:solidFill>
                <a:latin typeface="Arial"/>
                <a:cs typeface="Arial"/>
              </a:rPr>
              <a:t> </a:t>
            </a:r>
            <a:r>
              <a:rPr sz="1486" dirty="0">
                <a:solidFill>
                  <a:srgbClr val="444444"/>
                </a:solidFill>
                <a:latin typeface="Arial"/>
                <a:cs typeface="Arial"/>
              </a:rPr>
              <a:t>work</a:t>
            </a:r>
            <a:r>
              <a:rPr sz="1486" spc="-12" dirty="0">
                <a:solidFill>
                  <a:srgbClr val="444444"/>
                </a:solidFill>
                <a:latin typeface="Arial"/>
                <a:cs typeface="Arial"/>
              </a:rPr>
              <a:t> </a:t>
            </a:r>
            <a:r>
              <a:rPr sz="1486" spc="30" dirty="0">
                <a:solidFill>
                  <a:srgbClr val="444444"/>
                </a:solidFill>
                <a:latin typeface="Arial"/>
                <a:cs typeface="Arial"/>
              </a:rPr>
              <a:t>in</a:t>
            </a:r>
            <a:r>
              <a:rPr sz="1486" spc="-9" dirty="0">
                <a:solidFill>
                  <a:srgbClr val="444444"/>
                </a:solidFill>
                <a:latin typeface="Arial"/>
                <a:cs typeface="Arial"/>
              </a:rPr>
              <a:t> </a:t>
            </a:r>
            <a:r>
              <a:rPr sz="1486" spc="-30" dirty="0">
                <a:solidFill>
                  <a:srgbClr val="444444"/>
                </a:solidFill>
                <a:latin typeface="Arial"/>
                <a:cs typeface="Arial"/>
              </a:rPr>
              <a:t>a </a:t>
            </a:r>
            <a:r>
              <a:rPr sz="1486" spc="36" dirty="0">
                <a:solidFill>
                  <a:srgbClr val="444444"/>
                </a:solidFill>
                <a:latin typeface="Arial"/>
                <a:cs typeface="Arial"/>
              </a:rPr>
              <a:t>similar</a:t>
            </a:r>
            <a:r>
              <a:rPr sz="1486" spc="-39" dirty="0">
                <a:solidFill>
                  <a:srgbClr val="444444"/>
                </a:solidFill>
                <a:latin typeface="Arial"/>
                <a:cs typeface="Arial"/>
              </a:rPr>
              <a:t> </a:t>
            </a:r>
            <a:r>
              <a:rPr sz="1486" spc="-24" dirty="0">
                <a:solidFill>
                  <a:srgbClr val="444444"/>
                </a:solidFill>
                <a:latin typeface="Arial"/>
                <a:cs typeface="Arial"/>
              </a:rPr>
              <a:t>way:</a:t>
            </a:r>
            <a:r>
              <a:rPr sz="1486" spc="-36" dirty="0">
                <a:solidFill>
                  <a:srgbClr val="444444"/>
                </a:solidFill>
                <a:latin typeface="Arial"/>
                <a:cs typeface="Arial"/>
              </a:rPr>
              <a:t> </a:t>
            </a:r>
            <a:r>
              <a:rPr sz="1486" dirty="0">
                <a:solidFill>
                  <a:srgbClr val="444444"/>
                </a:solidFill>
                <a:latin typeface="Arial"/>
                <a:cs typeface="Arial"/>
              </a:rPr>
              <a:t>receive</a:t>
            </a:r>
            <a:r>
              <a:rPr sz="1486" spc="-39" dirty="0">
                <a:solidFill>
                  <a:srgbClr val="444444"/>
                </a:solidFill>
                <a:latin typeface="Arial"/>
                <a:cs typeface="Arial"/>
              </a:rPr>
              <a:t> </a:t>
            </a:r>
            <a:r>
              <a:rPr sz="1486" b="1" spc="-36" dirty="0">
                <a:solidFill>
                  <a:srgbClr val="444444"/>
                </a:solidFill>
                <a:latin typeface="Arial"/>
                <a:cs typeface="Arial"/>
              </a:rPr>
              <a:t>input </a:t>
            </a:r>
            <a:r>
              <a:rPr sz="1486" dirty="0">
                <a:solidFill>
                  <a:srgbClr val="444444"/>
                </a:solidFill>
                <a:latin typeface="Arial"/>
                <a:cs typeface="Arial"/>
              </a:rPr>
              <a:t>data,</a:t>
            </a:r>
            <a:r>
              <a:rPr sz="1486" spc="-33" dirty="0">
                <a:solidFill>
                  <a:srgbClr val="444444"/>
                </a:solidFill>
                <a:latin typeface="Arial"/>
                <a:cs typeface="Arial"/>
              </a:rPr>
              <a:t> </a:t>
            </a:r>
            <a:r>
              <a:rPr sz="1486" b="1" spc="-30" dirty="0">
                <a:solidFill>
                  <a:srgbClr val="444444"/>
                </a:solidFill>
                <a:latin typeface="Arial"/>
                <a:cs typeface="Arial"/>
              </a:rPr>
              <a:t>transform</a:t>
            </a:r>
            <a:r>
              <a:rPr sz="1486" b="1" spc="-39" dirty="0">
                <a:solidFill>
                  <a:srgbClr val="444444"/>
                </a:solidFill>
                <a:latin typeface="Arial"/>
                <a:cs typeface="Arial"/>
              </a:rPr>
              <a:t> </a:t>
            </a:r>
            <a:r>
              <a:rPr sz="1486" dirty="0">
                <a:solidFill>
                  <a:srgbClr val="444444"/>
                </a:solidFill>
                <a:latin typeface="Arial"/>
                <a:cs typeface="Arial"/>
              </a:rPr>
              <a:t>data,</a:t>
            </a:r>
            <a:r>
              <a:rPr sz="1486" spc="-36" dirty="0">
                <a:solidFill>
                  <a:srgbClr val="444444"/>
                </a:solidFill>
                <a:latin typeface="Arial"/>
                <a:cs typeface="Arial"/>
              </a:rPr>
              <a:t> </a:t>
            </a:r>
            <a:r>
              <a:rPr sz="1486" dirty="0">
                <a:solidFill>
                  <a:srgbClr val="444444"/>
                </a:solidFill>
                <a:latin typeface="Arial"/>
                <a:cs typeface="Arial"/>
              </a:rPr>
              <a:t>and</a:t>
            </a:r>
            <a:r>
              <a:rPr sz="1486" spc="-39" dirty="0">
                <a:solidFill>
                  <a:srgbClr val="444444"/>
                </a:solidFill>
                <a:latin typeface="Arial"/>
                <a:cs typeface="Arial"/>
              </a:rPr>
              <a:t> </a:t>
            </a:r>
            <a:r>
              <a:rPr sz="1486" dirty="0">
                <a:solidFill>
                  <a:srgbClr val="444444"/>
                </a:solidFill>
                <a:latin typeface="Arial"/>
                <a:cs typeface="Arial"/>
              </a:rPr>
              <a:t>then</a:t>
            </a:r>
            <a:r>
              <a:rPr sz="1486" spc="-30" dirty="0">
                <a:solidFill>
                  <a:srgbClr val="444444"/>
                </a:solidFill>
                <a:latin typeface="Arial"/>
                <a:cs typeface="Arial"/>
              </a:rPr>
              <a:t> </a:t>
            </a:r>
            <a:r>
              <a:rPr sz="1486" b="1" spc="-39" dirty="0">
                <a:solidFill>
                  <a:srgbClr val="444444"/>
                </a:solidFill>
                <a:latin typeface="Arial"/>
                <a:cs typeface="Arial"/>
              </a:rPr>
              <a:t>output </a:t>
            </a:r>
            <a:r>
              <a:rPr sz="1486" spc="-6" dirty="0">
                <a:solidFill>
                  <a:srgbClr val="444444"/>
                </a:solidFill>
                <a:latin typeface="Arial"/>
                <a:cs typeface="Arial"/>
              </a:rPr>
              <a:t>data.</a:t>
            </a:r>
            <a:endParaRPr sz="1486" dirty="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F9F0-D3C1-411D-F5D0-D6EA10724A02}"/>
              </a:ext>
            </a:extLst>
          </p:cNvPr>
          <p:cNvSpPr>
            <a:spLocks noGrp="1"/>
          </p:cNvSpPr>
          <p:nvPr>
            <p:ph type="title"/>
          </p:nvPr>
        </p:nvSpPr>
        <p:spPr/>
        <p:txBody>
          <a:bodyPr/>
          <a:lstStyle/>
          <a:p>
            <a:r>
              <a:rPr lang="en-US" dirty="0"/>
              <a:t>Arrow functions</a:t>
            </a:r>
          </a:p>
        </p:txBody>
      </p:sp>
      <p:sp>
        <p:nvSpPr>
          <p:cNvPr id="3" name="Content Placeholder 2">
            <a:extLst>
              <a:ext uri="{FF2B5EF4-FFF2-40B4-BE49-F238E27FC236}">
                <a16:creationId xmlns:a16="http://schemas.microsoft.com/office/drawing/2014/main" id="{5E73208D-2967-4D0E-4942-A0FF44FF0E9E}"/>
              </a:ext>
            </a:extLst>
          </p:cNvPr>
          <p:cNvSpPr>
            <a:spLocks noGrp="1"/>
          </p:cNvSpPr>
          <p:nvPr>
            <p:ph idx="1"/>
          </p:nvPr>
        </p:nvSpPr>
        <p:spPr/>
        <p:txBody>
          <a:bodyPr/>
          <a:lstStyle/>
          <a:p>
            <a:r>
              <a:rPr lang="en-US" b="1" dirty="0">
                <a:solidFill>
                  <a:srgbClr val="FF0000"/>
                </a:solidFill>
              </a:rPr>
              <a:t>Some advantages of using Arrow Functions</a:t>
            </a:r>
          </a:p>
          <a:p>
            <a:pPr lvl="1"/>
            <a:r>
              <a:rPr lang="en-US" b="1" dirty="0"/>
              <a:t>If we have one argument</a:t>
            </a:r>
          </a:p>
        </p:txBody>
      </p:sp>
      <p:pic>
        <p:nvPicPr>
          <p:cNvPr id="5" name="Picture 4">
            <a:extLst>
              <a:ext uri="{FF2B5EF4-FFF2-40B4-BE49-F238E27FC236}">
                <a16:creationId xmlns:a16="http://schemas.microsoft.com/office/drawing/2014/main" id="{C1C17CB5-1EB9-61B6-AB6B-A3B00EA4C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3810" y="2981291"/>
            <a:ext cx="4024379" cy="20422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85701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18727-3AB2-A33E-114F-B9B880BAE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41C8F-F10D-8862-55D5-7B5557F0173F}"/>
              </a:ext>
            </a:extLst>
          </p:cNvPr>
          <p:cNvSpPr>
            <a:spLocks noGrp="1"/>
          </p:cNvSpPr>
          <p:nvPr>
            <p:ph type="title"/>
          </p:nvPr>
        </p:nvSpPr>
        <p:spPr/>
        <p:txBody>
          <a:bodyPr/>
          <a:lstStyle/>
          <a:p>
            <a:r>
              <a:rPr lang="en-US" dirty="0"/>
              <a:t>Arrow functions</a:t>
            </a:r>
          </a:p>
        </p:txBody>
      </p:sp>
      <p:sp>
        <p:nvSpPr>
          <p:cNvPr id="3" name="Content Placeholder 2">
            <a:extLst>
              <a:ext uri="{FF2B5EF4-FFF2-40B4-BE49-F238E27FC236}">
                <a16:creationId xmlns:a16="http://schemas.microsoft.com/office/drawing/2014/main" id="{E9CDB30A-3482-2B94-1085-CE2F4B101E2C}"/>
              </a:ext>
            </a:extLst>
          </p:cNvPr>
          <p:cNvSpPr>
            <a:spLocks noGrp="1"/>
          </p:cNvSpPr>
          <p:nvPr>
            <p:ph idx="1"/>
          </p:nvPr>
        </p:nvSpPr>
        <p:spPr/>
        <p:txBody>
          <a:bodyPr/>
          <a:lstStyle/>
          <a:p>
            <a:r>
              <a:rPr lang="en-US" b="1" dirty="0">
                <a:solidFill>
                  <a:srgbClr val="FF0000"/>
                </a:solidFill>
              </a:rPr>
              <a:t>Some advantages of using Arrow Functions</a:t>
            </a:r>
          </a:p>
          <a:p>
            <a:pPr lvl="1"/>
            <a:r>
              <a:rPr lang="en-US" dirty="0"/>
              <a:t>If we have a function which receives no arguments, we need to pass an empty pair of parentheses</a:t>
            </a:r>
            <a:endParaRPr lang="en-US" b="1" dirty="0"/>
          </a:p>
        </p:txBody>
      </p:sp>
      <p:pic>
        <p:nvPicPr>
          <p:cNvPr id="5" name="Picture 4">
            <a:extLst>
              <a:ext uri="{FF2B5EF4-FFF2-40B4-BE49-F238E27FC236}">
                <a16:creationId xmlns:a16="http://schemas.microsoft.com/office/drawing/2014/main" id="{945BD71B-2C09-180F-A075-73BB93B69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7834" y="3042251"/>
            <a:ext cx="4736332" cy="19869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31734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016E0-BABF-2910-18D8-ED1C9C075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0A44A-8056-E108-4E10-5CFC2EE03F38}"/>
              </a:ext>
            </a:extLst>
          </p:cNvPr>
          <p:cNvSpPr>
            <a:spLocks noGrp="1"/>
          </p:cNvSpPr>
          <p:nvPr>
            <p:ph type="title"/>
          </p:nvPr>
        </p:nvSpPr>
        <p:spPr/>
        <p:txBody>
          <a:bodyPr/>
          <a:lstStyle/>
          <a:p>
            <a:r>
              <a:rPr lang="en-US" dirty="0"/>
              <a:t>Arrow functions</a:t>
            </a:r>
          </a:p>
        </p:txBody>
      </p:sp>
      <p:sp>
        <p:nvSpPr>
          <p:cNvPr id="3" name="Content Placeholder 2">
            <a:extLst>
              <a:ext uri="{FF2B5EF4-FFF2-40B4-BE49-F238E27FC236}">
                <a16:creationId xmlns:a16="http://schemas.microsoft.com/office/drawing/2014/main" id="{8BE14359-D1D7-8842-FDF0-E3ACF07199FF}"/>
              </a:ext>
            </a:extLst>
          </p:cNvPr>
          <p:cNvSpPr>
            <a:spLocks noGrp="1"/>
          </p:cNvSpPr>
          <p:nvPr>
            <p:ph idx="1"/>
          </p:nvPr>
        </p:nvSpPr>
        <p:spPr/>
        <p:txBody>
          <a:bodyPr/>
          <a:lstStyle/>
          <a:p>
            <a:r>
              <a:rPr lang="en-US" b="1" dirty="0">
                <a:solidFill>
                  <a:srgbClr val="FF0000"/>
                </a:solidFill>
              </a:rPr>
              <a:t>Some advantages of using Arrow Functions</a:t>
            </a:r>
          </a:p>
          <a:p>
            <a:pPr lvl="1"/>
            <a:r>
              <a:rPr lang="en-US" dirty="0"/>
              <a:t>If we have a function which receives </a:t>
            </a:r>
            <a:r>
              <a:rPr lang="en-US" b="1" dirty="0"/>
              <a:t>more than one argument</a:t>
            </a:r>
            <a:r>
              <a:rPr lang="en-US" dirty="0"/>
              <a:t>, we need parentheses</a:t>
            </a:r>
            <a:endParaRPr lang="en-US" b="1" dirty="0"/>
          </a:p>
        </p:txBody>
      </p:sp>
      <p:pic>
        <p:nvPicPr>
          <p:cNvPr id="5" name="Picture 4">
            <a:extLst>
              <a:ext uri="{FF2B5EF4-FFF2-40B4-BE49-F238E27FC236}">
                <a16:creationId xmlns:a16="http://schemas.microsoft.com/office/drawing/2014/main" id="{D253AD75-20E1-875D-DBFF-DEAC35BD2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6824" y="3120981"/>
            <a:ext cx="6276833" cy="28083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85136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38C35-B46B-352C-36B4-EAF3B5871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F6050-4574-4D20-60C9-ED24732E39B4}"/>
              </a:ext>
            </a:extLst>
          </p:cNvPr>
          <p:cNvSpPr>
            <a:spLocks noGrp="1"/>
          </p:cNvSpPr>
          <p:nvPr>
            <p:ph type="title"/>
          </p:nvPr>
        </p:nvSpPr>
        <p:spPr/>
        <p:txBody>
          <a:bodyPr/>
          <a:lstStyle/>
          <a:p>
            <a:r>
              <a:rPr lang="en-US" dirty="0"/>
              <a:t>Arrow functions</a:t>
            </a:r>
          </a:p>
        </p:txBody>
      </p:sp>
      <p:sp>
        <p:nvSpPr>
          <p:cNvPr id="3" name="Content Placeholder 2">
            <a:extLst>
              <a:ext uri="{FF2B5EF4-FFF2-40B4-BE49-F238E27FC236}">
                <a16:creationId xmlns:a16="http://schemas.microsoft.com/office/drawing/2014/main" id="{7EC0FCA8-E7F6-0F28-4986-58D12417DC05}"/>
              </a:ext>
            </a:extLst>
          </p:cNvPr>
          <p:cNvSpPr>
            <a:spLocks noGrp="1"/>
          </p:cNvSpPr>
          <p:nvPr>
            <p:ph idx="1"/>
          </p:nvPr>
        </p:nvSpPr>
        <p:spPr/>
        <p:txBody>
          <a:bodyPr/>
          <a:lstStyle/>
          <a:p>
            <a:r>
              <a:rPr lang="en-US" b="1" dirty="0">
                <a:solidFill>
                  <a:srgbClr val="FF0000"/>
                </a:solidFill>
              </a:rPr>
              <a:t>Some advantages of using Arrow Functions</a:t>
            </a:r>
          </a:p>
          <a:p>
            <a:pPr lvl="1"/>
            <a:r>
              <a:rPr lang="en-US" dirty="0"/>
              <a:t>Also we can update our </a:t>
            </a:r>
            <a:r>
              <a:rPr lang="en-US" b="1" dirty="0"/>
              <a:t>function body</a:t>
            </a:r>
          </a:p>
          <a:p>
            <a:pPr lvl="1"/>
            <a:endParaRPr lang="en-US" b="1" dirty="0"/>
          </a:p>
          <a:p>
            <a:pPr lvl="1"/>
            <a:endParaRPr lang="en-US" b="1" dirty="0"/>
          </a:p>
          <a:p>
            <a:pPr lvl="1"/>
            <a:endParaRPr lang="en-US" b="1" dirty="0"/>
          </a:p>
          <a:p>
            <a:pPr lvl="1"/>
            <a:endParaRPr lang="en-US" b="1" dirty="0"/>
          </a:p>
          <a:p>
            <a:pPr lvl="1"/>
            <a:r>
              <a:rPr lang="en-US" dirty="0"/>
              <a:t>We can update this function and remove braces and </a:t>
            </a:r>
            <a:r>
              <a:rPr lang="en-US" b="1" dirty="0" err="1"/>
              <a:t>retrun</a:t>
            </a:r>
            <a:r>
              <a:rPr lang="en-US" dirty="0"/>
              <a:t> keyword</a:t>
            </a:r>
          </a:p>
        </p:txBody>
      </p:sp>
      <p:pic>
        <p:nvPicPr>
          <p:cNvPr id="5" name="Picture 4">
            <a:extLst>
              <a:ext uri="{FF2B5EF4-FFF2-40B4-BE49-F238E27FC236}">
                <a16:creationId xmlns:a16="http://schemas.microsoft.com/office/drawing/2014/main" id="{F5CC49B0-0238-C272-A82E-6E5525F8E2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9604" y="2539192"/>
            <a:ext cx="4791274" cy="1779616"/>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3BFB9204-56D1-AF58-5A0C-0BA896793C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9604" y="5026012"/>
            <a:ext cx="5881615" cy="8604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52398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00AE-6900-CF21-7844-56FA28B22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86363-FCA4-78CE-983A-146A3BA57733}"/>
              </a:ext>
            </a:extLst>
          </p:cNvPr>
          <p:cNvSpPr>
            <a:spLocks noGrp="1"/>
          </p:cNvSpPr>
          <p:nvPr>
            <p:ph type="title"/>
          </p:nvPr>
        </p:nvSpPr>
        <p:spPr/>
        <p:txBody>
          <a:bodyPr/>
          <a:lstStyle/>
          <a:p>
            <a:r>
              <a:rPr lang="en-US" dirty="0"/>
              <a:t>Arrow functions</a:t>
            </a:r>
          </a:p>
        </p:txBody>
      </p:sp>
      <p:sp>
        <p:nvSpPr>
          <p:cNvPr id="3" name="Content Placeholder 2">
            <a:extLst>
              <a:ext uri="{FF2B5EF4-FFF2-40B4-BE49-F238E27FC236}">
                <a16:creationId xmlns:a16="http://schemas.microsoft.com/office/drawing/2014/main" id="{0604A0DB-F2C3-16F1-74B2-6F496BF9DADC}"/>
              </a:ext>
            </a:extLst>
          </p:cNvPr>
          <p:cNvSpPr>
            <a:spLocks noGrp="1"/>
          </p:cNvSpPr>
          <p:nvPr>
            <p:ph idx="1"/>
          </p:nvPr>
        </p:nvSpPr>
        <p:spPr/>
        <p:txBody>
          <a:bodyPr/>
          <a:lstStyle/>
          <a:p>
            <a:r>
              <a:rPr lang="en-US" b="1" dirty="0">
                <a:solidFill>
                  <a:srgbClr val="FF0000"/>
                </a:solidFill>
              </a:rPr>
              <a:t>Some advantages of using Arrow Functions</a:t>
            </a:r>
          </a:p>
          <a:p>
            <a:pPr lvl="1"/>
            <a:r>
              <a:rPr lang="en-US" dirty="0"/>
              <a:t>We can update also</a:t>
            </a:r>
            <a:endParaRPr lang="en-US" b="1" dirty="0"/>
          </a:p>
        </p:txBody>
      </p:sp>
      <p:pic>
        <p:nvPicPr>
          <p:cNvPr id="5" name="Picture 4">
            <a:extLst>
              <a:ext uri="{FF2B5EF4-FFF2-40B4-BE49-F238E27FC236}">
                <a16:creationId xmlns:a16="http://schemas.microsoft.com/office/drawing/2014/main" id="{BF301312-A7B3-5B22-57D7-3A048D3454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0884" y="2789239"/>
            <a:ext cx="5937329" cy="9812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25558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997B9-8B19-7825-A245-CC0785B9D46D}"/>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E7B4ABFF-8718-FDF6-16C4-D41A4AB6A624}"/>
              </a:ext>
            </a:extLst>
          </p:cNvPr>
          <p:cNvSpPr>
            <a:spLocks noGrp="1"/>
          </p:cNvSpPr>
          <p:nvPr>
            <p:ph idx="1"/>
          </p:nvPr>
        </p:nvSpPr>
        <p:spPr/>
        <p:txBody>
          <a:bodyPr/>
          <a:lstStyle/>
          <a:p>
            <a:r>
              <a:rPr lang="en-US" b="1" dirty="0"/>
              <a:t>JavaScript ES6 supports for exporting and importing </a:t>
            </a:r>
            <a:r>
              <a:rPr lang="en-US" dirty="0"/>
              <a:t>functions, variables from one module to another. </a:t>
            </a:r>
          </a:p>
          <a:p>
            <a:r>
              <a:rPr lang="en-US" dirty="0"/>
              <a:t>There are two kinds of exports: A </a:t>
            </a:r>
            <a:r>
              <a:rPr lang="en-US" b="1" dirty="0"/>
              <a:t>named export </a:t>
            </a:r>
            <a:r>
              <a:rPr lang="en-US" dirty="0"/>
              <a:t>and a </a:t>
            </a:r>
            <a:r>
              <a:rPr lang="en-US" b="1" dirty="0"/>
              <a:t>default export</a:t>
            </a:r>
            <a:r>
              <a:rPr lang="en-US" dirty="0"/>
              <a:t>.</a:t>
            </a:r>
          </a:p>
        </p:txBody>
      </p:sp>
    </p:spTree>
    <p:extLst>
      <p:ext uri="{BB962C8B-B14F-4D97-AF65-F5344CB8AC3E}">
        <p14:creationId xmlns:p14="http://schemas.microsoft.com/office/powerpoint/2010/main" val="1567515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EB3F-730B-52B1-6194-FE72752731D8}"/>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DF0F1670-9865-67AF-824E-31F2B0A51C1A}"/>
              </a:ext>
            </a:extLst>
          </p:cNvPr>
          <p:cNvSpPr>
            <a:spLocks noGrp="1"/>
          </p:cNvSpPr>
          <p:nvPr>
            <p:ph idx="1"/>
          </p:nvPr>
        </p:nvSpPr>
        <p:spPr/>
        <p:txBody>
          <a:bodyPr>
            <a:normAutofit/>
          </a:bodyPr>
          <a:lstStyle/>
          <a:p>
            <a:r>
              <a:rPr lang="en-US" b="1" dirty="0">
                <a:solidFill>
                  <a:srgbClr val="FF0000"/>
                </a:solidFill>
              </a:rPr>
              <a:t>Named Export</a:t>
            </a:r>
            <a:r>
              <a:rPr lang="en-US" dirty="0"/>
              <a:t> are used to export multiple </a:t>
            </a:r>
            <a:r>
              <a:rPr lang="en-US" dirty="0">
                <a:solidFill>
                  <a:schemeClr val="tx2"/>
                </a:solidFill>
              </a:rPr>
              <a:t>components</a:t>
            </a:r>
            <a:r>
              <a:rPr lang="en-US" dirty="0"/>
              <a:t> from a module by adding the keyword </a:t>
            </a:r>
            <a:r>
              <a:rPr lang="en-US" b="1" dirty="0"/>
              <a:t>export</a:t>
            </a:r>
            <a:r>
              <a:rPr lang="en-US" dirty="0"/>
              <a:t> to their declaration.</a:t>
            </a:r>
          </a:p>
          <a:p>
            <a:pPr lvl="1"/>
            <a:r>
              <a:rPr lang="en-US" dirty="0"/>
              <a:t>These exports are distinguished by their names. </a:t>
            </a:r>
          </a:p>
          <a:p>
            <a:pPr lvl="1"/>
            <a:r>
              <a:rPr lang="en-US" dirty="0">
                <a:solidFill>
                  <a:schemeClr val="tx2"/>
                </a:solidFill>
              </a:rPr>
              <a:t>When importing, it is mandatory to use the exact exported names.</a:t>
            </a:r>
          </a:p>
          <a:p>
            <a:pPr lvl="1"/>
            <a:r>
              <a:rPr lang="en-US" dirty="0">
                <a:solidFill>
                  <a:schemeClr val="tx2"/>
                </a:solidFill>
              </a:rPr>
              <a:t>This is used when the module has many related functions.</a:t>
            </a:r>
          </a:p>
          <a:p>
            <a:pPr lvl="1"/>
            <a:endParaRPr lang="en-US" dirty="0"/>
          </a:p>
          <a:p>
            <a:endParaRPr lang="en-US" dirty="0"/>
          </a:p>
        </p:txBody>
      </p:sp>
    </p:spTree>
    <p:extLst>
      <p:ext uri="{BB962C8B-B14F-4D97-AF65-F5344CB8AC3E}">
        <p14:creationId xmlns:p14="http://schemas.microsoft.com/office/powerpoint/2010/main" val="3729520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E85F7-FEA4-8294-8399-0ADC63A1F351}"/>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40F3512A-3E8B-B65C-8F03-352A96370D9B}"/>
              </a:ext>
            </a:extLst>
          </p:cNvPr>
          <p:cNvSpPr>
            <a:spLocks noGrp="1"/>
          </p:cNvSpPr>
          <p:nvPr>
            <p:ph idx="1"/>
          </p:nvPr>
        </p:nvSpPr>
        <p:spPr/>
        <p:txBody>
          <a:bodyPr/>
          <a:lstStyle/>
          <a:p>
            <a:r>
              <a:rPr lang="en-US" b="1" dirty="0">
                <a:solidFill>
                  <a:srgbClr val="FF0000"/>
                </a:solidFill>
              </a:rPr>
              <a:t>Named Export</a:t>
            </a:r>
          </a:p>
          <a:p>
            <a:pPr lvl="1"/>
            <a:r>
              <a:rPr lang="en-US" dirty="0">
                <a:solidFill>
                  <a:schemeClr val="tx2"/>
                </a:solidFill>
              </a:rPr>
              <a:t>Example: file </a:t>
            </a:r>
            <a:r>
              <a:rPr lang="en-US" b="1" dirty="0"/>
              <a:t>mathUtils.js</a:t>
            </a:r>
            <a:endParaRPr lang="en-US" b="1" dirty="0">
              <a:solidFill>
                <a:schemeClr val="tx2"/>
              </a:solidFill>
            </a:endParaRPr>
          </a:p>
        </p:txBody>
      </p:sp>
      <p:pic>
        <p:nvPicPr>
          <p:cNvPr id="7" name="Picture 6">
            <a:extLst>
              <a:ext uri="{FF2B5EF4-FFF2-40B4-BE49-F238E27FC236}">
                <a16:creationId xmlns:a16="http://schemas.microsoft.com/office/drawing/2014/main" id="{DDF3EF9C-D119-88C2-9C8D-9EF140E570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6040" y="2689176"/>
            <a:ext cx="5999920" cy="380764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06897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BDAA-5799-B99C-304F-68FA1E239A81}"/>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D2BFB0A3-4D41-E300-436A-B68FAE50A737}"/>
              </a:ext>
            </a:extLst>
          </p:cNvPr>
          <p:cNvSpPr>
            <a:spLocks noGrp="1"/>
          </p:cNvSpPr>
          <p:nvPr>
            <p:ph idx="1"/>
          </p:nvPr>
        </p:nvSpPr>
        <p:spPr/>
        <p:txBody>
          <a:bodyPr/>
          <a:lstStyle/>
          <a:p>
            <a:r>
              <a:rPr lang="en-US" b="1" dirty="0">
                <a:solidFill>
                  <a:srgbClr val="FF0000"/>
                </a:solidFill>
              </a:rPr>
              <a:t>Export multiple components at once.</a:t>
            </a:r>
          </a:p>
          <a:p>
            <a:pPr lvl="1"/>
            <a:r>
              <a:rPr lang="en-US" dirty="0">
                <a:solidFill>
                  <a:schemeClr val="tx2"/>
                </a:solidFill>
              </a:rPr>
              <a:t>Example:</a:t>
            </a:r>
          </a:p>
        </p:txBody>
      </p:sp>
      <p:pic>
        <p:nvPicPr>
          <p:cNvPr id="5" name="Picture 4">
            <a:extLst>
              <a:ext uri="{FF2B5EF4-FFF2-40B4-BE49-F238E27FC236}">
                <a16:creationId xmlns:a16="http://schemas.microsoft.com/office/drawing/2014/main" id="{D877F772-F40D-4547-4DB3-E3F868C38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6761" y="2671513"/>
            <a:ext cx="4817139" cy="21036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166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E064F-E4CD-A4B5-DF08-2952840A9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CF2AB-A600-C6BA-4B43-167ED98CC29F}"/>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B44BF857-65BA-28E1-CACD-2B868AEBB01A}"/>
              </a:ext>
            </a:extLst>
          </p:cNvPr>
          <p:cNvSpPr>
            <a:spLocks noGrp="1"/>
          </p:cNvSpPr>
          <p:nvPr>
            <p:ph idx="1"/>
          </p:nvPr>
        </p:nvSpPr>
        <p:spPr/>
        <p:txBody>
          <a:bodyPr/>
          <a:lstStyle/>
          <a:p>
            <a:r>
              <a:rPr lang="en-US" b="1" dirty="0">
                <a:solidFill>
                  <a:srgbClr val="FF0000"/>
                </a:solidFill>
              </a:rPr>
              <a:t>Import</a:t>
            </a:r>
            <a:r>
              <a:rPr lang="en-US" dirty="0"/>
              <a:t> </a:t>
            </a:r>
            <a:r>
              <a:rPr lang="en-US" b="1" dirty="0">
                <a:solidFill>
                  <a:srgbClr val="FF0000"/>
                </a:solidFill>
              </a:rPr>
              <a:t>Named Export</a:t>
            </a:r>
          </a:p>
          <a:p>
            <a:pPr lvl="1"/>
            <a:r>
              <a:rPr lang="en-US" dirty="0">
                <a:solidFill>
                  <a:schemeClr val="tx2"/>
                </a:solidFill>
              </a:rPr>
              <a:t>Example: </a:t>
            </a:r>
            <a:endParaRPr lang="en-US" b="1" dirty="0">
              <a:solidFill>
                <a:schemeClr val="tx2"/>
              </a:solidFill>
            </a:endParaRPr>
          </a:p>
        </p:txBody>
      </p:sp>
      <p:pic>
        <p:nvPicPr>
          <p:cNvPr id="5" name="Picture 4">
            <a:extLst>
              <a:ext uri="{FF2B5EF4-FFF2-40B4-BE49-F238E27FC236}">
                <a16:creationId xmlns:a16="http://schemas.microsoft.com/office/drawing/2014/main" id="{28EDE4B2-E0AE-727D-5B72-180305E48D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7068" y="2871532"/>
            <a:ext cx="8876346" cy="22520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542833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1D2CB-31FE-8659-0F71-AD034F249D73}"/>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35F3A638-C711-05E9-3761-0C5A7CA2B6AA}"/>
              </a:ext>
            </a:extLst>
          </p:cNvPr>
          <p:cNvSpPr>
            <a:spLocks noGrp="1"/>
          </p:cNvSpPr>
          <p:nvPr>
            <p:ph idx="1"/>
          </p:nvPr>
        </p:nvSpPr>
        <p:spPr/>
        <p:txBody>
          <a:bodyPr/>
          <a:lstStyle/>
          <a:p>
            <a:r>
              <a:rPr lang="en-US" b="1" dirty="0">
                <a:solidFill>
                  <a:srgbClr val="FF0000"/>
                </a:solidFill>
              </a:rPr>
              <a:t>Import</a:t>
            </a:r>
            <a:r>
              <a:rPr lang="en-US" dirty="0"/>
              <a:t> </a:t>
            </a:r>
            <a:r>
              <a:rPr lang="en-US" b="1" dirty="0">
                <a:solidFill>
                  <a:srgbClr val="FF0000"/>
                </a:solidFill>
              </a:rPr>
              <a:t>Named Export</a:t>
            </a:r>
          </a:p>
          <a:p>
            <a:pPr lvl="1"/>
            <a:r>
              <a:rPr lang="en-US" dirty="0"/>
              <a:t>We can assign an </a:t>
            </a:r>
            <a:r>
              <a:rPr lang="en-US" b="1" dirty="0"/>
              <a:t>alias</a:t>
            </a:r>
            <a:r>
              <a:rPr lang="en-US" dirty="0"/>
              <a:t> with any </a:t>
            </a:r>
            <a:r>
              <a:rPr lang="en-US" b="1" dirty="0"/>
              <a:t>name</a:t>
            </a:r>
            <a:r>
              <a:rPr lang="en-US" dirty="0"/>
              <a:t> you choose after </a:t>
            </a:r>
            <a:r>
              <a:rPr lang="en-US" b="1" dirty="0">
                <a:solidFill>
                  <a:srgbClr val="FF0000"/>
                </a:solidFill>
              </a:rPr>
              <a:t>as</a:t>
            </a:r>
            <a:r>
              <a:rPr lang="en-US" dirty="0"/>
              <a:t> keyword</a:t>
            </a:r>
          </a:p>
        </p:txBody>
      </p:sp>
      <p:pic>
        <p:nvPicPr>
          <p:cNvPr id="5" name="Picture 4">
            <a:extLst>
              <a:ext uri="{FF2B5EF4-FFF2-40B4-BE49-F238E27FC236}">
                <a16:creationId xmlns:a16="http://schemas.microsoft.com/office/drawing/2014/main" id="{76A8026B-3473-F882-12D5-3516CCADBA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3488" y="2829499"/>
            <a:ext cx="7245023" cy="11990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64401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7A511-2987-5FE4-2A1A-75FC7A708AA3}"/>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AEC6CB76-A2B4-0C1A-6143-20299EE73FB9}"/>
              </a:ext>
            </a:extLst>
          </p:cNvPr>
          <p:cNvSpPr>
            <a:spLocks noGrp="1"/>
          </p:cNvSpPr>
          <p:nvPr>
            <p:ph idx="1"/>
          </p:nvPr>
        </p:nvSpPr>
        <p:spPr/>
        <p:txBody>
          <a:bodyPr/>
          <a:lstStyle/>
          <a:p>
            <a:r>
              <a:rPr lang="en-US" b="1" dirty="0">
                <a:solidFill>
                  <a:srgbClr val="FF0000"/>
                </a:solidFill>
              </a:rPr>
              <a:t>Import all Named Exports</a:t>
            </a:r>
          </a:p>
          <a:p>
            <a:pPr lvl="1"/>
            <a:r>
              <a:rPr lang="en-US" dirty="0"/>
              <a:t>Example </a:t>
            </a:r>
          </a:p>
        </p:txBody>
      </p:sp>
      <p:pic>
        <p:nvPicPr>
          <p:cNvPr id="5" name="Picture 4">
            <a:extLst>
              <a:ext uri="{FF2B5EF4-FFF2-40B4-BE49-F238E27FC236}">
                <a16:creationId xmlns:a16="http://schemas.microsoft.com/office/drawing/2014/main" id="{6AD3D98D-B02A-7C07-4DA1-AD521C6DD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1148" y="2756342"/>
            <a:ext cx="6089703" cy="17065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81014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956AB-1B95-2BD6-FB25-2DE60292F479}"/>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F4E14399-0687-E604-32F9-E295AE2F0D79}"/>
              </a:ext>
            </a:extLst>
          </p:cNvPr>
          <p:cNvSpPr>
            <a:spLocks noGrp="1"/>
          </p:cNvSpPr>
          <p:nvPr>
            <p:ph idx="1"/>
          </p:nvPr>
        </p:nvSpPr>
        <p:spPr/>
        <p:txBody>
          <a:bodyPr/>
          <a:lstStyle/>
          <a:p>
            <a:r>
              <a:rPr lang="en-US" b="1" dirty="0">
                <a:solidFill>
                  <a:srgbClr val="FF0000"/>
                </a:solidFill>
              </a:rPr>
              <a:t>Default Export:</a:t>
            </a:r>
          </a:p>
          <a:p>
            <a:pPr lvl="1"/>
            <a:r>
              <a:rPr lang="en-US" dirty="0"/>
              <a:t>Default Export is a way to export a single default value from a JavaScript module.</a:t>
            </a:r>
          </a:p>
          <a:p>
            <a:pPr lvl="1"/>
            <a:r>
              <a:rPr lang="en-US" dirty="0"/>
              <a:t>Other modules can import it without using `{ }` and can name the imported value arbitrarily.</a:t>
            </a:r>
          </a:p>
          <a:p>
            <a:pPr lvl="1"/>
            <a:r>
              <a:rPr lang="en-US" dirty="0"/>
              <a:t>Each file can only have one default export.</a:t>
            </a:r>
          </a:p>
        </p:txBody>
      </p:sp>
    </p:spTree>
    <p:extLst>
      <p:ext uri="{BB962C8B-B14F-4D97-AF65-F5344CB8AC3E}">
        <p14:creationId xmlns:p14="http://schemas.microsoft.com/office/powerpoint/2010/main" val="4281833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74B8-B194-0276-AC4F-A4E51E68ACA3}"/>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A50C92C1-3850-992E-A944-5FC9397DB555}"/>
              </a:ext>
            </a:extLst>
          </p:cNvPr>
          <p:cNvSpPr>
            <a:spLocks noGrp="1"/>
          </p:cNvSpPr>
          <p:nvPr>
            <p:ph idx="1"/>
          </p:nvPr>
        </p:nvSpPr>
        <p:spPr/>
        <p:txBody>
          <a:bodyPr/>
          <a:lstStyle/>
          <a:p>
            <a:r>
              <a:rPr lang="en-US" b="1" dirty="0">
                <a:solidFill>
                  <a:srgbClr val="FF0000"/>
                </a:solidFill>
              </a:rPr>
              <a:t>Default Export:</a:t>
            </a:r>
          </a:p>
          <a:p>
            <a:pPr lvl="1"/>
            <a:r>
              <a:rPr lang="en-US" dirty="0"/>
              <a:t>Example </a:t>
            </a:r>
          </a:p>
          <a:p>
            <a:pPr lvl="1"/>
            <a:endParaRPr lang="en-US" dirty="0"/>
          </a:p>
          <a:p>
            <a:pPr lvl="1"/>
            <a:endParaRPr lang="en-US" dirty="0"/>
          </a:p>
          <a:p>
            <a:pPr lvl="1"/>
            <a:endParaRPr lang="en-US" dirty="0"/>
          </a:p>
          <a:p>
            <a:pPr lvl="1"/>
            <a:r>
              <a:rPr lang="en-US" dirty="0"/>
              <a:t>Or </a:t>
            </a:r>
          </a:p>
          <a:p>
            <a:pPr lvl="1"/>
            <a:endParaRPr lang="en-US" dirty="0"/>
          </a:p>
          <a:p>
            <a:pPr lvl="1"/>
            <a:endParaRPr lang="en-US" dirty="0"/>
          </a:p>
          <a:p>
            <a:pPr lvl="1"/>
            <a:endParaRPr lang="en-US" dirty="0"/>
          </a:p>
          <a:p>
            <a:pPr lvl="1"/>
            <a:r>
              <a:rPr lang="en-US" dirty="0"/>
              <a:t>Or export a value:</a:t>
            </a:r>
          </a:p>
          <a:p>
            <a:pPr lvl="1"/>
            <a:endParaRPr lang="en-US" dirty="0"/>
          </a:p>
        </p:txBody>
      </p:sp>
      <p:pic>
        <p:nvPicPr>
          <p:cNvPr id="5" name="Picture 4">
            <a:extLst>
              <a:ext uri="{FF2B5EF4-FFF2-40B4-BE49-F238E27FC236}">
                <a16:creationId xmlns:a16="http://schemas.microsoft.com/office/drawing/2014/main" id="{26181F8C-3E50-EBA9-6B0D-C1D8B2223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8134" y="1987549"/>
            <a:ext cx="5231472" cy="1441451"/>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6C1897EE-7A60-D12C-DE14-B8AC22180E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039" y="3608370"/>
            <a:ext cx="5168567" cy="2068114"/>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45A78882-E25D-8680-C1CC-FF206C04F9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4797" y="5909579"/>
            <a:ext cx="4079574" cy="5048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8498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83D57-F13C-46C2-11F6-228DDE7A5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0549F-BF3C-48A2-A3E5-82CC71ED7EF7}"/>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05F6EA47-61EB-A752-1EB5-6C9F852C9624}"/>
              </a:ext>
            </a:extLst>
          </p:cNvPr>
          <p:cNvSpPr>
            <a:spLocks noGrp="1"/>
          </p:cNvSpPr>
          <p:nvPr>
            <p:ph idx="1"/>
          </p:nvPr>
        </p:nvSpPr>
        <p:spPr/>
        <p:txBody>
          <a:bodyPr/>
          <a:lstStyle/>
          <a:p>
            <a:r>
              <a:rPr lang="en-US" b="1" dirty="0">
                <a:solidFill>
                  <a:srgbClr val="FF0000"/>
                </a:solidFill>
              </a:rPr>
              <a:t>Export after declaration</a:t>
            </a:r>
          </a:p>
          <a:p>
            <a:pPr lvl="1"/>
            <a:r>
              <a:rPr lang="en-US" dirty="0"/>
              <a:t>Example </a:t>
            </a:r>
          </a:p>
        </p:txBody>
      </p:sp>
      <p:pic>
        <p:nvPicPr>
          <p:cNvPr id="5" name="Picture 4">
            <a:extLst>
              <a:ext uri="{FF2B5EF4-FFF2-40B4-BE49-F238E27FC236}">
                <a16:creationId xmlns:a16="http://schemas.microsoft.com/office/drawing/2014/main" id="{10CC5254-5A26-AF38-ED1E-700CADA58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7864" y="2280238"/>
            <a:ext cx="3876271" cy="22975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267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F285-FFA2-8CFB-4866-D0A700692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CF27A-A33B-4A1A-666E-1C62E1F41384}"/>
              </a:ext>
            </a:extLst>
          </p:cNvPr>
          <p:cNvSpPr>
            <a:spLocks noGrp="1"/>
          </p:cNvSpPr>
          <p:nvPr>
            <p:ph type="title"/>
          </p:nvPr>
        </p:nvSpPr>
        <p:spPr/>
        <p:txBody>
          <a:bodyPr/>
          <a:lstStyle/>
          <a:p>
            <a:r>
              <a:rPr lang="en-US" dirty="0"/>
              <a:t>Modules (export, import)</a:t>
            </a:r>
          </a:p>
        </p:txBody>
      </p:sp>
      <p:sp>
        <p:nvSpPr>
          <p:cNvPr id="3" name="Content Placeholder 2">
            <a:extLst>
              <a:ext uri="{FF2B5EF4-FFF2-40B4-BE49-F238E27FC236}">
                <a16:creationId xmlns:a16="http://schemas.microsoft.com/office/drawing/2014/main" id="{A92EDCF2-1B2F-59E8-BE7B-9AAF074C85C5}"/>
              </a:ext>
            </a:extLst>
          </p:cNvPr>
          <p:cNvSpPr>
            <a:spLocks noGrp="1"/>
          </p:cNvSpPr>
          <p:nvPr>
            <p:ph idx="1"/>
          </p:nvPr>
        </p:nvSpPr>
        <p:spPr/>
        <p:txBody>
          <a:bodyPr/>
          <a:lstStyle/>
          <a:p>
            <a:r>
              <a:rPr lang="en-US" b="1" dirty="0">
                <a:solidFill>
                  <a:srgbClr val="FF0000"/>
                </a:solidFill>
              </a:rPr>
              <a:t>Import Default Export</a:t>
            </a:r>
          </a:p>
          <a:p>
            <a:pPr lvl="1"/>
            <a:r>
              <a:rPr lang="en-US" dirty="0"/>
              <a:t>Example </a:t>
            </a:r>
          </a:p>
          <a:p>
            <a:pPr lvl="1"/>
            <a:endParaRPr lang="en-US" dirty="0"/>
          </a:p>
          <a:p>
            <a:pPr lvl="1"/>
            <a:endParaRPr lang="en-US" dirty="0"/>
          </a:p>
          <a:p>
            <a:pPr lvl="1"/>
            <a:endParaRPr lang="en-US" dirty="0"/>
          </a:p>
          <a:p>
            <a:pPr lvl="1"/>
            <a:r>
              <a:rPr lang="en-US" dirty="0"/>
              <a:t>Use </a:t>
            </a:r>
            <a:r>
              <a:rPr lang="en-US" b="1" dirty="0"/>
              <a:t>any name </a:t>
            </a:r>
            <a:r>
              <a:rPr lang="en-US" dirty="0"/>
              <a:t>you like when importing.</a:t>
            </a:r>
          </a:p>
        </p:txBody>
      </p:sp>
      <p:pic>
        <p:nvPicPr>
          <p:cNvPr id="6" name="Picture 5">
            <a:extLst>
              <a:ext uri="{FF2B5EF4-FFF2-40B4-BE49-F238E27FC236}">
                <a16:creationId xmlns:a16="http://schemas.microsoft.com/office/drawing/2014/main" id="{B9D34C22-EB5D-5C7D-FD34-DC3D2B90BC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4714" y="2317278"/>
            <a:ext cx="4942571" cy="1311294"/>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D914D204-0A99-C9F8-CD38-E4867975D0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4714" y="4673570"/>
            <a:ext cx="5600783" cy="10305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45361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51A3A-EC9D-F005-1E98-7954C706A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14ECC-E697-BB93-441A-744ADC6DD9B0}"/>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321769F9-5E3C-F557-F057-B74C475B7174}"/>
              </a:ext>
            </a:extLst>
          </p:cNvPr>
          <p:cNvSpPr>
            <a:spLocks noGrp="1"/>
          </p:cNvSpPr>
          <p:nvPr>
            <p:ph idx="1"/>
          </p:nvPr>
        </p:nvSpPr>
        <p:spPr/>
        <p:txBody>
          <a:bodyPr/>
          <a:lstStyle/>
          <a:p>
            <a:r>
              <a:rPr lang="en-US" dirty="0"/>
              <a:t>In </a:t>
            </a:r>
            <a:r>
              <a:rPr lang="en-US" b="1" dirty="0"/>
              <a:t>ES6 (ECMAScript 2015)</a:t>
            </a:r>
            <a:r>
              <a:rPr lang="en-US" dirty="0"/>
              <a:t>, </a:t>
            </a:r>
            <a:r>
              <a:rPr lang="en-US" b="1" dirty="0">
                <a:solidFill>
                  <a:srgbClr val="FF0000"/>
                </a:solidFill>
              </a:rPr>
              <a:t>class is a new syntax </a:t>
            </a:r>
            <a:r>
              <a:rPr lang="en-US" dirty="0"/>
              <a:t>that allows developers to define </a:t>
            </a:r>
            <a:r>
              <a:rPr lang="en-US" b="1" dirty="0"/>
              <a:t>classes</a:t>
            </a:r>
            <a:r>
              <a:rPr lang="en-US" dirty="0"/>
              <a:t> in JavaScript in a </a:t>
            </a:r>
            <a:r>
              <a:rPr lang="en-US" b="1" dirty="0"/>
              <a:t>cleaner and more readable</a:t>
            </a:r>
            <a:r>
              <a:rPr lang="en-US" dirty="0"/>
              <a:t> way, similar to object-oriented languages such as </a:t>
            </a:r>
            <a:r>
              <a:rPr lang="en-US" b="1" dirty="0"/>
              <a:t>C# or Java</a:t>
            </a:r>
            <a:r>
              <a:rPr lang="en-US" dirty="0"/>
              <a:t>.</a:t>
            </a:r>
          </a:p>
          <a:p>
            <a:endParaRPr lang="en-US" dirty="0"/>
          </a:p>
        </p:txBody>
      </p:sp>
    </p:spTree>
    <p:extLst>
      <p:ext uri="{BB962C8B-B14F-4D97-AF65-F5344CB8AC3E}">
        <p14:creationId xmlns:p14="http://schemas.microsoft.com/office/powerpoint/2010/main" val="3969304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04B09-91F8-082C-8183-99447A41DC15}"/>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7605C33F-1928-95EE-7053-05F6AE73E4CC}"/>
              </a:ext>
            </a:extLst>
          </p:cNvPr>
          <p:cNvSpPr>
            <a:spLocks noGrp="1"/>
          </p:cNvSpPr>
          <p:nvPr>
            <p:ph idx="1"/>
          </p:nvPr>
        </p:nvSpPr>
        <p:spPr/>
        <p:txBody>
          <a:bodyPr/>
          <a:lstStyle/>
          <a:p>
            <a:r>
              <a:rPr lang="en-US" b="1" dirty="0"/>
              <a:t>Syntax</a:t>
            </a:r>
            <a:r>
              <a:rPr lang="en-US" dirty="0"/>
              <a:t>: </a:t>
            </a:r>
          </a:p>
        </p:txBody>
      </p:sp>
      <p:pic>
        <p:nvPicPr>
          <p:cNvPr id="5" name="Picture 4">
            <a:extLst>
              <a:ext uri="{FF2B5EF4-FFF2-40B4-BE49-F238E27FC236}">
                <a16:creationId xmlns:a16="http://schemas.microsoft.com/office/drawing/2014/main" id="{9E9C206F-CC8C-2B45-9F73-E746D4791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5490" y="1715798"/>
            <a:ext cx="4049996" cy="44278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04435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977D7-D2AD-DDE5-3154-090413AEAE0C}"/>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7915ACD1-AB3F-0D52-EFCD-2E048D58A38D}"/>
              </a:ext>
            </a:extLst>
          </p:cNvPr>
          <p:cNvSpPr>
            <a:spLocks noGrp="1"/>
          </p:cNvSpPr>
          <p:nvPr>
            <p:ph idx="1"/>
          </p:nvPr>
        </p:nvSpPr>
        <p:spPr/>
        <p:txBody>
          <a:bodyPr/>
          <a:lstStyle/>
          <a:p>
            <a:r>
              <a:rPr lang="en-US" dirty="0"/>
              <a:t>Simple Class Example</a:t>
            </a:r>
          </a:p>
        </p:txBody>
      </p:sp>
      <p:pic>
        <p:nvPicPr>
          <p:cNvPr id="5" name="Picture 4">
            <a:extLst>
              <a:ext uri="{FF2B5EF4-FFF2-40B4-BE49-F238E27FC236}">
                <a16:creationId xmlns:a16="http://schemas.microsoft.com/office/drawing/2014/main" id="{7E259E74-59D3-03AE-EE6F-78CF8CB26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196" y="2311690"/>
            <a:ext cx="9853386" cy="31490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438054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DF716-9A4A-9ECB-A016-6A14EE3F4972}"/>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3B85BACA-5595-58BE-BC87-9E399F62D2DF}"/>
              </a:ext>
            </a:extLst>
          </p:cNvPr>
          <p:cNvSpPr>
            <a:spLocks noGrp="1"/>
          </p:cNvSpPr>
          <p:nvPr>
            <p:ph idx="1"/>
          </p:nvPr>
        </p:nvSpPr>
        <p:spPr/>
        <p:txBody>
          <a:bodyPr/>
          <a:lstStyle/>
          <a:p>
            <a:r>
              <a:rPr lang="en-US" b="1" dirty="0">
                <a:solidFill>
                  <a:srgbClr val="FF0000"/>
                </a:solidFill>
              </a:rPr>
              <a:t>Creating an object from a class</a:t>
            </a:r>
          </a:p>
          <a:p>
            <a:pPr lvl="1"/>
            <a:r>
              <a:rPr lang="en-US" dirty="0">
                <a:solidFill>
                  <a:schemeClr val="tx2"/>
                </a:solidFill>
              </a:rPr>
              <a:t>Example</a:t>
            </a:r>
            <a:r>
              <a:rPr lang="en-US" b="1" dirty="0">
                <a:solidFill>
                  <a:srgbClr val="FF0000"/>
                </a:solidFill>
              </a:rPr>
              <a:t> </a:t>
            </a:r>
          </a:p>
        </p:txBody>
      </p:sp>
      <p:pic>
        <p:nvPicPr>
          <p:cNvPr id="5" name="Picture 4">
            <a:extLst>
              <a:ext uri="{FF2B5EF4-FFF2-40B4-BE49-F238E27FC236}">
                <a16:creationId xmlns:a16="http://schemas.microsoft.com/office/drawing/2014/main" id="{9D033B82-BBA7-3312-DD4F-5A6317719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5824" y="2619262"/>
            <a:ext cx="7338833" cy="10969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5118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5D64-F5CE-EEC1-A43F-522B070FE4DD}"/>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62097F31-FC55-5D0F-F40B-D139416BE446}"/>
              </a:ext>
            </a:extLst>
          </p:cNvPr>
          <p:cNvSpPr>
            <a:spLocks noGrp="1"/>
          </p:cNvSpPr>
          <p:nvPr>
            <p:ph idx="1"/>
          </p:nvPr>
        </p:nvSpPr>
        <p:spPr/>
        <p:txBody>
          <a:bodyPr/>
          <a:lstStyle/>
          <a:p>
            <a:r>
              <a:rPr lang="en-US" b="1" dirty="0">
                <a:solidFill>
                  <a:srgbClr val="FF0000"/>
                </a:solidFill>
              </a:rPr>
              <a:t>Constructor</a:t>
            </a:r>
          </a:p>
          <a:p>
            <a:pPr lvl="1"/>
            <a:r>
              <a:rPr lang="en-US" dirty="0"/>
              <a:t>The constructor() method is </a:t>
            </a:r>
            <a:r>
              <a:rPr lang="en-US" b="1" dirty="0"/>
              <a:t>automatically called</a:t>
            </a:r>
            <a:r>
              <a:rPr lang="en-US" dirty="0"/>
              <a:t> when using new</a:t>
            </a:r>
          </a:p>
          <a:p>
            <a:pPr lvl="1"/>
            <a:r>
              <a:rPr lang="en-US" dirty="0"/>
              <a:t>It is used to </a:t>
            </a:r>
            <a:r>
              <a:rPr lang="en-US" b="1" dirty="0"/>
              <a:t>initialize object properties</a:t>
            </a:r>
            <a:endParaRPr lang="en-US" dirty="0"/>
          </a:p>
          <a:p>
            <a:pPr marL="457200" lvl="1" indent="0">
              <a:buNone/>
            </a:pPr>
            <a:r>
              <a:rPr lang="en-US" dirty="0"/>
              <a:t>Example </a:t>
            </a:r>
          </a:p>
        </p:txBody>
      </p:sp>
      <p:pic>
        <p:nvPicPr>
          <p:cNvPr id="5" name="Picture 4">
            <a:extLst>
              <a:ext uri="{FF2B5EF4-FFF2-40B4-BE49-F238E27FC236}">
                <a16:creationId xmlns:a16="http://schemas.microsoft.com/office/drawing/2014/main" id="{5A924631-C678-2D71-A698-418845A6D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4685" y="3542823"/>
            <a:ext cx="4342965" cy="171497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278250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31292-8EE8-954D-BDCC-E922F069F3DF}"/>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662914E7-0A7A-540E-B53A-9716985DF213}"/>
              </a:ext>
            </a:extLst>
          </p:cNvPr>
          <p:cNvSpPr>
            <a:spLocks noGrp="1"/>
          </p:cNvSpPr>
          <p:nvPr>
            <p:ph idx="1"/>
          </p:nvPr>
        </p:nvSpPr>
        <p:spPr/>
        <p:txBody>
          <a:bodyPr/>
          <a:lstStyle/>
          <a:p>
            <a:r>
              <a:rPr lang="en-US" b="1" dirty="0">
                <a:solidFill>
                  <a:srgbClr val="FF0000"/>
                </a:solidFill>
              </a:rPr>
              <a:t>Methods in a Class</a:t>
            </a:r>
          </a:p>
          <a:p>
            <a:pPr lvl="1"/>
            <a:r>
              <a:rPr lang="en-US" dirty="0"/>
              <a:t>No need to use the function keyword</a:t>
            </a:r>
          </a:p>
          <a:p>
            <a:pPr lvl="1"/>
            <a:r>
              <a:rPr lang="en-US" dirty="0"/>
              <a:t>Methods are stored in the </a:t>
            </a:r>
            <a:r>
              <a:rPr lang="en-US" b="1" dirty="0"/>
              <a:t>prototype</a:t>
            </a:r>
            <a:endParaRPr lang="en-US" dirty="0"/>
          </a:p>
          <a:p>
            <a:endParaRPr lang="en-US" dirty="0"/>
          </a:p>
        </p:txBody>
      </p:sp>
      <p:pic>
        <p:nvPicPr>
          <p:cNvPr id="5" name="Picture 4">
            <a:extLst>
              <a:ext uri="{FF2B5EF4-FFF2-40B4-BE49-F238E27FC236}">
                <a16:creationId xmlns:a16="http://schemas.microsoft.com/office/drawing/2014/main" id="{486383B6-909D-8A40-A0D9-D73A8EF479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9289" y="3188133"/>
            <a:ext cx="5513421" cy="16886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26622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BB4A8-EBFF-D130-3926-8210E3C3058D}"/>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4E50783F-A008-DAE1-A01E-BFEA4FCD179F}"/>
              </a:ext>
            </a:extLst>
          </p:cNvPr>
          <p:cNvSpPr>
            <a:spLocks noGrp="1"/>
          </p:cNvSpPr>
          <p:nvPr>
            <p:ph idx="1"/>
          </p:nvPr>
        </p:nvSpPr>
        <p:spPr/>
        <p:txBody>
          <a:bodyPr/>
          <a:lstStyle/>
          <a:p>
            <a:r>
              <a:rPr lang="en-US" b="1" dirty="0">
                <a:solidFill>
                  <a:srgbClr val="FF0000"/>
                </a:solidFill>
              </a:rPr>
              <a:t>Properties in a Class</a:t>
            </a:r>
          </a:p>
          <a:p>
            <a:pPr lvl="1"/>
            <a:r>
              <a:rPr lang="en-US" b="1" dirty="0"/>
              <a:t>Method 1: Declare properties in the constructor (most common)</a:t>
            </a:r>
          </a:p>
          <a:p>
            <a:pPr lvl="1"/>
            <a:endParaRPr lang="en-US" dirty="0"/>
          </a:p>
          <a:p>
            <a:pPr lvl="1"/>
            <a:endParaRPr lang="en-US" dirty="0"/>
          </a:p>
          <a:p>
            <a:pPr lvl="1"/>
            <a:endParaRPr lang="en-US" dirty="0"/>
          </a:p>
          <a:p>
            <a:pPr lvl="1"/>
            <a:endParaRPr lang="en-US" dirty="0"/>
          </a:p>
          <a:p>
            <a:pPr lvl="1"/>
            <a:r>
              <a:rPr lang="en-US" dirty="0"/>
              <a:t>Method 2: Public class fields (ES2022+)</a:t>
            </a:r>
          </a:p>
        </p:txBody>
      </p:sp>
      <p:pic>
        <p:nvPicPr>
          <p:cNvPr id="5" name="Picture 4">
            <a:extLst>
              <a:ext uri="{FF2B5EF4-FFF2-40B4-BE49-F238E27FC236}">
                <a16:creationId xmlns:a16="http://schemas.microsoft.com/office/drawing/2014/main" id="{8E24FEB2-C6A7-4CB3-82E3-995DC1A3A2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0041" y="2591234"/>
            <a:ext cx="3698473" cy="1348153"/>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3F171DBF-CAB4-9C6B-533D-C2CA4E24B8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8547" y="3886200"/>
            <a:ext cx="3801897" cy="26202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24335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DF03E-7DC0-0F42-7D3E-62F9C1E95DC5}"/>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29510D7E-A031-188E-77D8-7375D010DAA6}"/>
              </a:ext>
            </a:extLst>
          </p:cNvPr>
          <p:cNvSpPr>
            <a:spLocks noGrp="1"/>
          </p:cNvSpPr>
          <p:nvPr>
            <p:ph idx="1"/>
          </p:nvPr>
        </p:nvSpPr>
        <p:spPr/>
        <p:txBody>
          <a:bodyPr/>
          <a:lstStyle/>
          <a:p>
            <a:r>
              <a:rPr lang="en-US" b="1" dirty="0">
                <a:solidFill>
                  <a:srgbClr val="FF0000"/>
                </a:solidFill>
              </a:rPr>
              <a:t>Private Properties and Methods (#)</a:t>
            </a:r>
          </a:p>
          <a:p>
            <a:pPr lvl="1"/>
            <a:r>
              <a:rPr lang="en-US" dirty="0"/>
              <a:t>Modern JavaScript supports </a:t>
            </a:r>
            <a:r>
              <a:rPr lang="en-US" b="1" dirty="0"/>
              <a:t>private fields</a:t>
            </a:r>
            <a:r>
              <a:rPr lang="en-US" dirty="0"/>
              <a:t> using #</a:t>
            </a:r>
          </a:p>
        </p:txBody>
      </p:sp>
      <p:pic>
        <p:nvPicPr>
          <p:cNvPr id="7" name="Picture 6">
            <a:extLst>
              <a:ext uri="{FF2B5EF4-FFF2-40B4-BE49-F238E27FC236}">
                <a16:creationId xmlns:a16="http://schemas.microsoft.com/office/drawing/2014/main" id="{822B87DF-CEC6-134C-AD3A-8F7A73C16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61" y="2534255"/>
            <a:ext cx="5021123" cy="3637945"/>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DA2DDE5D-F183-52CE-CADF-80B03DEF5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4799" y="4353227"/>
            <a:ext cx="6570353" cy="154762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54199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8D659-6153-279D-9A11-7494B2045AFF}"/>
              </a:ext>
            </a:extLst>
          </p:cNvPr>
          <p:cNvSpPr>
            <a:spLocks noGrp="1"/>
          </p:cNvSpPr>
          <p:nvPr>
            <p:ph type="title"/>
          </p:nvPr>
        </p:nvSpPr>
        <p:spPr/>
        <p:txBody>
          <a:bodyPr/>
          <a:lstStyle/>
          <a:p>
            <a:r>
              <a:rPr lang="en-US" dirty="0"/>
              <a:t>Classes</a:t>
            </a:r>
          </a:p>
        </p:txBody>
      </p:sp>
      <p:sp>
        <p:nvSpPr>
          <p:cNvPr id="3" name="Content Placeholder 2">
            <a:extLst>
              <a:ext uri="{FF2B5EF4-FFF2-40B4-BE49-F238E27FC236}">
                <a16:creationId xmlns:a16="http://schemas.microsoft.com/office/drawing/2014/main" id="{70E36548-AFE1-D023-1840-E8411ACE8524}"/>
              </a:ext>
            </a:extLst>
          </p:cNvPr>
          <p:cNvSpPr>
            <a:spLocks noGrp="1"/>
          </p:cNvSpPr>
          <p:nvPr>
            <p:ph idx="1"/>
          </p:nvPr>
        </p:nvSpPr>
        <p:spPr/>
        <p:txBody>
          <a:bodyPr/>
          <a:lstStyle/>
          <a:p>
            <a:r>
              <a:rPr lang="en-US" b="1" dirty="0">
                <a:solidFill>
                  <a:srgbClr val="FF0000"/>
                </a:solidFill>
              </a:rPr>
              <a:t>Calling the Parent Constructor (super)</a:t>
            </a:r>
          </a:p>
        </p:txBody>
      </p:sp>
      <p:pic>
        <p:nvPicPr>
          <p:cNvPr id="5" name="Picture 4">
            <a:extLst>
              <a:ext uri="{FF2B5EF4-FFF2-40B4-BE49-F238E27FC236}">
                <a16:creationId xmlns:a16="http://schemas.microsoft.com/office/drawing/2014/main" id="{3904E56D-B8FB-0E3B-9023-2A48B2A12B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8466" y="2074874"/>
            <a:ext cx="4051820" cy="45243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335205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6A29-1A15-C29D-6DA8-8E01BCDF3FE8}"/>
              </a:ext>
            </a:extLst>
          </p:cNvPr>
          <p:cNvSpPr>
            <a:spLocks noGrp="1"/>
          </p:cNvSpPr>
          <p:nvPr>
            <p:ph type="title"/>
          </p:nvPr>
        </p:nvSpPr>
        <p:spPr/>
        <p:txBody>
          <a:bodyPr/>
          <a:lstStyle/>
          <a:p>
            <a:r>
              <a:rPr lang="en-US" dirty="0"/>
              <a:t>The </a:t>
            </a:r>
            <a:r>
              <a:rPr lang="en-US" dirty="0" err="1"/>
              <a:t>threeDots</a:t>
            </a:r>
            <a:r>
              <a:rPr lang="en-US" dirty="0"/>
              <a:t> ...</a:t>
            </a:r>
          </a:p>
        </p:txBody>
      </p:sp>
      <p:sp>
        <p:nvSpPr>
          <p:cNvPr id="3" name="Content Placeholder 2">
            <a:extLst>
              <a:ext uri="{FF2B5EF4-FFF2-40B4-BE49-F238E27FC236}">
                <a16:creationId xmlns:a16="http://schemas.microsoft.com/office/drawing/2014/main" id="{22BA8BBA-7D92-BAF9-3A0F-BC93CA9B03F6}"/>
              </a:ext>
            </a:extLst>
          </p:cNvPr>
          <p:cNvSpPr>
            <a:spLocks noGrp="1"/>
          </p:cNvSpPr>
          <p:nvPr>
            <p:ph idx="1"/>
          </p:nvPr>
        </p:nvSpPr>
        <p:spPr/>
        <p:txBody>
          <a:bodyPr/>
          <a:lstStyle/>
          <a:p>
            <a:r>
              <a:rPr lang="en-US" b="1" dirty="0">
                <a:solidFill>
                  <a:srgbClr val="FF0000"/>
                </a:solidFill>
              </a:rPr>
              <a:t>The three-dot operator ... </a:t>
            </a:r>
            <a:r>
              <a:rPr lang="en-US" dirty="0"/>
              <a:t>is known as the </a:t>
            </a:r>
            <a:r>
              <a:rPr lang="en-US" b="1" dirty="0"/>
              <a:t>Spread Operator</a:t>
            </a:r>
            <a:r>
              <a:rPr lang="en-US" dirty="0"/>
              <a:t> or the </a:t>
            </a:r>
            <a:r>
              <a:rPr lang="en-US" b="1" dirty="0"/>
              <a:t>Rest Operator</a:t>
            </a:r>
            <a:r>
              <a:rPr lang="en-US" dirty="0"/>
              <a:t>. Although they use the same syntax, their </a:t>
            </a:r>
            <a:r>
              <a:rPr lang="en-US" b="1" dirty="0"/>
              <a:t>meaning depends on the context</a:t>
            </a:r>
          </a:p>
          <a:p>
            <a:pPr lvl="1"/>
            <a:r>
              <a:rPr lang="en-US" b="1" dirty="0">
                <a:solidFill>
                  <a:srgbClr val="FF0000"/>
                </a:solidFill>
              </a:rPr>
              <a:t>Spread Operator (...): </a:t>
            </a:r>
            <a:r>
              <a:rPr lang="en-US" dirty="0"/>
              <a:t>Used to </a:t>
            </a:r>
            <a:r>
              <a:rPr lang="en-US" b="1" dirty="0"/>
              <a:t>expand (spread)</a:t>
            </a:r>
            <a:r>
              <a:rPr lang="en-US" dirty="0"/>
              <a:t> elements of an array, object, or </a:t>
            </a:r>
            <a:r>
              <a:rPr lang="en-US" dirty="0" err="1"/>
              <a:t>iterable</a:t>
            </a:r>
            <a:r>
              <a:rPr lang="en-US" dirty="0"/>
              <a:t>.</a:t>
            </a:r>
          </a:p>
          <a:p>
            <a:pPr lvl="1"/>
            <a:r>
              <a:rPr lang="en-US" b="1" dirty="0"/>
              <a:t>Copy an array</a:t>
            </a:r>
          </a:p>
          <a:p>
            <a:endParaRPr lang="en-US" dirty="0"/>
          </a:p>
        </p:txBody>
      </p:sp>
      <p:pic>
        <p:nvPicPr>
          <p:cNvPr id="5" name="Picture 4">
            <a:extLst>
              <a:ext uri="{FF2B5EF4-FFF2-40B4-BE49-F238E27FC236}">
                <a16:creationId xmlns:a16="http://schemas.microsoft.com/office/drawing/2014/main" id="{9D4E277B-500A-807F-D982-EA35D2045C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9157" y="4741837"/>
            <a:ext cx="4515306" cy="15573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0276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D4041-396D-2EA7-A923-1427D196C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7372F-F028-3698-0925-B0A782DCC446}"/>
              </a:ext>
            </a:extLst>
          </p:cNvPr>
          <p:cNvSpPr>
            <a:spLocks noGrp="1"/>
          </p:cNvSpPr>
          <p:nvPr>
            <p:ph type="title"/>
          </p:nvPr>
        </p:nvSpPr>
        <p:spPr/>
        <p:txBody>
          <a:bodyPr/>
          <a:lstStyle/>
          <a:p>
            <a:r>
              <a:rPr lang="en-US" dirty="0"/>
              <a:t>The </a:t>
            </a:r>
            <a:r>
              <a:rPr lang="en-US" dirty="0" err="1"/>
              <a:t>threeDots</a:t>
            </a:r>
            <a:r>
              <a:rPr lang="en-US" dirty="0"/>
              <a:t> ...</a:t>
            </a:r>
          </a:p>
        </p:txBody>
      </p:sp>
      <p:sp>
        <p:nvSpPr>
          <p:cNvPr id="3" name="Content Placeholder 2">
            <a:extLst>
              <a:ext uri="{FF2B5EF4-FFF2-40B4-BE49-F238E27FC236}">
                <a16:creationId xmlns:a16="http://schemas.microsoft.com/office/drawing/2014/main" id="{43EC6CE8-1480-5431-C955-79EC2CC04925}"/>
              </a:ext>
            </a:extLst>
          </p:cNvPr>
          <p:cNvSpPr>
            <a:spLocks noGrp="1"/>
          </p:cNvSpPr>
          <p:nvPr>
            <p:ph idx="1"/>
          </p:nvPr>
        </p:nvSpPr>
        <p:spPr/>
        <p:txBody>
          <a:bodyPr/>
          <a:lstStyle/>
          <a:p>
            <a:r>
              <a:rPr lang="en-US" b="1" dirty="0">
                <a:solidFill>
                  <a:srgbClr val="FF0000"/>
                </a:solidFill>
              </a:rPr>
              <a:t>Spread Operator (...):</a:t>
            </a:r>
            <a:endParaRPr lang="en-US" b="1" dirty="0"/>
          </a:p>
          <a:p>
            <a:pPr lvl="1"/>
            <a:r>
              <a:rPr lang="en-US" b="1" dirty="0"/>
              <a:t>Merge arrays</a:t>
            </a:r>
          </a:p>
        </p:txBody>
      </p:sp>
      <p:pic>
        <p:nvPicPr>
          <p:cNvPr id="5" name="Picture 4">
            <a:extLst>
              <a:ext uri="{FF2B5EF4-FFF2-40B4-BE49-F238E27FC236}">
                <a16:creationId xmlns:a16="http://schemas.microsoft.com/office/drawing/2014/main" id="{1504619B-3D2C-763E-F5AA-73F6DB8D5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8329" y="2971767"/>
            <a:ext cx="4895341" cy="22860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870253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F809E-FD53-D184-B069-964C4E3B4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FEB19-7F92-5160-9720-060FF720772A}"/>
              </a:ext>
            </a:extLst>
          </p:cNvPr>
          <p:cNvSpPr>
            <a:spLocks noGrp="1"/>
          </p:cNvSpPr>
          <p:nvPr>
            <p:ph type="title"/>
          </p:nvPr>
        </p:nvSpPr>
        <p:spPr/>
        <p:txBody>
          <a:bodyPr/>
          <a:lstStyle/>
          <a:p>
            <a:r>
              <a:rPr lang="en-US" dirty="0"/>
              <a:t>The </a:t>
            </a:r>
            <a:r>
              <a:rPr lang="en-US" dirty="0" err="1"/>
              <a:t>threeDots</a:t>
            </a:r>
            <a:r>
              <a:rPr lang="en-US" dirty="0"/>
              <a:t> ...</a:t>
            </a:r>
          </a:p>
        </p:txBody>
      </p:sp>
      <p:sp>
        <p:nvSpPr>
          <p:cNvPr id="3" name="Content Placeholder 2">
            <a:extLst>
              <a:ext uri="{FF2B5EF4-FFF2-40B4-BE49-F238E27FC236}">
                <a16:creationId xmlns:a16="http://schemas.microsoft.com/office/drawing/2014/main" id="{82E2E68C-D66E-6CF7-6F0E-C0B96C05D858}"/>
              </a:ext>
            </a:extLst>
          </p:cNvPr>
          <p:cNvSpPr>
            <a:spLocks noGrp="1"/>
          </p:cNvSpPr>
          <p:nvPr>
            <p:ph idx="1"/>
          </p:nvPr>
        </p:nvSpPr>
        <p:spPr/>
        <p:txBody>
          <a:bodyPr/>
          <a:lstStyle/>
          <a:p>
            <a:r>
              <a:rPr lang="en-US" b="1" dirty="0">
                <a:solidFill>
                  <a:srgbClr val="FF0000"/>
                </a:solidFill>
              </a:rPr>
              <a:t>Pass arguments to a function</a:t>
            </a:r>
          </a:p>
        </p:txBody>
      </p:sp>
      <p:pic>
        <p:nvPicPr>
          <p:cNvPr id="5" name="Picture 4">
            <a:extLst>
              <a:ext uri="{FF2B5EF4-FFF2-40B4-BE49-F238E27FC236}">
                <a16:creationId xmlns:a16="http://schemas.microsoft.com/office/drawing/2014/main" id="{6357BD6F-C49B-E26E-C789-49D01062A4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4625" y="2555094"/>
            <a:ext cx="5572126" cy="29313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514520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AE069-7358-5FCA-3956-18B54E004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2C54D-AF95-A1D8-2863-081FC3924592}"/>
              </a:ext>
            </a:extLst>
          </p:cNvPr>
          <p:cNvSpPr>
            <a:spLocks noGrp="1"/>
          </p:cNvSpPr>
          <p:nvPr>
            <p:ph type="title"/>
          </p:nvPr>
        </p:nvSpPr>
        <p:spPr/>
        <p:txBody>
          <a:bodyPr/>
          <a:lstStyle/>
          <a:p>
            <a:r>
              <a:rPr lang="en-US" dirty="0"/>
              <a:t>The </a:t>
            </a:r>
            <a:r>
              <a:rPr lang="en-US" dirty="0" err="1"/>
              <a:t>threeDots</a:t>
            </a:r>
            <a:r>
              <a:rPr lang="en-US" dirty="0"/>
              <a:t> ...</a:t>
            </a:r>
          </a:p>
        </p:txBody>
      </p:sp>
      <p:sp>
        <p:nvSpPr>
          <p:cNvPr id="3" name="Content Placeholder 2">
            <a:extLst>
              <a:ext uri="{FF2B5EF4-FFF2-40B4-BE49-F238E27FC236}">
                <a16:creationId xmlns:a16="http://schemas.microsoft.com/office/drawing/2014/main" id="{3F7513DD-BC5D-7C60-7571-A7B24A732B67}"/>
              </a:ext>
            </a:extLst>
          </p:cNvPr>
          <p:cNvSpPr>
            <a:spLocks noGrp="1"/>
          </p:cNvSpPr>
          <p:nvPr>
            <p:ph idx="1"/>
          </p:nvPr>
        </p:nvSpPr>
        <p:spPr/>
        <p:txBody>
          <a:bodyPr/>
          <a:lstStyle/>
          <a:p>
            <a:r>
              <a:rPr lang="en-US" b="1" dirty="0">
                <a:solidFill>
                  <a:srgbClr val="FF0000"/>
                </a:solidFill>
              </a:rPr>
              <a:t>Copy and merge objects</a:t>
            </a:r>
          </a:p>
        </p:txBody>
      </p:sp>
      <p:pic>
        <p:nvPicPr>
          <p:cNvPr id="5" name="Picture 4">
            <a:extLst>
              <a:ext uri="{FF2B5EF4-FFF2-40B4-BE49-F238E27FC236}">
                <a16:creationId xmlns:a16="http://schemas.microsoft.com/office/drawing/2014/main" id="{77922A75-F3EB-C662-D572-B3D07AF5F0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2277" y="2446306"/>
            <a:ext cx="7821340" cy="28114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681925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FEC5F-8538-B815-AA66-F75AFBE1433D}"/>
              </a:ext>
            </a:extLst>
          </p:cNvPr>
          <p:cNvSpPr>
            <a:spLocks noGrp="1"/>
          </p:cNvSpPr>
          <p:nvPr>
            <p:ph type="title"/>
          </p:nvPr>
        </p:nvSpPr>
        <p:spPr/>
        <p:txBody>
          <a:bodyPr/>
          <a:lstStyle/>
          <a:p>
            <a:r>
              <a:rPr lang="en-US" dirty="0"/>
              <a:t>The </a:t>
            </a:r>
            <a:r>
              <a:rPr lang="en-US" dirty="0" err="1"/>
              <a:t>threeDots</a:t>
            </a:r>
            <a:r>
              <a:rPr lang="en-US" dirty="0"/>
              <a:t> ...</a:t>
            </a:r>
          </a:p>
        </p:txBody>
      </p:sp>
      <p:sp>
        <p:nvSpPr>
          <p:cNvPr id="3" name="Content Placeholder 2">
            <a:extLst>
              <a:ext uri="{FF2B5EF4-FFF2-40B4-BE49-F238E27FC236}">
                <a16:creationId xmlns:a16="http://schemas.microsoft.com/office/drawing/2014/main" id="{8B2ABCBD-74FE-3BE1-99D0-2F2A3270697C}"/>
              </a:ext>
            </a:extLst>
          </p:cNvPr>
          <p:cNvSpPr>
            <a:spLocks noGrp="1"/>
          </p:cNvSpPr>
          <p:nvPr>
            <p:ph idx="1"/>
          </p:nvPr>
        </p:nvSpPr>
        <p:spPr/>
        <p:txBody>
          <a:bodyPr/>
          <a:lstStyle/>
          <a:p>
            <a:r>
              <a:rPr lang="en-US" b="1" dirty="0">
                <a:solidFill>
                  <a:srgbClr val="FF0000"/>
                </a:solidFill>
              </a:rPr>
              <a:t>Rest Operator (...)</a:t>
            </a:r>
            <a:r>
              <a:rPr lang="en-US" dirty="0"/>
              <a:t>: Used to </a:t>
            </a:r>
            <a:r>
              <a:rPr lang="en-US" b="1" dirty="0"/>
              <a:t>collect multiple elements or parameters into an array</a:t>
            </a:r>
            <a:r>
              <a:rPr lang="en-US" dirty="0"/>
              <a:t>.</a:t>
            </a:r>
          </a:p>
          <a:p>
            <a:r>
              <a:rPr lang="en-US" dirty="0"/>
              <a:t> </a:t>
            </a:r>
            <a:r>
              <a:rPr lang="en-US" b="1" dirty="0"/>
              <a:t>Rest parameters in functions</a:t>
            </a:r>
          </a:p>
        </p:txBody>
      </p:sp>
      <p:pic>
        <p:nvPicPr>
          <p:cNvPr id="5" name="Picture 4">
            <a:extLst>
              <a:ext uri="{FF2B5EF4-FFF2-40B4-BE49-F238E27FC236}">
                <a16:creationId xmlns:a16="http://schemas.microsoft.com/office/drawing/2014/main" id="{479DB15C-E496-DD65-52FE-EE5A4BFFAC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7017" y="3328987"/>
            <a:ext cx="9197965" cy="27146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20288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E5D35-CD44-E616-99AD-1EF298E385B3}"/>
              </a:ext>
            </a:extLst>
          </p:cNvPr>
          <p:cNvSpPr>
            <a:spLocks noGrp="1"/>
          </p:cNvSpPr>
          <p:nvPr>
            <p:ph type="title"/>
          </p:nvPr>
        </p:nvSpPr>
        <p:spPr/>
        <p:txBody>
          <a:bodyPr/>
          <a:lstStyle/>
          <a:p>
            <a:r>
              <a:rPr lang="en-US" dirty="0"/>
              <a:t>The </a:t>
            </a:r>
            <a:r>
              <a:rPr lang="en-US" dirty="0" err="1"/>
              <a:t>threeDots</a:t>
            </a:r>
            <a:r>
              <a:rPr lang="en-US" dirty="0"/>
              <a:t> ...</a:t>
            </a:r>
          </a:p>
        </p:txBody>
      </p:sp>
      <p:sp>
        <p:nvSpPr>
          <p:cNvPr id="3" name="Content Placeholder 2">
            <a:extLst>
              <a:ext uri="{FF2B5EF4-FFF2-40B4-BE49-F238E27FC236}">
                <a16:creationId xmlns:a16="http://schemas.microsoft.com/office/drawing/2014/main" id="{4E629D3F-409C-B004-4EF2-AD89A7D4F229}"/>
              </a:ext>
            </a:extLst>
          </p:cNvPr>
          <p:cNvSpPr>
            <a:spLocks noGrp="1"/>
          </p:cNvSpPr>
          <p:nvPr>
            <p:ph idx="1"/>
          </p:nvPr>
        </p:nvSpPr>
        <p:spPr/>
        <p:txBody>
          <a:bodyPr/>
          <a:lstStyle/>
          <a:p>
            <a:r>
              <a:rPr lang="en-US" b="1" dirty="0">
                <a:solidFill>
                  <a:srgbClr val="FF0000"/>
                </a:solidFill>
              </a:rPr>
              <a:t>Rest in array </a:t>
            </a:r>
            <a:r>
              <a:rPr lang="en-US" b="1" dirty="0" err="1">
                <a:solidFill>
                  <a:srgbClr val="FF0000"/>
                </a:solidFill>
              </a:rPr>
              <a:t>destructuring</a:t>
            </a:r>
            <a:endParaRPr lang="en-US" b="1" dirty="0">
              <a:solidFill>
                <a:srgbClr val="FF0000"/>
              </a:solidFill>
            </a:endParaRPr>
          </a:p>
        </p:txBody>
      </p:sp>
      <p:pic>
        <p:nvPicPr>
          <p:cNvPr id="5" name="Picture 4">
            <a:extLst>
              <a:ext uri="{FF2B5EF4-FFF2-40B4-BE49-F238E27FC236}">
                <a16:creationId xmlns:a16="http://schemas.microsoft.com/office/drawing/2014/main" id="{103616EB-DE83-D152-35C9-7A1C35927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8096" y="2323024"/>
            <a:ext cx="7034290" cy="31263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10007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5BED3-5AEF-1D57-FAE5-CA2062C0D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D3A9C-4B25-C76D-309A-54D252594EAF}"/>
              </a:ext>
            </a:extLst>
          </p:cNvPr>
          <p:cNvSpPr>
            <a:spLocks noGrp="1"/>
          </p:cNvSpPr>
          <p:nvPr>
            <p:ph type="title"/>
          </p:nvPr>
        </p:nvSpPr>
        <p:spPr/>
        <p:txBody>
          <a:bodyPr/>
          <a:lstStyle/>
          <a:p>
            <a:r>
              <a:rPr lang="en-US" dirty="0"/>
              <a:t>The </a:t>
            </a:r>
            <a:r>
              <a:rPr lang="en-US" dirty="0" err="1"/>
              <a:t>threeDots</a:t>
            </a:r>
            <a:r>
              <a:rPr lang="en-US" dirty="0"/>
              <a:t> ...</a:t>
            </a:r>
          </a:p>
        </p:txBody>
      </p:sp>
      <p:sp>
        <p:nvSpPr>
          <p:cNvPr id="3" name="Content Placeholder 2">
            <a:extLst>
              <a:ext uri="{FF2B5EF4-FFF2-40B4-BE49-F238E27FC236}">
                <a16:creationId xmlns:a16="http://schemas.microsoft.com/office/drawing/2014/main" id="{E4E2EE5D-82E3-F899-70EA-D99624F416FC}"/>
              </a:ext>
            </a:extLst>
          </p:cNvPr>
          <p:cNvSpPr>
            <a:spLocks noGrp="1"/>
          </p:cNvSpPr>
          <p:nvPr>
            <p:ph idx="1"/>
          </p:nvPr>
        </p:nvSpPr>
        <p:spPr/>
        <p:txBody>
          <a:bodyPr/>
          <a:lstStyle/>
          <a:p>
            <a:r>
              <a:rPr lang="en-US" b="1" dirty="0">
                <a:solidFill>
                  <a:srgbClr val="FF0000"/>
                </a:solidFill>
              </a:rPr>
              <a:t>Rest in object </a:t>
            </a:r>
            <a:r>
              <a:rPr lang="en-US" b="1" dirty="0" err="1">
                <a:solidFill>
                  <a:srgbClr val="FF0000"/>
                </a:solidFill>
              </a:rPr>
              <a:t>destructuring</a:t>
            </a:r>
            <a:endParaRPr lang="en-US" b="1" dirty="0">
              <a:solidFill>
                <a:srgbClr val="FF0000"/>
              </a:solidFill>
            </a:endParaRPr>
          </a:p>
        </p:txBody>
      </p:sp>
      <p:pic>
        <p:nvPicPr>
          <p:cNvPr id="9" name="Picture 8">
            <a:extLst>
              <a:ext uri="{FF2B5EF4-FFF2-40B4-BE49-F238E27FC236}">
                <a16:creationId xmlns:a16="http://schemas.microsoft.com/office/drawing/2014/main" id="{71F5C5B8-F2BB-3485-637D-5E3F6A9FC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5723" y="2365312"/>
            <a:ext cx="5773828" cy="40037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415569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832FA-2CC7-0AD3-F410-C0B5A5CC1B46}"/>
              </a:ext>
            </a:extLst>
          </p:cNvPr>
          <p:cNvSpPr>
            <a:spLocks noGrp="1"/>
          </p:cNvSpPr>
          <p:nvPr>
            <p:ph type="title"/>
          </p:nvPr>
        </p:nvSpPr>
        <p:spPr/>
        <p:txBody>
          <a:bodyPr/>
          <a:lstStyle/>
          <a:p>
            <a:r>
              <a:rPr lang="en-US" dirty="0" err="1"/>
              <a:t>Destructuring</a:t>
            </a:r>
            <a:r>
              <a:rPr lang="en-US" dirty="0"/>
              <a:t> in ES6</a:t>
            </a:r>
          </a:p>
        </p:txBody>
      </p:sp>
      <p:sp>
        <p:nvSpPr>
          <p:cNvPr id="3" name="Content Placeholder 2">
            <a:extLst>
              <a:ext uri="{FF2B5EF4-FFF2-40B4-BE49-F238E27FC236}">
                <a16:creationId xmlns:a16="http://schemas.microsoft.com/office/drawing/2014/main" id="{9D7CD1FF-1733-F94E-0D73-2C97834CD691}"/>
              </a:ext>
            </a:extLst>
          </p:cNvPr>
          <p:cNvSpPr>
            <a:spLocks noGrp="1"/>
          </p:cNvSpPr>
          <p:nvPr>
            <p:ph idx="1"/>
          </p:nvPr>
        </p:nvSpPr>
        <p:spPr/>
        <p:txBody>
          <a:bodyPr/>
          <a:lstStyle/>
          <a:p>
            <a:r>
              <a:rPr lang="en-US" b="1" dirty="0" err="1"/>
              <a:t>Destructuring</a:t>
            </a:r>
            <a:r>
              <a:rPr lang="en-US" dirty="0"/>
              <a:t> is an ES6 feature that allows you to </a:t>
            </a:r>
            <a:r>
              <a:rPr lang="en-US" b="1" dirty="0"/>
              <a:t>extract values</a:t>
            </a:r>
            <a:r>
              <a:rPr lang="en-US" dirty="0"/>
              <a:t> from </a:t>
            </a:r>
            <a:r>
              <a:rPr lang="en-US" b="1" dirty="0"/>
              <a:t>arrays or objects</a:t>
            </a:r>
            <a:r>
              <a:rPr lang="en-US" dirty="0"/>
              <a:t> and assign them to </a:t>
            </a:r>
            <a:r>
              <a:rPr lang="en-US" b="1" dirty="0"/>
              <a:t>variables</a:t>
            </a:r>
            <a:r>
              <a:rPr lang="en-US" dirty="0"/>
              <a:t> in a </a:t>
            </a:r>
            <a:r>
              <a:rPr lang="en-US" b="1" dirty="0"/>
              <a:t>shorter and more readable way</a:t>
            </a:r>
            <a:r>
              <a:rPr lang="en-US" dirty="0"/>
              <a:t>.</a:t>
            </a:r>
          </a:p>
        </p:txBody>
      </p:sp>
    </p:spTree>
    <p:extLst>
      <p:ext uri="{BB962C8B-B14F-4D97-AF65-F5344CB8AC3E}">
        <p14:creationId xmlns:p14="http://schemas.microsoft.com/office/powerpoint/2010/main" val="38666178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40294-5ABB-A0B6-21E4-96F3B0B515E9}"/>
              </a:ext>
            </a:extLst>
          </p:cNvPr>
          <p:cNvSpPr>
            <a:spLocks noGrp="1"/>
          </p:cNvSpPr>
          <p:nvPr>
            <p:ph type="title"/>
          </p:nvPr>
        </p:nvSpPr>
        <p:spPr/>
        <p:txBody>
          <a:bodyPr/>
          <a:lstStyle/>
          <a:p>
            <a:r>
              <a:rPr lang="en-US" dirty="0"/>
              <a:t>Array </a:t>
            </a:r>
            <a:r>
              <a:rPr lang="en-US" dirty="0" err="1"/>
              <a:t>Destructuring</a:t>
            </a:r>
            <a:endParaRPr lang="en-US" dirty="0"/>
          </a:p>
        </p:txBody>
      </p:sp>
      <p:sp>
        <p:nvSpPr>
          <p:cNvPr id="3" name="Content Placeholder 2">
            <a:extLst>
              <a:ext uri="{FF2B5EF4-FFF2-40B4-BE49-F238E27FC236}">
                <a16:creationId xmlns:a16="http://schemas.microsoft.com/office/drawing/2014/main" id="{446E4425-F7CE-ED89-3E17-986560306039}"/>
              </a:ext>
            </a:extLst>
          </p:cNvPr>
          <p:cNvSpPr>
            <a:spLocks noGrp="1"/>
          </p:cNvSpPr>
          <p:nvPr>
            <p:ph idx="1"/>
          </p:nvPr>
        </p:nvSpPr>
        <p:spPr/>
        <p:txBody>
          <a:bodyPr/>
          <a:lstStyle/>
          <a:p>
            <a:r>
              <a:rPr lang="en-US" b="1" dirty="0">
                <a:solidFill>
                  <a:srgbClr val="FF0000"/>
                </a:solidFill>
              </a:rPr>
              <a:t>Basic Array </a:t>
            </a:r>
            <a:r>
              <a:rPr lang="en-US" b="1" dirty="0" err="1">
                <a:solidFill>
                  <a:srgbClr val="FF0000"/>
                </a:solidFill>
              </a:rPr>
              <a:t>Destructuring</a:t>
            </a:r>
            <a:endParaRPr lang="en-US" b="1" dirty="0">
              <a:solidFill>
                <a:srgbClr val="FF0000"/>
              </a:solidFill>
            </a:endParaRPr>
          </a:p>
        </p:txBody>
      </p:sp>
      <p:pic>
        <p:nvPicPr>
          <p:cNvPr id="5" name="Picture 4">
            <a:extLst>
              <a:ext uri="{FF2B5EF4-FFF2-40B4-BE49-F238E27FC236}">
                <a16:creationId xmlns:a16="http://schemas.microsoft.com/office/drawing/2014/main" id="{35770CBD-70E6-CDD7-C71B-B9274635B2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6366" y="2392093"/>
            <a:ext cx="5239268" cy="34395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226136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C89F1-C193-02B6-BAAB-199F87AC834E}"/>
              </a:ext>
            </a:extLst>
          </p:cNvPr>
          <p:cNvSpPr>
            <a:spLocks noGrp="1"/>
          </p:cNvSpPr>
          <p:nvPr>
            <p:ph type="title"/>
          </p:nvPr>
        </p:nvSpPr>
        <p:spPr/>
        <p:txBody>
          <a:bodyPr/>
          <a:lstStyle/>
          <a:p>
            <a:r>
              <a:rPr lang="en-US" dirty="0"/>
              <a:t>Array </a:t>
            </a:r>
            <a:r>
              <a:rPr lang="en-US" dirty="0" err="1"/>
              <a:t>Destructuring</a:t>
            </a:r>
            <a:endParaRPr lang="en-US" dirty="0"/>
          </a:p>
        </p:txBody>
      </p:sp>
      <p:sp>
        <p:nvSpPr>
          <p:cNvPr id="3" name="Content Placeholder 2">
            <a:extLst>
              <a:ext uri="{FF2B5EF4-FFF2-40B4-BE49-F238E27FC236}">
                <a16:creationId xmlns:a16="http://schemas.microsoft.com/office/drawing/2014/main" id="{A1EB2817-2DBD-49AC-2050-5762E69B07C7}"/>
              </a:ext>
            </a:extLst>
          </p:cNvPr>
          <p:cNvSpPr>
            <a:spLocks noGrp="1"/>
          </p:cNvSpPr>
          <p:nvPr>
            <p:ph idx="1"/>
          </p:nvPr>
        </p:nvSpPr>
        <p:spPr/>
        <p:txBody>
          <a:bodyPr/>
          <a:lstStyle/>
          <a:p>
            <a:r>
              <a:rPr lang="en-US" b="1" dirty="0">
                <a:solidFill>
                  <a:srgbClr val="FF0000"/>
                </a:solidFill>
              </a:rPr>
              <a:t>Skipping Elements</a:t>
            </a:r>
          </a:p>
        </p:txBody>
      </p:sp>
      <p:pic>
        <p:nvPicPr>
          <p:cNvPr id="5" name="Picture 4">
            <a:extLst>
              <a:ext uri="{FF2B5EF4-FFF2-40B4-BE49-F238E27FC236}">
                <a16:creationId xmlns:a16="http://schemas.microsoft.com/office/drawing/2014/main" id="{9B40C5E9-86C2-2B5A-BF30-39299091D0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3573" y="2339934"/>
            <a:ext cx="7583335" cy="35274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651212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7A9A-B59B-D460-C385-291512C779B6}"/>
              </a:ext>
            </a:extLst>
          </p:cNvPr>
          <p:cNvSpPr>
            <a:spLocks noGrp="1"/>
          </p:cNvSpPr>
          <p:nvPr>
            <p:ph type="title"/>
          </p:nvPr>
        </p:nvSpPr>
        <p:spPr/>
        <p:txBody>
          <a:bodyPr/>
          <a:lstStyle/>
          <a:p>
            <a:r>
              <a:rPr lang="en-US" dirty="0"/>
              <a:t>Array </a:t>
            </a:r>
            <a:r>
              <a:rPr lang="en-US" dirty="0" err="1"/>
              <a:t>Destructuring</a:t>
            </a:r>
            <a:endParaRPr lang="en-US" dirty="0"/>
          </a:p>
        </p:txBody>
      </p:sp>
      <p:sp>
        <p:nvSpPr>
          <p:cNvPr id="3" name="Content Placeholder 2">
            <a:extLst>
              <a:ext uri="{FF2B5EF4-FFF2-40B4-BE49-F238E27FC236}">
                <a16:creationId xmlns:a16="http://schemas.microsoft.com/office/drawing/2014/main" id="{7F056D50-E828-4A9A-8277-7112C1CE86E4}"/>
              </a:ext>
            </a:extLst>
          </p:cNvPr>
          <p:cNvSpPr>
            <a:spLocks noGrp="1"/>
          </p:cNvSpPr>
          <p:nvPr>
            <p:ph idx="1"/>
          </p:nvPr>
        </p:nvSpPr>
        <p:spPr/>
        <p:txBody>
          <a:bodyPr/>
          <a:lstStyle/>
          <a:p>
            <a:r>
              <a:rPr lang="en-US" b="1" dirty="0">
                <a:solidFill>
                  <a:srgbClr val="FF0000"/>
                </a:solidFill>
              </a:rPr>
              <a:t>Default Values</a:t>
            </a:r>
          </a:p>
        </p:txBody>
      </p:sp>
      <p:pic>
        <p:nvPicPr>
          <p:cNvPr id="5" name="Picture 4">
            <a:extLst>
              <a:ext uri="{FF2B5EF4-FFF2-40B4-BE49-F238E27FC236}">
                <a16:creationId xmlns:a16="http://schemas.microsoft.com/office/drawing/2014/main" id="{E67B9E67-040F-3C05-0078-570F47ECCA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66" y="2506851"/>
            <a:ext cx="6790950" cy="32411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85986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4FEFC-C065-11E4-6B88-21A1636A6386}"/>
              </a:ext>
            </a:extLst>
          </p:cNvPr>
          <p:cNvSpPr>
            <a:spLocks noGrp="1"/>
          </p:cNvSpPr>
          <p:nvPr>
            <p:ph type="title"/>
          </p:nvPr>
        </p:nvSpPr>
        <p:spPr/>
        <p:txBody>
          <a:bodyPr/>
          <a:lstStyle/>
          <a:p>
            <a:r>
              <a:rPr lang="en-US" dirty="0"/>
              <a:t>Array </a:t>
            </a:r>
            <a:r>
              <a:rPr lang="en-US" dirty="0" err="1"/>
              <a:t>Destructuring</a:t>
            </a:r>
            <a:endParaRPr lang="en-US" dirty="0"/>
          </a:p>
        </p:txBody>
      </p:sp>
      <p:sp>
        <p:nvSpPr>
          <p:cNvPr id="3" name="Content Placeholder 2">
            <a:extLst>
              <a:ext uri="{FF2B5EF4-FFF2-40B4-BE49-F238E27FC236}">
                <a16:creationId xmlns:a16="http://schemas.microsoft.com/office/drawing/2014/main" id="{C3374528-A4E2-167B-A307-787FC695B947}"/>
              </a:ext>
            </a:extLst>
          </p:cNvPr>
          <p:cNvSpPr>
            <a:spLocks noGrp="1"/>
          </p:cNvSpPr>
          <p:nvPr>
            <p:ph idx="1"/>
          </p:nvPr>
        </p:nvSpPr>
        <p:spPr/>
        <p:txBody>
          <a:bodyPr/>
          <a:lstStyle/>
          <a:p>
            <a:r>
              <a:rPr lang="en-US" b="1" dirty="0">
                <a:solidFill>
                  <a:srgbClr val="FF0000"/>
                </a:solidFill>
              </a:rPr>
              <a:t>Swapping Variables</a:t>
            </a:r>
          </a:p>
        </p:txBody>
      </p:sp>
      <p:pic>
        <p:nvPicPr>
          <p:cNvPr id="5" name="Picture 4">
            <a:extLst>
              <a:ext uri="{FF2B5EF4-FFF2-40B4-BE49-F238E27FC236}">
                <a16:creationId xmlns:a16="http://schemas.microsoft.com/office/drawing/2014/main" id="{8BD56754-B1F7-EA35-1BC8-D36161D53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9435" y="1819663"/>
            <a:ext cx="5188907" cy="43525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193574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1EAC6-0356-CAE3-53DB-12AA9B4ADF3B}"/>
              </a:ext>
            </a:extLst>
          </p:cNvPr>
          <p:cNvSpPr>
            <a:spLocks noGrp="1"/>
          </p:cNvSpPr>
          <p:nvPr>
            <p:ph type="title"/>
          </p:nvPr>
        </p:nvSpPr>
        <p:spPr/>
        <p:txBody>
          <a:bodyPr/>
          <a:lstStyle/>
          <a:p>
            <a:r>
              <a:rPr lang="en-US" dirty="0"/>
              <a:t>Array </a:t>
            </a:r>
            <a:r>
              <a:rPr lang="en-US" dirty="0" err="1"/>
              <a:t>Destructuring</a:t>
            </a:r>
            <a:endParaRPr lang="en-US" dirty="0"/>
          </a:p>
        </p:txBody>
      </p:sp>
      <p:sp>
        <p:nvSpPr>
          <p:cNvPr id="3" name="Content Placeholder 2">
            <a:extLst>
              <a:ext uri="{FF2B5EF4-FFF2-40B4-BE49-F238E27FC236}">
                <a16:creationId xmlns:a16="http://schemas.microsoft.com/office/drawing/2014/main" id="{12A29E62-3126-9232-2734-29AFBAFA4C5A}"/>
              </a:ext>
            </a:extLst>
          </p:cNvPr>
          <p:cNvSpPr>
            <a:spLocks noGrp="1"/>
          </p:cNvSpPr>
          <p:nvPr>
            <p:ph idx="1"/>
          </p:nvPr>
        </p:nvSpPr>
        <p:spPr/>
        <p:txBody>
          <a:bodyPr/>
          <a:lstStyle/>
          <a:p>
            <a:r>
              <a:rPr lang="en-US" b="1" dirty="0">
                <a:solidFill>
                  <a:srgbClr val="FF0000"/>
                </a:solidFill>
              </a:rPr>
              <a:t>Rest Operator in Array </a:t>
            </a:r>
            <a:r>
              <a:rPr lang="en-US" b="1" dirty="0" err="1">
                <a:solidFill>
                  <a:srgbClr val="FF0000"/>
                </a:solidFill>
              </a:rPr>
              <a:t>Destructuring</a:t>
            </a:r>
            <a:endParaRPr lang="en-US" b="1" dirty="0">
              <a:solidFill>
                <a:srgbClr val="FF0000"/>
              </a:solidFill>
            </a:endParaRPr>
          </a:p>
        </p:txBody>
      </p:sp>
      <p:pic>
        <p:nvPicPr>
          <p:cNvPr id="5" name="Picture 4">
            <a:extLst>
              <a:ext uri="{FF2B5EF4-FFF2-40B4-BE49-F238E27FC236}">
                <a16:creationId xmlns:a16="http://schemas.microsoft.com/office/drawing/2014/main" id="{329396AE-D88B-E9BB-66D6-464C47C37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8991" y="2412957"/>
            <a:ext cx="6732499" cy="33927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413577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2A281-8047-A9AB-EBF5-1FBC66DB0E9A}"/>
              </a:ext>
            </a:extLst>
          </p:cNvPr>
          <p:cNvSpPr>
            <a:spLocks noGrp="1"/>
          </p:cNvSpPr>
          <p:nvPr>
            <p:ph type="title"/>
          </p:nvPr>
        </p:nvSpPr>
        <p:spPr/>
        <p:txBody>
          <a:bodyPr/>
          <a:lstStyle/>
          <a:p>
            <a:r>
              <a:rPr lang="en-US" dirty="0"/>
              <a:t>Object </a:t>
            </a:r>
            <a:r>
              <a:rPr lang="en-US" dirty="0" err="1"/>
              <a:t>Destructuring</a:t>
            </a:r>
            <a:endParaRPr lang="en-US" dirty="0"/>
          </a:p>
        </p:txBody>
      </p:sp>
      <p:sp>
        <p:nvSpPr>
          <p:cNvPr id="3" name="Content Placeholder 2">
            <a:extLst>
              <a:ext uri="{FF2B5EF4-FFF2-40B4-BE49-F238E27FC236}">
                <a16:creationId xmlns:a16="http://schemas.microsoft.com/office/drawing/2014/main" id="{18B61A72-9946-DA5C-FFFF-6E257F1EBCE8}"/>
              </a:ext>
            </a:extLst>
          </p:cNvPr>
          <p:cNvSpPr>
            <a:spLocks noGrp="1"/>
          </p:cNvSpPr>
          <p:nvPr>
            <p:ph idx="1"/>
          </p:nvPr>
        </p:nvSpPr>
        <p:spPr/>
        <p:txBody>
          <a:bodyPr/>
          <a:lstStyle/>
          <a:p>
            <a:r>
              <a:rPr lang="en-US" b="1" dirty="0">
                <a:solidFill>
                  <a:srgbClr val="FF0000"/>
                </a:solidFill>
              </a:rPr>
              <a:t>Basic Object </a:t>
            </a:r>
            <a:r>
              <a:rPr lang="en-US" b="1" dirty="0" err="1">
                <a:solidFill>
                  <a:srgbClr val="FF0000"/>
                </a:solidFill>
              </a:rPr>
              <a:t>Destructuring</a:t>
            </a:r>
            <a:endParaRPr lang="en-US" b="1" dirty="0">
              <a:solidFill>
                <a:srgbClr val="FF0000"/>
              </a:solidFill>
            </a:endParaRPr>
          </a:p>
        </p:txBody>
      </p:sp>
      <p:pic>
        <p:nvPicPr>
          <p:cNvPr id="5" name="Picture 4">
            <a:extLst>
              <a:ext uri="{FF2B5EF4-FFF2-40B4-BE49-F238E27FC236}">
                <a16:creationId xmlns:a16="http://schemas.microsoft.com/office/drawing/2014/main" id="{9F19C8A3-5D18-7262-0EBE-685533CF6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5730" y="2250563"/>
            <a:ext cx="4860540" cy="41893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487696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47C5E-F38E-9D76-D5B9-8D902B7F7C69}"/>
              </a:ext>
            </a:extLst>
          </p:cNvPr>
          <p:cNvSpPr>
            <a:spLocks noGrp="1"/>
          </p:cNvSpPr>
          <p:nvPr>
            <p:ph type="title"/>
          </p:nvPr>
        </p:nvSpPr>
        <p:spPr/>
        <p:txBody>
          <a:bodyPr/>
          <a:lstStyle/>
          <a:p>
            <a:r>
              <a:rPr lang="en-US" dirty="0"/>
              <a:t>Object </a:t>
            </a:r>
            <a:r>
              <a:rPr lang="en-US" dirty="0" err="1"/>
              <a:t>Destructuring</a:t>
            </a:r>
            <a:endParaRPr lang="en-US" dirty="0"/>
          </a:p>
        </p:txBody>
      </p:sp>
      <p:sp>
        <p:nvSpPr>
          <p:cNvPr id="3" name="Content Placeholder 2">
            <a:extLst>
              <a:ext uri="{FF2B5EF4-FFF2-40B4-BE49-F238E27FC236}">
                <a16:creationId xmlns:a16="http://schemas.microsoft.com/office/drawing/2014/main" id="{FBE47CE0-8D88-E429-701F-49A3DD8AAE39}"/>
              </a:ext>
            </a:extLst>
          </p:cNvPr>
          <p:cNvSpPr>
            <a:spLocks noGrp="1"/>
          </p:cNvSpPr>
          <p:nvPr>
            <p:ph idx="1"/>
          </p:nvPr>
        </p:nvSpPr>
        <p:spPr/>
        <p:txBody>
          <a:bodyPr/>
          <a:lstStyle/>
          <a:p>
            <a:r>
              <a:rPr lang="en-US" b="1" dirty="0">
                <a:solidFill>
                  <a:srgbClr val="FF0000"/>
                </a:solidFill>
              </a:rPr>
              <a:t>Renaming Variables</a:t>
            </a:r>
          </a:p>
        </p:txBody>
      </p:sp>
      <p:pic>
        <p:nvPicPr>
          <p:cNvPr id="5" name="Picture 4">
            <a:extLst>
              <a:ext uri="{FF2B5EF4-FFF2-40B4-BE49-F238E27FC236}">
                <a16:creationId xmlns:a16="http://schemas.microsoft.com/office/drawing/2014/main" id="{20C3A5B8-DF2D-7D0C-1F19-D7313B610D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3922" y="2227882"/>
            <a:ext cx="5922364" cy="3944318"/>
          </a:xfrm>
          <a:prstGeom prst="rect">
            <a:avLst/>
          </a:prstGeom>
        </p:spPr>
      </p:pic>
    </p:spTree>
    <p:extLst>
      <p:ext uri="{BB962C8B-B14F-4D97-AF65-F5344CB8AC3E}">
        <p14:creationId xmlns:p14="http://schemas.microsoft.com/office/powerpoint/2010/main" val="12437764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BF13A-5D18-0764-5021-E722E1611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E9384-918C-7237-1B7A-5F6E0ADAB86D}"/>
              </a:ext>
            </a:extLst>
          </p:cNvPr>
          <p:cNvSpPr>
            <a:spLocks noGrp="1"/>
          </p:cNvSpPr>
          <p:nvPr>
            <p:ph type="title"/>
          </p:nvPr>
        </p:nvSpPr>
        <p:spPr/>
        <p:txBody>
          <a:bodyPr/>
          <a:lstStyle/>
          <a:p>
            <a:r>
              <a:rPr lang="en-US" dirty="0"/>
              <a:t>Object </a:t>
            </a:r>
            <a:r>
              <a:rPr lang="en-US" dirty="0" err="1"/>
              <a:t>Destructuring</a:t>
            </a:r>
            <a:endParaRPr lang="en-US" dirty="0"/>
          </a:p>
        </p:txBody>
      </p:sp>
      <p:sp>
        <p:nvSpPr>
          <p:cNvPr id="3" name="Content Placeholder 2">
            <a:extLst>
              <a:ext uri="{FF2B5EF4-FFF2-40B4-BE49-F238E27FC236}">
                <a16:creationId xmlns:a16="http://schemas.microsoft.com/office/drawing/2014/main" id="{20F6E9B7-A14E-71B5-236C-5F685E350A13}"/>
              </a:ext>
            </a:extLst>
          </p:cNvPr>
          <p:cNvSpPr>
            <a:spLocks noGrp="1"/>
          </p:cNvSpPr>
          <p:nvPr>
            <p:ph idx="1"/>
          </p:nvPr>
        </p:nvSpPr>
        <p:spPr/>
        <p:txBody>
          <a:bodyPr/>
          <a:lstStyle/>
          <a:p>
            <a:r>
              <a:rPr lang="en-US" b="1" dirty="0">
                <a:solidFill>
                  <a:srgbClr val="FF0000"/>
                </a:solidFill>
              </a:rPr>
              <a:t>Default Values</a:t>
            </a:r>
          </a:p>
        </p:txBody>
      </p:sp>
      <p:pic>
        <p:nvPicPr>
          <p:cNvPr id="5" name="Picture 4">
            <a:extLst>
              <a:ext uri="{FF2B5EF4-FFF2-40B4-BE49-F238E27FC236}">
                <a16:creationId xmlns:a16="http://schemas.microsoft.com/office/drawing/2014/main" id="{DE3389BB-72A0-1C36-9B04-E455353624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0752" y="2320878"/>
            <a:ext cx="6228978" cy="35576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489361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E6468-757D-9D1C-3E72-4FB9DF6ED57C}"/>
              </a:ext>
            </a:extLst>
          </p:cNvPr>
          <p:cNvSpPr>
            <a:spLocks noGrp="1"/>
          </p:cNvSpPr>
          <p:nvPr>
            <p:ph type="title"/>
          </p:nvPr>
        </p:nvSpPr>
        <p:spPr/>
        <p:txBody>
          <a:bodyPr/>
          <a:lstStyle/>
          <a:p>
            <a:r>
              <a:rPr lang="en-US" dirty="0"/>
              <a:t>Object </a:t>
            </a:r>
            <a:r>
              <a:rPr lang="en-US" dirty="0" err="1"/>
              <a:t>Destructuring</a:t>
            </a:r>
            <a:endParaRPr lang="en-US" dirty="0"/>
          </a:p>
        </p:txBody>
      </p:sp>
      <p:sp>
        <p:nvSpPr>
          <p:cNvPr id="3" name="Content Placeholder 2">
            <a:extLst>
              <a:ext uri="{FF2B5EF4-FFF2-40B4-BE49-F238E27FC236}">
                <a16:creationId xmlns:a16="http://schemas.microsoft.com/office/drawing/2014/main" id="{D291EB22-08E4-2973-E07F-EC02624B2C27}"/>
              </a:ext>
            </a:extLst>
          </p:cNvPr>
          <p:cNvSpPr>
            <a:spLocks noGrp="1"/>
          </p:cNvSpPr>
          <p:nvPr>
            <p:ph idx="1"/>
          </p:nvPr>
        </p:nvSpPr>
        <p:spPr/>
        <p:txBody>
          <a:bodyPr/>
          <a:lstStyle/>
          <a:p>
            <a:r>
              <a:rPr lang="en-US" b="1" dirty="0">
                <a:solidFill>
                  <a:srgbClr val="FF0000"/>
                </a:solidFill>
              </a:rPr>
              <a:t>Nested Object </a:t>
            </a:r>
            <a:r>
              <a:rPr lang="en-US" b="1" dirty="0" err="1">
                <a:solidFill>
                  <a:srgbClr val="FF0000"/>
                </a:solidFill>
              </a:rPr>
              <a:t>Destructuring</a:t>
            </a:r>
            <a:endParaRPr lang="en-US" b="1" dirty="0">
              <a:solidFill>
                <a:srgbClr val="FF0000"/>
              </a:solidFill>
            </a:endParaRPr>
          </a:p>
        </p:txBody>
      </p:sp>
      <p:pic>
        <p:nvPicPr>
          <p:cNvPr id="5" name="Picture 4">
            <a:extLst>
              <a:ext uri="{FF2B5EF4-FFF2-40B4-BE49-F238E27FC236}">
                <a16:creationId xmlns:a16="http://schemas.microsoft.com/office/drawing/2014/main" id="{54E502CD-64F7-17E3-8C9E-82E1634ABD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874" y="2331846"/>
            <a:ext cx="4156035" cy="3566160"/>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5BE72E13-A79F-C4BD-0A33-B2801D672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7923" y="2331846"/>
            <a:ext cx="5689203" cy="35661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176411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A395-93C0-2689-95CE-007A8D449ABC}"/>
              </a:ext>
            </a:extLst>
          </p:cNvPr>
          <p:cNvSpPr>
            <a:spLocks noGrp="1"/>
          </p:cNvSpPr>
          <p:nvPr>
            <p:ph type="title"/>
          </p:nvPr>
        </p:nvSpPr>
        <p:spPr/>
        <p:txBody>
          <a:bodyPr/>
          <a:lstStyle/>
          <a:p>
            <a:r>
              <a:rPr lang="en-US" dirty="0"/>
              <a:t>Object </a:t>
            </a:r>
            <a:r>
              <a:rPr lang="en-US" dirty="0" err="1"/>
              <a:t>Destructuring</a:t>
            </a:r>
            <a:endParaRPr lang="en-US" dirty="0"/>
          </a:p>
        </p:txBody>
      </p:sp>
      <p:sp>
        <p:nvSpPr>
          <p:cNvPr id="3" name="Content Placeholder 2">
            <a:extLst>
              <a:ext uri="{FF2B5EF4-FFF2-40B4-BE49-F238E27FC236}">
                <a16:creationId xmlns:a16="http://schemas.microsoft.com/office/drawing/2014/main" id="{E4CC198A-EBE4-D394-B3A9-EAD8D8C005B9}"/>
              </a:ext>
            </a:extLst>
          </p:cNvPr>
          <p:cNvSpPr>
            <a:spLocks noGrp="1"/>
          </p:cNvSpPr>
          <p:nvPr>
            <p:ph idx="1"/>
          </p:nvPr>
        </p:nvSpPr>
        <p:spPr/>
        <p:txBody>
          <a:bodyPr/>
          <a:lstStyle/>
          <a:p>
            <a:r>
              <a:rPr lang="en-US" b="1" dirty="0">
                <a:solidFill>
                  <a:srgbClr val="FF0000"/>
                </a:solidFill>
              </a:rPr>
              <a:t>Rest Operator in Object </a:t>
            </a:r>
            <a:r>
              <a:rPr lang="en-US" b="1" dirty="0" err="1">
                <a:solidFill>
                  <a:srgbClr val="FF0000"/>
                </a:solidFill>
              </a:rPr>
              <a:t>Destructuring</a:t>
            </a:r>
            <a:endParaRPr lang="en-US" b="1" dirty="0">
              <a:solidFill>
                <a:srgbClr val="FF0000"/>
              </a:solidFill>
            </a:endParaRPr>
          </a:p>
        </p:txBody>
      </p:sp>
      <p:pic>
        <p:nvPicPr>
          <p:cNvPr id="5" name="Picture 4">
            <a:extLst>
              <a:ext uri="{FF2B5EF4-FFF2-40B4-BE49-F238E27FC236}">
                <a16:creationId xmlns:a16="http://schemas.microsoft.com/office/drawing/2014/main" id="{4E923E93-75BB-1F8C-D5E6-52CF31830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8279" y="2297279"/>
            <a:ext cx="6885155" cy="41633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133027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BA113-B0EA-F2B3-A851-925B2E971401}"/>
              </a:ext>
            </a:extLst>
          </p:cNvPr>
          <p:cNvSpPr>
            <a:spLocks noGrp="1"/>
          </p:cNvSpPr>
          <p:nvPr>
            <p:ph type="title"/>
          </p:nvPr>
        </p:nvSpPr>
        <p:spPr/>
        <p:txBody>
          <a:bodyPr/>
          <a:lstStyle/>
          <a:p>
            <a:r>
              <a:rPr lang="en-US" dirty="0" err="1"/>
              <a:t>Destructuring</a:t>
            </a:r>
            <a:r>
              <a:rPr lang="en-US" dirty="0"/>
              <a:t> in Function Parameters</a:t>
            </a:r>
          </a:p>
        </p:txBody>
      </p:sp>
      <p:sp>
        <p:nvSpPr>
          <p:cNvPr id="3" name="Content Placeholder 2">
            <a:extLst>
              <a:ext uri="{FF2B5EF4-FFF2-40B4-BE49-F238E27FC236}">
                <a16:creationId xmlns:a16="http://schemas.microsoft.com/office/drawing/2014/main" id="{44DC6411-7B69-E7F7-D614-544905D0C56E}"/>
              </a:ext>
            </a:extLst>
          </p:cNvPr>
          <p:cNvSpPr>
            <a:spLocks noGrp="1"/>
          </p:cNvSpPr>
          <p:nvPr>
            <p:ph idx="1"/>
          </p:nvPr>
        </p:nvSpPr>
        <p:spPr/>
        <p:txBody>
          <a:bodyPr/>
          <a:lstStyle/>
          <a:p>
            <a:r>
              <a:rPr lang="en-US" b="1" dirty="0">
                <a:solidFill>
                  <a:srgbClr val="FF0000"/>
                </a:solidFill>
              </a:rPr>
              <a:t>Object </a:t>
            </a:r>
            <a:r>
              <a:rPr lang="en-US" b="1" dirty="0" err="1">
                <a:solidFill>
                  <a:srgbClr val="FF0000"/>
                </a:solidFill>
              </a:rPr>
              <a:t>Destructuring</a:t>
            </a:r>
            <a:r>
              <a:rPr lang="en-US" b="1" dirty="0">
                <a:solidFill>
                  <a:srgbClr val="FF0000"/>
                </a:solidFill>
              </a:rPr>
              <a:t> in Parameters</a:t>
            </a:r>
          </a:p>
        </p:txBody>
      </p:sp>
      <p:pic>
        <p:nvPicPr>
          <p:cNvPr id="5" name="Picture 4">
            <a:extLst>
              <a:ext uri="{FF2B5EF4-FFF2-40B4-BE49-F238E27FC236}">
                <a16:creationId xmlns:a16="http://schemas.microsoft.com/office/drawing/2014/main" id="{C0DD7C56-9D28-01E0-FB40-78F1EC726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9362" y="2533161"/>
            <a:ext cx="7971758" cy="30403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676136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9CB-AF19-E30E-8A1E-196821950D38}"/>
              </a:ext>
            </a:extLst>
          </p:cNvPr>
          <p:cNvSpPr>
            <a:spLocks noGrp="1"/>
          </p:cNvSpPr>
          <p:nvPr>
            <p:ph type="title"/>
          </p:nvPr>
        </p:nvSpPr>
        <p:spPr/>
        <p:txBody>
          <a:bodyPr/>
          <a:lstStyle/>
          <a:p>
            <a:r>
              <a:rPr lang="en-US" dirty="0" err="1"/>
              <a:t>Destructuring</a:t>
            </a:r>
            <a:r>
              <a:rPr lang="en-US" dirty="0"/>
              <a:t> in Function Parameters</a:t>
            </a:r>
          </a:p>
        </p:txBody>
      </p:sp>
      <p:sp>
        <p:nvSpPr>
          <p:cNvPr id="3" name="Content Placeholder 2">
            <a:extLst>
              <a:ext uri="{FF2B5EF4-FFF2-40B4-BE49-F238E27FC236}">
                <a16:creationId xmlns:a16="http://schemas.microsoft.com/office/drawing/2014/main" id="{ADF7A5BD-A844-E7DE-336A-BE1B48E2FC91}"/>
              </a:ext>
            </a:extLst>
          </p:cNvPr>
          <p:cNvSpPr>
            <a:spLocks noGrp="1"/>
          </p:cNvSpPr>
          <p:nvPr>
            <p:ph idx="1"/>
          </p:nvPr>
        </p:nvSpPr>
        <p:spPr/>
        <p:txBody>
          <a:bodyPr/>
          <a:lstStyle/>
          <a:p>
            <a:r>
              <a:rPr lang="en-US" b="1" dirty="0">
                <a:solidFill>
                  <a:srgbClr val="FF0000"/>
                </a:solidFill>
              </a:rPr>
              <a:t>Default Parameters with </a:t>
            </a:r>
            <a:r>
              <a:rPr lang="en-US" b="1" dirty="0" err="1">
                <a:solidFill>
                  <a:srgbClr val="FF0000"/>
                </a:solidFill>
              </a:rPr>
              <a:t>Destructuring</a:t>
            </a:r>
            <a:endParaRPr lang="en-US" b="1" dirty="0">
              <a:solidFill>
                <a:srgbClr val="FF0000"/>
              </a:solidFill>
            </a:endParaRPr>
          </a:p>
        </p:txBody>
      </p:sp>
      <p:pic>
        <p:nvPicPr>
          <p:cNvPr id="5" name="Picture 4">
            <a:extLst>
              <a:ext uri="{FF2B5EF4-FFF2-40B4-BE49-F238E27FC236}">
                <a16:creationId xmlns:a16="http://schemas.microsoft.com/office/drawing/2014/main" id="{342E7FD4-642C-53D6-E687-BCD41A95FB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229" y="2563095"/>
            <a:ext cx="9989353" cy="30684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715390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7B3E-7497-EE2C-41AF-53F9902D43FF}"/>
              </a:ext>
            </a:extLst>
          </p:cNvPr>
          <p:cNvSpPr>
            <a:spLocks noGrp="1"/>
          </p:cNvSpPr>
          <p:nvPr>
            <p:ph type="title"/>
          </p:nvPr>
        </p:nvSpPr>
        <p:spPr/>
        <p:txBody>
          <a:bodyPr/>
          <a:lstStyle/>
          <a:p>
            <a:r>
              <a:rPr lang="en-US" dirty="0"/>
              <a:t>Traditional Web Applications</a:t>
            </a:r>
          </a:p>
        </p:txBody>
      </p:sp>
      <p:sp>
        <p:nvSpPr>
          <p:cNvPr id="3" name="Text Placeholder 2">
            <a:extLst>
              <a:ext uri="{FF2B5EF4-FFF2-40B4-BE49-F238E27FC236}">
                <a16:creationId xmlns:a16="http://schemas.microsoft.com/office/drawing/2014/main" id="{5490ACC8-9F00-5537-03BF-21EBE5B186CC}"/>
              </a:ext>
            </a:extLst>
          </p:cNvPr>
          <p:cNvSpPr>
            <a:spLocks noGrp="1"/>
          </p:cNvSpPr>
          <p:nvPr>
            <p:ph type="body" idx="1"/>
          </p:nvPr>
        </p:nvSpPr>
        <p:spPr/>
        <p:txBody>
          <a:bodyPr/>
          <a:lstStyle/>
          <a:p>
            <a:r>
              <a:rPr lang="en-US" b="1" dirty="0">
                <a:solidFill>
                  <a:srgbClr val="FF0000"/>
                </a:solidFill>
              </a:rPr>
              <a:t>Traditional web applications </a:t>
            </a:r>
            <a:r>
              <a:rPr lang="en-US" dirty="0"/>
              <a:t>are websites where each user action that navigates to a new page requires </a:t>
            </a:r>
            <a:r>
              <a:rPr lang="en-US" b="1" dirty="0"/>
              <a:t>a full page reload</a:t>
            </a:r>
            <a:r>
              <a:rPr lang="en-US" dirty="0"/>
              <a:t>.</a:t>
            </a:r>
          </a:p>
          <a:p>
            <a:pPr lvl="1"/>
            <a:r>
              <a:rPr lang="en-US" dirty="0"/>
              <a:t>Every request is sent to the server</a:t>
            </a:r>
          </a:p>
          <a:p>
            <a:pPr lvl="1"/>
            <a:r>
              <a:rPr lang="en-US" dirty="0"/>
              <a:t>The server processes the request and returns a complete HTML page</a:t>
            </a:r>
          </a:p>
          <a:p>
            <a:pPr lvl="1"/>
            <a:r>
              <a:rPr lang="en-US" dirty="0"/>
              <a:t>The browser reloads the entire page.</a:t>
            </a:r>
          </a:p>
        </p:txBody>
      </p:sp>
    </p:spTree>
    <p:extLst>
      <p:ext uri="{BB962C8B-B14F-4D97-AF65-F5344CB8AC3E}">
        <p14:creationId xmlns:p14="http://schemas.microsoft.com/office/powerpoint/2010/main" val="16671296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C60AF-787B-3A68-0CF2-6CE181971D33}"/>
              </a:ext>
            </a:extLst>
          </p:cNvPr>
          <p:cNvSpPr>
            <a:spLocks noGrp="1"/>
          </p:cNvSpPr>
          <p:nvPr>
            <p:ph type="title"/>
          </p:nvPr>
        </p:nvSpPr>
        <p:spPr/>
        <p:txBody>
          <a:bodyPr/>
          <a:lstStyle/>
          <a:p>
            <a:r>
              <a:rPr lang="en-US" dirty="0"/>
              <a:t>Traditional Web Applications</a:t>
            </a:r>
          </a:p>
        </p:txBody>
      </p:sp>
      <p:sp>
        <p:nvSpPr>
          <p:cNvPr id="3" name="Text Placeholder 2">
            <a:extLst>
              <a:ext uri="{FF2B5EF4-FFF2-40B4-BE49-F238E27FC236}">
                <a16:creationId xmlns:a16="http://schemas.microsoft.com/office/drawing/2014/main" id="{1B43AAD5-47E7-CD85-DEB4-F07C7285A036}"/>
              </a:ext>
            </a:extLst>
          </p:cNvPr>
          <p:cNvSpPr>
            <a:spLocks noGrp="1"/>
          </p:cNvSpPr>
          <p:nvPr>
            <p:ph type="body" idx="1"/>
          </p:nvPr>
        </p:nvSpPr>
        <p:spPr/>
        <p:txBody>
          <a:bodyPr/>
          <a:lstStyle/>
          <a:p>
            <a:r>
              <a:rPr lang="en-US" b="1" dirty="0"/>
              <a:t>How it works</a:t>
            </a:r>
          </a:p>
          <a:p>
            <a:pPr lvl="1"/>
            <a:r>
              <a:rPr lang="en-US" dirty="0"/>
              <a:t>The user clicks a link or submits a form</a:t>
            </a:r>
          </a:p>
          <a:p>
            <a:pPr lvl="1"/>
            <a:r>
              <a:rPr lang="en-US" dirty="0"/>
              <a:t>The browser sends an HTTP request to the server</a:t>
            </a:r>
          </a:p>
          <a:p>
            <a:pPr lvl="1"/>
            <a:r>
              <a:rPr lang="en-US" dirty="0"/>
              <a:t>The server processes the request</a:t>
            </a:r>
          </a:p>
          <a:p>
            <a:pPr lvl="1"/>
            <a:r>
              <a:rPr lang="en-US" dirty="0"/>
              <a:t>The server returns a new HTML page</a:t>
            </a:r>
          </a:p>
          <a:p>
            <a:pPr lvl="1"/>
            <a:r>
              <a:rPr lang="en-US" dirty="0"/>
              <a:t>The browser reloads the entire page</a:t>
            </a:r>
          </a:p>
          <a:p>
            <a:endParaRPr lang="en-US" dirty="0"/>
          </a:p>
        </p:txBody>
      </p:sp>
      <p:sp>
        <p:nvSpPr>
          <p:cNvPr id="5" name="TextBox 4">
            <a:extLst>
              <a:ext uri="{FF2B5EF4-FFF2-40B4-BE49-F238E27FC236}">
                <a16:creationId xmlns:a16="http://schemas.microsoft.com/office/drawing/2014/main" id="{C1F35A20-7944-FF96-F0DE-D4518F42F918}"/>
              </a:ext>
            </a:extLst>
          </p:cNvPr>
          <p:cNvSpPr txBox="1"/>
          <p:nvPr/>
        </p:nvSpPr>
        <p:spPr>
          <a:xfrm>
            <a:off x="2452155" y="4436907"/>
            <a:ext cx="6633788" cy="1951496"/>
          </a:xfrm>
          <a:prstGeom prst="rect">
            <a:avLst/>
          </a:prstGeom>
          <a:noFill/>
        </p:spPr>
        <p:txBody>
          <a:bodyPr wrap="square">
            <a:spAutoFit/>
          </a:bodyPr>
          <a:lstStyle/>
          <a:p>
            <a:pPr algn="ctr">
              <a:lnSpc>
                <a:spcPct val="150000"/>
              </a:lnSpc>
            </a:pPr>
            <a:r>
              <a:rPr lang="en-US" sz="2800" dirty="0"/>
              <a:t>Browser ──request──▶ Server</a:t>
            </a:r>
          </a:p>
          <a:p>
            <a:pPr algn="ctr">
              <a:lnSpc>
                <a:spcPct val="150000"/>
              </a:lnSpc>
            </a:pPr>
            <a:r>
              <a:rPr lang="en-US" sz="2800" dirty="0"/>
              <a:t>Browser ◀─  HTML─── Server</a:t>
            </a:r>
          </a:p>
          <a:p>
            <a:pPr algn="ctr">
              <a:lnSpc>
                <a:spcPct val="150000"/>
              </a:lnSpc>
            </a:pPr>
            <a:r>
              <a:rPr lang="en-US" sz="2800" dirty="0"/>
              <a:t>(browser reloads the entire page)</a:t>
            </a:r>
          </a:p>
        </p:txBody>
      </p:sp>
    </p:spTree>
    <p:extLst>
      <p:ext uri="{BB962C8B-B14F-4D97-AF65-F5344CB8AC3E}">
        <p14:creationId xmlns:p14="http://schemas.microsoft.com/office/powerpoint/2010/main" val="38962574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143EE-E20B-CBB3-363B-8014CD4BF1A8}"/>
              </a:ext>
            </a:extLst>
          </p:cNvPr>
          <p:cNvSpPr>
            <a:spLocks noGrp="1"/>
          </p:cNvSpPr>
          <p:nvPr>
            <p:ph type="title"/>
          </p:nvPr>
        </p:nvSpPr>
        <p:spPr/>
        <p:txBody>
          <a:bodyPr/>
          <a:lstStyle/>
          <a:p>
            <a:r>
              <a:rPr lang="en-US" dirty="0"/>
              <a:t>Single-Page Applications (SPA)</a:t>
            </a:r>
          </a:p>
        </p:txBody>
      </p:sp>
      <p:sp>
        <p:nvSpPr>
          <p:cNvPr id="3" name="Text Placeholder 2">
            <a:extLst>
              <a:ext uri="{FF2B5EF4-FFF2-40B4-BE49-F238E27FC236}">
                <a16:creationId xmlns:a16="http://schemas.microsoft.com/office/drawing/2014/main" id="{4325DC03-1578-507D-E1BD-873E24C9F11F}"/>
              </a:ext>
            </a:extLst>
          </p:cNvPr>
          <p:cNvSpPr>
            <a:spLocks noGrp="1"/>
          </p:cNvSpPr>
          <p:nvPr>
            <p:ph type="body" idx="1"/>
          </p:nvPr>
        </p:nvSpPr>
        <p:spPr/>
        <p:txBody>
          <a:bodyPr>
            <a:normAutofit/>
          </a:bodyPr>
          <a:lstStyle/>
          <a:p>
            <a:r>
              <a:rPr lang="en-US" b="1" dirty="0">
                <a:solidFill>
                  <a:srgbClr val="FF0000"/>
                </a:solidFill>
              </a:rPr>
              <a:t>A Single-Page Application (SPA) </a:t>
            </a:r>
            <a:r>
              <a:rPr lang="en-US" dirty="0"/>
              <a:t>is a web application that</a:t>
            </a:r>
          </a:p>
          <a:p>
            <a:pPr lvl="1"/>
            <a:r>
              <a:rPr lang="en-US" dirty="0"/>
              <a:t>Loads </a:t>
            </a:r>
            <a:r>
              <a:rPr lang="en-US" b="1" dirty="0"/>
              <a:t>a single HTML page</a:t>
            </a:r>
            <a:endParaRPr lang="en-US" dirty="0"/>
          </a:p>
          <a:p>
            <a:pPr lvl="1"/>
            <a:r>
              <a:rPr lang="en-US" dirty="0"/>
              <a:t>Dynamically updates content using </a:t>
            </a:r>
            <a:r>
              <a:rPr lang="en-US" b="1" dirty="0"/>
              <a:t>JavaScript</a:t>
            </a:r>
            <a:endParaRPr lang="en-US" dirty="0"/>
          </a:p>
          <a:p>
            <a:pPr lvl="1"/>
            <a:r>
              <a:rPr lang="en-US" dirty="0"/>
              <a:t>Does </a:t>
            </a:r>
            <a:r>
              <a:rPr lang="en-US" b="1" dirty="0"/>
              <a:t>not reload the page</a:t>
            </a:r>
            <a:r>
              <a:rPr lang="en-US" dirty="0"/>
              <a:t> when navigating</a:t>
            </a:r>
          </a:p>
          <a:p>
            <a:endParaRPr lang="en-US" dirty="0"/>
          </a:p>
        </p:txBody>
      </p:sp>
    </p:spTree>
    <p:extLst>
      <p:ext uri="{BB962C8B-B14F-4D97-AF65-F5344CB8AC3E}">
        <p14:creationId xmlns:p14="http://schemas.microsoft.com/office/powerpoint/2010/main" val="28169257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5CE02-4B7D-9221-F84D-766B787A5EF8}"/>
              </a:ext>
            </a:extLst>
          </p:cNvPr>
          <p:cNvSpPr>
            <a:spLocks noGrp="1"/>
          </p:cNvSpPr>
          <p:nvPr>
            <p:ph type="title"/>
          </p:nvPr>
        </p:nvSpPr>
        <p:spPr/>
        <p:txBody>
          <a:bodyPr/>
          <a:lstStyle/>
          <a:p>
            <a:r>
              <a:rPr lang="en-US" dirty="0"/>
              <a:t>Single-Page Applications (SPA)</a:t>
            </a:r>
          </a:p>
        </p:txBody>
      </p:sp>
      <p:sp>
        <p:nvSpPr>
          <p:cNvPr id="3" name="Text Placeholder 2">
            <a:extLst>
              <a:ext uri="{FF2B5EF4-FFF2-40B4-BE49-F238E27FC236}">
                <a16:creationId xmlns:a16="http://schemas.microsoft.com/office/drawing/2014/main" id="{2EC6746E-93E7-0AA8-B876-C97B4F776D75}"/>
              </a:ext>
            </a:extLst>
          </p:cNvPr>
          <p:cNvSpPr>
            <a:spLocks noGrp="1"/>
          </p:cNvSpPr>
          <p:nvPr>
            <p:ph type="body" idx="1"/>
          </p:nvPr>
        </p:nvSpPr>
        <p:spPr/>
        <p:txBody>
          <a:bodyPr/>
          <a:lstStyle/>
          <a:p>
            <a:r>
              <a:rPr lang="en-US" b="1" dirty="0">
                <a:solidFill>
                  <a:srgbClr val="FF0000"/>
                </a:solidFill>
              </a:rPr>
              <a:t>How it works</a:t>
            </a:r>
          </a:p>
          <a:p>
            <a:pPr lvl="1"/>
            <a:r>
              <a:rPr lang="en-US" dirty="0"/>
              <a:t>The browser loads the initial HTML page</a:t>
            </a:r>
          </a:p>
          <a:p>
            <a:pPr lvl="1"/>
            <a:r>
              <a:rPr lang="en-US" dirty="0"/>
              <a:t>JavaScript framework is initialized</a:t>
            </a:r>
          </a:p>
          <a:p>
            <a:pPr lvl="1"/>
            <a:r>
              <a:rPr lang="en-US" dirty="0"/>
              <a:t>User interactions trigger API calls (AJAX / Fetch)</a:t>
            </a:r>
          </a:p>
          <a:p>
            <a:pPr lvl="1"/>
            <a:r>
              <a:rPr lang="en-US" dirty="0"/>
              <a:t>The server returns </a:t>
            </a:r>
            <a:r>
              <a:rPr lang="en-US" b="1" dirty="0"/>
              <a:t>JSON data</a:t>
            </a:r>
            <a:endParaRPr lang="en-US" dirty="0"/>
          </a:p>
          <a:p>
            <a:pPr lvl="1"/>
            <a:r>
              <a:rPr lang="en-US" dirty="0"/>
              <a:t>JavaScript updates the UI dynamically</a:t>
            </a:r>
          </a:p>
          <a:p>
            <a:endParaRPr lang="en-US" dirty="0"/>
          </a:p>
        </p:txBody>
      </p:sp>
    </p:spTree>
    <p:extLst>
      <p:ext uri="{BB962C8B-B14F-4D97-AF65-F5344CB8AC3E}">
        <p14:creationId xmlns:p14="http://schemas.microsoft.com/office/powerpoint/2010/main" val="36919459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F9CBB-111F-1F6C-C3A1-C48F48CCCE9C}"/>
              </a:ext>
            </a:extLst>
          </p:cNvPr>
          <p:cNvSpPr>
            <a:spLocks noGrp="1"/>
          </p:cNvSpPr>
          <p:nvPr>
            <p:ph type="title"/>
          </p:nvPr>
        </p:nvSpPr>
        <p:spPr/>
        <p:txBody>
          <a:bodyPr/>
          <a:lstStyle/>
          <a:p>
            <a:r>
              <a:rPr lang="en-US" dirty="0"/>
              <a:t>Single-Page Applications (SPA)</a:t>
            </a:r>
          </a:p>
        </p:txBody>
      </p:sp>
      <p:sp>
        <p:nvSpPr>
          <p:cNvPr id="3" name="Text Placeholder 2">
            <a:extLst>
              <a:ext uri="{FF2B5EF4-FFF2-40B4-BE49-F238E27FC236}">
                <a16:creationId xmlns:a16="http://schemas.microsoft.com/office/drawing/2014/main" id="{23B5F8F1-5A0A-3EEA-B851-66B529B545B7}"/>
              </a:ext>
            </a:extLst>
          </p:cNvPr>
          <p:cNvSpPr>
            <a:spLocks noGrp="1"/>
          </p:cNvSpPr>
          <p:nvPr>
            <p:ph type="body" idx="1"/>
          </p:nvPr>
        </p:nvSpPr>
        <p:spPr/>
        <p:txBody>
          <a:bodyPr>
            <a:normAutofit/>
          </a:bodyPr>
          <a:lstStyle/>
          <a:p>
            <a:r>
              <a:rPr lang="en-US" b="1" dirty="0">
                <a:solidFill>
                  <a:srgbClr val="FF0000"/>
                </a:solidFill>
              </a:rPr>
              <a:t>Common technologies</a:t>
            </a:r>
          </a:p>
          <a:p>
            <a:pPr lvl="1"/>
            <a:r>
              <a:rPr lang="en-US" sz="2800" b="1" dirty="0"/>
              <a:t>Frontend frameworks</a:t>
            </a:r>
            <a:r>
              <a:rPr lang="en-US" sz="2800" dirty="0"/>
              <a:t>:</a:t>
            </a:r>
          </a:p>
          <a:p>
            <a:pPr lvl="2"/>
            <a:r>
              <a:rPr lang="en-US" sz="2400" b="1" dirty="0"/>
              <a:t>React</a:t>
            </a:r>
          </a:p>
          <a:p>
            <a:pPr lvl="2"/>
            <a:r>
              <a:rPr lang="en-US" sz="2400" dirty="0"/>
              <a:t>Vue</a:t>
            </a:r>
          </a:p>
          <a:p>
            <a:pPr lvl="2"/>
            <a:r>
              <a:rPr lang="en-US" sz="2400" dirty="0"/>
              <a:t>Angular</a:t>
            </a:r>
          </a:p>
          <a:p>
            <a:pPr lvl="1"/>
            <a:r>
              <a:rPr lang="en-US" sz="2800" b="1" dirty="0"/>
              <a:t>Backend</a:t>
            </a:r>
            <a:r>
              <a:rPr lang="en-US" sz="2800" dirty="0"/>
              <a:t>:</a:t>
            </a:r>
          </a:p>
          <a:p>
            <a:pPr lvl="2"/>
            <a:r>
              <a:rPr lang="en-US" sz="2400" dirty="0"/>
              <a:t>REST APIs / </a:t>
            </a:r>
            <a:r>
              <a:rPr lang="en-US" sz="2400" dirty="0" err="1"/>
              <a:t>GraphQL</a:t>
            </a:r>
            <a:endParaRPr lang="en-US" sz="2400" dirty="0"/>
          </a:p>
          <a:p>
            <a:pPr lvl="2"/>
            <a:r>
              <a:rPr lang="en-US" sz="2400" dirty="0"/>
              <a:t>Node.js, ASP.NET Web API, Django REST</a:t>
            </a:r>
          </a:p>
          <a:p>
            <a:pPr lvl="1"/>
            <a:r>
              <a:rPr lang="en-US" sz="2800" b="1" dirty="0"/>
              <a:t>Data exchange format</a:t>
            </a:r>
            <a:r>
              <a:rPr lang="en-US" sz="2800" dirty="0"/>
              <a:t>: </a:t>
            </a:r>
            <a:r>
              <a:rPr lang="en-US" sz="2800" b="1" dirty="0"/>
              <a:t>JSON</a:t>
            </a:r>
            <a:endParaRPr lang="en-US" sz="2800" dirty="0"/>
          </a:p>
          <a:p>
            <a:endParaRPr lang="en-US" dirty="0"/>
          </a:p>
        </p:txBody>
      </p:sp>
      <p:sp>
        <p:nvSpPr>
          <p:cNvPr id="5" name="TextBox 4">
            <a:extLst>
              <a:ext uri="{FF2B5EF4-FFF2-40B4-BE49-F238E27FC236}">
                <a16:creationId xmlns:a16="http://schemas.microsoft.com/office/drawing/2014/main" id="{A9E9118F-D2E4-89EA-7071-228120436175}"/>
              </a:ext>
            </a:extLst>
          </p:cNvPr>
          <p:cNvSpPr txBox="1"/>
          <p:nvPr/>
        </p:nvSpPr>
        <p:spPr>
          <a:xfrm>
            <a:off x="6095241" y="2622620"/>
            <a:ext cx="5283959" cy="1685846"/>
          </a:xfrm>
          <a:prstGeom prst="rect">
            <a:avLst/>
          </a:prstGeom>
          <a:noFill/>
          <a:ln>
            <a:solidFill>
              <a:schemeClr val="tx1"/>
            </a:solidFill>
          </a:ln>
        </p:spPr>
        <p:txBody>
          <a:bodyPr wrap="square">
            <a:spAutoFit/>
          </a:bodyPr>
          <a:lstStyle/>
          <a:p>
            <a:pPr algn="ctr">
              <a:lnSpc>
                <a:spcPct val="150000"/>
              </a:lnSpc>
            </a:pPr>
            <a:r>
              <a:rPr lang="en-US" sz="2400" dirty="0"/>
              <a:t>Browser ──API request──▶ Server</a:t>
            </a:r>
          </a:p>
          <a:p>
            <a:pPr algn="ctr">
              <a:lnSpc>
                <a:spcPct val="150000"/>
              </a:lnSpc>
            </a:pPr>
            <a:r>
              <a:rPr lang="en-US" sz="2400" dirty="0"/>
              <a:t>Browser   ◀── JSON  ──── Server</a:t>
            </a:r>
          </a:p>
          <a:p>
            <a:pPr algn="ctr">
              <a:lnSpc>
                <a:spcPct val="150000"/>
              </a:lnSpc>
            </a:pPr>
            <a:r>
              <a:rPr lang="en-US" sz="2400" dirty="0"/>
              <a:t>(Partial UI update)</a:t>
            </a:r>
          </a:p>
        </p:txBody>
      </p:sp>
    </p:spTree>
    <p:extLst>
      <p:ext uri="{BB962C8B-B14F-4D97-AF65-F5344CB8AC3E}">
        <p14:creationId xmlns:p14="http://schemas.microsoft.com/office/powerpoint/2010/main" val="16965067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65DBA-E44A-D1BB-B3F0-AD51D3A7853B}"/>
              </a:ext>
            </a:extLst>
          </p:cNvPr>
          <p:cNvSpPr>
            <a:spLocks noGrp="1"/>
          </p:cNvSpPr>
          <p:nvPr>
            <p:ph type="title"/>
          </p:nvPr>
        </p:nvSpPr>
        <p:spPr/>
        <p:txBody>
          <a:bodyPr/>
          <a:lstStyle/>
          <a:p>
            <a:r>
              <a:rPr lang="en-US" dirty="0"/>
              <a:t>CSR – Client-Side Rendering</a:t>
            </a:r>
          </a:p>
        </p:txBody>
      </p:sp>
      <p:sp>
        <p:nvSpPr>
          <p:cNvPr id="3" name="Text Placeholder 2">
            <a:extLst>
              <a:ext uri="{FF2B5EF4-FFF2-40B4-BE49-F238E27FC236}">
                <a16:creationId xmlns:a16="http://schemas.microsoft.com/office/drawing/2014/main" id="{E460EB5D-CA31-A8A9-6808-41E5DBD1AC31}"/>
              </a:ext>
            </a:extLst>
          </p:cNvPr>
          <p:cNvSpPr>
            <a:spLocks noGrp="1"/>
          </p:cNvSpPr>
          <p:nvPr>
            <p:ph type="body" idx="1"/>
          </p:nvPr>
        </p:nvSpPr>
        <p:spPr/>
        <p:txBody>
          <a:bodyPr/>
          <a:lstStyle/>
          <a:p>
            <a:r>
              <a:rPr lang="en-US" b="1" dirty="0">
                <a:solidFill>
                  <a:srgbClr val="FF0000"/>
                </a:solidFill>
              </a:rPr>
              <a:t>Client-Side Rendering (CSR)</a:t>
            </a:r>
            <a:r>
              <a:rPr lang="en-US" dirty="0">
                <a:solidFill>
                  <a:srgbClr val="FF0000"/>
                </a:solidFill>
              </a:rPr>
              <a:t> </a:t>
            </a:r>
            <a:r>
              <a:rPr lang="en-US" dirty="0"/>
              <a:t>is a rendering approach where the </a:t>
            </a:r>
            <a:r>
              <a:rPr lang="en-US" b="1" dirty="0"/>
              <a:t>UI is rendered in the browser (client)</a:t>
            </a:r>
            <a:r>
              <a:rPr lang="en-US" dirty="0"/>
              <a:t> using JavaScript.</a:t>
            </a:r>
          </a:p>
          <a:p>
            <a:pPr lvl="1"/>
            <a:r>
              <a:rPr lang="en-US" dirty="0"/>
              <a:t>The server returns </a:t>
            </a:r>
            <a:r>
              <a:rPr lang="en-US" b="1" dirty="0"/>
              <a:t>a minimal HTML file + JavaScript files</a:t>
            </a:r>
            <a:endParaRPr lang="en-US" dirty="0"/>
          </a:p>
          <a:p>
            <a:pPr lvl="1"/>
            <a:r>
              <a:rPr lang="en-US" dirty="0"/>
              <a:t>The browser executes JavaScript, calls APIs, and renders the UI</a:t>
            </a:r>
          </a:p>
          <a:p>
            <a:pPr lvl="1"/>
            <a:r>
              <a:rPr lang="en-US" dirty="0"/>
              <a:t>This is the </a:t>
            </a:r>
            <a:r>
              <a:rPr lang="en-US" b="1" dirty="0"/>
              <a:t>default rendering model of Single-Page Applications (SPA)</a:t>
            </a:r>
            <a:r>
              <a:rPr lang="en-US" dirty="0"/>
              <a:t>.</a:t>
            </a:r>
          </a:p>
          <a:p>
            <a:pPr marL="0" indent="0">
              <a:buNone/>
            </a:pPr>
            <a:endParaRPr lang="en-US" dirty="0"/>
          </a:p>
        </p:txBody>
      </p:sp>
    </p:spTree>
    <p:extLst>
      <p:ext uri="{BB962C8B-B14F-4D97-AF65-F5344CB8AC3E}">
        <p14:creationId xmlns:p14="http://schemas.microsoft.com/office/powerpoint/2010/main" val="14413702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FADE5-50CF-9CDD-74B7-A19C57F7EE56}"/>
              </a:ext>
            </a:extLst>
          </p:cNvPr>
          <p:cNvSpPr>
            <a:spLocks noGrp="1"/>
          </p:cNvSpPr>
          <p:nvPr>
            <p:ph type="title"/>
          </p:nvPr>
        </p:nvSpPr>
        <p:spPr/>
        <p:txBody>
          <a:bodyPr/>
          <a:lstStyle/>
          <a:p>
            <a:r>
              <a:rPr lang="en-US" dirty="0"/>
              <a:t>CSR – Client-Side Rendering</a:t>
            </a:r>
          </a:p>
        </p:txBody>
      </p:sp>
      <p:sp>
        <p:nvSpPr>
          <p:cNvPr id="3" name="Text Placeholder 2">
            <a:extLst>
              <a:ext uri="{FF2B5EF4-FFF2-40B4-BE49-F238E27FC236}">
                <a16:creationId xmlns:a16="http://schemas.microsoft.com/office/drawing/2014/main" id="{6D49FA95-EEC6-6AC2-6598-8879790295A6}"/>
              </a:ext>
            </a:extLst>
          </p:cNvPr>
          <p:cNvSpPr>
            <a:spLocks noGrp="1"/>
          </p:cNvSpPr>
          <p:nvPr>
            <p:ph type="body" idx="1"/>
          </p:nvPr>
        </p:nvSpPr>
        <p:spPr/>
        <p:txBody>
          <a:bodyPr/>
          <a:lstStyle/>
          <a:p>
            <a:r>
              <a:rPr lang="en-US" b="1" dirty="0">
                <a:solidFill>
                  <a:srgbClr val="FF0000"/>
                </a:solidFill>
              </a:rPr>
              <a:t>How it works</a:t>
            </a:r>
          </a:p>
          <a:p>
            <a:pPr lvl="1"/>
            <a:r>
              <a:rPr lang="en-US" dirty="0"/>
              <a:t>The browser loads </a:t>
            </a:r>
            <a:r>
              <a:rPr lang="en-US" b="1" dirty="0"/>
              <a:t>index.html</a:t>
            </a:r>
          </a:p>
          <a:p>
            <a:pPr lvl="1"/>
            <a:r>
              <a:rPr lang="en-US" dirty="0"/>
              <a:t>JavaScript bundle is downloaded</a:t>
            </a:r>
          </a:p>
          <a:p>
            <a:pPr lvl="1"/>
            <a:r>
              <a:rPr lang="en-US" dirty="0"/>
              <a:t>JavaScript fetches data from APIs (JSON)</a:t>
            </a:r>
          </a:p>
          <a:p>
            <a:pPr lvl="1"/>
            <a:r>
              <a:rPr lang="en-US" dirty="0"/>
              <a:t>The UI is rendered dynamically in the browser</a:t>
            </a:r>
          </a:p>
          <a:p>
            <a:endParaRPr lang="en-US" dirty="0"/>
          </a:p>
        </p:txBody>
      </p:sp>
      <p:pic>
        <p:nvPicPr>
          <p:cNvPr id="5" name="Picture 4">
            <a:extLst>
              <a:ext uri="{FF2B5EF4-FFF2-40B4-BE49-F238E27FC236}">
                <a16:creationId xmlns:a16="http://schemas.microsoft.com/office/drawing/2014/main" id="{A9B74C8E-DF2E-9A46-4D23-FEA6F2738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8771" y="4063974"/>
            <a:ext cx="5772939" cy="19159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629159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D2F25-598C-CA1C-7D1C-48B5508BD2DB}"/>
              </a:ext>
            </a:extLst>
          </p:cNvPr>
          <p:cNvSpPr>
            <a:spLocks noGrp="1"/>
          </p:cNvSpPr>
          <p:nvPr>
            <p:ph type="title"/>
          </p:nvPr>
        </p:nvSpPr>
        <p:spPr/>
        <p:txBody>
          <a:bodyPr/>
          <a:lstStyle/>
          <a:p>
            <a:r>
              <a:rPr lang="en-US" dirty="0"/>
              <a:t>CSR – Client-Side Rendering</a:t>
            </a:r>
          </a:p>
        </p:txBody>
      </p:sp>
      <p:sp>
        <p:nvSpPr>
          <p:cNvPr id="3" name="Text Placeholder 2">
            <a:extLst>
              <a:ext uri="{FF2B5EF4-FFF2-40B4-BE49-F238E27FC236}">
                <a16:creationId xmlns:a16="http://schemas.microsoft.com/office/drawing/2014/main" id="{1271B2F3-63CA-915A-44AA-DD6786DF0349}"/>
              </a:ext>
            </a:extLst>
          </p:cNvPr>
          <p:cNvSpPr>
            <a:spLocks noGrp="1"/>
          </p:cNvSpPr>
          <p:nvPr>
            <p:ph type="body" idx="1"/>
          </p:nvPr>
        </p:nvSpPr>
        <p:spPr/>
        <p:txBody>
          <a:bodyPr/>
          <a:lstStyle/>
          <a:p>
            <a:r>
              <a:rPr lang="en-US" b="1" dirty="0"/>
              <a:t>Examples</a:t>
            </a:r>
          </a:p>
          <a:p>
            <a:pPr lvl="1"/>
            <a:r>
              <a:rPr lang="en-US" b="1" dirty="0">
                <a:solidFill>
                  <a:srgbClr val="FF0000"/>
                </a:solidFill>
              </a:rPr>
              <a:t>React (Create React App)</a:t>
            </a:r>
          </a:p>
          <a:p>
            <a:pPr lvl="1"/>
            <a:r>
              <a:rPr lang="en-US" dirty="0"/>
              <a:t>Vue SPA</a:t>
            </a:r>
          </a:p>
          <a:p>
            <a:pPr lvl="1"/>
            <a:r>
              <a:rPr lang="en-US" dirty="0"/>
              <a:t>Angular SPA</a:t>
            </a:r>
          </a:p>
          <a:p>
            <a:endParaRPr lang="en-US" dirty="0"/>
          </a:p>
        </p:txBody>
      </p:sp>
      <p:pic>
        <p:nvPicPr>
          <p:cNvPr id="5" name="Picture 4">
            <a:extLst>
              <a:ext uri="{FF2B5EF4-FFF2-40B4-BE49-F238E27FC236}">
                <a16:creationId xmlns:a16="http://schemas.microsoft.com/office/drawing/2014/main" id="{5720C161-E5C3-B446-F431-0B0CAE346E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899" y="3585708"/>
            <a:ext cx="5340811" cy="2292578"/>
          </a:xfrm>
          <a:prstGeom prst="rect">
            <a:avLst/>
          </a:prstGeom>
        </p:spPr>
      </p:pic>
      <p:pic>
        <p:nvPicPr>
          <p:cNvPr id="7" name="Picture 6">
            <a:extLst>
              <a:ext uri="{FF2B5EF4-FFF2-40B4-BE49-F238E27FC236}">
                <a16:creationId xmlns:a16="http://schemas.microsoft.com/office/drawing/2014/main" id="{556C3174-7BE6-AE69-DC48-DD1819279F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9099" y="3868298"/>
            <a:ext cx="4243226" cy="1988650"/>
          </a:xfrm>
          <a:prstGeom prst="rect">
            <a:avLst/>
          </a:prstGeom>
        </p:spPr>
      </p:pic>
    </p:spTree>
    <p:extLst>
      <p:ext uri="{BB962C8B-B14F-4D97-AF65-F5344CB8AC3E}">
        <p14:creationId xmlns:p14="http://schemas.microsoft.com/office/powerpoint/2010/main" val="6963186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F73B4-C9EE-C48C-3A6A-DC37D81AE77A}"/>
              </a:ext>
            </a:extLst>
          </p:cNvPr>
          <p:cNvSpPr>
            <a:spLocks noGrp="1"/>
          </p:cNvSpPr>
          <p:nvPr>
            <p:ph type="title"/>
          </p:nvPr>
        </p:nvSpPr>
        <p:spPr/>
        <p:txBody>
          <a:bodyPr/>
          <a:lstStyle/>
          <a:p>
            <a:r>
              <a:rPr lang="en-US" dirty="0"/>
              <a:t>CSR – Client-Side Rendering</a:t>
            </a:r>
          </a:p>
        </p:txBody>
      </p:sp>
      <p:sp>
        <p:nvSpPr>
          <p:cNvPr id="3" name="Text Placeholder 2">
            <a:extLst>
              <a:ext uri="{FF2B5EF4-FFF2-40B4-BE49-F238E27FC236}">
                <a16:creationId xmlns:a16="http://schemas.microsoft.com/office/drawing/2014/main" id="{0CA0C746-7330-CA68-4A1A-43EC9AD152E8}"/>
              </a:ext>
            </a:extLst>
          </p:cNvPr>
          <p:cNvSpPr>
            <a:spLocks noGrp="1"/>
          </p:cNvSpPr>
          <p:nvPr>
            <p:ph type="body" idx="1"/>
          </p:nvPr>
        </p:nvSpPr>
        <p:spPr/>
        <p:txBody>
          <a:bodyPr/>
          <a:lstStyle/>
          <a:p>
            <a:r>
              <a:rPr lang="en-US" dirty="0"/>
              <a:t>Example: HTML file:</a:t>
            </a:r>
          </a:p>
        </p:txBody>
      </p:sp>
      <p:pic>
        <p:nvPicPr>
          <p:cNvPr id="5" name="Picture 4">
            <a:extLst>
              <a:ext uri="{FF2B5EF4-FFF2-40B4-BE49-F238E27FC236}">
                <a16:creationId xmlns:a16="http://schemas.microsoft.com/office/drawing/2014/main" id="{B6B0C875-574F-BE71-3169-975917452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6082" y="2243804"/>
            <a:ext cx="6166375" cy="1193028"/>
          </a:xfrm>
          <a:prstGeom prst="rect">
            <a:avLst/>
          </a:prstGeom>
        </p:spPr>
      </p:pic>
      <p:sp>
        <p:nvSpPr>
          <p:cNvPr id="7" name="TextBox 6">
            <a:extLst>
              <a:ext uri="{FF2B5EF4-FFF2-40B4-BE49-F238E27FC236}">
                <a16:creationId xmlns:a16="http://schemas.microsoft.com/office/drawing/2014/main" id="{80A4C78D-E0D8-0F18-3DFA-B7EED008D748}"/>
              </a:ext>
            </a:extLst>
          </p:cNvPr>
          <p:cNvSpPr txBox="1"/>
          <p:nvPr/>
        </p:nvSpPr>
        <p:spPr>
          <a:xfrm>
            <a:off x="2219927" y="3618771"/>
            <a:ext cx="7750628" cy="461665"/>
          </a:xfrm>
          <a:prstGeom prst="rect">
            <a:avLst/>
          </a:prstGeom>
          <a:noFill/>
        </p:spPr>
        <p:txBody>
          <a:bodyPr wrap="square">
            <a:spAutoFit/>
          </a:bodyPr>
          <a:lstStyle/>
          <a:p>
            <a:r>
              <a:rPr lang="en-US" sz="2400" i="1" dirty="0"/>
              <a:t>Content appears </a:t>
            </a:r>
            <a:r>
              <a:rPr lang="en-US" sz="2400" b="1" i="1" dirty="0"/>
              <a:t>only after JavaScript runs</a:t>
            </a:r>
            <a:endParaRPr lang="en-US" sz="2400" i="1" dirty="0"/>
          </a:p>
        </p:txBody>
      </p:sp>
    </p:spTree>
    <p:extLst>
      <p:ext uri="{BB962C8B-B14F-4D97-AF65-F5344CB8AC3E}">
        <p14:creationId xmlns:p14="http://schemas.microsoft.com/office/powerpoint/2010/main" val="7552356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2D60-C8EC-A204-66E5-005AFA68046F}"/>
              </a:ext>
            </a:extLst>
          </p:cNvPr>
          <p:cNvSpPr>
            <a:spLocks noGrp="1"/>
          </p:cNvSpPr>
          <p:nvPr>
            <p:ph type="title"/>
          </p:nvPr>
        </p:nvSpPr>
        <p:spPr/>
        <p:txBody>
          <a:bodyPr/>
          <a:lstStyle/>
          <a:p>
            <a:r>
              <a:rPr lang="en-US" dirty="0"/>
              <a:t>SSR – Server-Side Rendering</a:t>
            </a:r>
          </a:p>
        </p:txBody>
      </p:sp>
      <p:sp>
        <p:nvSpPr>
          <p:cNvPr id="3" name="Text Placeholder 2">
            <a:extLst>
              <a:ext uri="{FF2B5EF4-FFF2-40B4-BE49-F238E27FC236}">
                <a16:creationId xmlns:a16="http://schemas.microsoft.com/office/drawing/2014/main" id="{52144084-871B-F7D4-6DD3-D78FAE436715}"/>
              </a:ext>
            </a:extLst>
          </p:cNvPr>
          <p:cNvSpPr>
            <a:spLocks noGrp="1"/>
          </p:cNvSpPr>
          <p:nvPr>
            <p:ph type="body" idx="1"/>
          </p:nvPr>
        </p:nvSpPr>
        <p:spPr/>
        <p:txBody>
          <a:bodyPr/>
          <a:lstStyle/>
          <a:p>
            <a:r>
              <a:rPr lang="en-US" b="1" dirty="0">
                <a:solidFill>
                  <a:srgbClr val="FF0000"/>
                </a:solidFill>
              </a:rPr>
              <a:t>Server-Side Rendering (SSR)</a:t>
            </a:r>
            <a:r>
              <a:rPr lang="en-US" dirty="0">
                <a:solidFill>
                  <a:srgbClr val="FF0000"/>
                </a:solidFill>
              </a:rPr>
              <a:t> </a:t>
            </a:r>
            <a:r>
              <a:rPr lang="en-US" dirty="0"/>
              <a:t>is a rendering approach where the </a:t>
            </a:r>
            <a:r>
              <a:rPr lang="en-US" b="1" dirty="0"/>
              <a:t>server generates the HTML content</a:t>
            </a:r>
            <a:r>
              <a:rPr lang="en-US" dirty="0"/>
              <a:t> for each request and sends a </a:t>
            </a:r>
            <a:r>
              <a:rPr lang="en-US" b="1" dirty="0"/>
              <a:t>fully rendered HTML page</a:t>
            </a:r>
            <a:r>
              <a:rPr lang="en-US" dirty="0"/>
              <a:t> to the browser.</a:t>
            </a:r>
          </a:p>
          <a:p>
            <a:r>
              <a:rPr lang="en-US" dirty="0"/>
              <a:t>This is how </a:t>
            </a:r>
            <a:r>
              <a:rPr lang="en-US" b="1" dirty="0"/>
              <a:t>traditional websites</a:t>
            </a:r>
            <a:r>
              <a:rPr lang="en-US" dirty="0"/>
              <a:t> and </a:t>
            </a:r>
            <a:r>
              <a:rPr lang="en-US" b="1" dirty="0"/>
              <a:t>Next.js SSR pages</a:t>
            </a:r>
            <a:r>
              <a:rPr lang="en-US" dirty="0"/>
              <a:t> work.</a:t>
            </a:r>
          </a:p>
        </p:txBody>
      </p:sp>
    </p:spTree>
    <p:extLst>
      <p:ext uri="{BB962C8B-B14F-4D97-AF65-F5344CB8AC3E}">
        <p14:creationId xmlns:p14="http://schemas.microsoft.com/office/powerpoint/2010/main" val="21349196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D0D5-2194-B42D-1840-51E6457106A0}"/>
              </a:ext>
            </a:extLst>
          </p:cNvPr>
          <p:cNvSpPr>
            <a:spLocks noGrp="1"/>
          </p:cNvSpPr>
          <p:nvPr>
            <p:ph type="title"/>
          </p:nvPr>
        </p:nvSpPr>
        <p:spPr/>
        <p:txBody>
          <a:bodyPr/>
          <a:lstStyle/>
          <a:p>
            <a:r>
              <a:rPr lang="en-US" dirty="0"/>
              <a:t>SSR – Server-Side Rendering</a:t>
            </a:r>
          </a:p>
        </p:txBody>
      </p:sp>
      <p:sp>
        <p:nvSpPr>
          <p:cNvPr id="3" name="Text Placeholder 2">
            <a:extLst>
              <a:ext uri="{FF2B5EF4-FFF2-40B4-BE49-F238E27FC236}">
                <a16:creationId xmlns:a16="http://schemas.microsoft.com/office/drawing/2014/main" id="{33832EC3-925A-BDB3-557B-A62D79A47E88}"/>
              </a:ext>
            </a:extLst>
          </p:cNvPr>
          <p:cNvSpPr>
            <a:spLocks noGrp="1"/>
          </p:cNvSpPr>
          <p:nvPr>
            <p:ph type="body" idx="1"/>
          </p:nvPr>
        </p:nvSpPr>
        <p:spPr/>
        <p:txBody>
          <a:bodyPr/>
          <a:lstStyle/>
          <a:p>
            <a:r>
              <a:rPr lang="en-US" b="1" dirty="0">
                <a:solidFill>
                  <a:srgbClr val="FF0000"/>
                </a:solidFill>
              </a:rPr>
              <a:t>How it works</a:t>
            </a:r>
          </a:p>
          <a:p>
            <a:pPr lvl="1"/>
            <a:r>
              <a:rPr lang="en-US" dirty="0"/>
              <a:t>The browser sends a request</a:t>
            </a:r>
          </a:p>
          <a:p>
            <a:pPr lvl="1"/>
            <a:r>
              <a:rPr lang="en-US" dirty="0"/>
              <a:t>The server fetches required data</a:t>
            </a:r>
          </a:p>
          <a:p>
            <a:pPr lvl="1"/>
            <a:r>
              <a:rPr lang="en-US" dirty="0"/>
              <a:t>The server renders HTML</a:t>
            </a:r>
          </a:p>
          <a:p>
            <a:pPr lvl="1"/>
            <a:r>
              <a:rPr lang="en-US" dirty="0"/>
              <a:t>The browser displays the page immediately</a:t>
            </a:r>
          </a:p>
          <a:p>
            <a:pPr lvl="1"/>
            <a:endParaRPr lang="en-US" dirty="0"/>
          </a:p>
        </p:txBody>
      </p:sp>
      <p:pic>
        <p:nvPicPr>
          <p:cNvPr id="6" name="Picture 5">
            <a:extLst>
              <a:ext uri="{FF2B5EF4-FFF2-40B4-BE49-F238E27FC236}">
                <a16:creationId xmlns:a16="http://schemas.microsoft.com/office/drawing/2014/main" id="{402D5563-AB9F-42CB-9A38-AE2000484B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0104" y="4182823"/>
            <a:ext cx="6130274" cy="21499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52344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0322-358D-286C-9ABE-41EA5A527392}"/>
              </a:ext>
            </a:extLst>
          </p:cNvPr>
          <p:cNvSpPr>
            <a:spLocks noGrp="1"/>
          </p:cNvSpPr>
          <p:nvPr>
            <p:ph type="title"/>
          </p:nvPr>
        </p:nvSpPr>
        <p:spPr/>
        <p:txBody>
          <a:bodyPr/>
          <a:lstStyle/>
          <a:p>
            <a:r>
              <a:rPr lang="en-US" dirty="0"/>
              <a:t>SSR – Server-Side Rendering</a:t>
            </a:r>
          </a:p>
        </p:txBody>
      </p:sp>
      <p:sp>
        <p:nvSpPr>
          <p:cNvPr id="3" name="Text Placeholder 2">
            <a:extLst>
              <a:ext uri="{FF2B5EF4-FFF2-40B4-BE49-F238E27FC236}">
                <a16:creationId xmlns:a16="http://schemas.microsoft.com/office/drawing/2014/main" id="{2F89A322-1A3C-E877-447A-CF3AABB8A989}"/>
              </a:ext>
            </a:extLst>
          </p:cNvPr>
          <p:cNvSpPr>
            <a:spLocks noGrp="1"/>
          </p:cNvSpPr>
          <p:nvPr>
            <p:ph type="body" idx="1"/>
          </p:nvPr>
        </p:nvSpPr>
        <p:spPr/>
        <p:txBody>
          <a:bodyPr/>
          <a:lstStyle/>
          <a:p>
            <a:r>
              <a:rPr lang="en-US" b="1" dirty="0"/>
              <a:t>Examples</a:t>
            </a:r>
          </a:p>
          <a:p>
            <a:pPr lvl="1"/>
            <a:r>
              <a:rPr lang="en-US" dirty="0"/>
              <a:t>PHP, ASP.NET MVC</a:t>
            </a:r>
          </a:p>
          <a:p>
            <a:pPr lvl="1"/>
            <a:r>
              <a:rPr lang="en-US" dirty="0">
                <a:solidFill>
                  <a:srgbClr val="FF0000"/>
                </a:solidFill>
              </a:rPr>
              <a:t>Next.js with </a:t>
            </a:r>
            <a:r>
              <a:rPr lang="en-US" dirty="0" err="1">
                <a:solidFill>
                  <a:srgbClr val="FF0000"/>
                </a:solidFill>
              </a:rPr>
              <a:t>getServerSideProps</a:t>
            </a:r>
            <a:endParaRPr lang="en-US" dirty="0">
              <a:solidFill>
                <a:srgbClr val="FF0000"/>
              </a:solidFill>
            </a:endParaRPr>
          </a:p>
          <a:p>
            <a:pPr lvl="1"/>
            <a:r>
              <a:rPr lang="en-US" dirty="0"/>
              <a:t>News websites, blogs</a:t>
            </a:r>
          </a:p>
          <a:p>
            <a:endParaRPr lang="en-US" dirty="0"/>
          </a:p>
        </p:txBody>
      </p:sp>
      <p:pic>
        <p:nvPicPr>
          <p:cNvPr id="5" name="Picture 4">
            <a:extLst>
              <a:ext uri="{FF2B5EF4-FFF2-40B4-BE49-F238E27FC236}">
                <a16:creationId xmlns:a16="http://schemas.microsoft.com/office/drawing/2014/main" id="{8C988EB6-5E40-4E62-C16C-0D2A269DEC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4557" y="3886200"/>
            <a:ext cx="4425043" cy="2082373"/>
          </a:xfrm>
          <a:prstGeom prst="rect">
            <a:avLst/>
          </a:prstGeom>
        </p:spPr>
      </p:pic>
      <p:pic>
        <p:nvPicPr>
          <p:cNvPr id="7" name="Picture 6">
            <a:extLst>
              <a:ext uri="{FF2B5EF4-FFF2-40B4-BE49-F238E27FC236}">
                <a16:creationId xmlns:a16="http://schemas.microsoft.com/office/drawing/2014/main" id="{5574ADCD-0F83-5A4D-C045-04596D2B03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6629" y="3886199"/>
            <a:ext cx="5400051" cy="2082373"/>
          </a:xfrm>
          <a:prstGeom prst="rect">
            <a:avLst/>
          </a:prstGeom>
        </p:spPr>
      </p:pic>
    </p:spTree>
    <p:extLst>
      <p:ext uri="{BB962C8B-B14F-4D97-AF65-F5344CB8AC3E}">
        <p14:creationId xmlns:p14="http://schemas.microsoft.com/office/powerpoint/2010/main" val="37131470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6EE79-0972-8667-58CD-98F24F0AF3FC}"/>
              </a:ext>
            </a:extLst>
          </p:cNvPr>
          <p:cNvSpPr>
            <a:spLocks noGrp="1"/>
          </p:cNvSpPr>
          <p:nvPr>
            <p:ph type="title"/>
          </p:nvPr>
        </p:nvSpPr>
        <p:spPr/>
        <p:txBody>
          <a:bodyPr/>
          <a:lstStyle/>
          <a:p>
            <a:r>
              <a:rPr lang="en-US" dirty="0"/>
              <a:t>SSR – Server-Side Rendering</a:t>
            </a:r>
          </a:p>
        </p:txBody>
      </p:sp>
      <p:sp>
        <p:nvSpPr>
          <p:cNvPr id="3" name="Text Placeholder 2">
            <a:extLst>
              <a:ext uri="{FF2B5EF4-FFF2-40B4-BE49-F238E27FC236}">
                <a16:creationId xmlns:a16="http://schemas.microsoft.com/office/drawing/2014/main" id="{DEF01DEF-7F1D-274A-91F2-A830C5B02E0A}"/>
              </a:ext>
            </a:extLst>
          </p:cNvPr>
          <p:cNvSpPr>
            <a:spLocks noGrp="1"/>
          </p:cNvSpPr>
          <p:nvPr>
            <p:ph type="body" idx="1"/>
          </p:nvPr>
        </p:nvSpPr>
        <p:spPr/>
        <p:txBody>
          <a:bodyPr/>
          <a:lstStyle/>
          <a:p>
            <a:r>
              <a:rPr lang="en-US" dirty="0"/>
              <a:t>Example: HTML file</a:t>
            </a:r>
          </a:p>
        </p:txBody>
      </p:sp>
      <p:pic>
        <p:nvPicPr>
          <p:cNvPr id="5" name="Picture 4">
            <a:extLst>
              <a:ext uri="{FF2B5EF4-FFF2-40B4-BE49-F238E27FC236}">
                <a16:creationId xmlns:a16="http://schemas.microsoft.com/office/drawing/2014/main" id="{3EBF0A1C-B7DE-85A5-BEC7-4833E31471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1676" y="2404353"/>
            <a:ext cx="3876723" cy="2394835"/>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179C8E2D-AA46-615F-F28E-6AC208A26FDA}"/>
              </a:ext>
            </a:extLst>
          </p:cNvPr>
          <p:cNvSpPr txBox="1"/>
          <p:nvPr/>
        </p:nvSpPr>
        <p:spPr>
          <a:xfrm>
            <a:off x="3794779" y="5226226"/>
            <a:ext cx="6096000" cy="461665"/>
          </a:xfrm>
          <a:prstGeom prst="rect">
            <a:avLst/>
          </a:prstGeom>
          <a:noFill/>
        </p:spPr>
        <p:txBody>
          <a:bodyPr wrap="square">
            <a:spAutoFit/>
          </a:bodyPr>
          <a:lstStyle/>
          <a:p>
            <a:r>
              <a:rPr lang="en-US" sz="2400" i="1" dirty="0"/>
              <a:t>HTML already contains data</a:t>
            </a:r>
          </a:p>
        </p:txBody>
      </p:sp>
    </p:spTree>
    <p:extLst>
      <p:ext uri="{BB962C8B-B14F-4D97-AF65-F5344CB8AC3E}">
        <p14:creationId xmlns:p14="http://schemas.microsoft.com/office/powerpoint/2010/main" val="38023103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6DB7-A657-DBE0-5586-65DC2527B29B}"/>
              </a:ext>
            </a:extLst>
          </p:cNvPr>
          <p:cNvSpPr>
            <a:spLocks noGrp="1"/>
          </p:cNvSpPr>
          <p:nvPr>
            <p:ph type="title"/>
          </p:nvPr>
        </p:nvSpPr>
        <p:spPr/>
        <p:txBody>
          <a:bodyPr/>
          <a:lstStyle/>
          <a:p>
            <a:r>
              <a:rPr lang="en-US" dirty="0"/>
              <a:t>Hybrid Rendering – Next.js</a:t>
            </a:r>
          </a:p>
        </p:txBody>
      </p:sp>
      <p:sp>
        <p:nvSpPr>
          <p:cNvPr id="3" name="Text Placeholder 2">
            <a:extLst>
              <a:ext uri="{FF2B5EF4-FFF2-40B4-BE49-F238E27FC236}">
                <a16:creationId xmlns:a16="http://schemas.microsoft.com/office/drawing/2014/main" id="{BD7E0E52-2EBE-C019-14A1-F5E9B8EF56A2}"/>
              </a:ext>
            </a:extLst>
          </p:cNvPr>
          <p:cNvSpPr>
            <a:spLocks noGrp="1"/>
          </p:cNvSpPr>
          <p:nvPr>
            <p:ph type="body" idx="1"/>
          </p:nvPr>
        </p:nvSpPr>
        <p:spPr/>
        <p:txBody>
          <a:bodyPr/>
          <a:lstStyle/>
          <a:p>
            <a:r>
              <a:rPr lang="en-US" b="1" dirty="0">
                <a:solidFill>
                  <a:srgbClr val="FF0000"/>
                </a:solidFill>
              </a:rPr>
              <a:t>Hybrid Rendering</a:t>
            </a:r>
            <a:r>
              <a:rPr lang="en-US" dirty="0">
                <a:solidFill>
                  <a:srgbClr val="FF0000"/>
                </a:solidFill>
              </a:rPr>
              <a:t> </a:t>
            </a:r>
            <a:r>
              <a:rPr lang="en-US" dirty="0"/>
              <a:t>is a model that </a:t>
            </a:r>
            <a:r>
              <a:rPr lang="en-US" b="1" dirty="0"/>
              <a:t>combines CSR, SSR, and SSG</a:t>
            </a:r>
            <a:r>
              <a:rPr lang="en-US" dirty="0"/>
              <a:t>.</a:t>
            </a:r>
          </a:p>
          <a:p>
            <a:pPr lvl="1"/>
            <a:r>
              <a:rPr lang="en-US" dirty="0"/>
              <a:t>Each page can choose the </a:t>
            </a:r>
            <a:r>
              <a:rPr lang="en-US" b="1" dirty="0"/>
              <a:t>most appropriate rendering strategy</a:t>
            </a:r>
            <a:r>
              <a:rPr lang="en-US" dirty="0"/>
              <a:t>.</a:t>
            </a:r>
          </a:p>
          <a:p>
            <a:pPr lvl="1"/>
            <a:r>
              <a:rPr lang="en-US" dirty="0"/>
              <a:t>This flexibility is the </a:t>
            </a:r>
            <a:r>
              <a:rPr lang="en-US" b="1" dirty="0"/>
              <a:t>key strength of Next.js</a:t>
            </a:r>
            <a:r>
              <a:rPr lang="en-US" dirty="0"/>
              <a:t>.</a:t>
            </a:r>
          </a:p>
          <a:p>
            <a:pPr lvl="1"/>
            <a:endParaRPr lang="en-US" dirty="0"/>
          </a:p>
        </p:txBody>
      </p:sp>
    </p:spTree>
    <p:extLst>
      <p:ext uri="{BB962C8B-B14F-4D97-AF65-F5344CB8AC3E}">
        <p14:creationId xmlns:p14="http://schemas.microsoft.com/office/powerpoint/2010/main" val="14289666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D9299-7B1B-D9C3-77B8-A76374CA2027}"/>
              </a:ext>
            </a:extLst>
          </p:cNvPr>
          <p:cNvSpPr>
            <a:spLocks noGrp="1"/>
          </p:cNvSpPr>
          <p:nvPr>
            <p:ph type="title"/>
          </p:nvPr>
        </p:nvSpPr>
        <p:spPr/>
        <p:txBody>
          <a:bodyPr/>
          <a:lstStyle/>
          <a:p>
            <a:r>
              <a:rPr lang="en-US" dirty="0"/>
              <a:t>Hybrid Rendering – Next.js</a:t>
            </a:r>
          </a:p>
        </p:txBody>
      </p:sp>
      <p:sp>
        <p:nvSpPr>
          <p:cNvPr id="3" name="Text Placeholder 2">
            <a:extLst>
              <a:ext uri="{FF2B5EF4-FFF2-40B4-BE49-F238E27FC236}">
                <a16:creationId xmlns:a16="http://schemas.microsoft.com/office/drawing/2014/main" id="{82BAC985-58D5-0FDB-7BE5-BC75031E9360}"/>
              </a:ext>
            </a:extLst>
          </p:cNvPr>
          <p:cNvSpPr>
            <a:spLocks noGrp="1"/>
          </p:cNvSpPr>
          <p:nvPr>
            <p:ph type="body" idx="1"/>
          </p:nvPr>
        </p:nvSpPr>
        <p:spPr/>
        <p:txBody>
          <a:bodyPr>
            <a:normAutofit/>
          </a:bodyPr>
          <a:lstStyle/>
          <a:p>
            <a:r>
              <a:rPr lang="en-US" b="1" dirty="0"/>
              <a:t>CSR (Client Components)</a:t>
            </a:r>
          </a:p>
          <a:p>
            <a:pPr lvl="1"/>
            <a:r>
              <a:rPr lang="en-US" dirty="0"/>
              <a:t>Rendering happens in the browser</a:t>
            </a:r>
          </a:p>
          <a:p>
            <a:pPr lvl="1"/>
            <a:r>
              <a:rPr lang="en-US" dirty="0"/>
              <a:t>Used for highly interactive UI</a:t>
            </a:r>
          </a:p>
          <a:p>
            <a:r>
              <a:rPr lang="en-US" b="1" dirty="0"/>
              <a:t>SSR (Server-Side Rendering)</a:t>
            </a:r>
          </a:p>
          <a:p>
            <a:pPr lvl="1"/>
            <a:r>
              <a:rPr lang="en-US" dirty="0"/>
              <a:t>Rendering happens on every request</a:t>
            </a:r>
          </a:p>
          <a:p>
            <a:pPr lvl="1"/>
            <a:r>
              <a:rPr lang="en-US" dirty="0"/>
              <a:t>Data is always up to date</a:t>
            </a:r>
          </a:p>
          <a:p>
            <a:r>
              <a:rPr lang="en-US" b="1" dirty="0"/>
              <a:t>SSG (Static Site Generation)</a:t>
            </a:r>
          </a:p>
          <a:p>
            <a:pPr lvl="1"/>
            <a:r>
              <a:rPr lang="en-US" dirty="0"/>
              <a:t>Pages are rendered at build time</a:t>
            </a:r>
          </a:p>
          <a:p>
            <a:pPr lvl="1"/>
            <a:r>
              <a:rPr lang="en-US" dirty="0"/>
              <a:t>Very fast and SEO-friendly</a:t>
            </a:r>
          </a:p>
          <a:p>
            <a:endParaRPr lang="en-US" b="1" dirty="0"/>
          </a:p>
        </p:txBody>
      </p:sp>
    </p:spTree>
    <p:extLst>
      <p:ext uri="{BB962C8B-B14F-4D97-AF65-F5344CB8AC3E}">
        <p14:creationId xmlns:p14="http://schemas.microsoft.com/office/powerpoint/2010/main" val="2092407145"/>
      </p:ext>
    </p:extLst>
  </p:cSld>
  <p:clrMapOvr>
    <a:masterClrMapping/>
  </p:clrMapOvr>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Custom 6">
      <a:majorFont>
        <a:latin typeface="Arial (Heading)"/>
        <a:ea typeface=""/>
        <a:cs typeface=""/>
      </a:majorFont>
      <a:minorFont>
        <a:latin typeface="Arial"/>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2242</TotalTime>
  <Words>2352</Words>
  <Application>Microsoft Office PowerPoint</Application>
  <PresentationFormat>Widescreen</PresentationFormat>
  <Paragraphs>390</Paragraphs>
  <Slides>75</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75</vt:i4>
      </vt:variant>
    </vt:vector>
  </HeadingPairs>
  <TitlesOfParts>
    <vt:vector size="86" baseType="lpstr">
      <vt:lpstr>-apple-system</vt:lpstr>
      <vt:lpstr>Arial</vt:lpstr>
      <vt:lpstr>Arial (Heading)</vt:lpstr>
      <vt:lpstr>Arial Black</vt:lpstr>
      <vt:lpstr>Calibri</vt:lpstr>
      <vt:lpstr>Courier New</vt:lpstr>
      <vt:lpstr>Euphemia</vt:lpstr>
      <vt:lpstr>Times New Roman</vt:lpstr>
      <vt:lpstr>Trebuchet MS</vt:lpstr>
      <vt:lpstr>Wingdings</vt:lpstr>
      <vt:lpstr>Academic Literature 16x9</vt:lpstr>
      <vt:lpstr>PowerPoint Presentation</vt:lpstr>
      <vt:lpstr>Overview</vt:lpstr>
      <vt:lpstr>Javascript releases... (More about this later)</vt:lpstr>
      <vt:lpstr>Let and const</vt:lpstr>
      <vt:lpstr>Let and const</vt:lpstr>
      <vt:lpstr>Objects and Primitives in ES6</vt:lpstr>
      <vt:lpstr>Objects and Primitives in ES6</vt:lpstr>
      <vt:lpstr>Objects and Primitives in ES6</vt:lpstr>
      <vt:lpstr>Objects and Primitives in ES6</vt:lpstr>
      <vt:lpstr>Objects and Primitives in ES6</vt:lpstr>
      <vt:lpstr>Passing Values to Functions</vt:lpstr>
      <vt:lpstr>Passing Values to Functions</vt:lpstr>
      <vt:lpstr>Arrow functions</vt:lpstr>
      <vt:lpstr>Arrow functions</vt:lpstr>
      <vt:lpstr>3 Different function types</vt:lpstr>
      <vt:lpstr>Arrow functions</vt:lpstr>
      <vt:lpstr>Arrow functions</vt:lpstr>
      <vt:lpstr>Arrow functions</vt:lpstr>
      <vt:lpstr>Arrow functions</vt:lpstr>
      <vt:lpstr>Arrow functions</vt:lpstr>
      <vt:lpstr>Modules (export, import)</vt:lpstr>
      <vt:lpstr>Modules (export, import)</vt:lpstr>
      <vt:lpstr>Modules (export, import)</vt:lpstr>
      <vt:lpstr>Modules (export, import)</vt:lpstr>
      <vt:lpstr>Modules (export, import)</vt:lpstr>
      <vt:lpstr>Modules (export, import)</vt:lpstr>
      <vt:lpstr>Modules (export, import)</vt:lpstr>
      <vt:lpstr>Modules (export, import)</vt:lpstr>
      <vt:lpstr>Modules (export, import)</vt:lpstr>
      <vt:lpstr>Modules (export, import)</vt:lpstr>
      <vt:lpstr>Modules (export, import)</vt:lpstr>
      <vt:lpstr>Classes</vt:lpstr>
      <vt:lpstr>Classes</vt:lpstr>
      <vt:lpstr>Classes</vt:lpstr>
      <vt:lpstr>Classes</vt:lpstr>
      <vt:lpstr>Classes</vt:lpstr>
      <vt:lpstr>Classes</vt:lpstr>
      <vt:lpstr>Classes</vt:lpstr>
      <vt:lpstr>Classes</vt:lpstr>
      <vt:lpstr>Classes</vt:lpstr>
      <vt:lpstr>The threeDots ...</vt:lpstr>
      <vt:lpstr>The threeDots ...</vt:lpstr>
      <vt:lpstr>The threeDots ...</vt:lpstr>
      <vt:lpstr>The threeDots ...</vt:lpstr>
      <vt:lpstr>The threeDots ...</vt:lpstr>
      <vt:lpstr>The threeDots ...</vt:lpstr>
      <vt:lpstr>The threeDots ...</vt:lpstr>
      <vt:lpstr>Destructuring in ES6</vt:lpstr>
      <vt:lpstr>Array Destructuring</vt:lpstr>
      <vt:lpstr>Array Destructuring</vt:lpstr>
      <vt:lpstr>Array Destructuring</vt:lpstr>
      <vt:lpstr>Array Destructuring</vt:lpstr>
      <vt:lpstr>Array Destructuring</vt:lpstr>
      <vt:lpstr>Object Destructuring</vt:lpstr>
      <vt:lpstr>Object Destructuring</vt:lpstr>
      <vt:lpstr>Object Destructuring</vt:lpstr>
      <vt:lpstr>Object Destructuring</vt:lpstr>
      <vt:lpstr>Object Destructuring</vt:lpstr>
      <vt:lpstr>Destructuring in Function Parameters</vt:lpstr>
      <vt:lpstr>Destructuring in Function Parameters</vt:lpstr>
      <vt:lpstr>Traditional Web Applications</vt:lpstr>
      <vt:lpstr>Traditional Web Applications</vt:lpstr>
      <vt:lpstr>Single-Page Applications (SPA)</vt:lpstr>
      <vt:lpstr>Single-Page Applications (SPA)</vt:lpstr>
      <vt:lpstr>Single-Page Applications (SPA)</vt:lpstr>
      <vt:lpstr>CSR – Client-Side Rendering</vt:lpstr>
      <vt:lpstr>CSR – Client-Side Rendering</vt:lpstr>
      <vt:lpstr>CSR – Client-Side Rendering</vt:lpstr>
      <vt:lpstr>CSR – Client-Side Rendering</vt:lpstr>
      <vt:lpstr>SSR – Server-Side Rendering</vt:lpstr>
      <vt:lpstr>SSR – Server-Side Rendering</vt:lpstr>
      <vt:lpstr>SSR – Server-Side Rendering</vt:lpstr>
      <vt:lpstr>SSR – Server-Side Rendering</vt:lpstr>
      <vt:lpstr>Hybrid Rendering – Next.js</vt:lpstr>
      <vt:lpstr>Hybrid Rendering – Next.js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License For You And Lifetime</dc:creator>
  <cp:lastModifiedBy>Xuan Hien</cp:lastModifiedBy>
  <cp:revision>43</cp:revision>
  <dcterms:created xsi:type="dcterms:W3CDTF">2024-10-17T15:22:21Z</dcterms:created>
  <dcterms:modified xsi:type="dcterms:W3CDTF">2026-01-03T04:11:07Z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