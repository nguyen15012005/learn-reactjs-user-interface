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wmv" ContentType="video/x-ms-wmv"/>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0"/>
  </p:notesMasterIdLst>
  <p:handoutMasterIdLst>
    <p:handoutMasterId r:id="rId51"/>
  </p:handoutMasterIdLst>
  <p:sldIdLst>
    <p:sldId id="256" r:id="rId5"/>
    <p:sldId id="286" r:id="rId6"/>
    <p:sldId id="270" r:id="rId7"/>
    <p:sldId id="271" r:id="rId8"/>
    <p:sldId id="272" r:id="rId9"/>
    <p:sldId id="273" r:id="rId10"/>
    <p:sldId id="263" r:id="rId11"/>
    <p:sldId id="274" r:id="rId12"/>
    <p:sldId id="275" r:id="rId13"/>
    <p:sldId id="276" r:id="rId14"/>
    <p:sldId id="277" r:id="rId15"/>
    <p:sldId id="26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278" r:id="rId33"/>
    <p:sldId id="281" r:id="rId34"/>
    <p:sldId id="282" r:id="rId35"/>
    <p:sldId id="283" r:id="rId36"/>
    <p:sldId id="284" r:id="rId37"/>
    <p:sldId id="285" r:id="rId38"/>
    <p:sldId id="287" r:id="rId39"/>
    <p:sldId id="290" r:id="rId40"/>
    <p:sldId id="291" r:id="rId41"/>
    <p:sldId id="288" r:id="rId42"/>
    <p:sldId id="292" r:id="rId43"/>
    <p:sldId id="293" r:id="rId44"/>
    <p:sldId id="294" r:id="rId45"/>
    <p:sldId id="295" r:id="rId46"/>
    <p:sldId id="296" r:id="rId47"/>
    <p:sldId id="297" r:id="rId48"/>
    <p:sldId id="29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3002" autoAdjust="0"/>
  </p:normalViewPr>
  <p:slideViewPr>
    <p:cSldViewPr snapToGrid="0" showGuides="1">
      <p:cViewPr varScale="1">
        <p:scale>
          <a:sx n="58" d="100"/>
          <a:sy n="58" d="100"/>
        </p:scale>
        <p:origin x="1140" y="6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17/Dec/2024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17/Dec/2024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Open Sans" panose="020B0606030504020204" pitchFamily="34" charset="0"/>
              </a:rPr>
              <a:t>React context </a:t>
            </a:r>
            <a:r>
              <a:rPr lang="en-US" b="0" i="0" dirty="0" err="1">
                <a:solidFill>
                  <a:srgbClr val="1B1B1B"/>
                </a:solidFill>
                <a:effectLst/>
                <a:latin typeface="Open Sans" panose="020B0606030504020204" pitchFamily="34" charset="0"/>
              </a:rPr>
              <a:t>cung</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cấp</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cho</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chúng</a:t>
            </a:r>
            <a:r>
              <a:rPr lang="en-US" b="0" i="0" dirty="0">
                <a:solidFill>
                  <a:srgbClr val="1B1B1B"/>
                </a:solidFill>
                <a:effectLst/>
                <a:latin typeface="Open Sans" panose="020B0606030504020204" pitchFamily="34" charset="0"/>
              </a:rPr>
              <a:t> ta </a:t>
            </a:r>
            <a:r>
              <a:rPr lang="en-US" b="0" i="0" dirty="0" err="1">
                <a:solidFill>
                  <a:srgbClr val="1B1B1B"/>
                </a:solidFill>
                <a:effectLst/>
                <a:latin typeface="Open Sans" panose="020B0606030504020204" pitchFamily="34" charset="0"/>
              </a:rPr>
              <a:t>cách</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để</a:t>
            </a:r>
            <a:r>
              <a:rPr lang="en-US" b="0" i="0" dirty="0">
                <a:solidFill>
                  <a:srgbClr val="1B1B1B"/>
                </a:solidFill>
                <a:effectLst/>
                <a:latin typeface="Open Sans" panose="020B0606030504020204" pitchFamily="34" charset="0"/>
              </a:rPr>
              <a:t> chia </a:t>
            </a:r>
            <a:r>
              <a:rPr lang="en-US" b="0" i="0" dirty="0" err="1">
                <a:solidFill>
                  <a:srgbClr val="1B1B1B"/>
                </a:solidFill>
                <a:effectLst/>
                <a:latin typeface="Open Sans" panose="020B0606030504020204" pitchFamily="34" charset="0"/>
              </a:rPr>
              <a:t>sẽ</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dữ</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liệu</a:t>
            </a:r>
            <a:r>
              <a:rPr lang="en-US" b="0" i="0" dirty="0">
                <a:solidFill>
                  <a:srgbClr val="1B1B1B"/>
                </a:solidFill>
                <a:effectLst/>
                <a:latin typeface="Open Sans" panose="020B0606030504020204" pitchFamily="34" charset="0"/>
              </a:rPr>
              <a:t> qua </a:t>
            </a:r>
            <a:r>
              <a:rPr lang="en-US" b="0" i="0" dirty="0" err="1">
                <a:solidFill>
                  <a:srgbClr val="1B1B1B"/>
                </a:solidFill>
                <a:effectLst/>
                <a:latin typeface="Open Sans" panose="020B0606030504020204" pitchFamily="34" charset="0"/>
              </a:rPr>
              <a:t>nhiều</a:t>
            </a:r>
            <a:r>
              <a:rPr lang="en-US" b="0" i="0" dirty="0">
                <a:solidFill>
                  <a:srgbClr val="1B1B1B"/>
                </a:solidFill>
                <a:effectLst/>
                <a:latin typeface="Open Sans" panose="020B0606030504020204" pitchFamily="34" charset="0"/>
              </a:rPr>
              <a:t> component </a:t>
            </a:r>
            <a:r>
              <a:rPr lang="en-US" b="0" i="0" dirty="0" err="1">
                <a:solidFill>
                  <a:srgbClr val="1B1B1B"/>
                </a:solidFill>
                <a:effectLst/>
                <a:latin typeface="Open Sans" panose="020B0606030504020204" pitchFamily="34" charset="0"/>
              </a:rPr>
              <a:t>mà</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không</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cần</a:t>
            </a:r>
            <a:r>
              <a:rPr lang="en-US" b="0" i="0" dirty="0">
                <a:solidFill>
                  <a:srgbClr val="1B1B1B"/>
                </a:solidFill>
                <a:effectLst/>
                <a:latin typeface="Open Sans" panose="020B0606030504020204" pitchFamily="34" charset="0"/>
              </a:rPr>
              <a:t> </a:t>
            </a:r>
            <a:r>
              <a:rPr lang="en-US" b="0" i="0" dirty="0" err="1">
                <a:solidFill>
                  <a:srgbClr val="1B1B1B"/>
                </a:solidFill>
                <a:effectLst/>
                <a:latin typeface="Open Sans" panose="020B0606030504020204" pitchFamily="34" charset="0"/>
              </a:rPr>
              <a:t>thông</a:t>
            </a:r>
            <a:r>
              <a:rPr lang="en-US" b="0" i="0" dirty="0">
                <a:solidFill>
                  <a:srgbClr val="1B1B1B"/>
                </a:solidFill>
                <a:effectLst/>
                <a:latin typeface="Open Sans" panose="020B0606030504020204" pitchFamily="34" charset="0"/>
              </a:rPr>
              <a:t> qua props.</a:t>
            </a:r>
          </a:p>
          <a:p>
            <a:r>
              <a:rPr lang="vi-VN" b="0" i="0" dirty="0">
                <a:solidFill>
                  <a:srgbClr val="1B1B1B"/>
                </a:solidFill>
                <a:effectLst/>
                <a:latin typeface="Open Sans" panose="020B0606030504020204" pitchFamily="34" charset="0"/>
              </a:rPr>
              <a:t>Context API được sử dụng để truyền các biến toàn cục ở bất kỳ đâu trong mã mà không cần prop drilling. Nó hữu ích khi cần chia sẻ trạng thái giữa nhiều thành phần lồng nhau. Nó nhẹ và dễ sử dụng hơn, để tạo ngữ cảnh chỉ cần gọi React.createContext(). Không cần cài đặt các dependency khác hoặc thư viện của bên thứ ba như redux để quản lý trạng thái.</a:t>
            </a:r>
            <a:endParaRPr lang="en-US" b="0" i="0" dirty="0">
              <a:solidFill>
                <a:srgbClr val="1B1B1B"/>
              </a:solidFill>
              <a:effectLst/>
              <a:latin typeface="Open Sans" panose="020B0606030504020204" pitchFamily="34" charset="0"/>
            </a:endParaRP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3648453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n this example, we have a parent component called App. This component has a state variable called "text", which is initially set to an empty string. We've also defined a function called </a:t>
            </a:r>
            <a:r>
              <a:rPr lang="en-US" b="0" i="0" dirty="0" err="1">
                <a:solidFill>
                  <a:srgbClr val="0A0A23"/>
                </a:solidFill>
                <a:effectLst/>
                <a:latin typeface="Lato" panose="020F0502020204030203" pitchFamily="34" charset="0"/>
              </a:rPr>
              <a:t>setText</a:t>
            </a:r>
            <a:r>
              <a:rPr lang="en-US" b="0" i="0" dirty="0">
                <a:solidFill>
                  <a:srgbClr val="0A0A23"/>
                </a:solidFill>
                <a:effectLst/>
                <a:latin typeface="Lato" panose="020F0502020204030203" pitchFamily="34" charset="0"/>
              </a:rPr>
              <a:t> that can be used to update the value of text.</a:t>
            </a:r>
          </a:p>
          <a:p>
            <a:pPr algn="l" fontAlgn="base"/>
            <a:r>
              <a:rPr lang="en-US" b="0" i="0" dirty="0">
                <a:solidFill>
                  <a:srgbClr val="0A0A23"/>
                </a:solidFill>
                <a:effectLst/>
                <a:latin typeface="Lato" panose="020F0502020204030203" pitchFamily="34" charset="0"/>
              </a:rPr>
              <a:t>Inside the return statement of the App component, we've wrapped the children of this component with the provider component ("</a:t>
            </a:r>
            <a:r>
              <a:rPr lang="en-US" b="0" i="0" dirty="0" err="1">
                <a:solidFill>
                  <a:srgbClr val="0A0A23"/>
                </a:solidFill>
                <a:effectLst/>
                <a:latin typeface="Lato" panose="020F0502020204030203" pitchFamily="34" charset="0"/>
              </a:rPr>
              <a:t>MyContext.Provider</a:t>
            </a:r>
            <a:r>
              <a:rPr lang="en-US" b="0" i="0" dirty="0">
                <a:solidFill>
                  <a:srgbClr val="0A0A23"/>
                </a:solidFill>
                <a:effectLst/>
                <a:latin typeface="Lato" panose="020F0502020204030203" pitchFamily="34" charset="0"/>
              </a:rPr>
              <a:t>"). Then we've passed an object to the value prop of the provider component that contains "text" and "</a:t>
            </a:r>
            <a:r>
              <a:rPr lang="en-US" b="0" i="0" dirty="0" err="1">
                <a:solidFill>
                  <a:srgbClr val="0A0A23"/>
                </a:solidFill>
                <a:effectLst/>
                <a:latin typeface="Lato" panose="020F0502020204030203" pitchFamily="34" charset="0"/>
              </a:rPr>
              <a:t>setText</a:t>
            </a:r>
            <a:r>
              <a:rPr lang="en-US" b="0" i="0" dirty="0">
                <a:solidFill>
                  <a:srgbClr val="0A0A23"/>
                </a:solidFill>
                <a:effectLst/>
                <a:latin typeface="Lato" panose="020F0502020204030203" pitchFamily="34" charset="0"/>
              </a:rPr>
              <a:t>" values.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10</a:t>
            </a:fld>
            <a:endParaRPr lang="en-US"/>
          </a:p>
        </p:txBody>
      </p:sp>
    </p:spTree>
    <p:extLst>
      <p:ext uri="{BB962C8B-B14F-4D97-AF65-F5344CB8AC3E}">
        <p14:creationId xmlns:p14="http://schemas.microsoft.com/office/powerpoint/2010/main" val="351324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In this example, we've used the </a:t>
            </a:r>
            <a:r>
              <a:rPr lang="en-US" b="0" i="0" dirty="0" err="1">
                <a:solidFill>
                  <a:srgbClr val="0A0A23"/>
                </a:solidFill>
                <a:effectLst/>
                <a:latin typeface="Lato" panose="020F0502020204030203" pitchFamily="34" charset="0"/>
              </a:rPr>
              <a:t>useContext</a:t>
            </a:r>
            <a:r>
              <a:rPr lang="en-US" b="0" i="0" dirty="0">
                <a:solidFill>
                  <a:srgbClr val="0A0A23"/>
                </a:solidFill>
                <a:effectLst/>
                <a:latin typeface="Lato" panose="020F0502020204030203" pitchFamily="34" charset="0"/>
              </a:rPr>
              <a:t> hook to access the "text" and "</a:t>
            </a:r>
            <a:r>
              <a:rPr lang="en-US" b="0" i="0" dirty="0" err="1">
                <a:solidFill>
                  <a:srgbClr val="0A0A23"/>
                </a:solidFill>
                <a:effectLst/>
                <a:latin typeface="Lato" panose="020F0502020204030203" pitchFamily="34" charset="0"/>
              </a:rPr>
              <a:t>setText</a:t>
            </a:r>
            <a:r>
              <a:rPr lang="en-US" b="0" i="0" dirty="0">
                <a:solidFill>
                  <a:srgbClr val="0A0A23"/>
                </a:solidFill>
                <a:effectLst/>
                <a:latin typeface="Lato" panose="020F0502020204030203" pitchFamily="34" charset="0"/>
              </a:rPr>
              <a:t>" variables that were defined in the provider component.</a:t>
            </a:r>
          </a:p>
          <a:p>
            <a:pPr algn="l" fontAlgn="base"/>
            <a:r>
              <a:rPr lang="en-US" b="0" i="0" dirty="0">
                <a:solidFill>
                  <a:srgbClr val="0A0A23"/>
                </a:solidFill>
                <a:effectLst/>
                <a:latin typeface="Lato" panose="020F0502020204030203" pitchFamily="34" charset="0"/>
              </a:rPr>
              <a:t>Inside the return statement of "</a:t>
            </a:r>
            <a:r>
              <a:rPr lang="en-US" b="0" i="0" dirty="0" err="1">
                <a:solidFill>
                  <a:srgbClr val="0A0A23"/>
                </a:solidFill>
                <a:effectLst/>
                <a:latin typeface="Lato" panose="020F0502020204030203" pitchFamily="34" charset="0"/>
              </a:rPr>
              <a:t>MyComponent</a:t>
            </a:r>
            <a:r>
              <a:rPr lang="en-US" b="0" i="0" dirty="0">
                <a:solidFill>
                  <a:srgbClr val="0A0A23"/>
                </a:solidFill>
                <a:effectLst/>
                <a:latin typeface="Lato" panose="020F0502020204030203" pitchFamily="34" charset="0"/>
              </a:rPr>
              <a:t>", we've rendered a paragraph element that displays the value of text. We've also rendered a button that, when clicked, will call the </a:t>
            </a:r>
            <a:r>
              <a:rPr lang="en-US" b="0" i="0" dirty="0" err="1">
                <a:solidFill>
                  <a:srgbClr val="0A0A23"/>
                </a:solidFill>
                <a:effectLst/>
                <a:latin typeface="Lato" panose="020F0502020204030203" pitchFamily="34" charset="0"/>
              </a:rPr>
              <a:t>setText</a:t>
            </a:r>
            <a:r>
              <a:rPr lang="en-US" b="0" i="0" dirty="0">
                <a:solidFill>
                  <a:srgbClr val="0A0A23"/>
                </a:solidFill>
                <a:effectLst/>
                <a:latin typeface="Lato" panose="020F0502020204030203" pitchFamily="34" charset="0"/>
              </a:rPr>
              <a:t> function to update the value of text to "Hello, world!".</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11</a:t>
            </a:fld>
            <a:endParaRPr lang="en-US"/>
          </a:p>
        </p:txBody>
      </p:sp>
    </p:spTree>
    <p:extLst>
      <p:ext uri="{BB962C8B-B14F-4D97-AF65-F5344CB8AC3E}">
        <p14:creationId xmlns:p14="http://schemas.microsoft.com/office/powerpoint/2010/main" val="3213395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in an app can have a state. However, it becomes a challenge if multiple components need access to the same data. To solve this issue, we "lift the state up". Lifting state up is a process where you move the state from a child component to its parent (top-level) component. With this approach, you can easily share state between multiple child components.</a:t>
            </a:r>
          </a:p>
          <a:p>
            <a:r>
              <a:rPr lang="en-US" dirty="0" err="1"/>
              <a:t>Mỗi</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ứng</a:t>
            </a:r>
            <a:r>
              <a:rPr lang="en-US" dirty="0"/>
              <a:t> </a:t>
            </a:r>
            <a:r>
              <a:rPr lang="en-US" dirty="0" err="1"/>
              <a:t>dụng</a:t>
            </a:r>
            <a:r>
              <a:rPr lang="en-US" dirty="0"/>
              <a:t> </a:t>
            </a:r>
            <a:r>
              <a:rPr lang="en-US" dirty="0" err="1"/>
              <a:t>có</a:t>
            </a:r>
            <a:r>
              <a:rPr lang="en-US" dirty="0"/>
              <a:t> </a:t>
            </a:r>
            <a:r>
              <a:rPr lang="en-US" dirty="0" err="1"/>
              <a:t>thể</a:t>
            </a:r>
            <a:r>
              <a:rPr lang="en-US" dirty="0"/>
              <a:t> </a:t>
            </a:r>
            <a:r>
              <a:rPr lang="en-US" dirty="0" err="1"/>
              <a:t>có</a:t>
            </a:r>
            <a:r>
              <a:rPr lang="en-US" dirty="0"/>
              <a:t> </a:t>
            </a:r>
            <a:r>
              <a:rPr lang="en-US" dirty="0" err="1"/>
              <a:t>một</a:t>
            </a:r>
            <a:r>
              <a:rPr lang="en-US" dirty="0"/>
              <a:t> </a:t>
            </a:r>
            <a:r>
              <a:rPr lang="en-US" dirty="0" err="1"/>
              <a:t>trạng</a:t>
            </a:r>
            <a:r>
              <a:rPr lang="en-US" dirty="0"/>
              <a:t> </a:t>
            </a:r>
            <a:r>
              <a:rPr lang="en-US" dirty="0" err="1"/>
              <a:t>thái</a:t>
            </a:r>
            <a:r>
              <a:rPr lang="en-US" dirty="0"/>
              <a:t>. </a:t>
            </a:r>
            <a:r>
              <a:rPr lang="en-US" dirty="0" err="1"/>
              <a:t>Tuy</a:t>
            </a:r>
            <a:r>
              <a:rPr lang="en-US" dirty="0"/>
              <a:t> </a:t>
            </a:r>
            <a:r>
              <a:rPr lang="en-US" dirty="0" err="1"/>
              <a:t>nhiên</a:t>
            </a:r>
            <a:r>
              <a:rPr lang="en-US" dirty="0"/>
              <a:t>, </a:t>
            </a:r>
            <a:r>
              <a:rPr lang="en-US" dirty="0" err="1"/>
              <a:t>sẽ</a:t>
            </a:r>
            <a:r>
              <a:rPr lang="en-US" dirty="0"/>
              <a:t> </a:t>
            </a:r>
            <a:r>
              <a:rPr lang="en-US" dirty="0" err="1"/>
              <a:t>trở</a:t>
            </a:r>
            <a:r>
              <a:rPr lang="en-US" dirty="0"/>
              <a:t> </a:t>
            </a:r>
            <a:r>
              <a:rPr lang="en-US" dirty="0" err="1"/>
              <a:t>thành</a:t>
            </a:r>
            <a:r>
              <a:rPr lang="en-US" dirty="0"/>
              <a:t> </a:t>
            </a:r>
            <a:r>
              <a:rPr lang="en-US" dirty="0" err="1"/>
              <a:t>một</a:t>
            </a:r>
            <a:r>
              <a:rPr lang="en-US" dirty="0"/>
              <a:t> </a:t>
            </a:r>
            <a:r>
              <a:rPr lang="en-US" dirty="0" err="1"/>
              <a:t>thách</a:t>
            </a:r>
            <a:r>
              <a:rPr lang="en-US" dirty="0"/>
              <a:t> </a:t>
            </a:r>
            <a:r>
              <a:rPr lang="en-US" dirty="0" err="1"/>
              <a:t>thức</a:t>
            </a:r>
            <a:r>
              <a:rPr lang="en-US" dirty="0"/>
              <a:t> </a:t>
            </a:r>
            <a:r>
              <a:rPr lang="en-US" dirty="0" err="1"/>
              <a:t>nếu</a:t>
            </a:r>
            <a:r>
              <a:rPr lang="en-US" dirty="0"/>
              <a:t> </a:t>
            </a:r>
            <a:r>
              <a:rPr lang="en-US" dirty="0" err="1"/>
              <a:t>nhiều</a:t>
            </a:r>
            <a:r>
              <a:rPr lang="en-US" dirty="0"/>
              <a:t> </a:t>
            </a:r>
            <a:r>
              <a:rPr lang="en-US" dirty="0" err="1"/>
              <a:t>thành</a:t>
            </a:r>
            <a:r>
              <a:rPr lang="en-US" dirty="0"/>
              <a:t> </a:t>
            </a:r>
            <a:r>
              <a:rPr lang="en-US" dirty="0" err="1"/>
              <a:t>phần</a:t>
            </a:r>
            <a:r>
              <a:rPr lang="en-US" dirty="0"/>
              <a:t> </a:t>
            </a:r>
            <a:r>
              <a:rPr lang="en-US" dirty="0" err="1"/>
              <a:t>cần</a:t>
            </a:r>
            <a:r>
              <a:rPr lang="en-US" dirty="0"/>
              <a:t> </a:t>
            </a:r>
            <a:r>
              <a:rPr lang="en-US" dirty="0" err="1"/>
              <a:t>truy</a:t>
            </a:r>
            <a:r>
              <a:rPr lang="en-US" dirty="0"/>
              <a:t> </a:t>
            </a:r>
            <a:r>
              <a:rPr lang="en-US" dirty="0" err="1"/>
              <a:t>cập</a:t>
            </a:r>
            <a:r>
              <a:rPr lang="en-US" dirty="0"/>
              <a:t> </a:t>
            </a:r>
            <a:r>
              <a:rPr lang="en-US" dirty="0" err="1"/>
              <a:t>vào</a:t>
            </a:r>
            <a:r>
              <a:rPr lang="en-US" dirty="0"/>
              <a:t> </a:t>
            </a:r>
            <a:r>
              <a:rPr lang="en-US" dirty="0" err="1"/>
              <a:t>cùng</a:t>
            </a:r>
            <a:r>
              <a:rPr lang="en-US" dirty="0"/>
              <a:t> </a:t>
            </a:r>
            <a:r>
              <a:rPr lang="en-US" dirty="0" err="1"/>
              <a:t>một</a:t>
            </a:r>
            <a:r>
              <a:rPr lang="en-US" dirty="0"/>
              <a:t> </a:t>
            </a:r>
            <a:r>
              <a:rPr lang="en-US" dirty="0" err="1"/>
              <a:t>dữ</a:t>
            </a:r>
            <a:r>
              <a:rPr lang="en-US" dirty="0"/>
              <a:t> </a:t>
            </a:r>
            <a:r>
              <a:rPr lang="en-US" dirty="0" err="1"/>
              <a:t>liệu</a:t>
            </a:r>
            <a:r>
              <a:rPr lang="en-US" dirty="0"/>
              <a:t>. </a:t>
            </a:r>
            <a:r>
              <a:rPr lang="en-US" dirty="0" err="1"/>
              <a:t>Để</a:t>
            </a:r>
            <a:r>
              <a:rPr lang="en-US" dirty="0"/>
              <a:t> </a:t>
            </a:r>
            <a:r>
              <a:rPr lang="en-US" dirty="0" err="1"/>
              <a:t>giải</a:t>
            </a:r>
            <a:r>
              <a:rPr lang="en-US" dirty="0"/>
              <a:t> </a:t>
            </a:r>
            <a:r>
              <a:rPr lang="en-US" dirty="0" err="1"/>
              <a:t>quyết</a:t>
            </a:r>
            <a:r>
              <a:rPr lang="en-US" dirty="0"/>
              <a:t> </a:t>
            </a:r>
            <a:r>
              <a:rPr lang="en-US" dirty="0" err="1"/>
              <a:t>vấn</a:t>
            </a:r>
            <a:r>
              <a:rPr lang="en-US" dirty="0"/>
              <a:t> </a:t>
            </a:r>
            <a:r>
              <a:rPr lang="en-US" dirty="0" err="1"/>
              <a:t>đề</a:t>
            </a:r>
            <a:r>
              <a:rPr lang="en-US" dirty="0"/>
              <a:t> </a:t>
            </a:r>
            <a:r>
              <a:rPr lang="en-US" dirty="0" err="1"/>
              <a:t>này</a:t>
            </a:r>
            <a:r>
              <a:rPr lang="en-US" dirty="0"/>
              <a:t>, </a:t>
            </a:r>
            <a:r>
              <a:rPr lang="en-US" dirty="0" err="1"/>
              <a:t>chúng</a:t>
            </a:r>
            <a:r>
              <a:rPr lang="en-US" dirty="0"/>
              <a:t> ta "</a:t>
            </a:r>
            <a:r>
              <a:rPr lang="en-US" dirty="0" err="1"/>
              <a:t>nâng</a:t>
            </a:r>
            <a:r>
              <a:rPr lang="en-US" dirty="0"/>
              <a:t> </a:t>
            </a:r>
            <a:r>
              <a:rPr lang="en-US" dirty="0" err="1"/>
              <a:t>trạng</a:t>
            </a:r>
            <a:r>
              <a:rPr lang="en-US" dirty="0"/>
              <a:t> </a:t>
            </a:r>
            <a:r>
              <a:rPr lang="en-US" dirty="0" err="1"/>
              <a:t>thái</a:t>
            </a:r>
            <a:r>
              <a:rPr lang="en-US" dirty="0"/>
              <a:t> </a:t>
            </a:r>
            <a:r>
              <a:rPr lang="en-US" dirty="0" err="1"/>
              <a:t>lên</a:t>
            </a:r>
            <a:r>
              <a:rPr lang="en-US" dirty="0"/>
              <a:t>". </a:t>
            </a:r>
            <a:r>
              <a:rPr lang="en-US" dirty="0" err="1"/>
              <a:t>Nâng</a:t>
            </a:r>
            <a:r>
              <a:rPr lang="en-US" dirty="0"/>
              <a:t> </a:t>
            </a:r>
            <a:r>
              <a:rPr lang="en-US" dirty="0" err="1"/>
              <a:t>trạng</a:t>
            </a:r>
            <a:r>
              <a:rPr lang="en-US" dirty="0"/>
              <a:t> </a:t>
            </a:r>
            <a:r>
              <a:rPr lang="en-US" dirty="0" err="1"/>
              <a:t>thái</a:t>
            </a:r>
            <a:r>
              <a:rPr lang="en-US" dirty="0"/>
              <a:t> </a:t>
            </a:r>
            <a:r>
              <a:rPr lang="en-US" dirty="0" err="1"/>
              <a:t>lên</a:t>
            </a:r>
            <a:r>
              <a:rPr lang="en-US" dirty="0"/>
              <a:t> </a:t>
            </a:r>
            <a:r>
              <a:rPr lang="en-US" dirty="0" err="1"/>
              <a:t>là</a:t>
            </a:r>
            <a:r>
              <a:rPr lang="en-US" dirty="0"/>
              <a:t> </a:t>
            </a:r>
            <a:r>
              <a:rPr lang="en-US" dirty="0" err="1"/>
              <a:t>một</a:t>
            </a:r>
            <a:r>
              <a:rPr lang="en-US" dirty="0"/>
              <a:t> </a:t>
            </a:r>
            <a:r>
              <a:rPr lang="en-US" dirty="0" err="1"/>
              <a:t>quá</a:t>
            </a:r>
            <a:r>
              <a:rPr lang="en-US" dirty="0"/>
              <a:t> </a:t>
            </a:r>
            <a:r>
              <a:rPr lang="en-US" dirty="0" err="1"/>
              <a:t>trình</a:t>
            </a:r>
            <a:r>
              <a:rPr lang="en-US" dirty="0"/>
              <a:t> </a:t>
            </a:r>
            <a:r>
              <a:rPr lang="en-US" dirty="0" err="1"/>
              <a:t>mà</a:t>
            </a:r>
            <a:r>
              <a:rPr lang="en-US" dirty="0"/>
              <a:t> </a:t>
            </a:r>
            <a:r>
              <a:rPr lang="en-US" dirty="0" err="1"/>
              <a:t>bạn</a:t>
            </a:r>
            <a:r>
              <a:rPr lang="en-US" dirty="0"/>
              <a:t> di </a:t>
            </a:r>
            <a:r>
              <a:rPr lang="en-US" dirty="0" err="1"/>
              <a:t>chuyển</a:t>
            </a:r>
            <a:r>
              <a:rPr lang="en-US" dirty="0"/>
              <a:t> </a:t>
            </a:r>
            <a:r>
              <a:rPr lang="en-US" dirty="0" err="1"/>
              <a:t>trạng</a:t>
            </a:r>
            <a:r>
              <a:rPr lang="en-US" dirty="0"/>
              <a:t> </a:t>
            </a:r>
            <a:r>
              <a:rPr lang="en-US" dirty="0" err="1"/>
              <a:t>thái</a:t>
            </a:r>
            <a:r>
              <a:rPr lang="en-US" dirty="0"/>
              <a:t> </a:t>
            </a:r>
            <a:r>
              <a:rPr lang="en-US" dirty="0" err="1"/>
              <a:t>từ</a:t>
            </a:r>
            <a:r>
              <a:rPr lang="en-US" dirty="0"/>
              <a:t> </a:t>
            </a:r>
            <a:r>
              <a:rPr lang="en-US" dirty="0" err="1"/>
              <a:t>một</a:t>
            </a:r>
            <a:r>
              <a:rPr lang="en-US" dirty="0"/>
              <a:t> </a:t>
            </a:r>
            <a:r>
              <a:rPr lang="en-US" dirty="0" err="1"/>
              <a:t>thành</a:t>
            </a:r>
            <a:r>
              <a:rPr lang="en-US" dirty="0"/>
              <a:t> </a:t>
            </a:r>
            <a:r>
              <a:rPr lang="en-US" dirty="0" err="1"/>
              <a:t>phần</a:t>
            </a:r>
            <a:r>
              <a:rPr lang="en-US" dirty="0"/>
              <a:t> con sang </a:t>
            </a:r>
            <a:r>
              <a:rPr lang="en-US" dirty="0" err="1"/>
              <a:t>thành</a:t>
            </a:r>
            <a:r>
              <a:rPr lang="en-US" dirty="0"/>
              <a:t> </a:t>
            </a:r>
            <a:r>
              <a:rPr lang="en-US" dirty="0" err="1"/>
              <a:t>phần</a:t>
            </a:r>
            <a:r>
              <a:rPr lang="en-US" dirty="0"/>
              <a:t> cha (</a:t>
            </a:r>
            <a:r>
              <a:rPr lang="en-US" dirty="0" err="1"/>
              <a:t>cấp</a:t>
            </a:r>
            <a:r>
              <a:rPr lang="en-US" dirty="0"/>
              <a:t> </a:t>
            </a:r>
            <a:r>
              <a:rPr lang="en-US" dirty="0" err="1"/>
              <a:t>cao</a:t>
            </a:r>
            <a:r>
              <a:rPr lang="en-US" dirty="0"/>
              <a:t> </a:t>
            </a:r>
            <a:r>
              <a:rPr lang="en-US" dirty="0" err="1"/>
              <a:t>nhất</a:t>
            </a:r>
            <a:r>
              <a:rPr lang="en-US" dirty="0"/>
              <a:t>) </a:t>
            </a:r>
            <a:r>
              <a:rPr lang="en-US" dirty="0" err="1"/>
              <a:t>của</a:t>
            </a:r>
            <a:r>
              <a:rPr lang="en-US" dirty="0"/>
              <a:t> </a:t>
            </a:r>
            <a:r>
              <a:rPr lang="en-US" dirty="0" err="1"/>
              <a:t>nó</a:t>
            </a:r>
            <a:r>
              <a:rPr lang="en-US" dirty="0"/>
              <a:t>. </a:t>
            </a:r>
            <a:r>
              <a:rPr lang="en-US" dirty="0" err="1"/>
              <a:t>Với</a:t>
            </a:r>
            <a:r>
              <a:rPr lang="en-US" dirty="0"/>
              <a:t> </a:t>
            </a:r>
            <a:r>
              <a:rPr lang="en-US" dirty="0" err="1"/>
              <a:t>cách</a:t>
            </a:r>
            <a:r>
              <a:rPr lang="en-US" dirty="0"/>
              <a:t> </a:t>
            </a:r>
            <a:r>
              <a:rPr lang="en-US" dirty="0" err="1"/>
              <a:t>tiếp</a:t>
            </a:r>
            <a:r>
              <a:rPr lang="en-US" dirty="0"/>
              <a:t> </a:t>
            </a:r>
            <a:r>
              <a:rPr lang="en-US" dirty="0" err="1"/>
              <a:t>cận</a:t>
            </a:r>
            <a:r>
              <a:rPr lang="en-US" dirty="0"/>
              <a:t> </a:t>
            </a:r>
            <a:r>
              <a:rPr lang="en-US" dirty="0" err="1"/>
              <a:t>này</a:t>
            </a:r>
            <a:r>
              <a:rPr lang="en-US" dirty="0"/>
              <a:t>, </a:t>
            </a:r>
            <a:r>
              <a:rPr lang="en-US" dirty="0" err="1"/>
              <a:t>bạn</a:t>
            </a:r>
            <a:r>
              <a:rPr lang="en-US" dirty="0"/>
              <a:t> </a:t>
            </a:r>
            <a:r>
              <a:rPr lang="en-US" dirty="0" err="1"/>
              <a:t>có</a:t>
            </a:r>
            <a:r>
              <a:rPr lang="en-US" dirty="0"/>
              <a:t> </a:t>
            </a:r>
            <a:r>
              <a:rPr lang="en-US" dirty="0" err="1"/>
              <a:t>thể</a:t>
            </a:r>
            <a:r>
              <a:rPr lang="en-US" dirty="0"/>
              <a:t> </a:t>
            </a:r>
            <a:r>
              <a:rPr lang="en-US" dirty="0" err="1"/>
              <a:t>dễ</a:t>
            </a:r>
            <a:r>
              <a:rPr lang="en-US" dirty="0"/>
              <a:t> </a:t>
            </a:r>
            <a:r>
              <a:rPr lang="en-US" dirty="0" err="1"/>
              <a:t>dàng</a:t>
            </a:r>
            <a:r>
              <a:rPr lang="en-US" dirty="0"/>
              <a:t> chia </a:t>
            </a:r>
            <a:r>
              <a:rPr lang="en-US" dirty="0" err="1"/>
              <a:t>sẻ</a:t>
            </a:r>
            <a:r>
              <a:rPr lang="en-US" dirty="0"/>
              <a:t> </a:t>
            </a:r>
            <a:r>
              <a:rPr lang="en-US" dirty="0" err="1"/>
              <a:t>trạng</a:t>
            </a:r>
            <a:r>
              <a:rPr lang="en-US" dirty="0"/>
              <a:t> </a:t>
            </a:r>
            <a:r>
              <a:rPr lang="en-US" dirty="0" err="1"/>
              <a:t>thái</a:t>
            </a:r>
            <a:r>
              <a:rPr lang="en-US" dirty="0"/>
              <a:t> </a:t>
            </a:r>
            <a:r>
              <a:rPr lang="en-US" dirty="0" err="1"/>
              <a:t>giữa</a:t>
            </a:r>
            <a:r>
              <a:rPr lang="en-US" dirty="0"/>
              <a:t> </a:t>
            </a:r>
            <a:r>
              <a:rPr lang="en-US" dirty="0" err="1"/>
              <a:t>nhiều</a:t>
            </a:r>
            <a:r>
              <a:rPr lang="en-US" dirty="0"/>
              <a:t> </a:t>
            </a:r>
            <a:r>
              <a:rPr lang="en-US" dirty="0" err="1"/>
              <a:t>thành</a:t>
            </a:r>
            <a:r>
              <a:rPr lang="en-US" dirty="0"/>
              <a:t> </a:t>
            </a:r>
            <a:r>
              <a:rPr lang="en-US" dirty="0" err="1"/>
              <a:t>phần</a:t>
            </a:r>
            <a:r>
              <a:rPr lang="en-US" dirty="0"/>
              <a:t> con.</a:t>
            </a:r>
          </a:p>
        </p:txBody>
      </p:sp>
      <p:sp>
        <p:nvSpPr>
          <p:cNvPr id="4" name="Slide Number Placeholder 3"/>
          <p:cNvSpPr>
            <a:spLocks noGrp="1"/>
          </p:cNvSpPr>
          <p:nvPr>
            <p:ph type="sldNum" sz="quarter" idx="5"/>
          </p:nvPr>
        </p:nvSpPr>
        <p:spPr/>
        <p:txBody>
          <a:bodyPr/>
          <a:lstStyle/>
          <a:p>
            <a:fld id="{0A3C37BE-C303-496D-B5CD-85F2937540FC}" type="slidenum">
              <a:rPr lang="en-US" smtClean="0"/>
              <a:t>12</a:t>
            </a:fld>
            <a:endParaRPr lang="en-US"/>
          </a:p>
        </p:txBody>
      </p:sp>
    </p:spTree>
    <p:extLst>
      <p:ext uri="{BB962C8B-B14F-4D97-AF65-F5344CB8AC3E}">
        <p14:creationId xmlns:p14="http://schemas.microsoft.com/office/powerpoint/2010/main" val="3576639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As mentioned above, state in Redux is read-only. This helps you restrict any part of the view or any network calls to write/update the state directly.</a:t>
            </a:r>
          </a:p>
          <a:p>
            <a:pPr algn="l" fontAlgn="base"/>
            <a:r>
              <a:rPr lang="en-US" b="0" i="0" dirty="0">
                <a:solidFill>
                  <a:srgbClr val="0A0A23"/>
                </a:solidFill>
                <a:effectLst/>
                <a:latin typeface="Lato" panose="020F0502020204030203" pitchFamily="34" charset="0"/>
              </a:rPr>
              <a:t>Instead, if anyone wants to change the state of the application, then they'll need to express their intention of doing so by </a:t>
            </a:r>
            <a:r>
              <a:rPr lang="en-US" b="1" i="0" dirty="0">
                <a:solidFill>
                  <a:srgbClr val="0A0A23"/>
                </a:solidFill>
                <a:effectLst/>
                <a:latin typeface="inherit"/>
              </a:rPr>
              <a:t>emitting or dispatching an action</a:t>
            </a:r>
            <a:r>
              <a:rPr lang="en-US" b="0" i="0" dirty="0">
                <a:solidFill>
                  <a:srgbClr val="0A0A23"/>
                </a:solidFill>
                <a:effectLst/>
                <a:latin typeface="Lato" panose="020F0502020204030203" pitchFamily="34" charset="0"/>
              </a:rPr>
              <a:t>.</a:t>
            </a:r>
          </a:p>
          <a:p>
            <a:pPr algn="l" fontAlgn="base"/>
            <a:r>
              <a:rPr lang="en-US" b="0" i="0" dirty="0">
                <a:solidFill>
                  <a:srgbClr val="0A0A23"/>
                </a:solidFill>
                <a:effectLst/>
                <a:latin typeface="Lato" panose="020F0502020204030203" pitchFamily="34" charset="0"/>
              </a:rPr>
              <a:t>Let's take the example of the above store example where we have 2 books in the store: </a:t>
            </a:r>
            <a:r>
              <a:rPr lang="en-US" b="0" i="1" dirty="0">
                <a:solidFill>
                  <a:srgbClr val="0A0A23"/>
                </a:solidFill>
                <a:effectLst/>
                <a:latin typeface="inherit"/>
              </a:rPr>
              <a:t>"Harry Potter and the Chamber of Secrets"</a:t>
            </a:r>
            <a:r>
              <a:rPr lang="en-US" b="0" i="0" dirty="0">
                <a:solidFill>
                  <a:srgbClr val="0A0A23"/>
                </a:solidFill>
                <a:effectLst/>
                <a:latin typeface="Lato" panose="020F0502020204030203" pitchFamily="34" charset="0"/>
              </a:rPr>
              <a:t> and </a:t>
            </a:r>
            <a:r>
              <a:rPr lang="en-US" b="0" i="1" dirty="0">
                <a:solidFill>
                  <a:srgbClr val="0A0A23"/>
                </a:solidFill>
                <a:effectLst/>
                <a:latin typeface="inherit"/>
              </a:rPr>
              <a:t>"Harry Potter and the Prisoner of Azkaban"</a:t>
            </a:r>
            <a:r>
              <a:rPr lang="en-US" b="0" i="0" dirty="0">
                <a:solidFill>
                  <a:srgbClr val="0A0A23"/>
                </a:solidFill>
                <a:effectLst/>
                <a:latin typeface="Lato" panose="020F0502020204030203" pitchFamily="34" charset="0"/>
              </a:rPr>
              <a:t>. There's just one copy of each.</a:t>
            </a:r>
          </a:p>
          <a:p>
            <a:pPr algn="l" fontAlgn="base"/>
            <a:r>
              <a:rPr lang="en-US" b="0" i="0" dirty="0">
                <a:solidFill>
                  <a:srgbClr val="0A0A23"/>
                </a:solidFill>
                <a:effectLst/>
                <a:latin typeface="Lato" panose="020F0502020204030203" pitchFamily="34" charset="0"/>
              </a:rPr>
              <a:t>Now if the user wants to add another item to the cart, then they will have to click on the </a:t>
            </a:r>
            <a:r>
              <a:rPr lang="en-US" b="1" i="0" dirty="0">
                <a:solidFill>
                  <a:srgbClr val="0A0A23"/>
                </a:solidFill>
                <a:effectLst/>
                <a:latin typeface="inherit"/>
              </a:rPr>
              <a:t>"Add to Cart"</a:t>
            </a:r>
            <a:r>
              <a:rPr lang="en-US" b="0" i="0" dirty="0">
                <a:solidFill>
                  <a:srgbClr val="0A0A23"/>
                </a:solidFill>
                <a:effectLst/>
                <a:latin typeface="Lato" panose="020F0502020204030203" pitchFamily="34" charset="0"/>
              </a:rPr>
              <a:t> button next to the item.</a:t>
            </a:r>
          </a:p>
          <a:p>
            <a:pPr algn="l" fontAlgn="base"/>
            <a:r>
              <a:rPr lang="en-US" b="0" i="0" dirty="0">
                <a:solidFill>
                  <a:srgbClr val="0A0A23"/>
                </a:solidFill>
                <a:effectLst/>
                <a:latin typeface="Lato" panose="020F0502020204030203" pitchFamily="34" charset="0"/>
              </a:rPr>
              <a:t>On the click of the </a:t>
            </a:r>
            <a:r>
              <a:rPr lang="en-US" b="1" i="0" dirty="0">
                <a:solidFill>
                  <a:srgbClr val="0A0A23"/>
                </a:solidFill>
                <a:effectLst/>
                <a:latin typeface="inherit"/>
              </a:rPr>
              <a:t>"Add to Cart"</a:t>
            </a:r>
            <a:r>
              <a:rPr lang="en-US" b="0" i="0" dirty="0">
                <a:solidFill>
                  <a:srgbClr val="0A0A23"/>
                </a:solidFill>
                <a:effectLst/>
                <a:latin typeface="Lato" panose="020F0502020204030203" pitchFamily="34" charset="0"/>
              </a:rPr>
              <a:t> button, an action will be dispatched. This action is nothing but a JS object describing what changes need to be done in the store. Something like this: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19</a:t>
            </a:fld>
            <a:endParaRPr lang="en-US"/>
          </a:p>
        </p:txBody>
      </p:sp>
    </p:spTree>
    <p:extLst>
      <p:ext uri="{BB962C8B-B14F-4D97-AF65-F5344CB8AC3E}">
        <p14:creationId xmlns:p14="http://schemas.microsoft.com/office/powerpoint/2010/main" val="1774126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Note how in the above example, we dispatch an action on click of the button. Or rather, to be more specific, we dispatch something known as an </a:t>
            </a:r>
            <a:r>
              <a:rPr lang="en-US" b="1" i="0" dirty="0">
                <a:solidFill>
                  <a:srgbClr val="0A0A23"/>
                </a:solidFill>
                <a:effectLst/>
                <a:latin typeface="inherit"/>
              </a:rPr>
              <a:t>action creator</a:t>
            </a:r>
            <a:r>
              <a:rPr lang="en-US" b="0" i="0" dirty="0">
                <a:solidFill>
                  <a:srgbClr val="0A0A23"/>
                </a:solidFill>
                <a:effectLst/>
                <a:latin typeface="Lato" panose="020F0502020204030203" pitchFamily="34" charset="0"/>
              </a:rPr>
              <a:t> – that is, the function </a:t>
            </a:r>
            <a:r>
              <a:rPr lang="en-US" b="0" i="0" dirty="0" err="1">
                <a:solidFill>
                  <a:srgbClr val="0A0A23"/>
                </a:solidFill>
                <a:effectLst/>
                <a:latin typeface="Lato" panose="020F0502020204030203" pitchFamily="34" charset="0"/>
              </a:rPr>
              <a:t>addItemToCart</a:t>
            </a:r>
            <a:r>
              <a:rPr lang="en-US" b="0" i="0" dirty="0">
                <a:solidFill>
                  <a:srgbClr val="0A0A23"/>
                </a:solidFill>
                <a:effectLst/>
                <a:latin typeface="Lato" panose="020F0502020204030203" pitchFamily="34" charset="0"/>
              </a:rPr>
              <a:t>(). This in turn returns an action which is a plain JS object describing the purpose of the action denoted by the type key along with any other data required for the state change. In this case, it's the name of the book to be added to the cart denoted by the payload key.</a:t>
            </a:r>
          </a:p>
          <a:p>
            <a:pPr algn="l" fontAlgn="base"/>
            <a:r>
              <a:rPr lang="en-US" b="1" i="0" dirty="0">
                <a:solidFill>
                  <a:srgbClr val="0A0A23"/>
                </a:solidFill>
                <a:effectLst/>
                <a:latin typeface="inherit"/>
              </a:rPr>
              <a:t>Every action must have at least</a:t>
            </a:r>
            <a:r>
              <a:rPr lang="en-US" b="0" i="0" dirty="0">
                <a:solidFill>
                  <a:srgbClr val="0A0A23"/>
                </a:solidFill>
                <a:effectLst/>
                <a:latin typeface="Lato" panose="020F0502020204030203" pitchFamily="34" charset="0"/>
              </a:rPr>
              <a:t> a type associated with it. Any other detail that needs to be passed is optional and will depend on the type of action we dispatch.</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21</a:t>
            </a:fld>
            <a:endParaRPr lang="en-US"/>
          </a:p>
        </p:txBody>
      </p:sp>
    </p:spTree>
    <p:extLst>
      <p:ext uri="{BB962C8B-B14F-4D97-AF65-F5344CB8AC3E}">
        <p14:creationId xmlns:p14="http://schemas.microsoft.com/office/powerpoint/2010/main" val="2892608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Reducer, như tên gọi của nó, tiếp nhận hai thứ: trạng thái trước đó và một hành động. Sau đó, chúng giảm nó (đọc là return) thành một thực thể: phiên bản trạng thái mới được cập nhật.</a:t>
            </a:r>
          </a:p>
          <a:p>
            <a:r>
              <a:rPr lang="vi-VN" dirty="0"/>
              <a:t>Vì vậy, về cơ bản, reducer là các hàm JS thuần túy tiếp nhận trạng thái trước đó và một hành động và trả về trạng thái mới được cập nhật.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23</a:t>
            </a:fld>
            <a:endParaRPr lang="en-US"/>
          </a:p>
        </p:txBody>
      </p:sp>
    </p:spTree>
    <p:extLst>
      <p:ext uri="{BB962C8B-B14F-4D97-AF65-F5344CB8AC3E}">
        <p14:creationId xmlns:p14="http://schemas.microsoft.com/office/powerpoint/2010/main" val="2133213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0BA3A-1238-A20A-02EC-1398F08C0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3F76C-1D54-5032-2773-30EC5477B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1E5FA-F097-BB7C-672A-4BD8BBD2B7E5}"/>
              </a:ext>
            </a:extLst>
          </p:cNvPr>
          <p:cNvSpPr>
            <a:spLocks noGrp="1"/>
          </p:cNvSpPr>
          <p:nvPr>
            <p:ph type="body" idx="1"/>
          </p:nvPr>
        </p:nvSpPr>
        <p:spPr/>
        <p:txBody>
          <a:bodyPr/>
          <a:lstStyle/>
          <a:p>
            <a:r>
              <a:rPr lang="vi-VN" dirty="0"/>
              <a:t>Reducer, như tên gọi của nó, tiếp nhận hai thứ: trạng thái trước đó và một hành động. Sau đó, chúng giảm nó (đọc là return) thành một thực thể: phiên bản trạng thái mới được cập nhật.</a:t>
            </a:r>
          </a:p>
          <a:p>
            <a:r>
              <a:rPr lang="vi-VN" dirty="0"/>
              <a:t>Vì vậy, về cơ bản, reducer là các hàm JS thuần túy tiếp nhận trạng thái trước đó và một hành động và trả về trạng thái mới được cập nhật.</a:t>
            </a:r>
            <a:endParaRPr lang="en-US" dirty="0"/>
          </a:p>
        </p:txBody>
      </p:sp>
      <p:sp>
        <p:nvSpPr>
          <p:cNvPr id="4" name="Slide Number Placeholder 3">
            <a:extLst>
              <a:ext uri="{FF2B5EF4-FFF2-40B4-BE49-F238E27FC236}">
                <a16:creationId xmlns:a16="http://schemas.microsoft.com/office/drawing/2014/main" id="{73D4B611-EB18-5B58-06C3-7FE119F90B3A}"/>
              </a:ext>
            </a:extLst>
          </p:cNvPr>
          <p:cNvSpPr>
            <a:spLocks noGrp="1"/>
          </p:cNvSpPr>
          <p:nvPr>
            <p:ph type="sldNum" sz="quarter" idx="5"/>
          </p:nvPr>
        </p:nvSpPr>
        <p:spPr/>
        <p:txBody>
          <a:bodyPr/>
          <a:lstStyle/>
          <a:p>
            <a:fld id="{0A3C37BE-C303-496D-B5CD-85F2937540FC}" type="slidenum">
              <a:rPr lang="en-US" smtClean="0"/>
              <a:t>24</a:t>
            </a:fld>
            <a:endParaRPr lang="en-US"/>
          </a:p>
        </p:txBody>
      </p:sp>
    </p:spTree>
    <p:extLst>
      <p:ext uri="{BB962C8B-B14F-4D97-AF65-F5344CB8AC3E}">
        <p14:creationId xmlns:p14="http://schemas.microsoft.com/office/powerpoint/2010/main" val="334389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23"/>
                </a:solidFill>
                <a:effectLst/>
                <a:latin typeface="Lato" panose="020F0502020204030203" pitchFamily="34" charset="0"/>
              </a:rPr>
              <a:t>Whenever an action is dispatched, </a:t>
            </a:r>
            <a:r>
              <a:rPr lang="en-US" b="1" i="0" dirty="0">
                <a:effectLst/>
                <a:latin typeface="Lato" panose="020F0502020204030203" pitchFamily="34" charset="0"/>
              </a:rPr>
              <a:t>all the reducers are activated</a:t>
            </a:r>
            <a:r>
              <a:rPr lang="en-US" b="0" i="0" dirty="0">
                <a:solidFill>
                  <a:srgbClr val="0A0A23"/>
                </a:solidFill>
                <a:effectLst/>
                <a:latin typeface="Lato" panose="020F0502020204030203" pitchFamily="34" charset="0"/>
              </a:rPr>
              <a:t>. Each reducer filters out the action using a switch statement switching on the </a:t>
            </a:r>
            <a:r>
              <a:rPr lang="en-US" b="1" i="0" dirty="0">
                <a:effectLst/>
                <a:latin typeface="Lato" panose="020F0502020204030203" pitchFamily="34" charset="0"/>
              </a:rPr>
              <a:t>action type</a:t>
            </a:r>
            <a:r>
              <a:rPr lang="en-US" b="0" i="0" dirty="0">
                <a:solidFill>
                  <a:srgbClr val="0A0A23"/>
                </a:solidFill>
                <a:effectLst/>
                <a:latin typeface="Lato" panose="020F0502020204030203" pitchFamily="34" charset="0"/>
              </a:rPr>
              <a:t>. Whenever the switch statement matches with the action passed, the corresponding reducers take the necessary action to make the update and return a fresh new instance of the global state.</a:t>
            </a:r>
          </a:p>
          <a:p>
            <a:r>
              <a:rPr lang="vi-VN" dirty="0"/>
              <a:t>Bất cứ khi nào một hành động được gửi đi, tất cả các bộ giảm tốc đều được kích hoạt. Mỗi bộ giảm tốc lọc ra hành động bằng cách sử dụng một câu lệnh chuyển đổi chuyển sang loại hành động. Bất cứ khi nào câu lệnh chuyển đổi khớp với hành động được truyền, các bộ giảm tốc tương ứng sẽ thực hiện hành động cần thiết để cập nhật và trả về một phiên bản mới của trạng thái toàn cục.</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25</a:t>
            </a:fld>
            <a:endParaRPr lang="en-US"/>
          </a:p>
        </p:txBody>
      </p:sp>
    </p:spTree>
    <p:extLst>
      <p:ext uri="{BB962C8B-B14F-4D97-AF65-F5344CB8AC3E}">
        <p14:creationId xmlns:p14="http://schemas.microsoft.com/office/powerpoint/2010/main" val="3503391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In the above code snippet, we created a reducer called </a:t>
            </a:r>
            <a:r>
              <a:rPr lang="en-US" b="0" i="0" dirty="0" err="1">
                <a:solidFill>
                  <a:srgbClr val="0A0A23"/>
                </a:solidFill>
                <a:effectLst/>
                <a:latin typeface="Lato" panose="020F0502020204030203" pitchFamily="34" charset="0"/>
              </a:rPr>
              <a:t>cartReducer</a:t>
            </a:r>
            <a:r>
              <a:rPr lang="en-US" b="0" i="0" dirty="0">
                <a:solidFill>
                  <a:srgbClr val="0A0A23"/>
                </a:solidFill>
                <a:effectLst/>
                <a:latin typeface="Lato" panose="020F0502020204030203" pitchFamily="34" charset="0"/>
              </a:rPr>
              <a:t> which is a pure JS function. This function accepts two parameters: state and action.</a:t>
            </a:r>
          </a:p>
          <a:p>
            <a:pPr algn="l" fontAlgn="base"/>
            <a:r>
              <a:rPr lang="en-US" b="0" i="0" dirty="0">
                <a:solidFill>
                  <a:srgbClr val="0A0A23"/>
                </a:solidFill>
                <a:effectLst/>
                <a:latin typeface="Lato" panose="020F0502020204030203" pitchFamily="34" charset="0"/>
              </a:rPr>
              <a:t>Note that the state parameter is a default parameter which accepts an initial state. This is to handle the scenario when </a:t>
            </a:r>
            <a:r>
              <a:rPr lang="en-US" b="1" i="0" dirty="0">
                <a:solidFill>
                  <a:srgbClr val="0A0A23"/>
                </a:solidFill>
                <a:effectLst/>
                <a:latin typeface="inherit"/>
              </a:rPr>
              <a:t>the reducer is called for the first time</a:t>
            </a:r>
            <a:r>
              <a:rPr lang="en-US" b="0" i="0" dirty="0">
                <a:solidFill>
                  <a:srgbClr val="0A0A23"/>
                </a:solidFill>
                <a:effectLst/>
                <a:latin typeface="Lato" panose="020F0502020204030203" pitchFamily="34" charset="0"/>
              </a:rPr>
              <a:t> when the state value is undefined.</a:t>
            </a:r>
          </a:p>
          <a:p>
            <a:pPr algn="l" fontAlgn="base"/>
            <a:r>
              <a:rPr lang="en-US" b="0" i="0" dirty="0">
                <a:solidFill>
                  <a:srgbClr val="0A0A23"/>
                </a:solidFill>
                <a:effectLst/>
                <a:latin typeface="Lato" panose="020F0502020204030203" pitchFamily="34" charset="0"/>
              </a:rPr>
              <a:t>Also note that every reducer should handle the default case where, if none of the switch cases match with the passed action, then the reducer should return state as it is or perform any required logic on it before passing the state.</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26</a:t>
            </a:fld>
            <a:endParaRPr lang="en-US"/>
          </a:p>
        </p:txBody>
      </p:sp>
    </p:spTree>
    <p:extLst>
      <p:ext uri="{BB962C8B-B14F-4D97-AF65-F5344CB8AC3E}">
        <p14:creationId xmlns:p14="http://schemas.microsoft.com/office/powerpoint/2010/main" val="1887547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phân phối một hành động và cập nhật trạng thái, các nhà phát triển gọi phương thức phân phối trên store và truyền hành động vào như một đối số. Sau đây là một ví dụ về việc phân phối một hành động trong Redux:Để phân phối một hành động và cập nhật trạng thái, các nhà phát triển gọi phương thức phân phối trên store và truyền hành động vào như một đối số. Sau đây là một ví dụ về việc phân phối một hành động trong Redux:</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31</a:t>
            </a:fld>
            <a:endParaRPr lang="en-US"/>
          </a:p>
        </p:txBody>
      </p:sp>
    </p:spTree>
    <p:extLst>
      <p:ext uri="{BB962C8B-B14F-4D97-AF65-F5344CB8AC3E}">
        <p14:creationId xmlns:p14="http://schemas.microsoft.com/office/powerpoint/2010/main" val="3067338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https://dev.to/efkumah/how-to-manage-state-in-a-react-app-using-redux-5pc</a:t>
            </a:r>
          </a:p>
        </p:txBody>
      </p:sp>
      <p:sp>
        <p:nvSpPr>
          <p:cNvPr id="4" name="Slide Number Placeholder 3"/>
          <p:cNvSpPr>
            <a:spLocks noGrp="1"/>
          </p:cNvSpPr>
          <p:nvPr>
            <p:ph type="sldNum" sz="quarter" idx="5"/>
          </p:nvPr>
        </p:nvSpPr>
        <p:spPr/>
        <p:txBody>
          <a:bodyPr/>
          <a:lstStyle/>
          <a:p>
            <a:fld id="{0A3C37BE-C303-496D-B5CD-85F2937540FC}" type="slidenum">
              <a:rPr lang="en-US" smtClean="0"/>
              <a:t>34</a:t>
            </a:fld>
            <a:endParaRPr lang="en-US"/>
          </a:p>
        </p:txBody>
      </p:sp>
    </p:spTree>
    <p:extLst>
      <p:ext uri="{BB962C8B-B14F-4D97-AF65-F5344CB8AC3E}">
        <p14:creationId xmlns:p14="http://schemas.microsoft.com/office/powerpoint/2010/main" val="385191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Redux Toolkit cung cấp một phương pháp tiếp cận chuẩn hóa để xây dựng mã Redux và đi kèm với các thư viện và công cụ giúp tạo mã Redux có khả năng mở rộng, bảo trì và hiệu quả dễ dàng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35</a:t>
            </a:fld>
            <a:endParaRPr lang="en-US"/>
          </a:p>
        </p:txBody>
      </p:sp>
    </p:spTree>
    <p:extLst>
      <p:ext uri="{BB962C8B-B14F-4D97-AF65-F5344CB8AC3E}">
        <p14:creationId xmlns:p14="http://schemas.microsoft.com/office/powerpoint/2010/main" val="369170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Ít mã boilerplate hơn Redux.</a:t>
            </a:r>
          </a:p>
          <a:p>
            <a:r>
              <a:rPr lang="vi-VN" dirty="0"/>
              <a:t>Bạn không cần phải thiết lập thunk theo cách thủ công trong Redux toolkit vì nó đi kèm với createAsyncThunk. Điều này cho phép bạn thực hiện các hoạt động bất đồng bộ.</a:t>
            </a:r>
          </a:p>
          <a:p>
            <a:r>
              <a:rPr lang="vi-VN" dirty="0"/>
              <a:t>Nâng cao trải nghiệm của nhà phát triển: Redux Toolkit bao gồm một số công cụ và tiện ích có thể nâng cao trải nghiệm của nhà phát triển, chẳng hạn như khả năng sử dụng Redux DevTools ngay khi cài đặt.</a:t>
            </a:r>
          </a:p>
          <a:p>
            <a:r>
              <a:rPr lang="vi-VN" dirty="0"/>
              <a:t>Các hook Redux như useSelector và useDispatch giúp mã của bạn ngắn hơn và dễ đọc/viết hơn.</a:t>
            </a:r>
          </a:p>
          <a:p>
            <a:r>
              <a:rPr lang="vi-VN" dirty="0"/>
              <a:t>Cải thiện hiệu suất: Redux Toolkit bao gồm một tính năng ghi nhớ tích hợp có thể giúp cải thiện hiệu suất của ứng dụng Redux bằng cách giảm các lần kết xuất lại không cần thiết.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36</a:t>
            </a:fld>
            <a:endParaRPr lang="en-US"/>
          </a:p>
        </p:txBody>
      </p:sp>
    </p:spTree>
    <p:extLst>
      <p:ext uri="{BB962C8B-B14F-4D97-AF65-F5344CB8AC3E}">
        <p14:creationId xmlns:p14="http://schemas.microsoft.com/office/powerpoint/2010/main" val="2320316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B2015-D172-0ECA-5051-FA88005F5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90A9A-BA6C-EFC1-60C7-36209ECC2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210E2-2DBD-65BA-FDCA-442F38D07F92}"/>
              </a:ext>
            </a:extLst>
          </p:cNvPr>
          <p:cNvSpPr>
            <a:spLocks noGrp="1"/>
          </p:cNvSpPr>
          <p:nvPr>
            <p:ph type="body" idx="1"/>
          </p:nvPr>
        </p:nvSpPr>
        <p:spPr/>
        <p:txBody>
          <a:bodyPr/>
          <a:lstStyle/>
          <a:p>
            <a:r>
              <a:rPr lang="vi-VN" dirty="0"/>
              <a:t>Ít mã boilerplate hơn Redux.</a:t>
            </a:r>
          </a:p>
          <a:p>
            <a:r>
              <a:rPr lang="vi-VN" dirty="0"/>
              <a:t>Bạn không cần phải thiết lập thunk theo cách thủ công trong Redux toolkit vì nó đi kèm với createAsyncThunk. Điều này cho phép bạn thực hiện các hoạt động bất đồng bộ.</a:t>
            </a:r>
          </a:p>
          <a:p>
            <a:r>
              <a:rPr lang="vi-VN" dirty="0"/>
              <a:t>Nâng cao trải nghiệm của nhà phát triển: Redux Toolkit bao gồm một số công cụ và tiện ích có thể nâng cao trải nghiệm của nhà phát triển, chẳng hạn như khả năng sử dụng Redux DevTools ngay khi cài đặt.</a:t>
            </a:r>
          </a:p>
          <a:p>
            <a:r>
              <a:rPr lang="vi-VN" dirty="0"/>
              <a:t>Các hook Redux như useSelector và useDispatch giúp mã của bạn ngắn hơn và dễ đọc/viết hơn.</a:t>
            </a:r>
          </a:p>
          <a:p>
            <a:r>
              <a:rPr lang="vi-VN" dirty="0"/>
              <a:t>Cải thiện hiệu suất: Redux Toolkit bao gồm một tính năng ghi nhớ tích hợp có thể giúp cải thiện hiệu suất của ứng dụng Redux bằng cách giảm các lần kết xuất lại không cần thiết.</a:t>
            </a:r>
            <a:endParaRPr lang="en-US" dirty="0"/>
          </a:p>
        </p:txBody>
      </p:sp>
      <p:sp>
        <p:nvSpPr>
          <p:cNvPr id="4" name="Slide Number Placeholder 3">
            <a:extLst>
              <a:ext uri="{FF2B5EF4-FFF2-40B4-BE49-F238E27FC236}">
                <a16:creationId xmlns:a16="http://schemas.microsoft.com/office/drawing/2014/main" id="{8AFDA31F-4F95-990C-4BBF-30E33EB4ACD2}"/>
              </a:ext>
            </a:extLst>
          </p:cNvPr>
          <p:cNvSpPr>
            <a:spLocks noGrp="1"/>
          </p:cNvSpPr>
          <p:nvPr>
            <p:ph type="sldNum" sz="quarter" idx="5"/>
          </p:nvPr>
        </p:nvSpPr>
        <p:spPr/>
        <p:txBody>
          <a:bodyPr/>
          <a:lstStyle/>
          <a:p>
            <a:fld id="{0A3C37BE-C303-496D-B5CD-85F2937540FC}" type="slidenum">
              <a:rPr lang="en-US" smtClean="0"/>
              <a:t>37</a:t>
            </a:fld>
            <a:endParaRPr lang="en-US"/>
          </a:p>
        </p:txBody>
      </p:sp>
    </p:spTree>
    <p:extLst>
      <p:ext uri="{BB962C8B-B14F-4D97-AF65-F5344CB8AC3E}">
        <p14:creationId xmlns:p14="http://schemas.microsoft.com/office/powerpoint/2010/main" val="3415541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23"/>
                </a:solidFill>
                <a:effectLst/>
                <a:latin typeface="Lato" panose="020F0502020204030203" pitchFamily="34" charset="0"/>
              </a:rPr>
              <a:t>In summary, Redux Toolkit is a great choice for developers who want to simplify their Redux code and improve performance, while also enhancing the developer experience. It can be particularly useful in larger, more complex applications where managing state can become difficult.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38</a:t>
            </a:fld>
            <a:endParaRPr lang="en-US"/>
          </a:p>
        </p:txBody>
      </p:sp>
    </p:spTree>
    <p:extLst>
      <p:ext uri="{BB962C8B-B14F-4D97-AF65-F5344CB8AC3E}">
        <p14:creationId xmlns:p14="http://schemas.microsoft.com/office/powerpoint/2010/main" val="4006351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23"/>
                </a:solidFill>
                <a:effectLst/>
                <a:latin typeface="Lato" panose="020F0502020204030203" pitchFamily="34" charset="0"/>
              </a:rPr>
              <a:t>For this project, you won't use </a:t>
            </a:r>
            <a:r>
              <a:rPr lang="en-US" dirty="0"/>
              <a:t>create-react-app</a:t>
            </a:r>
            <a:r>
              <a:rPr lang="en-US" b="0" i="0" dirty="0">
                <a:solidFill>
                  <a:srgbClr val="0A0A23"/>
                </a:solidFill>
                <a:effectLst/>
                <a:latin typeface="Lato" panose="020F0502020204030203" pitchFamily="34" charset="0"/>
              </a:rPr>
              <a:t> to create your React app. Instead, you'll use Vite and React plugins. This is because CRA is no longer recommended by the React docs.</a:t>
            </a:r>
          </a:p>
          <a:p>
            <a:r>
              <a:rPr lang="en-US" dirty="0"/>
              <a:t>https://www.freecodecamp.org/news/use-redux-toolkit-to-manage-state-in-react-apps/</a:t>
            </a:r>
            <a:endParaRPr lang="en-US" b="0" i="0" dirty="0">
              <a:solidFill>
                <a:srgbClr val="0A0A23"/>
              </a:solidFill>
              <a:effectLst/>
              <a:latin typeface="Lato" panose="020F0502020204030203" pitchFamily="34" charset="0"/>
            </a:endParaRP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39</a:t>
            </a:fld>
            <a:endParaRPr lang="en-US"/>
          </a:p>
        </p:txBody>
      </p:sp>
    </p:spTree>
    <p:extLst>
      <p:ext uri="{BB962C8B-B14F-4D97-AF65-F5344CB8AC3E}">
        <p14:creationId xmlns:p14="http://schemas.microsoft.com/office/powerpoint/2010/main" val="696058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23"/>
                </a:solidFill>
                <a:effectLst/>
                <a:latin typeface="Lato" panose="020F0502020204030203" pitchFamily="34" charset="0"/>
              </a:rPr>
              <a:t>This code creates a Redux store, and also automatically configures the Redux </a:t>
            </a:r>
            <a:r>
              <a:rPr lang="en-US" b="0" i="0" dirty="0" err="1">
                <a:solidFill>
                  <a:srgbClr val="0A0A23"/>
                </a:solidFill>
                <a:effectLst/>
                <a:latin typeface="Lato" panose="020F0502020204030203" pitchFamily="34" charset="0"/>
              </a:rPr>
              <a:t>DevTools</a:t>
            </a:r>
            <a:r>
              <a:rPr lang="en-US" b="0" i="0" dirty="0">
                <a:solidFill>
                  <a:srgbClr val="0A0A23"/>
                </a:solidFill>
                <a:effectLst/>
                <a:latin typeface="Lato" panose="020F0502020204030203" pitchFamily="34" charset="0"/>
              </a:rPr>
              <a:t> extension so that you can inspect the store while developing.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40</a:t>
            </a:fld>
            <a:endParaRPr lang="en-US"/>
          </a:p>
        </p:txBody>
      </p:sp>
    </p:spTree>
    <p:extLst>
      <p:ext uri="{BB962C8B-B14F-4D97-AF65-F5344CB8AC3E}">
        <p14:creationId xmlns:p14="http://schemas.microsoft.com/office/powerpoint/2010/main" val="4035809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Redux slice là khái niệm được Redux Toolkit giới thiệu, khái niệm này đại diện cho một phần độc lập của kho Redux bao gồm hàm reducer, trạng thái ban đầu và trình tạo hành động.</a:t>
            </a:r>
          </a:p>
          <a:p>
            <a:endParaRPr lang="vi-VN" dirty="0"/>
          </a:p>
          <a:p>
            <a:r>
              <a:rPr lang="vi-VN" dirty="0"/>
              <a:t>Slice cung cấp một cách để sắp xếp và mô-đun hóa mã Redux, giúp quản lý và bảo trì dễ dàng hơn khi ứng dụng của bạn phát triển. Bạn có thể coi slice như các kho Redux mini xử lý một phần trạng thái cụ thể trong ứng dụng của bạn.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43</a:t>
            </a:fld>
            <a:endParaRPr lang="en-US"/>
          </a:p>
        </p:txBody>
      </p:sp>
    </p:spTree>
    <p:extLst>
      <p:ext uri="{BB962C8B-B14F-4D97-AF65-F5344CB8AC3E}">
        <p14:creationId xmlns:p14="http://schemas.microsoft.com/office/powerpoint/2010/main" val="1323968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A0A23"/>
                </a:solidFill>
                <a:effectLst/>
                <a:latin typeface="Lato" panose="020F0502020204030203" pitchFamily="34" charset="0"/>
              </a:rPr>
              <a:t>Creating a state slice creates a more modular and maintainable architecture for your application, making it easier to reason about and update as your application grows.</a:t>
            </a:r>
          </a:p>
          <a:p>
            <a:pPr algn="l" fontAlgn="base"/>
            <a:r>
              <a:rPr lang="en-US" b="0" i="0" dirty="0">
                <a:solidFill>
                  <a:srgbClr val="0A0A23"/>
                </a:solidFill>
                <a:effectLst/>
                <a:latin typeface="Lato" panose="020F0502020204030203" pitchFamily="34" charset="0"/>
              </a:rPr>
              <a:t>By organizing your Redux code into slices, you can create a more modular and maintainable architecture for your application, making it easier to reason about and update as your application grows.</a:t>
            </a:r>
          </a:p>
          <a:p>
            <a:pPr algn="l" fontAlgn="base"/>
            <a:r>
              <a:rPr lang="en-US" b="0" i="0" dirty="0">
                <a:solidFill>
                  <a:srgbClr val="0A0A23"/>
                </a:solidFill>
                <a:effectLst/>
                <a:latin typeface="Lato" panose="020F0502020204030203" pitchFamily="34" charset="0"/>
              </a:rPr>
              <a:t>After you create the slice, the reducers and the Redux actions inside the reducers are exported differently. This is because the slice created will need to be exported before it can be used inside the store.</a:t>
            </a:r>
          </a:p>
          <a:p>
            <a:pPr algn="l" fontAlgn="base"/>
            <a:r>
              <a:rPr lang="en-US" b="0" i="0" dirty="0">
                <a:solidFill>
                  <a:srgbClr val="0A0A23"/>
                </a:solidFill>
                <a:effectLst/>
                <a:latin typeface="Lato" panose="020F0502020204030203" pitchFamily="34" charset="0"/>
              </a:rPr>
              <a:t>By exporting the reducer from the slice, you can easily use it to configure your Redux store. It also makes it easy to test the reducer in isolation, without needing to set up a full Redux store. This can be useful for unit testing and ensuring that the reducer behaves as expected for each action it handles.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44</a:t>
            </a:fld>
            <a:endParaRPr lang="en-US"/>
          </a:p>
        </p:txBody>
      </p:sp>
    </p:spTree>
    <p:extLst>
      <p:ext uri="{BB962C8B-B14F-4D97-AF65-F5344CB8AC3E}">
        <p14:creationId xmlns:p14="http://schemas.microsoft.com/office/powerpoint/2010/main" val="169767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17/Dec/2024</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17/Dec/2024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17/Dec/2024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17/Dec/2024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17/Dec/2024</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17/Dec/2024</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media" Target="../media/media1.wmv"/><Relationship Id="rId1" Type="http://schemas.openxmlformats.org/officeDocument/2006/relationships/video" Target="NULL"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wmv"/><Relationship Id="rId1" Type="http://schemas.microsoft.com/office/2007/relationships/media" Target="../media/media2.wmv"/><Relationship Id="rId6" Type="http://schemas.openxmlformats.org/officeDocument/2006/relationships/image" Target="../media/image27.png"/><Relationship Id="rId5" Type="http://schemas.openxmlformats.org/officeDocument/2006/relationships/image" Target="../media/image26.tmp"/><Relationship Id="rId4"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10656"/>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152145" y="2927692"/>
            <a:ext cx="10421158" cy="1111782"/>
            <a:chOff x="924414" y="2709329"/>
            <a:chExt cx="5332324" cy="1111782"/>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924414" y="2714687"/>
              <a:ext cx="637822" cy="1106424"/>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556965" y="2709329"/>
              <a:ext cx="4699773" cy="1107996"/>
            </a:xfrm>
            <a:prstGeom prst="rect">
              <a:avLst/>
            </a:prstGeom>
            <a:solidFill>
              <a:schemeClr val="tx2"/>
            </a:solidFill>
          </p:spPr>
          <p:txBody>
            <a:bodyPr wrap="square" lIns="91440" tIns="45720" rIns="91440" bIns="45720">
              <a:spAutoFit/>
            </a:bodyPr>
            <a:lstStyle/>
            <a:p>
              <a:pPr algn="ctr"/>
              <a:r>
                <a:rPr lang="en-US" sz="6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State Management</a:t>
              </a:r>
            </a:p>
          </p:txBody>
        </p:sp>
      </p:grpSp>
      <p:sp>
        <p:nvSpPr>
          <p:cNvPr id="3" name="TextBox 2">
            <a:extLst>
              <a:ext uri="{FF2B5EF4-FFF2-40B4-BE49-F238E27FC236}">
                <a16:creationId xmlns:a16="http://schemas.microsoft.com/office/drawing/2014/main" id="{952BAD51-DCAC-48C4-7682-2C7C39FAD0A5}"/>
              </a:ext>
            </a:extLst>
          </p:cNvPr>
          <p:cNvSpPr txBox="1"/>
          <p:nvPr/>
        </p:nvSpPr>
        <p:spPr>
          <a:xfrm>
            <a:off x="4561765" y="2135646"/>
            <a:ext cx="6121020" cy="646331"/>
          </a:xfrm>
          <a:prstGeom prst="rect">
            <a:avLst/>
          </a:prstGeom>
          <a:noFill/>
        </p:spPr>
        <p:txBody>
          <a:bodyPr wrap="square">
            <a:spAutoFit/>
          </a:bodyPr>
          <a:lstStyle/>
          <a:p>
            <a:r>
              <a:rPr lang="en-US" sz="3600" b="1" dirty="0">
                <a:ln w="0"/>
                <a:effectLst>
                  <a:outerShdw blurRad="38100" dist="19050" dir="2700000" algn="tl" rotWithShape="0">
                    <a:schemeClr val="dk1">
                      <a:alpha val="40000"/>
                    </a:schemeClr>
                  </a:outerShdw>
                </a:effectLst>
              </a:rPr>
              <a:t>Chapter 5</a:t>
            </a:r>
          </a:p>
        </p:txBody>
      </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4DBC-926C-62A2-ECDF-51991A9DA159}"/>
              </a:ext>
            </a:extLst>
          </p:cNvPr>
          <p:cNvSpPr>
            <a:spLocks noGrp="1"/>
          </p:cNvSpPr>
          <p:nvPr>
            <p:ph type="title"/>
          </p:nvPr>
        </p:nvSpPr>
        <p:spPr/>
        <p:txBody>
          <a:bodyPr/>
          <a:lstStyle/>
          <a:p>
            <a:r>
              <a:rPr lang="en-US" dirty="0"/>
              <a:t>State Management in React JS</a:t>
            </a:r>
          </a:p>
        </p:txBody>
      </p:sp>
      <p:sp>
        <p:nvSpPr>
          <p:cNvPr id="3" name="Text Placeholder 2">
            <a:extLst>
              <a:ext uri="{FF2B5EF4-FFF2-40B4-BE49-F238E27FC236}">
                <a16:creationId xmlns:a16="http://schemas.microsoft.com/office/drawing/2014/main" id="{A210FA75-B8E2-E364-C3AE-C98404CCBCD0}"/>
              </a:ext>
            </a:extLst>
          </p:cNvPr>
          <p:cNvSpPr>
            <a:spLocks noGrp="1"/>
          </p:cNvSpPr>
          <p:nvPr>
            <p:ph type="body" idx="1"/>
          </p:nvPr>
        </p:nvSpPr>
        <p:spPr/>
        <p:txBody>
          <a:bodyPr>
            <a:normAutofit lnSpcReduction="10000"/>
          </a:bodyPr>
          <a:lstStyle/>
          <a:p>
            <a:r>
              <a:rPr lang="en-US" dirty="0"/>
              <a:t>To add interactivity to the UI, React components need access to data. The data can be a response from an API endpoint or defined within the app. </a:t>
            </a:r>
          </a:p>
          <a:p>
            <a:r>
              <a:rPr lang="en-US" dirty="0"/>
              <a:t>In a React component, the data is stored in an object called </a:t>
            </a:r>
            <a:r>
              <a:rPr lang="en-US" b="1" dirty="0"/>
              <a:t>state</a:t>
            </a:r>
            <a:r>
              <a:rPr lang="en-US" dirty="0"/>
              <a:t>. When state changes, the component will re-render, and React will update the screen to display the new data as part of the UI.</a:t>
            </a:r>
          </a:p>
          <a:p>
            <a:r>
              <a:rPr lang="en-US" dirty="0"/>
              <a:t>Multiple components may need access to the state. Effective state management entails being able to store and update data in an application.</a:t>
            </a:r>
          </a:p>
        </p:txBody>
      </p:sp>
    </p:spTree>
    <p:extLst>
      <p:ext uri="{BB962C8B-B14F-4D97-AF65-F5344CB8AC3E}">
        <p14:creationId xmlns:p14="http://schemas.microsoft.com/office/powerpoint/2010/main" val="2710709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C0DD-F8F2-CACE-7321-D9C96BB112CD}"/>
              </a:ext>
            </a:extLst>
          </p:cNvPr>
          <p:cNvSpPr>
            <a:spLocks noGrp="1"/>
          </p:cNvSpPr>
          <p:nvPr>
            <p:ph type="title"/>
          </p:nvPr>
        </p:nvSpPr>
        <p:spPr/>
        <p:txBody>
          <a:bodyPr/>
          <a:lstStyle/>
          <a:p>
            <a:r>
              <a:rPr lang="en-US" dirty="0"/>
              <a:t>State Management in React JS</a:t>
            </a:r>
          </a:p>
        </p:txBody>
      </p:sp>
      <p:sp>
        <p:nvSpPr>
          <p:cNvPr id="3" name="Text Placeholder 2">
            <a:extLst>
              <a:ext uri="{FF2B5EF4-FFF2-40B4-BE49-F238E27FC236}">
                <a16:creationId xmlns:a16="http://schemas.microsoft.com/office/drawing/2014/main" id="{A93FE349-EBA4-9017-8C24-5FE309DA4D3F}"/>
              </a:ext>
            </a:extLst>
          </p:cNvPr>
          <p:cNvSpPr>
            <a:spLocks noGrp="1"/>
          </p:cNvSpPr>
          <p:nvPr>
            <p:ph type="body" idx="1"/>
          </p:nvPr>
        </p:nvSpPr>
        <p:spPr/>
        <p:txBody>
          <a:bodyPr>
            <a:normAutofit/>
          </a:bodyPr>
          <a:lstStyle/>
          <a:p>
            <a:r>
              <a:rPr lang="en-US" b="1" dirty="0"/>
              <a:t>React JS State </a:t>
            </a:r>
            <a:r>
              <a:rPr lang="en-US" dirty="0"/>
              <a:t>is a way to store and manage the information or data while creating a React Application. </a:t>
            </a:r>
          </a:p>
          <a:p>
            <a:r>
              <a:rPr lang="en-US" dirty="0"/>
              <a:t>The state is a </a:t>
            </a:r>
            <a:r>
              <a:rPr lang="en-US" b="1" dirty="0"/>
              <a:t>JavaScript object </a:t>
            </a:r>
            <a:r>
              <a:rPr lang="en-US" dirty="0"/>
              <a:t>that contains the </a:t>
            </a:r>
            <a:r>
              <a:rPr lang="en-US" b="1" dirty="0"/>
              <a:t>real-time data </a:t>
            </a:r>
            <a:r>
              <a:rPr lang="en-US" dirty="0"/>
              <a:t>or </a:t>
            </a:r>
            <a:r>
              <a:rPr lang="en-US" b="1" dirty="0"/>
              <a:t>information</a:t>
            </a:r>
            <a:r>
              <a:rPr lang="en-US" dirty="0"/>
              <a:t> on the webpage.</a:t>
            </a:r>
          </a:p>
          <a:p>
            <a:r>
              <a:rPr lang="en-US" dirty="0"/>
              <a:t>The </a:t>
            </a:r>
            <a:r>
              <a:rPr lang="en-US" b="1" dirty="0"/>
              <a:t>state</a:t>
            </a:r>
            <a:r>
              <a:rPr lang="en-US" dirty="0"/>
              <a:t> in React is an instance of the </a:t>
            </a:r>
            <a:r>
              <a:rPr lang="en-US" b="1" dirty="0"/>
              <a:t>React Component </a:t>
            </a:r>
            <a:r>
              <a:rPr lang="en-US" dirty="0"/>
              <a:t>that can be defined as an object of a set of observable properties that control the behavior of the component. </a:t>
            </a:r>
          </a:p>
        </p:txBody>
      </p:sp>
    </p:spTree>
    <p:extLst>
      <p:ext uri="{BB962C8B-B14F-4D97-AF65-F5344CB8AC3E}">
        <p14:creationId xmlns:p14="http://schemas.microsoft.com/office/powerpoint/2010/main" val="347592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B881-0E19-9F60-2C0A-844CF58235D3}"/>
              </a:ext>
            </a:extLst>
          </p:cNvPr>
          <p:cNvSpPr>
            <a:spLocks noGrp="1"/>
          </p:cNvSpPr>
          <p:nvPr>
            <p:ph type="title"/>
          </p:nvPr>
        </p:nvSpPr>
        <p:spPr/>
        <p:txBody>
          <a:bodyPr/>
          <a:lstStyle/>
          <a:p>
            <a:r>
              <a:rPr lang="en-US" dirty="0"/>
              <a:t>Manage states using Hooks</a:t>
            </a:r>
          </a:p>
        </p:txBody>
      </p:sp>
      <p:sp>
        <p:nvSpPr>
          <p:cNvPr id="3" name="Text Placeholder 2">
            <a:extLst>
              <a:ext uri="{FF2B5EF4-FFF2-40B4-BE49-F238E27FC236}">
                <a16:creationId xmlns:a16="http://schemas.microsoft.com/office/drawing/2014/main" id="{5D71BECE-F661-B442-5946-DB6B50029D50}"/>
              </a:ext>
            </a:extLst>
          </p:cNvPr>
          <p:cNvSpPr>
            <a:spLocks noGrp="1"/>
          </p:cNvSpPr>
          <p:nvPr>
            <p:ph type="body" idx="1"/>
          </p:nvPr>
        </p:nvSpPr>
        <p:spPr/>
        <p:txBody>
          <a:bodyPr/>
          <a:lstStyle/>
          <a:p>
            <a:r>
              <a:rPr lang="en-US" b="1" dirty="0">
                <a:solidFill>
                  <a:srgbClr val="FF0000"/>
                </a:solidFill>
              </a:rPr>
              <a:t>Manage states using Hooks</a:t>
            </a:r>
            <a:r>
              <a:rPr lang="en-US" dirty="0"/>
              <a:t>:</a:t>
            </a:r>
          </a:p>
          <a:p>
            <a:pPr lvl="1"/>
            <a:r>
              <a:rPr lang="en-US" b="1" dirty="0"/>
              <a:t>Hooks</a:t>
            </a:r>
            <a:r>
              <a:rPr lang="en-US" dirty="0"/>
              <a:t> were introduced in </a:t>
            </a:r>
            <a:r>
              <a:rPr lang="en-US" b="1" dirty="0"/>
              <a:t>React 16.8</a:t>
            </a:r>
            <a:r>
              <a:rPr lang="en-US" dirty="0"/>
              <a:t>, revolutionizing functional components by helping them manage state and lifecycle features.</a:t>
            </a:r>
          </a:p>
          <a:p>
            <a:pPr lvl="1"/>
            <a:r>
              <a:rPr lang="en-US" b="1" dirty="0" err="1"/>
              <a:t>useState</a:t>
            </a:r>
            <a:r>
              <a:rPr lang="en-US" dirty="0"/>
              <a:t> is a fundamental hook for easily managing </a:t>
            </a:r>
            <a:r>
              <a:rPr lang="en-US" dirty="0" err="1"/>
              <a:t>states.It</a:t>
            </a:r>
            <a:r>
              <a:rPr lang="en-US" dirty="0"/>
              <a:t> enables us to create and change state variables within our components, eliminating the need for class components.</a:t>
            </a:r>
          </a:p>
          <a:p>
            <a:r>
              <a:rPr lang="en-US" b="1" dirty="0"/>
              <a:t>Syntax</a:t>
            </a:r>
          </a:p>
          <a:p>
            <a:endParaRPr lang="en-US" dirty="0"/>
          </a:p>
          <a:p>
            <a:endParaRPr lang="en-US" dirty="0"/>
          </a:p>
        </p:txBody>
      </p:sp>
      <p:sp>
        <p:nvSpPr>
          <p:cNvPr id="4" name="Rectangle 1">
            <a:extLst>
              <a:ext uri="{FF2B5EF4-FFF2-40B4-BE49-F238E27FC236}">
                <a16:creationId xmlns:a16="http://schemas.microsoft.com/office/drawing/2014/main" id="{B502EC64-C7C8-E558-9B1F-2AAC96FC8F43}"/>
              </a:ext>
            </a:extLst>
          </p:cNvPr>
          <p:cNvSpPr>
            <a:spLocks noChangeArrowheads="1"/>
          </p:cNvSpPr>
          <p:nvPr/>
        </p:nvSpPr>
        <p:spPr bwMode="auto">
          <a:xfrm>
            <a:off x="1666542" y="5028264"/>
            <a:ext cx="8857397" cy="459072"/>
          </a:xfrm>
          <a:prstGeom prst="rect">
            <a:avLst/>
          </a:prstGeom>
          <a:solidFill>
            <a:srgbClr val="E0E0E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Consolas" panose="020B0609020204030204" pitchFamily="49" charset="0"/>
              </a:rPr>
              <a:t>const [state, setState] = useState(&lt;default value&gt;);</a:t>
            </a:r>
            <a:r>
              <a:rPr kumimoji="0" lang="en-US" altLang="en-US" sz="2000" b="1" i="0" u="none" strike="noStrike" cap="none" normalizeH="0" baseline="0">
                <a:ln>
                  <a:noFill/>
                </a:ln>
                <a:solidFill>
                  <a:schemeClr val="tx1"/>
                </a:solidFill>
                <a:effectLst/>
              </a:rPr>
              <a:t> </a:t>
            </a:r>
            <a:endParaRPr kumimoji="0" lang="en-US" altLang="en-US" sz="36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538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C1E75-EA48-0BF4-6526-CE2E83CBBA7A}"/>
              </a:ext>
            </a:extLst>
          </p:cNvPr>
          <p:cNvSpPr>
            <a:spLocks noGrp="1"/>
          </p:cNvSpPr>
          <p:nvPr>
            <p:ph type="title"/>
          </p:nvPr>
        </p:nvSpPr>
        <p:spPr/>
        <p:txBody>
          <a:bodyPr/>
          <a:lstStyle/>
          <a:p>
            <a:r>
              <a:rPr lang="en-US" dirty="0"/>
              <a:t>Manage states using Hooks</a:t>
            </a:r>
          </a:p>
        </p:txBody>
      </p:sp>
      <p:sp>
        <p:nvSpPr>
          <p:cNvPr id="3" name="Text Placeholder 2">
            <a:extLst>
              <a:ext uri="{FF2B5EF4-FFF2-40B4-BE49-F238E27FC236}">
                <a16:creationId xmlns:a16="http://schemas.microsoft.com/office/drawing/2014/main" id="{83B13F37-8008-079D-B16C-7A5247EC32C7}"/>
              </a:ext>
            </a:extLst>
          </p:cNvPr>
          <p:cNvSpPr>
            <a:spLocks noGrp="1"/>
          </p:cNvSpPr>
          <p:nvPr>
            <p:ph type="body" idx="1"/>
          </p:nvPr>
        </p:nvSpPr>
        <p:spPr/>
        <p:txBody>
          <a:bodyPr/>
          <a:lstStyle/>
          <a:p>
            <a:r>
              <a:rPr lang="en-US" b="1" dirty="0">
                <a:solidFill>
                  <a:srgbClr val="FF0000"/>
                </a:solidFill>
              </a:rPr>
              <a:t>Manage states using Hooks</a:t>
            </a:r>
            <a:r>
              <a:rPr lang="en-US" dirty="0"/>
              <a:t>:</a:t>
            </a:r>
          </a:p>
          <a:p>
            <a:r>
              <a:rPr lang="en-US" dirty="0"/>
              <a:t>Example:</a:t>
            </a:r>
          </a:p>
        </p:txBody>
      </p:sp>
      <p:pic>
        <p:nvPicPr>
          <p:cNvPr id="5" name="Picture 4">
            <a:extLst>
              <a:ext uri="{FF2B5EF4-FFF2-40B4-BE49-F238E27FC236}">
                <a16:creationId xmlns:a16="http://schemas.microsoft.com/office/drawing/2014/main" id="{6B8F15A2-A100-35BB-FC2F-8344A4EA0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8221" y="2507584"/>
            <a:ext cx="7362463" cy="36748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1451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41A6B-E20A-9101-7459-BB6EA8B9D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31623-1E40-3E5C-A96C-0A01B58079DB}"/>
              </a:ext>
            </a:extLst>
          </p:cNvPr>
          <p:cNvSpPr>
            <a:spLocks noGrp="1"/>
          </p:cNvSpPr>
          <p:nvPr>
            <p:ph type="title"/>
          </p:nvPr>
        </p:nvSpPr>
        <p:spPr/>
        <p:txBody>
          <a:bodyPr/>
          <a:lstStyle/>
          <a:p>
            <a:r>
              <a:rPr lang="en-US" dirty="0"/>
              <a:t>Manage states using Hooks</a:t>
            </a:r>
          </a:p>
        </p:txBody>
      </p:sp>
      <p:sp>
        <p:nvSpPr>
          <p:cNvPr id="3" name="Text Placeholder 2">
            <a:extLst>
              <a:ext uri="{FF2B5EF4-FFF2-40B4-BE49-F238E27FC236}">
                <a16:creationId xmlns:a16="http://schemas.microsoft.com/office/drawing/2014/main" id="{64DB209E-F1D1-1282-A84D-1173BCC1784A}"/>
              </a:ext>
            </a:extLst>
          </p:cNvPr>
          <p:cNvSpPr>
            <a:spLocks noGrp="1"/>
          </p:cNvSpPr>
          <p:nvPr>
            <p:ph type="body" idx="1"/>
          </p:nvPr>
        </p:nvSpPr>
        <p:spPr/>
        <p:txBody>
          <a:bodyPr/>
          <a:lstStyle/>
          <a:p>
            <a:r>
              <a:rPr lang="en-US" b="1" dirty="0">
                <a:solidFill>
                  <a:srgbClr val="FF0000"/>
                </a:solidFill>
              </a:rPr>
              <a:t>Manage states using Hooks</a:t>
            </a:r>
            <a:r>
              <a:rPr lang="en-US" dirty="0"/>
              <a:t>:</a:t>
            </a:r>
          </a:p>
          <a:p>
            <a:r>
              <a:rPr lang="en-US" dirty="0"/>
              <a:t>Example:</a:t>
            </a:r>
          </a:p>
        </p:txBody>
      </p:sp>
      <p:pic>
        <p:nvPicPr>
          <p:cNvPr id="4" name="bg">
            <a:hlinkClick r:id="" action="ppaction://media"/>
            <a:extLst>
              <a:ext uri="{FF2B5EF4-FFF2-40B4-BE49-F238E27FC236}">
                <a16:creationId xmlns:a16="http://schemas.microsoft.com/office/drawing/2014/main" id="{DF638EB8-D52D-B48B-3C0D-55691728130E}"/>
              </a:ext>
            </a:extLst>
          </p:cNvPr>
          <p:cNvPicPr>
            <a:picLocks noChangeAspect="1"/>
          </p:cNvPicPr>
          <p:nvPr>
            <a:videoFile r:link="rId1"/>
            <p:extLst>
              <p:ext uri="{DAA4B4D4-6D71-4841-9C94-3DE7FCFB9230}">
                <p14:media xmlns:p14="http://schemas.microsoft.com/office/powerpoint/2010/main" r:embed="rId2">
                  <p14:trim end="777"/>
                </p14:media>
              </p:ext>
            </p:extLst>
          </p:nvPr>
        </p:nvPicPr>
        <p:blipFill>
          <a:blip r:embed="rId4"/>
          <a:stretch>
            <a:fillRect/>
          </a:stretch>
        </p:blipFill>
        <p:spPr>
          <a:xfrm>
            <a:off x="2352867" y="2752298"/>
            <a:ext cx="7484747" cy="30889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3932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2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37D9E-2C83-A825-6714-BE4905F01FCD}"/>
              </a:ext>
            </a:extLst>
          </p:cNvPr>
          <p:cNvSpPr>
            <a:spLocks noGrp="1"/>
          </p:cNvSpPr>
          <p:nvPr>
            <p:ph type="title"/>
          </p:nvPr>
        </p:nvSpPr>
        <p:spPr>
          <a:xfrm>
            <a:off x="1104900" y="76200"/>
            <a:ext cx="9980682" cy="1096962"/>
          </a:xfrm>
        </p:spPr>
        <p:txBody>
          <a:bodyPr/>
          <a:lstStyle/>
          <a:p>
            <a:r>
              <a:rPr lang="en-US" dirty="0"/>
              <a:t>Manage states using Context API</a:t>
            </a:r>
          </a:p>
        </p:txBody>
      </p:sp>
      <p:sp>
        <p:nvSpPr>
          <p:cNvPr id="3" name="Text Placeholder 2">
            <a:extLst>
              <a:ext uri="{FF2B5EF4-FFF2-40B4-BE49-F238E27FC236}">
                <a16:creationId xmlns:a16="http://schemas.microsoft.com/office/drawing/2014/main" id="{0CE5AC4A-DC08-C171-C453-6ACEEAD0AA5C}"/>
              </a:ext>
            </a:extLst>
          </p:cNvPr>
          <p:cNvSpPr>
            <a:spLocks noGrp="1"/>
          </p:cNvSpPr>
          <p:nvPr>
            <p:ph type="body" idx="1"/>
          </p:nvPr>
        </p:nvSpPr>
        <p:spPr>
          <a:xfrm>
            <a:off x="1104900" y="1600200"/>
            <a:ext cx="9982200" cy="4572000"/>
          </a:xfrm>
        </p:spPr>
        <p:txBody>
          <a:bodyPr>
            <a:normAutofit/>
          </a:bodyPr>
          <a:lstStyle/>
          <a:p>
            <a:r>
              <a:rPr lang="en-US" b="1" dirty="0">
                <a:solidFill>
                  <a:srgbClr val="FF0000"/>
                </a:solidFill>
              </a:rPr>
              <a:t>Context API </a:t>
            </a:r>
            <a:r>
              <a:rPr lang="en-US" dirty="0"/>
              <a:t>is used to pass global variables anywhere in the code without the prop drilling. </a:t>
            </a:r>
          </a:p>
          <a:p>
            <a:pPr lvl="1"/>
            <a:r>
              <a:rPr lang="en-US" dirty="0"/>
              <a:t>It helps when there is a need for sharing state between a lot of nested components. </a:t>
            </a:r>
          </a:p>
          <a:p>
            <a:pPr lvl="1"/>
            <a:r>
              <a:rPr lang="en-US" dirty="0"/>
              <a:t>To create a context just need to call </a:t>
            </a:r>
            <a:r>
              <a:rPr lang="en-US" b="1" i="1" dirty="0" err="1"/>
              <a:t>React.createContext</a:t>
            </a:r>
            <a:r>
              <a:rPr lang="en-US" b="1" i="1" dirty="0"/>
              <a:t>(). </a:t>
            </a:r>
          </a:p>
          <a:p>
            <a:r>
              <a:rPr lang="en-US" b="1" dirty="0">
                <a:solidFill>
                  <a:srgbClr val="FF0000"/>
                </a:solidFill>
              </a:rPr>
              <a:t>Use Context API</a:t>
            </a:r>
          </a:p>
          <a:p>
            <a:pPr lvl="1"/>
            <a:r>
              <a:rPr lang="en-US" dirty="0"/>
              <a:t>When data is to be passed between multiple layers before sending it to the required component. </a:t>
            </a:r>
            <a:r>
              <a:rPr lang="en-US" b="1" dirty="0"/>
              <a:t>Context API </a:t>
            </a:r>
            <a:r>
              <a:rPr lang="en-US" dirty="0"/>
              <a:t>creates global variables to be used throughout the application without any middle components involved.</a:t>
            </a:r>
          </a:p>
        </p:txBody>
      </p:sp>
    </p:spTree>
    <p:extLst>
      <p:ext uri="{BB962C8B-B14F-4D97-AF65-F5344CB8AC3E}">
        <p14:creationId xmlns:p14="http://schemas.microsoft.com/office/powerpoint/2010/main" val="559755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15883-2E3C-61F8-5B7F-23D16469C4CD}"/>
              </a:ext>
            </a:extLst>
          </p:cNvPr>
          <p:cNvSpPr>
            <a:spLocks noGrp="1"/>
          </p:cNvSpPr>
          <p:nvPr>
            <p:ph type="title"/>
          </p:nvPr>
        </p:nvSpPr>
        <p:spPr/>
        <p:txBody>
          <a:bodyPr/>
          <a:lstStyle/>
          <a:p>
            <a:r>
              <a:rPr lang="en-US" dirty="0"/>
              <a:t>Manage states using Context API</a:t>
            </a:r>
          </a:p>
        </p:txBody>
      </p:sp>
      <p:sp>
        <p:nvSpPr>
          <p:cNvPr id="3" name="Text Placeholder 2">
            <a:extLst>
              <a:ext uri="{FF2B5EF4-FFF2-40B4-BE49-F238E27FC236}">
                <a16:creationId xmlns:a16="http://schemas.microsoft.com/office/drawing/2014/main" id="{68588D5B-57FA-5E5A-2500-1FF3AC5D8819}"/>
              </a:ext>
            </a:extLst>
          </p:cNvPr>
          <p:cNvSpPr>
            <a:spLocks noGrp="1"/>
          </p:cNvSpPr>
          <p:nvPr>
            <p:ph type="body" idx="1"/>
          </p:nvPr>
        </p:nvSpPr>
        <p:spPr/>
        <p:txBody>
          <a:bodyPr/>
          <a:lstStyle/>
          <a:p>
            <a:r>
              <a:rPr lang="en-US" b="1" dirty="0">
                <a:solidFill>
                  <a:srgbClr val="FF0000"/>
                </a:solidFill>
              </a:rPr>
              <a:t>Working with Context API </a:t>
            </a:r>
          </a:p>
        </p:txBody>
      </p:sp>
      <p:pic>
        <p:nvPicPr>
          <p:cNvPr id="5" name="Picture 4">
            <a:extLst>
              <a:ext uri="{FF2B5EF4-FFF2-40B4-BE49-F238E27FC236}">
                <a16:creationId xmlns:a16="http://schemas.microsoft.com/office/drawing/2014/main" id="{6DB31EDD-B283-F390-5C1A-A89F838B13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2662" y="2501415"/>
            <a:ext cx="4592920" cy="2674916"/>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095A3363-F6DA-1880-424D-2E9D19E8B4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8383" y="2556697"/>
            <a:ext cx="4326157" cy="2701103"/>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A83089CF-080C-6E99-6213-97C690171202}"/>
              </a:ext>
            </a:extLst>
          </p:cNvPr>
          <p:cNvSpPr txBox="1"/>
          <p:nvPr/>
        </p:nvSpPr>
        <p:spPr>
          <a:xfrm>
            <a:off x="852055" y="5530334"/>
            <a:ext cx="6093228" cy="369332"/>
          </a:xfrm>
          <a:prstGeom prst="rect">
            <a:avLst/>
          </a:prstGeom>
          <a:noFill/>
        </p:spPr>
        <p:txBody>
          <a:bodyPr wrap="square">
            <a:spAutoFit/>
          </a:bodyPr>
          <a:lstStyle/>
          <a:p>
            <a:r>
              <a:rPr lang="en-US" b="0" i="1" dirty="0">
                <a:effectLst/>
                <a:latin typeface="Lato" panose="020F0502020204030203" pitchFamily="34" charset="0"/>
              </a:rPr>
              <a:t>Illustration of passing props from parent to children</a:t>
            </a:r>
            <a:endParaRPr lang="en-US" dirty="0"/>
          </a:p>
        </p:txBody>
      </p:sp>
      <p:sp>
        <p:nvSpPr>
          <p:cNvPr id="11" name="TextBox 10">
            <a:extLst>
              <a:ext uri="{FF2B5EF4-FFF2-40B4-BE49-F238E27FC236}">
                <a16:creationId xmlns:a16="http://schemas.microsoft.com/office/drawing/2014/main" id="{6556256D-0C46-E84C-9CB1-F1D5C3EC2BDA}"/>
              </a:ext>
            </a:extLst>
          </p:cNvPr>
          <p:cNvSpPr txBox="1"/>
          <p:nvPr/>
        </p:nvSpPr>
        <p:spPr>
          <a:xfrm>
            <a:off x="6637713" y="5489599"/>
            <a:ext cx="6093228" cy="369332"/>
          </a:xfrm>
          <a:prstGeom prst="rect">
            <a:avLst/>
          </a:prstGeom>
          <a:noFill/>
        </p:spPr>
        <p:txBody>
          <a:bodyPr wrap="square">
            <a:spAutoFit/>
          </a:bodyPr>
          <a:lstStyle/>
          <a:p>
            <a:r>
              <a:rPr lang="en-US" b="0" i="1" dirty="0">
                <a:effectLst/>
                <a:latin typeface="Lato" panose="020F0502020204030203" pitchFamily="34" charset="0"/>
              </a:rPr>
              <a:t>A diagram illustrating how Context API works</a:t>
            </a:r>
            <a:endParaRPr lang="en-US" dirty="0"/>
          </a:p>
        </p:txBody>
      </p:sp>
    </p:spTree>
    <p:extLst>
      <p:ext uri="{BB962C8B-B14F-4D97-AF65-F5344CB8AC3E}">
        <p14:creationId xmlns:p14="http://schemas.microsoft.com/office/powerpoint/2010/main" val="3758639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ED631-E23F-38B6-CB99-781C386DF28F}"/>
              </a:ext>
            </a:extLst>
          </p:cNvPr>
          <p:cNvSpPr>
            <a:spLocks noGrp="1"/>
          </p:cNvSpPr>
          <p:nvPr>
            <p:ph type="title"/>
          </p:nvPr>
        </p:nvSpPr>
        <p:spPr/>
        <p:txBody>
          <a:bodyPr/>
          <a:lstStyle/>
          <a:p>
            <a:r>
              <a:rPr lang="en-US" dirty="0"/>
              <a:t>Manage states using Context API</a:t>
            </a:r>
          </a:p>
        </p:txBody>
      </p:sp>
      <p:sp>
        <p:nvSpPr>
          <p:cNvPr id="3" name="Text Placeholder 2">
            <a:extLst>
              <a:ext uri="{FF2B5EF4-FFF2-40B4-BE49-F238E27FC236}">
                <a16:creationId xmlns:a16="http://schemas.microsoft.com/office/drawing/2014/main" id="{5830BCB3-84AC-A3C8-5ECE-3F99DAD5A422}"/>
              </a:ext>
            </a:extLst>
          </p:cNvPr>
          <p:cNvSpPr>
            <a:spLocks noGrp="1"/>
          </p:cNvSpPr>
          <p:nvPr>
            <p:ph type="body" idx="1"/>
          </p:nvPr>
        </p:nvSpPr>
        <p:spPr/>
        <p:txBody>
          <a:bodyPr/>
          <a:lstStyle/>
          <a:p>
            <a:r>
              <a:rPr lang="en-US" b="1" dirty="0"/>
              <a:t>Step1: Create a Context Object</a:t>
            </a:r>
          </a:p>
          <a:p>
            <a:pPr lvl="1"/>
            <a:r>
              <a:rPr lang="en-US" dirty="0"/>
              <a:t>Using the </a:t>
            </a:r>
            <a:r>
              <a:rPr lang="en-US" b="1" i="1" dirty="0" err="1"/>
              <a:t>createContext</a:t>
            </a:r>
            <a:r>
              <a:rPr lang="en-US" dirty="0"/>
              <a:t> function from the 'react' library. This context object will hold the data that you want to share across your application.</a:t>
            </a:r>
          </a:p>
          <a:p>
            <a:pPr lvl="1"/>
            <a:r>
              <a:rPr lang="en-US" dirty="0"/>
              <a:t>Create a new file named </a:t>
            </a:r>
            <a:r>
              <a:rPr lang="en-US" b="1" dirty="0"/>
              <a:t>MyContext.js </a:t>
            </a:r>
            <a:r>
              <a:rPr lang="en-US" dirty="0"/>
              <a:t>in the </a:t>
            </a:r>
            <a:r>
              <a:rPr lang="en-US" b="1" dirty="0" err="1"/>
              <a:t>src</a:t>
            </a:r>
            <a:r>
              <a:rPr lang="en-US" dirty="0"/>
              <a:t> folder and add the following code to create a context object:</a:t>
            </a:r>
          </a:p>
        </p:txBody>
      </p:sp>
      <p:pic>
        <p:nvPicPr>
          <p:cNvPr id="5" name="Picture 4">
            <a:extLst>
              <a:ext uri="{FF2B5EF4-FFF2-40B4-BE49-F238E27FC236}">
                <a16:creationId xmlns:a16="http://schemas.microsoft.com/office/drawing/2014/main" id="{6CA83BE1-007B-09AB-193C-AE253166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9138" y="4345497"/>
            <a:ext cx="8252206" cy="9123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9024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AE6AD-E664-7626-4275-27B764943FDC}"/>
              </a:ext>
            </a:extLst>
          </p:cNvPr>
          <p:cNvSpPr>
            <a:spLocks noGrp="1"/>
          </p:cNvSpPr>
          <p:nvPr>
            <p:ph type="title"/>
          </p:nvPr>
        </p:nvSpPr>
        <p:spPr/>
        <p:txBody>
          <a:bodyPr/>
          <a:lstStyle/>
          <a:p>
            <a:r>
              <a:rPr lang="en-US" dirty="0"/>
              <a:t>Manage states using Context API</a:t>
            </a:r>
          </a:p>
        </p:txBody>
      </p:sp>
      <p:sp>
        <p:nvSpPr>
          <p:cNvPr id="3" name="Text Placeholder 2">
            <a:extLst>
              <a:ext uri="{FF2B5EF4-FFF2-40B4-BE49-F238E27FC236}">
                <a16:creationId xmlns:a16="http://schemas.microsoft.com/office/drawing/2014/main" id="{436D7220-E9B0-54C7-2C3A-F93905CFD377}"/>
              </a:ext>
            </a:extLst>
          </p:cNvPr>
          <p:cNvSpPr>
            <a:spLocks noGrp="1"/>
          </p:cNvSpPr>
          <p:nvPr>
            <p:ph type="body" idx="1"/>
          </p:nvPr>
        </p:nvSpPr>
        <p:spPr>
          <a:xfrm>
            <a:off x="1104899" y="1600200"/>
            <a:ext cx="10250285" cy="4572000"/>
          </a:xfrm>
        </p:spPr>
        <p:txBody>
          <a:bodyPr/>
          <a:lstStyle/>
          <a:p>
            <a:r>
              <a:rPr lang="en-US" dirty="0"/>
              <a:t> </a:t>
            </a:r>
            <a:r>
              <a:rPr lang="en-US" b="1" dirty="0"/>
              <a:t>Step 2: Wrap Components with a Provider</a:t>
            </a:r>
            <a:r>
              <a:rPr lang="en-US" dirty="0"/>
              <a:t>: the Provider component should be wrapped around the top-level component in an application to ensure that all child components have access to the shared data.</a:t>
            </a:r>
          </a:p>
        </p:txBody>
      </p:sp>
      <p:pic>
        <p:nvPicPr>
          <p:cNvPr id="7" name="Picture 6">
            <a:extLst>
              <a:ext uri="{FF2B5EF4-FFF2-40B4-BE49-F238E27FC236}">
                <a16:creationId xmlns:a16="http://schemas.microsoft.com/office/drawing/2014/main" id="{4C3D1D0F-D409-F9BC-81A8-AB22F8242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1974" y="3366655"/>
            <a:ext cx="5908052" cy="31313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50406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7918-2101-7F73-59B7-F224EBB7A193}"/>
              </a:ext>
            </a:extLst>
          </p:cNvPr>
          <p:cNvSpPr>
            <a:spLocks noGrp="1"/>
          </p:cNvSpPr>
          <p:nvPr>
            <p:ph type="title"/>
          </p:nvPr>
        </p:nvSpPr>
        <p:spPr/>
        <p:txBody>
          <a:bodyPr/>
          <a:lstStyle/>
          <a:p>
            <a:r>
              <a:rPr lang="en-US" dirty="0"/>
              <a:t>Manage states using Context API</a:t>
            </a:r>
          </a:p>
        </p:txBody>
      </p:sp>
      <p:sp>
        <p:nvSpPr>
          <p:cNvPr id="3" name="Text Placeholder 2">
            <a:extLst>
              <a:ext uri="{FF2B5EF4-FFF2-40B4-BE49-F238E27FC236}">
                <a16:creationId xmlns:a16="http://schemas.microsoft.com/office/drawing/2014/main" id="{0C4B17B8-5D62-E88E-3581-7FF09D3C02E2}"/>
              </a:ext>
            </a:extLst>
          </p:cNvPr>
          <p:cNvSpPr>
            <a:spLocks noGrp="1"/>
          </p:cNvSpPr>
          <p:nvPr>
            <p:ph type="body" idx="1"/>
          </p:nvPr>
        </p:nvSpPr>
        <p:spPr/>
        <p:txBody>
          <a:bodyPr/>
          <a:lstStyle/>
          <a:p>
            <a:r>
              <a:rPr lang="en-US" b="1" dirty="0"/>
              <a:t>Step 3: Consume the Context</a:t>
            </a:r>
          </a:p>
          <a:p>
            <a:pPr lvl="1"/>
            <a:r>
              <a:rPr lang="en-US" dirty="0"/>
              <a:t>Create the provider component, we need to consume the context in other components, use the </a:t>
            </a:r>
            <a:r>
              <a:rPr lang="en-US" b="1" i="1" dirty="0" err="1"/>
              <a:t>useContext</a:t>
            </a:r>
            <a:r>
              <a:rPr lang="en-US" dirty="0"/>
              <a:t> hook from React.</a:t>
            </a:r>
          </a:p>
        </p:txBody>
      </p:sp>
      <p:pic>
        <p:nvPicPr>
          <p:cNvPr id="5" name="Picture 4">
            <a:extLst>
              <a:ext uri="{FF2B5EF4-FFF2-40B4-BE49-F238E27FC236}">
                <a16:creationId xmlns:a16="http://schemas.microsoft.com/office/drawing/2014/main" id="{95A25A14-9C53-D912-A095-E15B81CFE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8092" y="2978981"/>
            <a:ext cx="6015816" cy="36202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8969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5E735-EB5B-1971-AB73-C2CACFBB3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10BFC-998E-F2D7-D717-8CFA4F35689B}"/>
              </a:ext>
            </a:extLst>
          </p:cNvPr>
          <p:cNvSpPr>
            <a:spLocks noGrp="1"/>
          </p:cNvSpPr>
          <p:nvPr>
            <p:ph type="title"/>
          </p:nvPr>
        </p:nvSpPr>
        <p:spPr>
          <a:xfrm>
            <a:off x="1104900" y="76200"/>
            <a:ext cx="9980682" cy="1096962"/>
          </a:xfrm>
        </p:spPr>
        <p:txBody>
          <a:bodyPr/>
          <a:lstStyle/>
          <a:p>
            <a:pPr algn="l" fontAlgn="base"/>
            <a:r>
              <a:rPr lang="en-US" b="1" i="0" dirty="0">
                <a:solidFill>
                  <a:srgbClr val="273239"/>
                </a:solidFill>
                <a:effectLst/>
                <a:latin typeface="Roboto" panose="02000000000000000000" pitchFamily="2" charset="0"/>
              </a:rPr>
              <a:t>Manage states using Redux</a:t>
            </a:r>
          </a:p>
        </p:txBody>
      </p:sp>
      <p:sp>
        <p:nvSpPr>
          <p:cNvPr id="3" name="Text Placeholder 2">
            <a:extLst>
              <a:ext uri="{FF2B5EF4-FFF2-40B4-BE49-F238E27FC236}">
                <a16:creationId xmlns:a16="http://schemas.microsoft.com/office/drawing/2014/main" id="{EC510456-1473-90BD-B1B8-D7186BA11C36}"/>
              </a:ext>
            </a:extLst>
          </p:cNvPr>
          <p:cNvSpPr>
            <a:spLocks noGrp="1"/>
          </p:cNvSpPr>
          <p:nvPr>
            <p:ph type="body" idx="1"/>
          </p:nvPr>
        </p:nvSpPr>
        <p:spPr>
          <a:xfrm>
            <a:off x="1104899" y="1600200"/>
            <a:ext cx="10133907" cy="4572000"/>
          </a:xfrm>
        </p:spPr>
        <p:txBody>
          <a:bodyPr/>
          <a:lstStyle/>
          <a:p>
            <a:r>
              <a:rPr lang="en-US" b="1" dirty="0">
                <a:solidFill>
                  <a:srgbClr val="FF0000"/>
                </a:solidFill>
              </a:rPr>
              <a:t>Redux</a:t>
            </a:r>
            <a:r>
              <a:rPr lang="en-US" dirty="0"/>
              <a:t> is a pattern and library for managing and updating application state, it serves as a centralized store for state that needs to be used across your entire application, with rules ensuring that the state can only be updated predictably.</a:t>
            </a:r>
          </a:p>
          <a:p>
            <a:r>
              <a:rPr lang="en-US" dirty="0"/>
              <a:t>With Redux, you have a central store to keep, update, and monitor the state of your application. </a:t>
            </a:r>
          </a:p>
        </p:txBody>
      </p:sp>
    </p:spTree>
    <p:extLst>
      <p:ext uri="{BB962C8B-B14F-4D97-AF65-F5344CB8AC3E}">
        <p14:creationId xmlns:p14="http://schemas.microsoft.com/office/powerpoint/2010/main" val="308562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19A1-0A07-033F-9B68-A61A2962915E}"/>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EB871C74-0973-83A8-24E4-12E991653EAD}"/>
              </a:ext>
            </a:extLst>
          </p:cNvPr>
          <p:cNvSpPr>
            <a:spLocks noGrp="1"/>
          </p:cNvSpPr>
          <p:nvPr>
            <p:ph type="body" idx="1"/>
          </p:nvPr>
        </p:nvSpPr>
        <p:spPr/>
        <p:txBody>
          <a:bodyPr/>
          <a:lstStyle/>
          <a:p>
            <a:r>
              <a:rPr lang="en-US" b="1" dirty="0"/>
              <a:t>State</a:t>
            </a:r>
            <a:r>
              <a:rPr lang="en-US" dirty="0"/>
              <a:t> is Read-only in Redux.</a:t>
            </a:r>
          </a:p>
          <a:p>
            <a:r>
              <a:rPr lang="en-US" dirty="0"/>
              <a:t>What makes </a:t>
            </a:r>
            <a:r>
              <a:rPr lang="en-US" b="1" dirty="0"/>
              <a:t>Redux predictable </a:t>
            </a:r>
            <a:r>
              <a:rPr lang="en-US" dirty="0"/>
              <a:t>is that to make a change in the </a:t>
            </a:r>
            <a:r>
              <a:rPr lang="en-US" b="1" dirty="0"/>
              <a:t>state</a:t>
            </a:r>
            <a:r>
              <a:rPr lang="en-US" dirty="0"/>
              <a:t> of the application</a:t>
            </a:r>
          </a:p>
          <a:p>
            <a:r>
              <a:rPr lang="en-US" b="1" dirty="0"/>
              <a:t>Actions</a:t>
            </a:r>
            <a:r>
              <a:rPr lang="en-US" dirty="0"/>
              <a:t> can be recorded and replayed later, so this makes </a:t>
            </a:r>
            <a:r>
              <a:rPr lang="en-US" b="1" dirty="0"/>
              <a:t>state management </a:t>
            </a:r>
            <a:r>
              <a:rPr lang="en-US" dirty="0"/>
              <a:t>predictable.</a:t>
            </a:r>
          </a:p>
          <a:p>
            <a:r>
              <a:rPr lang="en-US" dirty="0"/>
              <a:t>These </a:t>
            </a:r>
            <a:r>
              <a:rPr lang="en-US" b="1" dirty="0"/>
              <a:t>actions</a:t>
            </a:r>
            <a:r>
              <a:rPr lang="en-US" dirty="0"/>
              <a:t> are then consumed by something known as </a:t>
            </a:r>
            <a:r>
              <a:rPr lang="en-US" b="1" dirty="0"/>
              <a:t>reducers</a:t>
            </a:r>
            <a:r>
              <a:rPr lang="en-US" dirty="0"/>
              <a:t>,</a:t>
            </a:r>
          </a:p>
        </p:txBody>
      </p:sp>
    </p:spTree>
    <p:extLst>
      <p:ext uri="{BB962C8B-B14F-4D97-AF65-F5344CB8AC3E}">
        <p14:creationId xmlns:p14="http://schemas.microsoft.com/office/powerpoint/2010/main" val="3512994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56751-D8D3-F15F-A1F1-5CA2DAB8B7B5}"/>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372FCC53-8497-69DB-8CF1-531355E3CFF1}"/>
              </a:ext>
            </a:extLst>
          </p:cNvPr>
          <p:cNvSpPr>
            <a:spLocks noGrp="1"/>
          </p:cNvSpPr>
          <p:nvPr>
            <p:ph type="body" idx="1"/>
          </p:nvPr>
        </p:nvSpPr>
        <p:spPr/>
        <p:txBody>
          <a:bodyPr/>
          <a:lstStyle/>
          <a:p>
            <a:r>
              <a:rPr lang="en-US" b="1" dirty="0">
                <a:solidFill>
                  <a:srgbClr val="FF0000"/>
                </a:solidFill>
              </a:rPr>
              <a:t>Principles of Redux</a:t>
            </a:r>
          </a:p>
        </p:txBody>
      </p:sp>
      <p:pic>
        <p:nvPicPr>
          <p:cNvPr id="5" name="Picture 4">
            <a:extLst>
              <a:ext uri="{FF2B5EF4-FFF2-40B4-BE49-F238E27FC236}">
                <a16:creationId xmlns:a16="http://schemas.microsoft.com/office/drawing/2014/main" id="{1EB18B12-B5B3-6377-F4B7-7764E0781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4378" y="2531030"/>
            <a:ext cx="6720364" cy="38647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09073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6B06-C4FA-8C58-9A7D-96626A5862B2}"/>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7072D93D-8717-453C-8260-BF03D8875129}"/>
              </a:ext>
            </a:extLst>
          </p:cNvPr>
          <p:cNvSpPr>
            <a:spLocks noGrp="1"/>
          </p:cNvSpPr>
          <p:nvPr>
            <p:ph type="body" idx="1"/>
          </p:nvPr>
        </p:nvSpPr>
        <p:spPr/>
        <p:txBody>
          <a:bodyPr/>
          <a:lstStyle/>
          <a:p>
            <a:r>
              <a:rPr lang="en-US" b="1" dirty="0">
                <a:solidFill>
                  <a:srgbClr val="FF0000"/>
                </a:solidFill>
              </a:rPr>
              <a:t>Redux Store</a:t>
            </a:r>
          </a:p>
          <a:p>
            <a:pPr lvl="1"/>
            <a:r>
              <a:rPr lang="en-US" dirty="0"/>
              <a:t>The global state of an application is stored in an object tree within a single store</a:t>
            </a:r>
          </a:p>
          <a:p>
            <a:pPr lvl="1"/>
            <a:r>
              <a:rPr lang="en-US" dirty="0"/>
              <a:t>The </a:t>
            </a:r>
            <a:r>
              <a:rPr lang="en-US" b="1" dirty="0"/>
              <a:t>Redux store </a:t>
            </a:r>
            <a:r>
              <a:rPr lang="en-US" dirty="0"/>
              <a:t>is the main, </a:t>
            </a:r>
            <a:r>
              <a:rPr lang="en-US" b="1" dirty="0"/>
              <a:t>central bucket </a:t>
            </a:r>
            <a:r>
              <a:rPr lang="en-US" dirty="0"/>
              <a:t>which stores all the states of an application. It should be considered and maintained as a single source of truth for the state of the application.</a:t>
            </a:r>
          </a:p>
          <a:p>
            <a:pPr lvl="1"/>
            <a:r>
              <a:rPr lang="en-US" dirty="0"/>
              <a:t>If the </a:t>
            </a:r>
            <a:r>
              <a:rPr lang="en-US" b="1" dirty="0"/>
              <a:t>store</a:t>
            </a:r>
            <a:r>
              <a:rPr lang="en-US" dirty="0"/>
              <a:t> is provided to the </a:t>
            </a:r>
            <a:r>
              <a:rPr lang="en-US" b="1" dirty="0"/>
              <a:t>App.js </a:t>
            </a:r>
            <a:r>
              <a:rPr lang="en-US" dirty="0"/>
              <a:t>(by wrapping the App component within the &lt;Provider&gt; &lt;/Provider&gt;, then all its children (children components of App.js) can also access the state of the application from the store. </a:t>
            </a:r>
          </a:p>
        </p:txBody>
      </p:sp>
    </p:spTree>
    <p:extLst>
      <p:ext uri="{BB962C8B-B14F-4D97-AF65-F5344CB8AC3E}">
        <p14:creationId xmlns:p14="http://schemas.microsoft.com/office/powerpoint/2010/main" val="3860764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BFB2-A810-7776-0510-6B87B4F8582D}"/>
              </a:ext>
            </a:extLst>
          </p:cNvPr>
          <p:cNvSpPr>
            <a:spLocks noGrp="1"/>
          </p:cNvSpPr>
          <p:nvPr>
            <p:ph type="title"/>
          </p:nvPr>
        </p:nvSpPr>
        <p:spPr/>
        <p:txBody>
          <a:bodyPr/>
          <a:lstStyle/>
          <a:p>
            <a:r>
              <a:rPr lang="en-US" dirty="0"/>
              <a:t>Redux – the store, actions and reducers</a:t>
            </a:r>
          </a:p>
        </p:txBody>
      </p:sp>
      <p:pic>
        <p:nvPicPr>
          <p:cNvPr id="5" name="Picture 4">
            <a:extLst>
              <a:ext uri="{FF2B5EF4-FFF2-40B4-BE49-F238E27FC236}">
                <a16:creationId xmlns:a16="http://schemas.microsoft.com/office/drawing/2014/main" id="{4B50E442-B7A8-F287-FC40-BA9F6A4BA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250" y="1398558"/>
            <a:ext cx="7811500" cy="507087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5424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FFEA7-6049-7581-4222-800E17D7118E}"/>
              </a:ext>
            </a:extLst>
          </p:cNvPr>
          <p:cNvSpPr>
            <a:spLocks noGrp="1"/>
          </p:cNvSpPr>
          <p:nvPr>
            <p:ph type="title"/>
          </p:nvPr>
        </p:nvSpPr>
        <p:spPr/>
        <p:txBody>
          <a:bodyPr/>
          <a:lstStyle/>
          <a:p>
            <a:r>
              <a:rPr lang="en-US" dirty="0"/>
              <a:t>Redux – the store, actions and reducers</a:t>
            </a:r>
          </a:p>
        </p:txBody>
      </p:sp>
      <p:pic>
        <p:nvPicPr>
          <p:cNvPr id="5" name="Picture 4">
            <a:extLst>
              <a:ext uri="{FF2B5EF4-FFF2-40B4-BE49-F238E27FC236}">
                <a16:creationId xmlns:a16="http://schemas.microsoft.com/office/drawing/2014/main" id="{16A8BB9F-D855-38B1-061A-CD1C9FB21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1488786"/>
            <a:ext cx="9704015" cy="50103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3359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332E-D259-06AF-0D18-46B12EC65704}"/>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FBB9BF7F-0DFA-DBD2-CAA7-4F0DC553CA44}"/>
              </a:ext>
            </a:extLst>
          </p:cNvPr>
          <p:cNvSpPr>
            <a:spLocks noGrp="1"/>
          </p:cNvSpPr>
          <p:nvPr>
            <p:ph type="body" idx="1"/>
          </p:nvPr>
        </p:nvSpPr>
        <p:spPr/>
        <p:txBody>
          <a:bodyPr/>
          <a:lstStyle/>
          <a:p>
            <a:r>
              <a:rPr lang="en-US" dirty="0"/>
              <a:t>The </a:t>
            </a:r>
            <a:r>
              <a:rPr lang="en-US" b="1" dirty="0"/>
              <a:t>state</a:t>
            </a:r>
            <a:r>
              <a:rPr lang="en-US" dirty="0"/>
              <a:t> of the whole application is stored in the form of a </a:t>
            </a:r>
            <a:r>
              <a:rPr lang="en-US" b="1" dirty="0"/>
              <a:t>JS object tree </a:t>
            </a:r>
            <a:r>
              <a:rPr lang="en-US" dirty="0"/>
              <a:t>in a single store</a:t>
            </a:r>
          </a:p>
        </p:txBody>
      </p:sp>
      <p:pic>
        <p:nvPicPr>
          <p:cNvPr id="5" name="Picture 4">
            <a:extLst>
              <a:ext uri="{FF2B5EF4-FFF2-40B4-BE49-F238E27FC236}">
                <a16:creationId xmlns:a16="http://schemas.microsoft.com/office/drawing/2014/main" id="{D0E287AB-F2E8-D5BB-AD8D-3387C27DF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915" y="2681452"/>
            <a:ext cx="7778169" cy="39177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754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BFF5-43BB-203C-6253-D62EDEA6CF3E}"/>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462E47F2-0834-C4F1-25B8-55B66066CFBF}"/>
              </a:ext>
            </a:extLst>
          </p:cNvPr>
          <p:cNvSpPr>
            <a:spLocks noGrp="1"/>
          </p:cNvSpPr>
          <p:nvPr>
            <p:ph type="body" idx="1"/>
          </p:nvPr>
        </p:nvSpPr>
        <p:spPr/>
        <p:txBody>
          <a:bodyPr/>
          <a:lstStyle/>
          <a:p>
            <a:r>
              <a:rPr lang="en-US" b="1" dirty="0">
                <a:solidFill>
                  <a:srgbClr val="FF0000"/>
                </a:solidFill>
              </a:rPr>
              <a:t>Actions in Redux: </a:t>
            </a:r>
            <a:r>
              <a:rPr lang="en-US" dirty="0"/>
              <a:t>The only way to change the state is to emit an action, which is an object describing what happened.</a:t>
            </a:r>
          </a:p>
          <a:p>
            <a:r>
              <a:rPr lang="en-US" dirty="0"/>
              <a:t>Instead, if you want to change the application's state, you need to express your intention by emitting or dispatching an action.</a:t>
            </a:r>
          </a:p>
        </p:txBody>
      </p:sp>
    </p:spTree>
    <p:extLst>
      <p:ext uri="{BB962C8B-B14F-4D97-AF65-F5344CB8AC3E}">
        <p14:creationId xmlns:p14="http://schemas.microsoft.com/office/powerpoint/2010/main" val="1401135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FF50-5458-B825-E12A-8FEB04144CE0}"/>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0DB39BA4-7A3C-5DE9-1F5A-DDBDF236C7BC}"/>
              </a:ext>
            </a:extLst>
          </p:cNvPr>
          <p:cNvSpPr>
            <a:spLocks noGrp="1"/>
          </p:cNvSpPr>
          <p:nvPr>
            <p:ph type="body" idx="1"/>
          </p:nvPr>
        </p:nvSpPr>
        <p:spPr/>
        <p:txBody>
          <a:bodyPr/>
          <a:lstStyle/>
          <a:p>
            <a:r>
              <a:rPr lang="en-US" b="1" dirty="0"/>
              <a:t>Example</a:t>
            </a:r>
            <a:r>
              <a:rPr lang="en-US" dirty="0"/>
              <a:t>: there are 2 books in the store: "Harry Potter and the Chamber of Secrets" and "Harry Potter and the Prisoner of Azkaban“</a:t>
            </a:r>
          </a:p>
          <a:p>
            <a:pPr lvl="1"/>
            <a:r>
              <a:rPr lang="en-US" dirty="0"/>
              <a:t>Now if the user wants to add another item to the cart, then they will have to click on the "</a:t>
            </a:r>
            <a:r>
              <a:rPr lang="en-US" b="1" dirty="0"/>
              <a:t>Add to Cart</a:t>
            </a:r>
            <a:r>
              <a:rPr lang="en-US" dirty="0"/>
              <a:t>" button next to the item.</a:t>
            </a:r>
          </a:p>
          <a:p>
            <a:pPr lvl="1"/>
            <a:r>
              <a:rPr lang="en-US" dirty="0"/>
              <a:t>On the click of the "Add to Cart" button, an action will be dispatched. This action is a JS object describing what changes need to be done in the store. </a:t>
            </a:r>
          </a:p>
        </p:txBody>
      </p:sp>
    </p:spTree>
    <p:extLst>
      <p:ext uri="{BB962C8B-B14F-4D97-AF65-F5344CB8AC3E}">
        <p14:creationId xmlns:p14="http://schemas.microsoft.com/office/powerpoint/2010/main" val="1273883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F6CBD-763C-7C02-F763-A8B1D373CC4D}"/>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6AC46E92-928A-6617-836E-510A9102CD22}"/>
              </a:ext>
            </a:extLst>
          </p:cNvPr>
          <p:cNvSpPr>
            <a:spLocks noGrp="1"/>
          </p:cNvSpPr>
          <p:nvPr>
            <p:ph type="body" idx="1"/>
          </p:nvPr>
        </p:nvSpPr>
        <p:spPr/>
        <p:txBody>
          <a:bodyPr/>
          <a:lstStyle/>
          <a:p>
            <a:r>
              <a:rPr lang="en-US" b="1" dirty="0"/>
              <a:t>Example:</a:t>
            </a:r>
            <a:endParaRPr lang="en-US" dirty="0"/>
          </a:p>
        </p:txBody>
      </p:sp>
      <p:pic>
        <p:nvPicPr>
          <p:cNvPr id="5" name="Picture 4">
            <a:extLst>
              <a:ext uri="{FF2B5EF4-FFF2-40B4-BE49-F238E27FC236}">
                <a16:creationId xmlns:a16="http://schemas.microsoft.com/office/drawing/2014/main" id="{FFA154EF-E99A-7586-691F-D6DC0BD77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178" y="2321334"/>
            <a:ext cx="9326126" cy="40129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68664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5967-90FB-604B-A3D5-68A09BCB9FFF}"/>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832F42C6-9C9B-20CF-45F5-E1C1714909EC}"/>
              </a:ext>
            </a:extLst>
          </p:cNvPr>
          <p:cNvSpPr>
            <a:spLocks noGrp="1"/>
          </p:cNvSpPr>
          <p:nvPr>
            <p:ph type="body" idx="1"/>
          </p:nvPr>
        </p:nvSpPr>
        <p:spPr/>
        <p:txBody>
          <a:bodyPr/>
          <a:lstStyle/>
          <a:p>
            <a:r>
              <a:rPr lang="en-US" b="1" dirty="0"/>
              <a:t>Example: </a:t>
            </a:r>
            <a:r>
              <a:rPr lang="en-US" dirty="0"/>
              <a:t>the above code snippet dispatches the following action:</a:t>
            </a:r>
          </a:p>
        </p:txBody>
      </p:sp>
      <p:pic>
        <p:nvPicPr>
          <p:cNvPr id="5" name="Picture 4">
            <a:extLst>
              <a:ext uri="{FF2B5EF4-FFF2-40B4-BE49-F238E27FC236}">
                <a16:creationId xmlns:a16="http://schemas.microsoft.com/office/drawing/2014/main" id="{8AD75A93-C45C-0CF2-6483-26337D5721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412" y="2789967"/>
            <a:ext cx="8905658" cy="24678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93926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10596-8E53-D7A8-2C58-A07BE2FCD811}"/>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97D91F04-EA3E-2459-FF0B-1D54E08D60CD}"/>
              </a:ext>
            </a:extLst>
          </p:cNvPr>
          <p:cNvSpPr>
            <a:spLocks noGrp="1"/>
          </p:cNvSpPr>
          <p:nvPr>
            <p:ph type="body" idx="1"/>
          </p:nvPr>
        </p:nvSpPr>
        <p:spPr/>
        <p:txBody>
          <a:bodyPr/>
          <a:lstStyle/>
          <a:p>
            <a:r>
              <a:rPr lang="en-US" b="1" dirty="0">
                <a:solidFill>
                  <a:srgbClr val="FF0000"/>
                </a:solidFill>
              </a:rPr>
              <a:t>Reducers in Redux: </a:t>
            </a:r>
          </a:p>
          <a:p>
            <a:pPr lvl="1"/>
            <a:r>
              <a:rPr lang="en-US" dirty="0"/>
              <a:t>Reducers, as the name suggests, take in two things: previous state and an action. Then they reduce it (read it return) to one entity: the new updated instance of state.</a:t>
            </a:r>
          </a:p>
          <a:p>
            <a:pPr lvl="1"/>
            <a:r>
              <a:rPr lang="en-US" dirty="0"/>
              <a:t>So reducers are basically pure JS functions that take in the previous state and an action and return the newly updated state.</a:t>
            </a:r>
          </a:p>
          <a:p>
            <a:pPr lvl="1"/>
            <a:r>
              <a:rPr lang="en-US" dirty="0"/>
              <a:t>Whenever an action is dispatched, all the reducers are activated. Each reducer filters out the action using a switch statement switching on the action type.</a:t>
            </a:r>
          </a:p>
        </p:txBody>
      </p:sp>
    </p:spTree>
    <p:extLst>
      <p:ext uri="{BB962C8B-B14F-4D97-AF65-F5344CB8AC3E}">
        <p14:creationId xmlns:p14="http://schemas.microsoft.com/office/powerpoint/2010/main" val="2198790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B72C0-28B2-2EF1-A801-4FB144A7E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3DEC2-701A-33A5-752F-8FABF5ED10C5}"/>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CAD42237-E71F-6764-A969-1A8418157547}"/>
              </a:ext>
            </a:extLst>
          </p:cNvPr>
          <p:cNvSpPr>
            <a:spLocks noGrp="1"/>
          </p:cNvSpPr>
          <p:nvPr>
            <p:ph type="body" idx="1"/>
          </p:nvPr>
        </p:nvSpPr>
        <p:spPr/>
        <p:txBody>
          <a:bodyPr/>
          <a:lstStyle/>
          <a:p>
            <a:r>
              <a:rPr lang="en-US" b="1" dirty="0">
                <a:solidFill>
                  <a:srgbClr val="FF0000"/>
                </a:solidFill>
              </a:rPr>
              <a:t>Reducers in Redux: </a:t>
            </a:r>
          </a:p>
        </p:txBody>
      </p:sp>
      <p:pic>
        <p:nvPicPr>
          <p:cNvPr id="5" name="Picture 4">
            <a:extLst>
              <a:ext uri="{FF2B5EF4-FFF2-40B4-BE49-F238E27FC236}">
                <a16:creationId xmlns:a16="http://schemas.microsoft.com/office/drawing/2014/main" id="{4E524EFD-85B3-4605-1038-8A1A4922C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2925" y="2424601"/>
            <a:ext cx="7804632" cy="37475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74789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23C0C-0EA5-6123-8114-6B692505C6BD}"/>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7DB83F65-6F68-C55D-4A0B-8E8C747891D1}"/>
              </a:ext>
            </a:extLst>
          </p:cNvPr>
          <p:cNvSpPr>
            <a:spLocks noGrp="1"/>
          </p:cNvSpPr>
          <p:nvPr>
            <p:ph type="body" idx="1"/>
          </p:nvPr>
        </p:nvSpPr>
        <p:spPr>
          <a:xfrm>
            <a:off x="1104900" y="1600200"/>
            <a:ext cx="4048991" cy="4572000"/>
          </a:xfrm>
        </p:spPr>
        <p:txBody>
          <a:bodyPr/>
          <a:lstStyle/>
          <a:p>
            <a:r>
              <a:rPr lang="en-US" b="1" dirty="0"/>
              <a:t>Example</a:t>
            </a:r>
            <a:r>
              <a:rPr lang="en-US" dirty="0"/>
              <a:t>: there can be </a:t>
            </a:r>
            <a:r>
              <a:rPr lang="en-US" b="1" dirty="0"/>
              <a:t>a reducer handling </a:t>
            </a:r>
            <a:r>
              <a:rPr lang="en-US" dirty="0"/>
              <a:t>the </a:t>
            </a:r>
            <a:r>
              <a:rPr lang="en-US" b="1" dirty="0"/>
              <a:t>state</a:t>
            </a:r>
            <a:r>
              <a:rPr lang="en-US" dirty="0"/>
              <a:t> of the cart in a shopping application, then there can be a </a:t>
            </a:r>
            <a:r>
              <a:rPr lang="en-US" b="1" dirty="0"/>
              <a:t>reducer handling</a:t>
            </a:r>
            <a:r>
              <a:rPr lang="en-US" dirty="0"/>
              <a:t> the </a:t>
            </a:r>
            <a:r>
              <a:rPr lang="en-US" b="1" dirty="0"/>
              <a:t>user details </a:t>
            </a:r>
            <a:r>
              <a:rPr lang="en-US" dirty="0"/>
              <a:t>part of the application.</a:t>
            </a:r>
          </a:p>
        </p:txBody>
      </p:sp>
      <p:pic>
        <p:nvPicPr>
          <p:cNvPr id="5" name="Picture 4">
            <a:extLst>
              <a:ext uri="{FF2B5EF4-FFF2-40B4-BE49-F238E27FC236}">
                <a16:creationId xmlns:a16="http://schemas.microsoft.com/office/drawing/2014/main" id="{D494B31C-830F-C199-FBB5-3527517DF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3891" y="1600201"/>
            <a:ext cx="5960354" cy="45719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54893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BC098-028D-2C54-56D6-F901CC6F7779}"/>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66566A7C-C090-6957-E5F1-05936DEE6E30}"/>
              </a:ext>
            </a:extLst>
          </p:cNvPr>
          <p:cNvSpPr>
            <a:spLocks noGrp="1"/>
          </p:cNvSpPr>
          <p:nvPr>
            <p:ph type="body" idx="1"/>
          </p:nvPr>
        </p:nvSpPr>
        <p:spPr>
          <a:xfrm>
            <a:off x="1104900" y="1600200"/>
            <a:ext cx="10599420" cy="4572000"/>
          </a:xfrm>
        </p:spPr>
        <p:txBody>
          <a:bodyPr/>
          <a:lstStyle/>
          <a:p>
            <a:r>
              <a:rPr lang="en-US" b="1" dirty="0"/>
              <a:t>Example (</a:t>
            </a:r>
            <a:r>
              <a:rPr lang="en-US" b="1" dirty="0" err="1"/>
              <a:t>tt</a:t>
            </a:r>
            <a:r>
              <a:rPr lang="en-US" b="1" dirty="0"/>
              <a:t>): </a:t>
            </a:r>
            <a:r>
              <a:rPr lang="en-US" dirty="0"/>
              <a:t>In the above example, on clicking the button, we had dispatched an action with an action creator called </a:t>
            </a:r>
            <a:r>
              <a:rPr lang="en-US" b="1" i="1" dirty="0" err="1"/>
              <a:t>addItemToCart</a:t>
            </a:r>
            <a:r>
              <a:rPr lang="en-US" dirty="0"/>
              <a:t>(). This action creator has dispatched an action with the type ADD_ITEM_TO_CART.</a:t>
            </a:r>
          </a:p>
          <a:p>
            <a:r>
              <a:rPr lang="en-US" dirty="0"/>
              <a:t>Next, we have created a reducer called </a:t>
            </a:r>
            <a:r>
              <a:rPr lang="en-US" b="1" dirty="0" err="1"/>
              <a:t>cartReducer</a:t>
            </a:r>
            <a:r>
              <a:rPr lang="en-US" dirty="0"/>
              <a:t> which takes the state (initial state) and the action as parameters. It switches on the action type.</a:t>
            </a:r>
          </a:p>
        </p:txBody>
      </p:sp>
    </p:spTree>
    <p:extLst>
      <p:ext uri="{BB962C8B-B14F-4D97-AF65-F5344CB8AC3E}">
        <p14:creationId xmlns:p14="http://schemas.microsoft.com/office/powerpoint/2010/main" val="1318958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77E7E-75FB-5EA6-0815-349C4BFBDCA2}"/>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BE8789EE-19FA-EE87-F4F8-D732B395F213}"/>
              </a:ext>
            </a:extLst>
          </p:cNvPr>
          <p:cNvSpPr>
            <a:spLocks noGrp="1"/>
          </p:cNvSpPr>
          <p:nvPr>
            <p:ph type="body" idx="1"/>
          </p:nvPr>
        </p:nvSpPr>
        <p:spPr>
          <a:xfrm>
            <a:off x="1104900" y="1600200"/>
            <a:ext cx="10466416" cy="4572000"/>
          </a:xfrm>
        </p:spPr>
        <p:txBody>
          <a:bodyPr/>
          <a:lstStyle/>
          <a:p>
            <a:r>
              <a:rPr lang="en-US" b="1" dirty="0"/>
              <a:t>Example (</a:t>
            </a:r>
            <a:r>
              <a:rPr lang="en-US" b="1" dirty="0" err="1"/>
              <a:t>tt</a:t>
            </a:r>
            <a:r>
              <a:rPr lang="en-US" b="1" dirty="0"/>
              <a:t>):</a:t>
            </a:r>
            <a:r>
              <a:rPr lang="en-US" dirty="0"/>
              <a:t> we first make a copy of the entire state using the spread operator ...state. </a:t>
            </a:r>
          </a:p>
          <a:p>
            <a:r>
              <a:rPr lang="en-US" dirty="0"/>
              <a:t>Then we increment the </a:t>
            </a:r>
            <a:r>
              <a:rPr lang="en-US" b="1" dirty="0" err="1"/>
              <a:t>noOfItemInCart</a:t>
            </a:r>
            <a:r>
              <a:rPr lang="en-US" b="1" dirty="0"/>
              <a:t> </a:t>
            </a:r>
            <a:r>
              <a:rPr lang="en-US" dirty="0"/>
              <a:t>by 1, update the cart array by adding the new object passed in the </a:t>
            </a:r>
            <a:r>
              <a:rPr lang="en-US" b="1" dirty="0" err="1"/>
              <a:t>action.payload</a:t>
            </a:r>
            <a:r>
              <a:rPr lang="en-US" dirty="0"/>
              <a:t>, and then finally return the updated object.</a:t>
            </a:r>
          </a:p>
        </p:txBody>
      </p:sp>
      <p:pic>
        <p:nvPicPr>
          <p:cNvPr id="5" name="Picture 4">
            <a:extLst>
              <a:ext uri="{FF2B5EF4-FFF2-40B4-BE49-F238E27FC236}">
                <a16:creationId xmlns:a16="http://schemas.microsoft.com/office/drawing/2014/main" id="{52CCCFDF-1BA4-F10E-26D6-CA3AECC5C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7544" y="4145227"/>
            <a:ext cx="7636912" cy="14409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63337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BAC7-FEA2-CB01-6EC0-7BC5DF1F9E3E}"/>
              </a:ext>
            </a:extLst>
          </p:cNvPr>
          <p:cNvSpPr>
            <a:spLocks noGrp="1"/>
          </p:cNvSpPr>
          <p:nvPr>
            <p:ph type="title"/>
          </p:nvPr>
        </p:nvSpPr>
        <p:spPr/>
        <p:txBody>
          <a:bodyPr/>
          <a:lstStyle/>
          <a:p>
            <a:r>
              <a:rPr lang="en-US" dirty="0"/>
              <a:t>Redux – the store, actions and reducers</a:t>
            </a:r>
          </a:p>
        </p:txBody>
      </p:sp>
      <p:sp>
        <p:nvSpPr>
          <p:cNvPr id="3" name="Text Placeholder 2">
            <a:extLst>
              <a:ext uri="{FF2B5EF4-FFF2-40B4-BE49-F238E27FC236}">
                <a16:creationId xmlns:a16="http://schemas.microsoft.com/office/drawing/2014/main" id="{018ABEFF-F175-FDF5-2953-052545FE4D16}"/>
              </a:ext>
            </a:extLst>
          </p:cNvPr>
          <p:cNvSpPr>
            <a:spLocks noGrp="1"/>
          </p:cNvSpPr>
          <p:nvPr>
            <p:ph type="body" idx="1"/>
          </p:nvPr>
        </p:nvSpPr>
        <p:spPr/>
        <p:txBody>
          <a:bodyPr/>
          <a:lstStyle/>
          <a:p>
            <a:r>
              <a:rPr lang="en-US" b="1" dirty="0"/>
              <a:t>Example (</a:t>
            </a:r>
            <a:r>
              <a:rPr lang="en-US" b="1" dirty="0" err="1"/>
              <a:t>tt</a:t>
            </a:r>
            <a:r>
              <a:rPr lang="en-US" b="1" dirty="0"/>
              <a:t>): </a:t>
            </a:r>
            <a:r>
              <a:rPr lang="en-US" dirty="0"/>
              <a:t>After the reducers have </a:t>
            </a:r>
            <a:r>
              <a:rPr lang="en-US" b="1" dirty="0"/>
              <a:t>updated the state</a:t>
            </a:r>
            <a:r>
              <a:rPr lang="en-US" dirty="0"/>
              <a:t>, if we go and console.log the state</a:t>
            </a:r>
          </a:p>
        </p:txBody>
      </p:sp>
      <p:pic>
        <p:nvPicPr>
          <p:cNvPr id="5" name="Picture 4">
            <a:extLst>
              <a:ext uri="{FF2B5EF4-FFF2-40B4-BE49-F238E27FC236}">
                <a16:creationId xmlns:a16="http://schemas.microsoft.com/office/drawing/2014/main" id="{D4A5ED9D-ED64-3763-0CCD-7D600F980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5011" y="2664949"/>
            <a:ext cx="5861977" cy="39342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2035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A4D4-69AA-A895-7926-D59E61701275}"/>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719E21CB-4DBF-BBF0-3EF9-B46C55E92AEA}"/>
              </a:ext>
            </a:extLst>
          </p:cNvPr>
          <p:cNvSpPr>
            <a:spLocks noGrp="1"/>
          </p:cNvSpPr>
          <p:nvPr>
            <p:ph type="body" idx="1"/>
          </p:nvPr>
        </p:nvSpPr>
        <p:spPr>
          <a:xfrm>
            <a:off x="1104900" y="1600200"/>
            <a:ext cx="10549544" cy="4572000"/>
          </a:xfrm>
        </p:spPr>
        <p:txBody>
          <a:bodyPr/>
          <a:lstStyle/>
          <a:p>
            <a:r>
              <a:rPr lang="en-US" b="1" dirty="0">
                <a:solidFill>
                  <a:srgbClr val="FF0000"/>
                </a:solidFill>
              </a:rPr>
              <a:t>1</a:t>
            </a:r>
            <a:r>
              <a:rPr lang="en-US" b="1" dirty="0">
                <a:solidFill>
                  <a:schemeClr val="tx2"/>
                </a:solidFill>
              </a:rPr>
              <a:t>. </a:t>
            </a:r>
            <a:r>
              <a:rPr lang="en-US" b="1" dirty="0">
                <a:solidFill>
                  <a:srgbClr val="FF0000"/>
                </a:solidFill>
              </a:rPr>
              <a:t>Store Creation in Redux</a:t>
            </a:r>
          </a:p>
          <a:p>
            <a:pPr lvl="1"/>
            <a:r>
              <a:rPr lang="en-US" dirty="0"/>
              <a:t>To build a </a:t>
            </a:r>
            <a:r>
              <a:rPr lang="en-US" b="1" dirty="0"/>
              <a:t>Redux store</a:t>
            </a:r>
            <a:r>
              <a:rPr lang="en-US" dirty="0"/>
              <a:t>, developers use the redux library’s </a:t>
            </a:r>
            <a:r>
              <a:rPr lang="en-US" b="1" i="1" dirty="0" err="1"/>
              <a:t>createStore</a:t>
            </a:r>
            <a:r>
              <a:rPr lang="en-US" dirty="0"/>
              <a:t> function and send in a root reducer as an argument. </a:t>
            </a:r>
          </a:p>
          <a:p>
            <a:pPr lvl="1"/>
            <a:r>
              <a:rPr lang="en-US" dirty="0"/>
              <a:t>A root reducer is a collection of reducers that describe how the state in an application changes. </a:t>
            </a:r>
          </a:p>
        </p:txBody>
      </p:sp>
      <p:pic>
        <p:nvPicPr>
          <p:cNvPr id="5" name="Picture 4">
            <a:extLst>
              <a:ext uri="{FF2B5EF4-FFF2-40B4-BE49-F238E27FC236}">
                <a16:creationId xmlns:a16="http://schemas.microsoft.com/office/drawing/2014/main" id="{95121343-012D-667A-B171-8A4199EEA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0545" y="3786109"/>
            <a:ext cx="8769391" cy="23860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62199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795C-0DAF-838D-71A1-7DCBA4BAC13D}"/>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1F060783-8F6F-59CF-E7BF-8BC0E2FB16C7}"/>
              </a:ext>
            </a:extLst>
          </p:cNvPr>
          <p:cNvSpPr>
            <a:spLocks noGrp="1"/>
          </p:cNvSpPr>
          <p:nvPr>
            <p:ph type="body" idx="1"/>
          </p:nvPr>
        </p:nvSpPr>
        <p:spPr/>
        <p:txBody>
          <a:bodyPr/>
          <a:lstStyle/>
          <a:p>
            <a:r>
              <a:rPr lang="en-US" b="1" dirty="0">
                <a:solidFill>
                  <a:srgbClr val="FF0000"/>
                </a:solidFill>
              </a:rPr>
              <a:t>2. Action Creation in Redux</a:t>
            </a:r>
          </a:p>
          <a:p>
            <a:pPr lvl="1"/>
            <a:r>
              <a:rPr lang="en-US" b="1" dirty="0"/>
              <a:t>Redux actions </a:t>
            </a:r>
            <a:r>
              <a:rPr lang="en-US" dirty="0"/>
              <a:t>are simple objects that explain changes to the state.</a:t>
            </a:r>
          </a:p>
          <a:p>
            <a:pPr lvl="1"/>
            <a:r>
              <a:rPr lang="en-US" dirty="0"/>
              <a:t>Developers define an object with a type property and any other data required to describe the change to make an action. </a:t>
            </a:r>
          </a:p>
        </p:txBody>
      </p:sp>
      <p:pic>
        <p:nvPicPr>
          <p:cNvPr id="5" name="Picture 4">
            <a:extLst>
              <a:ext uri="{FF2B5EF4-FFF2-40B4-BE49-F238E27FC236}">
                <a16:creationId xmlns:a16="http://schemas.microsoft.com/office/drawing/2014/main" id="{F78DF666-49EF-2AC0-B1EF-0BC433F76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1180" y="3429000"/>
            <a:ext cx="5728121" cy="32189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7925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46199-38B1-8CD9-12E4-FD63F2121E39}"/>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25C9A27F-26D9-7871-5521-A83AAF055393}"/>
              </a:ext>
            </a:extLst>
          </p:cNvPr>
          <p:cNvSpPr>
            <a:spLocks noGrp="1"/>
          </p:cNvSpPr>
          <p:nvPr>
            <p:ph type="body" idx="1"/>
          </p:nvPr>
        </p:nvSpPr>
        <p:spPr/>
        <p:txBody>
          <a:bodyPr/>
          <a:lstStyle/>
          <a:p>
            <a:r>
              <a:rPr lang="en-US" b="1" dirty="0">
                <a:solidFill>
                  <a:srgbClr val="FF0000"/>
                </a:solidFill>
              </a:rPr>
              <a:t>3. Dispatching Actions in Redux</a:t>
            </a:r>
          </a:p>
          <a:p>
            <a:pPr lvl="1"/>
            <a:r>
              <a:rPr lang="en-US" dirty="0"/>
              <a:t>To dispatch an action and update the state, developers call the dispatch method on the store and pass in the action as an argument. </a:t>
            </a:r>
          </a:p>
        </p:txBody>
      </p:sp>
      <p:pic>
        <p:nvPicPr>
          <p:cNvPr id="5" name="Picture 4">
            <a:extLst>
              <a:ext uri="{FF2B5EF4-FFF2-40B4-BE49-F238E27FC236}">
                <a16:creationId xmlns:a16="http://schemas.microsoft.com/office/drawing/2014/main" id="{B0C6ECC1-85F2-FF2E-980C-2BC2C1782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5123" y="3058977"/>
            <a:ext cx="6701753" cy="11638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68010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FB964-D6B9-C075-A418-9C6FED688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3753C-5ED3-38A0-DAEB-5A410805906F}"/>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F2BEED37-455A-FBFA-9C54-D04596D024F2}"/>
              </a:ext>
            </a:extLst>
          </p:cNvPr>
          <p:cNvSpPr>
            <a:spLocks noGrp="1"/>
          </p:cNvSpPr>
          <p:nvPr>
            <p:ph type="body" idx="1"/>
          </p:nvPr>
        </p:nvSpPr>
        <p:spPr>
          <a:xfrm>
            <a:off x="1104900" y="1600200"/>
            <a:ext cx="5578533" cy="4572000"/>
          </a:xfrm>
        </p:spPr>
        <p:txBody>
          <a:bodyPr/>
          <a:lstStyle/>
          <a:p>
            <a:r>
              <a:rPr lang="en-US" b="1" dirty="0">
                <a:solidFill>
                  <a:srgbClr val="FF0000"/>
                </a:solidFill>
              </a:rPr>
              <a:t>4. Reducer Functions in Redux</a:t>
            </a:r>
          </a:p>
          <a:p>
            <a:pPr lvl="1"/>
            <a:r>
              <a:rPr lang="en-US" b="1" dirty="0"/>
              <a:t>Redux reducers </a:t>
            </a:r>
            <a:r>
              <a:rPr lang="en-US" dirty="0"/>
              <a:t>are pure functions in Redux that accept the current state and an action and return the next state.</a:t>
            </a:r>
          </a:p>
          <a:p>
            <a:pPr lvl="1"/>
            <a:endParaRPr lang="en-US" dirty="0"/>
          </a:p>
        </p:txBody>
      </p:sp>
      <p:pic>
        <p:nvPicPr>
          <p:cNvPr id="5" name="Picture 4">
            <a:extLst>
              <a:ext uri="{FF2B5EF4-FFF2-40B4-BE49-F238E27FC236}">
                <a16:creationId xmlns:a16="http://schemas.microsoft.com/office/drawing/2014/main" id="{BA2CA582-00DB-6730-0F83-122F66CFA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3433" y="1361240"/>
            <a:ext cx="4402149" cy="51891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97970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40E1-C55E-B9DA-D07B-C03495BF2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0F71A-4A51-2C8A-606F-EA000ACC2CA0}"/>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2D94639A-6CF7-E059-DDB8-64367FC195B0}"/>
              </a:ext>
            </a:extLst>
          </p:cNvPr>
          <p:cNvSpPr>
            <a:spLocks noGrp="1"/>
          </p:cNvSpPr>
          <p:nvPr>
            <p:ph type="body" idx="1"/>
          </p:nvPr>
        </p:nvSpPr>
        <p:spPr/>
        <p:txBody>
          <a:bodyPr/>
          <a:lstStyle/>
          <a:p>
            <a:r>
              <a:rPr lang="en-US" b="1" dirty="0">
                <a:solidFill>
                  <a:srgbClr val="FF0000"/>
                </a:solidFill>
              </a:rPr>
              <a:t>5. Combining Reducers in Redux</a:t>
            </a:r>
          </a:p>
          <a:p>
            <a:pPr lvl="1"/>
            <a:r>
              <a:rPr lang="en-US" dirty="0"/>
              <a:t>If an application has multiple reducers, developers can use the redux library’s </a:t>
            </a:r>
            <a:r>
              <a:rPr lang="en-US" b="1" i="1" dirty="0" err="1"/>
              <a:t>combineReducers</a:t>
            </a:r>
            <a:r>
              <a:rPr lang="en-US" dirty="0"/>
              <a:t> function to combine them into a single root reducer. </a:t>
            </a:r>
          </a:p>
        </p:txBody>
      </p:sp>
      <p:pic>
        <p:nvPicPr>
          <p:cNvPr id="5" name="Picture 4">
            <a:extLst>
              <a:ext uri="{FF2B5EF4-FFF2-40B4-BE49-F238E27FC236}">
                <a16:creationId xmlns:a16="http://schemas.microsoft.com/office/drawing/2014/main" id="{BF8F4E2B-EFE3-3E4E-4CFF-D867A8C45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8537" y="3429000"/>
            <a:ext cx="7053408" cy="26624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30544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57943-B8F1-8E2D-6F08-EEC3E8353949}"/>
              </a:ext>
            </a:extLst>
          </p:cNvPr>
          <p:cNvSpPr>
            <a:spLocks noGrp="1"/>
          </p:cNvSpPr>
          <p:nvPr>
            <p:ph type="title"/>
          </p:nvPr>
        </p:nvSpPr>
        <p:spPr/>
        <p:txBody>
          <a:bodyPr/>
          <a:lstStyle/>
          <a:p>
            <a:r>
              <a:rPr lang="en-US" b="1" i="0" dirty="0">
                <a:solidFill>
                  <a:srgbClr val="273239"/>
                </a:solidFill>
                <a:effectLst/>
                <a:latin typeface="Roboto" panose="02000000000000000000" pitchFamily="2" charset="0"/>
              </a:rPr>
              <a:t>Setting Up Redux in a React App</a:t>
            </a:r>
            <a:endParaRPr lang="en-US" dirty="0"/>
          </a:p>
        </p:txBody>
      </p:sp>
      <p:sp>
        <p:nvSpPr>
          <p:cNvPr id="3" name="Text Placeholder 2">
            <a:extLst>
              <a:ext uri="{FF2B5EF4-FFF2-40B4-BE49-F238E27FC236}">
                <a16:creationId xmlns:a16="http://schemas.microsoft.com/office/drawing/2014/main" id="{DE5A7811-E9F0-577E-81A7-AA3341100DBF}"/>
              </a:ext>
            </a:extLst>
          </p:cNvPr>
          <p:cNvSpPr>
            <a:spLocks noGrp="1"/>
          </p:cNvSpPr>
          <p:nvPr>
            <p:ph type="body" idx="1"/>
          </p:nvPr>
        </p:nvSpPr>
        <p:spPr>
          <a:xfrm>
            <a:off x="1104901" y="1600200"/>
            <a:ext cx="4991100" cy="4572000"/>
          </a:xfrm>
        </p:spPr>
        <p:txBody>
          <a:bodyPr/>
          <a:lstStyle/>
          <a:p>
            <a:r>
              <a:rPr lang="en-US" b="1" dirty="0">
                <a:solidFill>
                  <a:srgbClr val="FF0000"/>
                </a:solidFill>
              </a:rPr>
              <a:t>6. Connecting Components to Redux</a:t>
            </a:r>
          </a:p>
          <a:p>
            <a:pPr lvl="1"/>
            <a:r>
              <a:rPr lang="en-US" dirty="0"/>
              <a:t>Developers use the react-redux library’s connect function to connect a Redux store to React components.</a:t>
            </a:r>
          </a:p>
        </p:txBody>
      </p:sp>
      <p:pic>
        <p:nvPicPr>
          <p:cNvPr id="5" name="Picture 4">
            <a:extLst>
              <a:ext uri="{FF2B5EF4-FFF2-40B4-BE49-F238E27FC236}">
                <a16:creationId xmlns:a16="http://schemas.microsoft.com/office/drawing/2014/main" id="{101CED34-B030-D5C3-9D9E-E5D996DF0D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8580" y="1467196"/>
            <a:ext cx="4837002" cy="4941398"/>
          </a:xfrm>
          <a:prstGeom prst="rect">
            <a:avLst/>
          </a:prstGeom>
          <a:ln>
            <a:noFill/>
          </a:ln>
          <a:effectLst>
            <a:outerShdw blurRad="292100" dist="139700" dir="2700000" algn="tl" rotWithShape="0">
              <a:srgbClr val="333333">
                <a:alpha val="65000"/>
              </a:srgbClr>
            </a:outerShdw>
          </a:effectLst>
        </p:spPr>
      </p:pic>
      <p:pic>
        <p:nvPicPr>
          <p:cNvPr id="6" name="Video_2024-12-15_161235">
            <a:hlinkClick r:id="" action="ppaction://media"/>
            <a:extLst>
              <a:ext uri="{FF2B5EF4-FFF2-40B4-BE49-F238E27FC236}">
                <a16:creationId xmlns:a16="http://schemas.microsoft.com/office/drawing/2014/main" id="{B65FE35D-24CC-D6EE-5CA5-17F2DAB5317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133601" y="4198794"/>
            <a:ext cx="2933700" cy="22098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6948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6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2B90B-DF59-D5E7-364F-C65F2C5EA6E6}"/>
              </a:ext>
            </a:extLst>
          </p:cNvPr>
          <p:cNvSpPr>
            <a:spLocks noGrp="1"/>
          </p:cNvSpPr>
          <p:nvPr>
            <p:ph type="title"/>
          </p:nvPr>
        </p:nvSpPr>
        <p:spPr/>
        <p:txBody>
          <a:bodyPr/>
          <a:lstStyle/>
          <a:p>
            <a:r>
              <a:rPr lang="en-US" dirty="0"/>
              <a:t>Introduction to Redux Toolkit</a:t>
            </a:r>
          </a:p>
        </p:txBody>
      </p:sp>
      <p:sp>
        <p:nvSpPr>
          <p:cNvPr id="3" name="Text Placeholder 2">
            <a:extLst>
              <a:ext uri="{FF2B5EF4-FFF2-40B4-BE49-F238E27FC236}">
                <a16:creationId xmlns:a16="http://schemas.microsoft.com/office/drawing/2014/main" id="{E384F53A-453D-5A91-E223-D8B4330714EC}"/>
              </a:ext>
            </a:extLst>
          </p:cNvPr>
          <p:cNvSpPr>
            <a:spLocks noGrp="1"/>
          </p:cNvSpPr>
          <p:nvPr>
            <p:ph type="body" idx="1"/>
          </p:nvPr>
        </p:nvSpPr>
        <p:spPr/>
        <p:txBody>
          <a:bodyPr>
            <a:normAutofit/>
          </a:bodyPr>
          <a:lstStyle/>
          <a:p>
            <a:r>
              <a:rPr lang="en-US" b="1" dirty="0">
                <a:solidFill>
                  <a:srgbClr val="FF0000"/>
                </a:solidFill>
              </a:rPr>
              <a:t>Redux Toolkit </a:t>
            </a:r>
            <a:r>
              <a:rPr lang="en-US" dirty="0"/>
              <a:t>or RTK Redux Toolkit is a set of tools you can use for state management in React in place of Redux. </a:t>
            </a:r>
          </a:p>
          <a:p>
            <a:r>
              <a:rPr lang="en-US" b="1" dirty="0"/>
              <a:t>Redux Toolkit </a:t>
            </a:r>
            <a:r>
              <a:rPr lang="en-US" dirty="0"/>
              <a:t>offers a standardized approach to building Redux code and comes with libraries and tools that make it simpler to create scalable, maintainable, and effective Redux code.</a:t>
            </a:r>
          </a:p>
        </p:txBody>
      </p:sp>
    </p:spTree>
    <p:extLst>
      <p:ext uri="{BB962C8B-B14F-4D97-AF65-F5344CB8AC3E}">
        <p14:creationId xmlns:p14="http://schemas.microsoft.com/office/powerpoint/2010/main" val="3976569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7DB6-AEC0-2CC0-1C20-4B86B05438FC}"/>
              </a:ext>
            </a:extLst>
          </p:cNvPr>
          <p:cNvSpPr>
            <a:spLocks noGrp="1"/>
          </p:cNvSpPr>
          <p:nvPr>
            <p:ph type="title"/>
          </p:nvPr>
        </p:nvSpPr>
        <p:spPr/>
        <p:txBody>
          <a:bodyPr/>
          <a:lstStyle/>
          <a:p>
            <a:r>
              <a:rPr lang="en-US" dirty="0"/>
              <a:t>Introduction to Redux Toolkit</a:t>
            </a:r>
          </a:p>
        </p:txBody>
      </p:sp>
      <p:sp>
        <p:nvSpPr>
          <p:cNvPr id="3" name="Text Placeholder 2">
            <a:extLst>
              <a:ext uri="{FF2B5EF4-FFF2-40B4-BE49-F238E27FC236}">
                <a16:creationId xmlns:a16="http://schemas.microsoft.com/office/drawing/2014/main" id="{5F97D4DF-5D68-53A6-753A-D2C8F214BAEB}"/>
              </a:ext>
            </a:extLst>
          </p:cNvPr>
          <p:cNvSpPr>
            <a:spLocks noGrp="1"/>
          </p:cNvSpPr>
          <p:nvPr>
            <p:ph type="body" idx="1"/>
          </p:nvPr>
        </p:nvSpPr>
        <p:spPr>
          <a:xfrm>
            <a:off x="1104900" y="1600200"/>
            <a:ext cx="9980682" cy="4983480"/>
          </a:xfrm>
        </p:spPr>
        <p:txBody>
          <a:bodyPr>
            <a:normAutofit/>
          </a:bodyPr>
          <a:lstStyle/>
          <a:p>
            <a:r>
              <a:rPr lang="en-US" b="1" dirty="0"/>
              <a:t>Why you should use Redux toolkit over Redux for state management</a:t>
            </a:r>
            <a:endParaRPr lang="en-US" dirty="0"/>
          </a:p>
          <a:p>
            <a:pPr lvl="1"/>
            <a:r>
              <a:rPr lang="en-US" dirty="0"/>
              <a:t>Less boilerplate code than Redux.</a:t>
            </a:r>
          </a:p>
          <a:p>
            <a:pPr lvl="1"/>
            <a:r>
              <a:rPr lang="en-US" dirty="0"/>
              <a:t>You don't have to set up </a:t>
            </a:r>
            <a:r>
              <a:rPr lang="en-US" dirty="0" err="1"/>
              <a:t>thunk</a:t>
            </a:r>
            <a:r>
              <a:rPr lang="en-US" dirty="0"/>
              <a:t> manually in Redux toolkit as it comes with </a:t>
            </a:r>
            <a:r>
              <a:rPr lang="en-US" b="1" dirty="0" err="1"/>
              <a:t>createAsyncThunk</a:t>
            </a:r>
            <a:r>
              <a:rPr lang="en-US" dirty="0"/>
              <a:t>. This enables you to perform async operations.</a:t>
            </a:r>
          </a:p>
          <a:p>
            <a:pPr lvl="1"/>
            <a:r>
              <a:rPr lang="en-US" b="1" dirty="0"/>
              <a:t>Enhancing developer experience</a:t>
            </a:r>
            <a:r>
              <a:rPr lang="en-US" dirty="0"/>
              <a:t>: Redux Toolkit includes a number of tools and utilities that can enhance the developer experience, such as the ability to use Redux </a:t>
            </a:r>
            <a:r>
              <a:rPr lang="en-US" dirty="0" err="1"/>
              <a:t>DevTools</a:t>
            </a:r>
            <a:r>
              <a:rPr lang="en-US" dirty="0"/>
              <a:t> out-of-the-box.</a:t>
            </a:r>
          </a:p>
          <a:p>
            <a:endParaRPr lang="en-US" dirty="0"/>
          </a:p>
        </p:txBody>
      </p:sp>
    </p:spTree>
    <p:extLst>
      <p:ext uri="{BB962C8B-B14F-4D97-AF65-F5344CB8AC3E}">
        <p14:creationId xmlns:p14="http://schemas.microsoft.com/office/powerpoint/2010/main" val="2732147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F0FA-BE66-5194-4830-BB4F1FFD4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9B74C-D8E1-E68F-C0FD-38F415704380}"/>
              </a:ext>
            </a:extLst>
          </p:cNvPr>
          <p:cNvSpPr>
            <a:spLocks noGrp="1"/>
          </p:cNvSpPr>
          <p:nvPr>
            <p:ph type="title"/>
          </p:nvPr>
        </p:nvSpPr>
        <p:spPr/>
        <p:txBody>
          <a:bodyPr/>
          <a:lstStyle/>
          <a:p>
            <a:r>
              <a:rPr lang="en-US" dirty="0"/>
              <a:t>Introduction to Redux Toolkit</a:t>
            </a:r>
          </a:p>
        </p:txBody>
      </p:sp>
      <p:sp>
        <p:nvSpPr>
          <p:cNvPr id="3" name="Text Placeholder 2">
            <a:extLst>
              <a:ext uri="{FF2B5EF4-FFF2-40B4-BE49-F238E27FC236}">
                <a16:creationId xmlns:a16="http://schemas.microsoft.com/office/drawing/2014/main" id="{D063B7DD-DF35-8042-BBDA-C3D1F8235270}"/>
              </a:ext>
            </a:extLst>
          </p:cNvPr>
          <p:cNvSpPr>
            <a:spLocks noGrp="1"/>
          </p:cNvSpPr>
          <p:nvPr>
            <p:ph type="body" idx="1"/>
          </p:nvPr>
        </p:nvSpPr>
        <p:spPr>
          <a:xfrm>
            <a:off x="1104900" y="1600200"/>
            <a:ext cx="9980682" cy="4983480"/>
          </a:xfrm>
        </p:spPr>
        <p:txBody>
          <a:bodyPr>
            <a:normAutofit/>
          </a:bodyPr>
          <a:lstStyle/>
          <a:p>
            <a:r>
              <a:rPr lang="en-US" b="1" dirty="0"/>
              <a:t>Why you should use Redux toolkit over Redux for state management</a:t>
            </a:r>
            <a:endParaRPr lang="en-US" dirty="0"/>
          </a:p>
          <a:p>
            <a:pPr lvl="1"/>
            <a:r>
              <a:rPr lang="en-US" dirty="0"/>
              <a:t>Redux hooks like </a:t>
            </a:r>
            <a:r>
              <a:rPr lang="en-US" b="1" dirty="0" err="1"/>
              <a:t>useSelector</a:t>
            </a:r>
            <a:r>
              <a:rPr lang="en-US" dirty="0"/>
              <a:t> and </a:t>
            </a:r>
            <a:r>
              <a:rPr lang="en-US" b="1" dirty="0" err="1"/>
              <a:t>useDispatch</a:t>
            </a:r>
            <a:r>
              <a:rPr lang="en-US" dirty="0"/>
              <a:t> make your code shorter and easier to read/write.</a:t>
            </a:r>
          </a:p>
          <a:p>
            <a:pPr lvl="1"/>
            <a:r>
              <a:rPr lang="en-US" b="1" dirty="0"/>
              <a:t>Improving performance</a:t>
            </a:r>
            <a:r>
              <a:rPr lang="en-US" dirty="0"/>
              <a:t>: Redux Toolkit includes a built-in </a:t>
            </a:r>
            <a:r>
              <a:rPr lang="en-US" dirty="0" err="1"/>
              <a:t>memoization</a:t>
            </a:r>
            <a:r>
              <a:rPr lang="en-US" dirty="0"/>
              <a:t> feature that can help improve the performance of your Redux application by reducing unnecessary re-renders.</a:t>
            </a:r>
          </a:p>
          <a:p>
            <a:endParaRPr lang="en-US" dirty="0"/>
          </a:p>
        </p:txBody>
      </p:sp>
    </p:spTree>
    <p:extLst>
      <p:ext uri="{BB962C8B-B14F-4D97-AF65-F5344CB8AC3E}">
        <p14:creationId xmlns:p14="http://schemas.microsoft.com/office/powerpoint/2010/main" val="3018055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79F2-05A6-0D59-D557-ECCD1FBACDE3}"/>
              </a:ext>
            </a:extLst>
          </p:cNvPr>
          <p:cNvSpPr>
            <a:spLocks noGrp="1"/>
          </p:cNvSpPr>
          <p:nvPr>
            <p:ph type="title"/>
          </p:nvPr>
        </p:nvSpPr>
        <p:spPr/>
        <p:txBody>
          <a:bodyPr/>
          <a:lstStyle/>
          <a:p>
            <a:r>
              <a:rPr lang="en-US" dirty="0"/>
              <a:t>Introduction to Redux Toolkit</a:t>
            </a:r>
          </a:p>
        </p:txBody>
      </p:sp>
      <p:sp>
        <p:nvSpPr>
          <p:cNvPr id="3" name="Text Placeholder 2">
            <a:extLst>
              <a:ext uri="{FF2B5EF4-FFF2-40B4-BE49-F238E27FC236}">
                <a16:creationId xmlns:a16="http://schemas.microsoft.com/office/drawing/2014/main" id="{908CBFDA-0A26-101E-3A8A-0B8B53107ED3}"/>
              </a:ext>
            </a:extLst>
          </p:cNvPr>
          <p:cNvSpPr>
            <a:spLocks noGrp="1"/>
          </p:cNvSpPr>
          <p:nvPr>
            <p:ph type="body" idx="1"/>
          </p:nvPr>
        </p:nvSpPr>
        <p:spPr/>
        <p:txBody>
          <a:bodyPr/>
          <a:lstStyle/>
          <a:p>
            <a:r>
              <a:rPr lang="en-US" b="1" dirty="0">
                <a:solidFill>
                  <a:srgbClr val="FF0000"/>
                </a:solidFill>
              </a:rPr>
              <a:t>Problems solved by Redux Toolkit (RTK) in Redux</a:t>
            </a:r>
          </a:p>
          <a:p>
            <a:pPr lvl="1"/>
            <a:r>
              <a:rPr lang="en-US" dirty="0"/>
              <a:t>Too much code to configure the store.</a:t>
            </a:r>
          </a:p>
          <a:p>
            <a:pPr lvl="1"/>
            <a:r>
              <a:rPr lang="en-US" dirty="0"/>
              <a:t>Writing too much boilerplate code to dispatch actions and store the data in the reducer.</a:t>
            </a:r>
          </a:p>
          <a:p>
            <a:pPr lvl="1"/>
            <a:r>
              <a:rPr lang="en-US" dirty="0"/>
              <a:t>Extra packages like </a:t>
            </a:r>
            <a:r>
              <a:rPr lang="en-US" b="1" dirty="0"/>
              <a:t>Redux-</a:t>
            </a:r>
            <a:r>
              <a:rPr lang="en-US" b="1" dirty="0" err="1"/>
              <a:t>Thunk</a:t>
            </a:r>
            <a:r>
              <a:rPr lang="en-US" dirty="0"/>
              <a:t> and </a:t>
            </a:r>
            <a:r>
              <a:rPr lang="en-US" b="1" dirty="0"/>
              <a:t>Redux-Saga</a:t>
            </a:r>
            <a:r>
              <a:rPr lang="en-US" dirty="0"/>
              <a:t> for doing asynchronous actions.</a:t>
            </a:r>
          </a:p>
        </p:txBody>
      </p:sp>
    </p:spTree>
    <p:extLst>
      <p:ext uri="{BB962C8B-B14F-4D97-AF65-F5344CB8AC3E}">
        <p14:creationId xmlns:p14="http://schemas.microsoft.com/office/powerpoint/2010/main" val="2959536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2DA1-5F83-5D2C-1976-A223F8F2D986}"/>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4171F772-02A6-1A00-1B85-C6B404175355}"/>
              </a:ext>
            </a:extLst>
          </p:cNvPr>
          <p:cNvSpPr>
            <a:spLocks noGrp="1"/>
          </p:cNvSpPr>
          <p:nvPr>
            <p:ph type="body" idx="1"/>
          </p:nvPr>
        </p:nvSpPr>
        <p:spPr/>
        <p:txBody>
          <a:bodyPr/>
          <a:lstStyle/>
          <a:p>
            <a:r>
              <a:rPr lang="en-US" dirty="0"/>
              <a:t>For this project, we use </a:t>
            </a:r>
            <a:r>
              <a:rPr lang="en-US" b="1" dirty="0"/>
              <a:t>Vite</a:t>
            </a:r>
            <a:r>
              <a:rPr lang="en-US" dirty="0"/>
              <a:t> and </a:t>
            </a:r>
            <a:r>
              <a:rPr lang="en-US" b="1" dirty="0"/>
              <a:t>React plugins</a:t>
            </a:r>
            <a:r>
              <a:rPr lang="en-US" dirty="0"/>
              <a:t>. </a:t>
            </a:r>
          </a:p>
          <a:p>
            <a:r>
              <a:rPr lang="en-US" b="1" dirty="0">
                <a:solidFill>
                  <a:srgbClr val="FF0000"/>
                </a:solidFill>
              </a:rPr>
              <a:t>Create app</a:t>
            </a:r>
            <a:r>
              <a:rPr lang="en-US" dirty="0"/>
              <a:t>: run the code below in terminal</a:t>
            </a:r>
          </a:p>
          <a:p>
            <a:endParaRPr lang="en-US" dirty="0"/>
          </a:p>
          <a:p>
            <a:r>
              <a:rPr lang="en-US" dirty="0"/>
              <a:t>Next, run the following commands in the terminal:</a:t>
            </a:r>
          </a:p>
          <a:p>
            <a:endParaRPr lang="en-US" dirty="0"/>
          </a:p>
        </p:txBody>
      </p:sp>
      <p:sp>
        <p:nvSpPr>
          <p:cNvPr id="4" name="Rectangle 1">
            <a:extLst>
              <a:ext uri="{FF2B5EF4-FFF2-40B4-BE49-F238E27FC236}">
                <a16:creationId xmlns:a16="http://schemas.microsoft.com/office/drawing/2014/main" id="{20997946-0C34-25A0-E8BB-7DFDE7E49CCA}"/>
              </a:ext>
            </a:extLst>
          </p:cNvPr>
          <p:cNvSpPr>
            <a:spLocks noChangeArrowheads="1"/>
          </p:cNvSpPr>
          <p:nvPr/>
        </p:nvSpPr>
        <p:spPr bwMode="auto">
          <a:xfrm>
            <a:off x="1440114" y="2875002"/>
            <a:ext cx="9310254"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dirty="0">
                <a:ln>
                  <a:noFill/>
                </a:ln>
                <a:solidFill>
                  <a:schemeClr val="tx1"/>
                </a:solidFill>
                <a:effectLst/>
                <a:latin typeface="Consolas" panose="020B0609020204030204" pitchFamily="49" charset="0"/>
              </a:rPr>
              <a:t> </a:t>
            </a:r>
            <a:r>
              <a:rPr kumimoji="0" lang="en-US" altLang="en-US" sz="2800" b="1" i="0" u="none" strike="noStrike" cap="none" normalizeH="0" dirty="0" err="1">
                <a:ln>
                  <a:noFill/>
                </a:ln>
                <a:solidFill>
                  <a:schemeClr val="tx1"/>
                </a:solidFill>
                <a:effectLst/>
                <a:latin typeface="Consolas" panose="020B0609020204030204" pitchFamily="49" charset="0"/>
              </a:rPr>
              <a:t>npm</a:t>
            </a:r>
            <a:r>
              <a:rPr kumimoji="0" lang="en-US" altLang="en-US" sz="2800" b="1" i="0" u="none" strike="noStrike" cap="none" normalizeH="0" dirty="0">
                <a:ln>
                  <a:noFill/>
                </a:ln>
                <a:solidFill>
                  <a:schemeClr val="tx1"/>
                </a:solidFill>
                <a:effectLst/>
                <a:latin typeface="Consolas" panose="020B0609020204030204" pitchFamily="49" charset="0"/>
              </a:rPr>
              <a:t> create </a:t>
            </a:r>
            <a:r>
              <a:rPr kumimoji="0" lang="en-US" altLang="en-US" sz="2800" b="1" i="0" u="none" strike="noStrike" cap="none" normalizeH="0" dirty="0" err="1">
                <a:ln>
                  <a:noFill/>
                </a:ln>
                <a:solidFill>
                  <a:schemeClr val="tx1"/>
                </a:solidFill>
                <a:effectLst/>
                <a:latin typeface="Consolas" panose="020B0609020204030204" pitchFamily="49" charset="0"/>
              </a:rPr>
              <a:t>vite@latest</a:t>
            </a:r>
            <a:r>
              <a:rPr kumimoji="0" lang="en-US" altLang="en-US" sz="2800" b="1" i="0" u="none" strike="noStrike" cap="none" normalizeH="0" dirty="0">
                <a:ln>
                  <a:noFill/>
                </a:ln>
                <a:solidFill>
                  <a:schemeClr val="tx1"/>
                </a:solidFill>
                <a:effectLst/>
                <a:latin typeface="Consolas" panose="020B0609020204030204" pitchFamily="49" charset="0"/>
              </a:rPr>
              <a:t> my-app --template react</a:t>
            </a:r>
            <a:r>
              <a:rPr kumimoji="0" lang="en-US" altLang="en-US" sz="3600" b="1" i="0" u="none" strike="noStrike" cap="none" normalizeH="0" dirty="0">
                <a:ln>
                  <a:noFill/>
                </a:ln>
                <a:solidFill>
                  <a:schemeClr val="tx1"/>
                </a:solidFill>
                <a:effectLst/>
                <a:latin typeface="Consolas" panose="020B0609020204030204" pitchFamily="49" charset="0"/>
              </a:rPr>
              <a:t> </a:t>
            </a:r>
            <a:endParaRPr kumimoji="0" lang="en-US" altLang="en-US" sz="5400" b="1" i="0" u="none" strike="noStrike" cap="none" normalizeH="0" dirty="0">
              <a:ln>
                <a:noFill/>
              </a:ln>
              <a:solidFill>
                <a:schemeClr val="tx1"/>
              </a:solidFill>
              <a:effectLst/>
              <a:latin typeface="Consolas" panose="020B0609020204030204" pitchFamily="49" charset="0"/>
            </a:endParaRPr>
          </a:p>
        </p:txBody>
      </p:sp>
      <p:sp>
        <p:nvSpPr>
          <p:cNvPr id="5" name="Rectangle 2">
            <a:extLst>
              <a:ext uri="{FF2B5EF4-FFF2-40B4-BE49-F238E27FC236}">
                <a16:creationId xmlns:a16="http://schemas.microsoft.com/office/drawing/2014/main" id="{1E55D14C-D6BB-0256-A5BD-9685A014D24D}"/>
              </a:ext>
            </a:extLst>
          </p:cNvPr>
          <p:cNvSpPr>
            <a:spLocks noChangeArrowheads="1"/>
          </p:cNvSpPr>
          <p:nvPr/>
        </p:nvSpPr>
        <p:spPr bwMode="auto">
          <a:xfrm>
            <a:off x="1440114" y="4211360"/>
            <a:ext cx="747113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onsolas" panose="020B0609020204030204" pitchFamily="49" charset="0"/>
              </a:rPr>
              <a:t> cd my-app </a:t>
            </a:r>
            <a:r>
              <a:rPr kumimoji="0" lang="en-US" altLang="en-US" sz="2800" b="1" i="0" u="none" strike="noStrike" cap="none" normalizeH="0" baseline="0" dirty="0" err="1">
                <a:ln>
                  <a:noFill/>
                </a:ln>
                <a:solidFill>
                  <a:schemeClr val="tx1"/>
                </a:solidFill>
                <a:effectLst/>
                <a:latin typeface="Consolas" panose="020B0609020204030204" pitchFamily="49" charset="0"/>
              </a:rPr>
              <a:t>npm</a:t>
            </a:r>
            <a:r>
              <a:rPr kumimoji="0" lang="en-US" altLang="en-US" sz="2800" b="1" i="0" u="none" strike="noStrike" cap="none" normalizeH="0" baseline="0" dirty="0">
                <a:ln>
                  <a:noFill/>
                </a:ln>
                <a:solidFill>
                  <a:schemeClr val="tx1"/>
                </a:solidFill>
                <a:effectLst/>
                <a:latin typeface="Consolas" panose="020B0609020204030204" pitchFamily="49" charset="0"/>
              </a:rPr>
              <a:t> install </a:t>
            </a:r>
            <a:r>
              <a:rPr kumimoji="0" lang="en-US" altLang="en-US" sz="2800" b="1" i="0" u="none" strike="noStrike" cap="none" normalizeH="0" baseline="0" dirty="0" err="1">
                <a:ln>
                  <a:noFill/>
                </a:ln>
                <a:solidFill>
                  <a:schemeClr val="tx1"/>
                </a:solidFill>
                <a:effectLst/>
                <a:latin typeface="Consolas" panose="020B0609020204030204" pitchFamily="49" charset="0"/>
              </a:rPr>
              <a:t>npm</a:t>
            </a:r>
            <a:r>
              <a:rPr kumimoji="0" lang="en-US" altLang="en-US" sz="2800" b="1" i="0" u="none" strike="noStrike" cap="none" normalizeH="0" baseline="0" dirty="0">
                <a:ln>
                  <a:noFill/>
                </a:ln>
                <a:solidFill>
                  <a:schemeClr val="tx1"/>
                </a:solidFill>
                <a:effectLst/>
                <a:latin typeface="Consolas" panose="020B0609020204030204" pitchFamily="49" charset="0"/>
              </a:rPr>
              <a:t> run dev</a:t>
            </a:r>
            <a:r>
              <a:rPr kumimoji="0" lang="en-US" altLang="en-US" sz="3600" b="1" i="0" u="none" strike="noStrike" cap="none" normalizeH="0" baseline="0" dirty="0">
                <a:ln>
                  <a:noFill/>
                </a:ln>
                <a:solidFill>
                  <a:schemeClr val="tx1"/>
                </a:solidFill>
                <a:effectLst/>
                <a:latin typeface="Consolas" panose="020B0609020204030204" pitchFamily="49" charset="0"/>
              </a:rPr>
              <a:t> </a:t>
            </a:r>
            <a:endParaRPr kumimoji="0" lang="en-US" altLang="en-US" sz="5400" b="1"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489070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4656-162D-F561-393B-38BEC8DCA750}"/>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E2756A6B-BE6C-CEAD-D899-A4003C15DD96}"/>
              </a:ext>
            </a:extLst>
          </p:cNvPr>
          <p:cNvSpPr>
            <a:spLocks noGrp="1"/>
          </p:cNvSpPr>
          <p:nvPr>
            <p:ph type="body" idx="1"/>
          </p:nvPr>
        </p:nvSpPr>
        <p:spPr>
          <a:xfrm>
            <a:off x="1104899" y="1600200"/>
            <a:ext cx="10715799" cy="4572000"/>
          </a:xfrm>
        </p:spPr>
        <p:txBody>
          <a:bodyPr/>
          <a:lstStyle/>
          <a:p>
            <a:r>
              <a:rPr lang="en-US" b="1" dirty="0">
                <a:solidFill>
                  <a:srgbClr val="FF0000"/>
                </a:solidFill>
              </a:rPr>
              <a:t>install Redux Toolkit: </a:t>
            </a:r>
            <a:r>
              <a:rPr lang="en-US" dirty="0"/>
              <a:t>Run the code below in terminal:</a:t>
            </a:r>
          </a:p>
          <a:p>
            <a:pPr lvl="1"/>
            <a:endParaRPr lang="en-US" dirty="0"/>
          </a:p>
          <a:p>
            <a:r>
              <a:rPr lang="en-US" b="1" dirty="0">
                <a:solidFill>
                  <a:srgbClr val="FF0000"/>
                </a:solidFill>
              </a:rPr>
              <a:t>Create a Redux store</a:t>
            </a:r>
            <a:r>
              <a:rPr lang="en-US" dirty="0"/>
              <a:t>: </a:t>
            </a:r>
          </a:p>
          <a:p>
            <a:pPr lvl="1"/>
            <a:r>
              <a:rPr lang="en-US" dirty="0"/>
              <a:t>After the installation is complete, create a file named </a:t>
            </a:r>
            <a:r>
              <a:rPr lang="en-US" b="1" dirty="0" err="1"/>
              <a:t>src</a:t>
            </a:r>
            <a:r>
              <a:rPr lang="en-US" b="1" dirty="0"/>
              <a:t>/redux/</a:t>
            </a:r>
            <a:r>
              <a:rPr lang="en-US" b="1" dirty="0" err="1"/>
              <a:t>store.jsx</a:t>
            </a:r>
            <a:r>
              <a:rPr lang="en-US" b="1" dirty="0"/>
              <a:t> </a:t>
            </a:r>
          </a:p>
          <a:p>
            <a:pPr lvl="1"/>
            <a:r>
              <a:rPr lang="en-US" dirty="0"/>
              <a:t>Import </a:t>
            </a:r>
            <a:r>
              <a:rPr lang="en-US" b="1" dirty="0" err="1"/>
              <a:t>configureStore</a:t>
            </a:r>
            <a:r>
              <a:rPr lang="en-US" dirty="0"/>
              <a:t> from </a:t>
            </a:r>
            <a:r>
              <a:rPr lang="en-US" b="1" dirty="0"/>
              <a:t>Redux Toolkit </a:t>
            </a:r>
            <a:r>
              <a:rPr lang="en-US" dirty="0"/>
              <a:t>and then create an empty Redux store which will be exported:</a:t>
            </a:r>
          </a:p>
          <a:p>
            <a:endParaRPr lang="en-US" dirty="0"/>
          </a:p>
        </p:txBody>
      </p:sp>
      <p:sp>
        <p:nvSpPr>
          <p:cNvPr id="4" name="Rectangle 1">
            <a:extLst>
              <a:ext uri="{FF2B5EF4-FFF2-40B4-BE49-F238E27FC236}">
                <a16:creationId xmlns:a16="http://schemas.microsoft.com/office/drawing/2014/main" id="{05321CAF-68BC-3519-3B06-225D568F634D}"/>
              </a:ext>
            </a:extLst>
          </p:cNvPr>
          <p:cNvSpPr>
            <a:spLocks noChangeArrowheads="1"/>
          </p:cNvSpPr>
          <p:nvPr/>
        </p:nvSpPr>
        <p:spPr bwMode="auto">
          <a:xfrm>
            <a:off x="1974033" y="2257598"/>
            <a:ext cx="8242416" cy="4308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Consolas" panose="020B0609020204030204" pitchFamily="49" charset="0"/>
              </a:rPr>
              <a:t>npm install @reduxjs/toolkit react-redux </a:t>
            </a:r>
          </a:p>
        </p:txBody>
      </p:sp>
      <p:pic>
        <p:nvPicPr>
          <p:cNvPr id="8" name="Picture 7">
            <a:extLst>
              <a:ext uri="{FF2B5EF4-FFF2-40B4-BE49-F238E27FC236}">
                <a16:creationId xmlns:a16="http://schemas.microsoft.com/office/drawing/2014/main" id="{6E4D7F8E-6116-1BE1-D5D2-A7734D813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7177" y="4745563"/>
            <a:ext cx="8189272" cy="14266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75809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BDA11-A0D0-977E-7BC2-E18D2A135D34}"/>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5C4F9BA9-56B5-F9D9-0B14-4DA6EBE22017}"/>
              </a:ext>
            </a:extLst>
          </p:cNvPr>
          <p:cNvSpPr>
            <a:spLocks noGrp="1"/>
          </p:cNvSpPr>
          <p:nvPr>
            <p:ph type="body" idx="1"/>
          </p:nvPr>
        </p:nvSpPr>
        <p:spPr/>
        <p:txBody>
          <a:bodyPr/>
          <a:lstStyle/>
          <a:p>
            <a:r>
              <a:rPr lang="en-US" b="1" dirty="0">
                <a:solidFill>
                  <a:srgbClr val="FF0000"/>
                </a:solidFill>
              </a:rPr>
              <a:t>Connect the Redux Store to React</a:t>
            </a:r>
          </a:p>
          <a:p>
            <a:pPr lvl="1"/>
            <a:r>
              <a:rPr lang="en-US" dirty="0"/>
              <a:t>After you've created the store, you will have to wrap your &lt;App/&gt; with a &lt;Provider/&gt; which will be imported from </a:t>
            </a:r>
            <a:r>
              <a:rPr lang="en-US" b="1" dirty="0"/>
              <a:t>react-redux</a:t>
            </a:r>
            <a:r>
              <a:rPr lang="en-US" dirty="0"/>
              <a:t>. </a:t>
            </a:r>
          </a:p>
          <a:p>
            <a:pPr lvl="1"/>
            <a:r>
              <a:rPr lang="en-US" dirty="0"/>
              <a:t>Also the store you created above will be passed in into the provider as a prop.</a:t>
            </a:r>
          </a:p>
        </p:txBody>
      </p:sp>
    </p:spTree>
    <p:extLst>
      <p:ext uri="{BB962C8B-B14F-4D97-AF65-F5344CB8AC3E}">
        <p14:creationId xmlns:p14="http://schemas.microsoft.com/office/powerpoint/2010/main" val="3654476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7A61-EC37-A06B-7885-5B95A2251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F5860-9E57-C3A4-BE2C-C49C7E0EDFCE}"/>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13F8746F-C856-A06A-0906-466130A277AA}"/>
              </a:ext>
            </a:extLst>
          </p:cNvPr>
          <p:cNvSpPr>
            <a:spLocks noGrp="1"/>
          </p:cNvSpPr>
          <p:nvPr>
            <p:ph type="body" idx="1"/>
          </p:nvPr>
        </p:nvSpPr>
        <p:spPr/>
        <p:txBody>
          <a:bodyPr/>
          <a:lstStyle/>
          <a:p>
            <a:r>
              <a:rPr lang="en-US" b="1" dirty="0">
                <a:solidFill>
                  <a:srgbClr val="FF0000"/>
                </a:solidFill>
              </a:rPr>
              <a:t>Connect the Redux Store to React</a:t>
            </a:r>
          </a:p>
          <a:p>
            <a:endParaRPr lang="en-US" dirty="0"/>
          </a:p>
        </p:txBody>
      </p:sp>
      <p:pic>
        <p:nvPicPr>
          <p:cNvPr id="5" name="Picture 4">
            <a:extLst>
              <a:ext uri="{FF2B5EF4-FFF2-40B4-BE49-F238E27FC236}">
                <a16:creationId xmlns:a16="http://schemas.microsoft.com/office/drawing/2014/main" id="{DB47EBFD-6160-C00E-C2A4-DAB0B414C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763" y="2228891"/>
            <a:ext cx="8366473" cy="43703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32302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3CF5F-6E7A-E4EE-DAF6-3D005809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7A004-56F1-E6BD-77BB-9FE34AB145A9}"/>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03278996-B498-B1BE-3DAF-3B2A2C9426FE}"/>
              </a:ext>
            </a:extLst>
          </p:cNvPr>
          <p:cNvSpPr>
            <a:spLocks noGrp="1"/>
          </p:cNvSpPr>
          <p:nvPr>
            <p:ph type="body" idx="1"/>
          </p:nvPr>
        </p:nvSpPr>
        <p:spPr>
          <a:xfrm>
            <a:off x="1104899" y="1600200"/>
            <a:ext cx="10582795" cy="4572000"/>
          </a:xfrm>
        </p:spPr>
        <p:txBody>
          <a:bodyPr>
            <a:normAutofit/>
          </a:bodyPr>
          <a:lstStyle/>
          <a:p>
            <a:r>
              <a:rPr lang="en-US" b="1" dirty="0">
                <a:solidFill>
                  <a:srgbClr val="FF0000"/>
                </a:solidFill>
              </a:rPr>
              <a:t>Create a Redux state slice: </a:t>
            </a:r>
          </a:p>
          <a:p>
            <a:pPr lvl="1"/>
            <a:r>
              <a:rPr lang="en-US" dirty="0"/>
              <a:t>After the store has been created, create a file </a:t>
            </a:r>
            <a:r>
              <a:rPr lang="en-US" b="1" dirty="0" err="1"/>
              <a:t>src</a:t>
            </a:r>
            <a:r>
              <a:rPr lang="en-US" b="1" dirty="0"/>
              <a:t>/redux/</a:t>
            </a:r>
            <a:r>
              <a:rPr lang="en-US" b="1" dirty="0" err="1"/>
              <a:t>countslice.jsx</a:t>
            </a:r>
            <a:r>
              <a:rPr lang="en-US" dirty="0"/>
              <a:t>. Then import </a:t>
            </a:r>
            <a:r>
              <a:rPr lang="en-US" b="1" dirty="0" err="1"/>
              <a:t>createSlice</a:t>
            </a:r>
            <a:r>
              <a:rPr lang="en-US" dirty="0"/>
              <a:t> from </a:t>
            </a:r>
            <a:r>
              <a:rPr lang="en-US" b="1" dirty="0"/>
              <a:t>@redux/toolkit</a:t>
            </a:r>
            <a:r>
              <a:rPr lang="en-US" dirty="0"/>
              <a:t>.</a:t>
            </a:r>
          </a:p>
          <a:p>
            <a:pPr lvl="1"/>
            <a:r>
              <a:rPr lang="en-US" b="1" dirty="0"/>
              <a:t>Slices</a:t>
            </a:r>
            <a:r>
              <a:rPr lang="en-US" dirty="0"/>
              <a:t> provide a way to organize and modularize Redux code, making it easier to manage and maintain as your application grows.</a:t>
            </a:r>
          </a:p>
          <a:p>
            <a:pPr lvl="1"/>
            <a:r>
              <a:rPr lang="en-US" dirty="0"/>
              <a:t> </a:t>
            </a:r>
            <a:r>
              <a:rPr lang="en-US" b="1" dirty="0"/>
              <a:t>Slices</a:t>
            </a:r>
            <a:r>
              <a:rPr lang="en-US" dirty="0"/>
              <a:t> as </a:t>
            </a:r>
            <a:r>
              <a:rPr lang="en-US" b="1" dirty="0"/>
              <a:t>mini-Redux stores </a:t>
            </a:r>
            <a:r>
              <a:rPr lang="en-US" dirty="0"/>
              <a:t>that handle a specific piece of state within your application.</a:t>
            </a:r>
          </a:p>
          <a:p>
            <a:pPr lvl="1"/>
            <a:r>
              <a:rPr lang="en-US" dirty="0"/>
              <a:t>Creating a slice requires three things:</a:t>
            </a:r>
          </a:p>
          <a:p>
            <a:pPr lvl="2"/>
            <a:r>
              <a:rPr lang="en-US" b="1" dirty="0"/>
              <a:t>Name</a:t>
            </a:r>
            <a:r>
              <a:rPr lang="en-US" dirty="0"/>
              <a:t>, which is usually set to be a string.</a:t>
            </a:r>
          </a:p>
          <a:p>
            <a:pPr lvl="2"/>
            <a:r>
              <a:rPr lang="en-US" b="1" dirty="0"/>
              <a:t>Initial State </a:t>
            </a:r>
            <a:r>
              <a:rPr lang="en-US" dirty="0"/>
              <a:t>Value.</a:t>
            </a:r>
          </a:p>
          <a:p>
            <a:pPr lvl="2"/>
            <a:r>
              <a:rPr lang="en-US" b="1" dirty="0"/>
              <a:t>Reducer</a:t>
            </a:r>
            <a:r>
              <a:rPr lang="en-US" dirty="0"/>
              <a:t>, which contains actions that define how the state can be updated.</a:t>
            </a:r>
          </a:p>
        </p:txBody>
      </p:sp>
    </p:spTree>
    <p:extLst>
      <p:ext uri="{BB962C8B-B14F-4D97-AF65-F5344CB8AC3E}">
        <p14:creationId xmlns:p14="http://schemas.microsoft.com/office/powerpoint/2010/main" val="37471175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7CE8-0348-884D-D897-8F192FFB8B99}"/>
              </a:ext>
            </a:extLst>
          </p:cNvPr>
          <p:cNvSpPr>
            <a:spLocks noGrp="1"/>
          </p:cNvSpPr>
          <p:nvPr>
            <p:ph type="title"/>
          </p:nvPr>
        </p:nvSpPr>
        <p:spPr/>
        <p:txBody>
          <a:bodyPr/>
          <a:lstStyle/>
          <a:p>
            <a:r>
              <a:rPr lang="en-US" dirty="0"/>
              <a:t>Get Started with Redux Toolkit</a:t>
            </a:r>
          </a:p>
        </p:txBody>
      </p:sp>
      <p:pic>
        <p:nvPicPr>
          <p:cNvPr id="5" name="Picture 4">
            <a:extLst>
              <a:ext uri="{FF2B5EF4-FFF2-40B4-BE49-F238E27FC236}">
                <a16:creationId xmlns:a16="http://schemas.microsoft.com/office/drawing/2014/main" id="{A3B60CFC-6F59-37AE-C685-E08CEB0D78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1477" y="1394867"/>
            <a:ext cx="7477294" cy="5258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53080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7B22E-E463-D00B-B0A3-783CE0DB9F60}"/>
              </a:ext>
            </a:extLst>
          </p:cNvPr>
          <p:cNvSpPr>
            <a:spLocks noGrp="1"/>
          </p:cNvSpPr>
          <p:nvPr>
            <p:ph type="title"/>
          </p:nvPr>
        </p:nvSpPr>
        <p:spPr/>
        <p:txBody>
          <a:bodyPr/>
          <a:lstStyle/>
          <a:p>
            <a:r>
              <a:rPr lang="en-US" dirty="0"/>
              <a:t>Get Started with Redux Toolkit</a:t>
            </a:r>
          </a:p>
        </p:txBody>
      </p:sp>
      <p:sp>
        <p:nvSpPr>
          <p:cNvPr id="3" name="Text Placeholder 2">
            <a:extLst>
              <a:ext uri="{FF2B5EF4-FFF2-40B4-BE49-F238E27FC236}">
                <a16:creationId xmlns:a16="http://schemas.microsoft.com/office/drawing/2014/main" id="{77BA3B78-C4C6-7468-8930-5242EDF16804}"/>
              </a:ext>
            </a:extLst>
          </p:cNvPr>
          <p:cNvSpPr>
            <a:spLocks noGrp="1"/>
          </p:cNvSpPr>
          <p:nvPr>
            <p:ph type="body" idx="1"/>
          </p:nvPr>
        </p:nvSpPr>
        <p:spPr/>
        <p:txBody>
          <a:bodyPr/>
          <a:lstStyle/>
          <a:p>
            <a:r>
              <a:rPr lang="en-US" b="1" dirty="0">
                <a:solidFill>
                  <a:srgbClr val="FF0000"/>
                </a:solidFill>
              </a:rPr>
              <a:t>Add the slice to the store: </a:t>
            </a:r>
            <a:r>
              <a:rPr lang="en-US" dirty="0">
                <a:solidFill>
                  <a:schemeClr val="tx2"/>
                </a:solidFill>
              </a:rPr>
              <a:t>The </a:t>
            </a:r>
            <a:r>
              <a:rPr lang="en-US" b="1" dirty="0">
                <a:solidFill>
                  <a:schemeClr val="tx2"/>
                </a:solidFill>
              </a:rPr>
              <a:t>Reducer</a:t>
            </a:r>
            <a:r>
              <a:rPr lang="en-US" dirty="0">
                <a:solidFill>
                  <a:schemeClr val="tx2"/>
                </a:solidFill>
              </a:rPr>
              <a:t> exported from the slice is imported and added to the store you created earlier. </a:t>
            </a:r>
            <a:endParaRPr lang="en-US" dirty="0"/>
          </a:p>
        </p:txBody>
      </p:sp>
      <p:pic>
        <p:nvPicPr>
          <p:cNvPr id="5" name="Picture 4">
            <a:extLst>
              <a:ext uri="{FF2B5EF4-FFF2-40B4-BE49-F238E27FC236}">
                <a16:creationId xmlns:a16="http://schemas.microsoft.com/office/drawing/2014/main" id="{13DF437A-D956-0AE6-1DD9-54F543DAA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5047" y="2573782"/>
            <a:ext cx="7901905" cy="38436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6158299"/>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1923</TotalTime>
  <Words>4191</Words>
  <Application>Microsoft Office PowerPoint</Application>
  <PresentationFormat>Widescreen</PresentationFormat>
  <Paragraphs>229</Paragraphs>
  <Slides>45</Slides>
  <Notes>21</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Arial (Heading)</vt:lpstr>
      <vt:lpstr>Arial Black</vt:lpstr>
      <vt:lpstr>Consolas</vt:lpstr>
      <vt:lpstr>Euphemia</vt:lpstr>
      <vt:lpstr>inherit</vt:lpstr>
      <vt:lpstr>Lato</vt:lpstr>
      <vt:lpstr>Open Sans</vt:lpstr>
      <vt:lpstr>Roboto</vt:lpstr>
      <vt:lpstr>Wingdings</vt:lpstr>
      <vt:lpstr>Academic Literature 16x9</vt:lpstr>
      <vt:lpstr>PowerPoint Presentation</vt:lpstr>
      <vt:lpstr>State Management in React JS</vt:lpstr>
      <vt:lpstr>State Management in React JS</vt:lpstr>
      <vt:lpstr>Manage states using Hooks</vt:lpstr>
      <vt:lpstr>Manage states using Hooks</vt:lpstr>
      <vt:lpstr>Manage states using Hooks</vt:lpstr>
      <vt:lpstr>Manage states using Context API</vt:lpstr>
      <vt:lpstr>Manage states using Context API</vt:lpstr>
      <vt:lpstr>Manage states using Context API</vt:lpstr>
      <vt:lpstr>Manage states using Context API</vt:lpstr>
      <vt:lpstr>Manage states using Context API</vt:lpstr>
      <vt:lpstr>Manage states using Redux</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Redux – the store, actions and reducers</vt:lpstr>
      <vt:lpstr>Setting Up Redux in a React App</vt:lpstr>
      <vt:lpstr>Setting Up Redux in a React App</vt:lpstr>
      <vt:lpstr>Setting Up Redux in a React App</vt:lpstr>
      <vt:lpstr>Setting Up Redux in a React App</vt:lpstr>
      <vt:lpstr>Setting Up Redux in a React App</vt:lpstr>
      <vt:lpstr>Setting Up Redux in a React App</vt:lpstr>
      <vt:lpstr>Introduction to Redux Toolkit</vt:lpstr>
      <vt:lpstr>Introduction to Redux Toolkit</vt:lpstr>
      <vt:lpstr>Introduction to Redux Toolkit</vt:lpstr>
      <vt:lpstr>Introduction to Redux Toolkit</vt:lpstr>
      <vt:lpstr>Get Started with Redux Toolkit</vt:lpstr>
      <vt:lpstr>Get Started with Redux Toolkit</vt:lpstr>
      <vt:lpstr>Get Started with Redux Toolkit</vt:lpstr>
      <vt:lpstr>Get Started with Redux Toolkit</vt:lpstr>
      <vt:lpstr>Get Started with Redux Toolkit</vt:lpstr>
      <vt:lpstr>Get Started with Redux Toolkit</vt:lpstr>
      <vt:lpstr>Get Started with Redux Toolkit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31</cp:revision>
  <dcterms:created xsi:type="dcterms:W3CDTF">2024-10-17T15:22:21Z</dcterms:created>
  <dcterms:modified xsi:type="dcterms:W3CDTF">2024-12-17T03:25:11Z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