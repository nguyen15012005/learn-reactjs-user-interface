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Montserrat"/>
      <p:regular r:id="rId54"/>
      <p:bold r:id="rId55"/>
      <p:italic r:id="rId56"/>
      <p:boldItalic r:id="rId57"/>
    </p:embeddedFont>
    <p:embeddedFont>
      <p:font typeface="Source Code Pro"/>
      <p:regular r:id="rId58"/>
      <p:bold r:id="rId59"/>
      <p:italic r:id="rId60"/>
      <p:boldItalic r:id="rId61"/>
    </p:embeddedFont>
    <p:embeddedFont>
      <p:font typeface="EB Garamond"/>
      <p:regular r:id="rId62"/>
      <p:bold r:id="rId63"/>
      <p:italic r:id="rId64"/>
      <p:boldItalic r:id="rId65"/>
    </p:embeddedFont>
    <p:embeddedFont>
      <p:font typeface="Arial Black"/>
      <p:regular r:id="rId66"/>
    </p:embeddedFont>
    <p:embeddedFont>
      <p:font typeface="Open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71" roundtripDataSignature="AMtx7mhPNLlqLm+SAeroqljqz7ZhCDSB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customschemas.google.com/relationships/presentationmetadata" Target="metadata"/><Relationship Id="rId70" Type="http://schemas.openxmlformats.org/officeDocument/2006/relationships/font" Target="fonts/OpenSans-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EBGaramond-regular.fntdata"/><Relationship Id="rId61" Type="http://schemas.openxmlformats.org/officeDocument/2006/relationships/font" Target="fonts/SourceCodePro-boldItalic.fntdata"/><Relationship Id="rId20" Type="http://schemas.openxmlformats.org/officeDocument/2006/relationships/slide" Target="slides/slide15.xml"/><Relationship Id="rId64" Type="http://schemas.openxmlformats.org/officeDocument/2006/relationships/font" Target="fonts/EBGaramond-italic.fntdata"/><Relationship Id="rId63" Type="http://schemas.openxmlformats.org/officeDocument/2006/relationships/font" Target="fonts/EBGaramond-bold.fntdata"/><Relationship Id="rId22" Type="http://schemas.openxmlformats.org/officeDocument/2006/relationships/slide" Target="slides/slide17.xml"/><Relationship Id="rId66" Type="http://schemas.openxmlformats.org/officeDocument/2006/relationships/font" Target="fonts/ArialBlack-regular.fntdata"/><Relationship Id="rId21" Type="http://schemas.openxmlformats.org/officeDocument/2006/relationships/slide" Target="slides/slide16.xml"/><Relationship Id="rId65" Type="http://schemas.openxmlformats.org/officeDocument/2006/relationships/font" Target="fonts/EBGaramond-boldItalic.fntdata"/><Relationship Id="rId24" Type="http://schemas.openxmlformats.org/officeDocument/2006/relationships/slide" Target="slides/slide19.xml"/><Relationship Id="rId68" Type="http://schemas.openxmlformats.org/officeDocument/2006/relationships/font" Target="fonts/OpenSans-bold.fntdata"/><Relationship Id="rId23" Type="http://schemas.openxmlformats.org/officeDocument/2006/relationships/slide" Target="slides/slide18.xml"/><Relationship Id="rId67" Type="http://schemas.openxmlformats.org/officeDocument/2006/relationships/font" Target="fonts/OpenSans-regular.fntdata"/><Relationship Id="rId60" Type="http://schemas.openxmlformats.org/officeDocument/2006/relationships/font" Target="fonts/SourceCodePro-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penSans-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Montserrat-bold.fntdata"/><Relationship Id="rId10" Type="http://schemas.openxmlformats.org/officeDocument/2006/relationships/slide" Target="slides/slide5.xml"/><Relationship Id="rId54" Type="http://schemas.openxmlformats.org/officeDocument/2006/relationships/font" Target="fonts/Montserrat-regular.fntdata"/><Relationship Id="rId13" Type="http://schemas.openxmlformats.org/officeDocument/2006/relationships/slide" Target="slides/slide8.xml"/><Relationship Id="rId57" Type="http://schemas.openxmlformats.org/officeDocument/2006/relationships/font" Target="fonts/Montserrat-boldItalic.fntdata"/><Relationship Id="rId12" Type="http://schemas.openxmlformats.org/officeDocument/2006/relationships/slide" Target="slides/slide7.xml"/><Relationship Id="rId56" Type="http://schemas.openxmlformats.org/officeDocument/2006/relationships/font" Target="fonts/Montserrat-italic.fntdata"/><Relationship Id="rId15" Type="http://schemas.openxmlformats.org/officeDocument/2006/relationships/slide" Target="slides/slide10.xml"/><Relationship Id="rId59" Type="http://schemas.openxmlformats.org/officeDocument/2006/relationships/font" Target="fonts/SourceCodePro-bold.fntdata"/><Relationship Id="rId14" Type="http://schemas.openxmlformats.org/officeDocument/2006/relationships/slide" Target="slides/slide9.xml"/><Relationship Id="rId58" Type="http://schemas.openxmlformats.org/officeDocument/2006/relationships/font" Target="fonts/SourceCodePr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ct.dev/reference/react/useReducer#ive-dispatched-an-action-but-logging-gives-me-the-old-state-value" TargetMode="External"/><Relationship Id="rId3" Type="http://schemas.openxmlformats.org/officeDocument/2006/relationships/hyperlink" Target="https://developer.mozilla.org/en-US/docs/Web/JavaScript/Reference/Global_Objects/Object/is" TargetMode="External"/><Relationship Id="rId4" Type="http://schemas.openxmlformats.org/officeDocument/2006/relationships/hyperlink" Target="https://react.dev/learn/queueing-a-series-of-state-updates" TargetMode="External"/><Relationship Id="rId5" Type="http://schemas.openxmlformats.org/officeDocument/2006/relationships/hyperlink" Target="https://react.dev/reference/react-dom/flushSync"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1" lang="en-US">
                <a:latin typeface="Arial"/>
                <a:ea typeface="Arial"/>
                <a:cs typeface="Arial"/>
                <a:sym typeface="Arial"/>
              </a:rPr>
              <a:t>NOTE:</a:t>
            </a:r>
            <a:endParaRPr/>
          </a:p>
          <a:p>
            <a:pPr indent="0" lvl="0" marL="0" rtl="0" algn="l">
              <a:spcBef>
                <a:spcPts val="0"/>
              </a:spcBef>
              <a:spcAft>
                <a:spcPts val="0"/>
              </a:spcAft>
              <a:buNone/>
            </a:pPr>
            <a:r>
              <a:rPr i="1" lang="en-US">
                <a:latin typeface="Arial"/>
                <a:ea typeface="Arial"/>
                <a:cs typeface="Arial"/>
                <a:sym typeface="Arial"/>
              </a:rPr>
              <a:t>To change the  image on this slide, select the picture and delete it. Then click the Pictures icon in the placeholder to insert your own image.</a:t>
            </a:r>
            <a:endParaRPr/>
          </a:p>
        </p:txBody>
      </p:sp>
      <p:sp>
        <p:nvSpPr>
          <p:cNvPr id="124" name="Google Shape;1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Mặc dù Hooks thường thay thế các thành phần lớp, nhưng không có kế hoạch nào để loại bỏ các lớp khỏi React</a:t>
            </a:r>
            <a:endParaRPr/>
          </a:p>
        </p:txBody>
      </p:sp>
      <p:sp>
        <p:nvSpPr>
          <p:cNvPr id="135" name="Google Shape;1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hiệu ứng được sử dụng cho các hiệu ứng phụ của thành phần. Một hiệu ứng phụ của thành phần là thứ được thực thi bên ngoài phạm vi của thành phần như yêu cầu dịch vụ web. Hook hiệu ứng được định nghĩa bằng hàm useEffect từ React. useEffect chứa hai tham số:</a:t>
            </a:r>
            <a:endParaRPr/>
          </a:p>
          <a:p>
            <a:pPr indent="0" lvl="0" marL="0" rtl="0" algn="l">
              <a:spcBef>
                <a:spcPts val="0"/>
              </a:spcBef>
              <a:spcAft>
                <a:spcPts val="0"/>
              </a:spcAft>
              <a:buNone/>
            </a:pPr>
            <a:r>
              <a:rPr lang="en-US"/>
              <a:t>• Một hàm thực thi hiệu ứng; ít nhất, hàm này chạy mỗi lần thành phần được hiển thị</a:t>
            </a:r>
            <a:endParaRPr/>
          </a:p>
          <a:p>
            <a:pPr indent="0" lvl="0" marL="0" rtl="0" algn="l">
              <a:spcBef>
                <a:spcPts val="0"/>
              </a:spcBef>
              <a:spcAft>
                <a:spcPts val="0"/>
              </a:spcAft>
              <a:buNone/>
            </a:pPr>
            <a:r>
              <a:rPr lang="en-US"/>
              <a:t>• Một mảng tùy chọn các phụ thuộc khiến hàm hiệu ứng chạy lại khi thay đổi</a:t>
            </a:r>
            <a:endParaRPr/>
          </a:p>
        </p:txBody>
      </p:sp>
      <p:sp>
        <p:nvSpPr>
          <p:cNvPr id="156" name="Google Shape;1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800">
                <a:solidFill>
                  <a:srgbClr val="000000"/>
                </a:solidFill>
                <a:latin typeface="Courier"/>
                <a:ea typeface="Courier"/>
                <a:cs typeface="Courier"/>
                <a:sym typeface="Courier"/>
              </a:rPr>
              <a:t>useEffect </a:t>
            </a:r>
            <a:r>
              <a:rPr b="0" i="0" lang="en-US" sz="1800">
                <a:solidFill>
                  <a:srgbClr val="000000"/>
                </a:solidFill>
                <a:latin typeface="EB Garamond"/>
                <a:ea typeface="EB Garamond"/>
                <a:cs typeface="EB Garamond"/>
                <a:sym typeface="EB Garamond"/>
              </a:rPr>
              <a:t>has been lifted to the top level and now depends on the </a:t>
            </a:r>
            <a:r>
              <a:rPr b="0" i="0" lang="en-US" sz="1800">
                <a:solidFill>
                  <a:srgbClr val="000000"/>
                </a:solidFill>
                <a:latin typeface="Courier"/>
                <a:ea typeface="Courier"/>
                <a:cs typeface="Courier"/>
                <a:sym typeface="Courier"/>
              </a:rPr>
              <a:t>clicked </a:t>
            </a:r>
            <a:r>
              <a:rPr b="0" i="0" lang="en-US" sz="1800">
                <a:solidFill>
                  <a:srgbClr val="000000"/>
                </a:solidFill>
                <a:latin typeface="EB Garamond"/>
                <a:ea typeface="EB Garamond"/>
                <a:cs typeface="EB Garamond"/>
                <a:sym typeface="EB Garamond"/>
              </a:rPr>
              <a:t>state that is set in</a:t>
            </a:r>
            <a:br>
              <a:rPr b="0" i="0" lang="en-US" sz="1800">
                <a:solidFill>
                  <a:srgbClr val="000000"/>
                </a:solidFill>
                <a:latin typeface="EB Garamond"/>
                <a:ea typeface="EB Garamond"/>
                <a:cs typeface="EB Garamond"/>
                <a:sym typeface="EB Garamond"/>
              </a:rPr>
            </a:br>
            <a:r>
              <a:rPr b="0" i="0" lang="en-US" sz="1800">
                <a:solidFill>
                  <a:srgbClr val="000000"/>
                </a:solidFill>
                <a:latin typeface="EB Garamond"/>
                <a:ea typeface="EB Garamond"/>
                <a:cs typeface="EB Garamond"/>
                <a:sym typeface="EB Garamond"/>
              </a:rPr>
              <a:t>the handler function.</a:t>
            </a:r>
            <a:r>
              <a:rPr lang="en-US"/>
              <a:t> </a:t>
            </a:r>
            <a:br>
              <a:rPr lang="en-US"/>
            </a:br>
            <a:r>
              <a:rPr lang="en-US"/>
              <a:t>useEffect đã được nâng lên cấp cao nhất và hiện phụ thuộc vào trạng thái được nhấp được thiết lập trong hàm xử lý.</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 phạm là do useEffect được gọi có điều kiện. Nếu someProp là falsy, null được trả về từ thành phần và useEffect không bao giờ được gọi. Vì vậy, điều kiện là useEffect chỉ được gọi khi someProp là truthy.</a:t>
            </a:r>
            <a:endParaRPr/>
          </a:p>
        </p:txBody>
      </p:sp>
      <p:sp>
        <p:nvSpPr>
          <p:cNvPr id="201" name="Google Shape;2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Chúng ta đã tìm hiểu về useState Hook trong các chương trước, nhưng ở đây chúng ta sẽ xem lại và so sánh nó với một state Hook khác mà chúng ta chưa đề cập đến, useReducer. Chúng ta sẽ mở rộng thành phần PersonScore mà chúng ta đã tạo trong phần trước để khám phá các state Hook này</a:t>
            </a:r>
            <a:endParaRPr/>
          </a:p>
        </p:txBody>
      </p:sp>
      <p:sp>
        <p:nvSpPr>
          <p:cNvPr id="229" name="Google Shape;2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the new state is computed using the previous state, you can pass a function to setState. The function will receive the previous value, and return an updated value. Here’s an example of a counter component that uses both forms of setState:</a:t>
            </a:r>
            <a:endParaRPr/>
          </a:p>
        </p:txBody>
      </p:sp>
      <p:sp>
        <p:nvSpPr>
          <p:cNvPr id="236" name="Google Shape;23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solidFill>
                  <a:srgbClr val="23272F"/>
                </a:solidFill>
                <a:latin typeface="Arial"/>
                <a:ea typeface="Arial"/>
                <a:cs typeface="Arial"/>
                <a:sym typeface="Arial"/>
              </a:rPr>
              <a:t>Caveats </a:t>
            </a:r>
            <a:endParaRPr/>
          </a:p>
          <a:p>
            <a:pPr indent="-76200" lvl="0" marL="0" rtl="0" algn="l">
              <a:spcBef>
                <a:spcPts val="0"/>
              </a:spcBef>
              <a:spcAft>
                <a:spcPts val="0"/>
              </a:spcAft>
              <a:buClr>
                <a:srgbClr val="23272F"/>
              </a:buClr>
              <a:buSzPts val="1200"/>
              <a:buFont typeface="Arial"/>
              <a:buChar char="•"/>
            </a:pPr>
            <a:r>
              <a:rPr b="0" i="0" lang="en-US">
                <a:solidFill>
                  <a:srgbClr val="23272F"/>
                </a:solidFill>
                <a:latin typeface="Arial"/>
                <a:ea typeface="Arial"/>
                <a:cs typeface="Arial"/>
                <a:sym typeface="Arial"/>
              </a:rPr>
              <a:t>The dispatch function </a:t>
            </a:r>
            <a:r>
              <a:rPr b="1" i="0" lang="en-US">
                <a:solidFill>
                  <a:srgbClr val="23272F"/>
                </a:solidFill>
                <a:latin typeface="Arial"/>
                <a:ea typeface="Arial"/>
                <a:cs typeface="Arial"/>
                <a:sym typeface="Arial"/>
              </a:rPr>
              <a:t>only updates the state variable for the </a:t>
            </a:r>
            <a:r>
              <a:rPr b="1" i="1" lang="en-US">
                <a:solidFill>
                  <a:srgbClr val="23272F"/>
                </a:solidFill>
                <a:latin typeface="Arial"/>
                <a:ea typeface="Arial"/>
                <a:cs typeface="Arial"/>
                <a:sym typeface="Arial"/>
              </a:rPr>
              <a:t>next</a:t>
            </a:r>
            <a:r>
              <a:rPr b="1" i="0" lang="en-US">
                <a:solidFill>
                  <a:srgbClr val="23272F"/>
                </a:solidFill>
                <a:latin typeface="Arial"/>
                <a:ea typeface="Arial"/>
                <a:cs typeface="Arial"/>
                <a:sym typeface="Arial"/>
              </a:rPr>
              <a:t> render</a:t>
            </a:r>
            <a:r>
              <a:rPr b="0" i="0" lang="en-US">
                <a:solidFill>
                  <a:srgbClr val="23272F"/>
                </a:solidFill>
                <a:latin typeface="Arial"/>
                <a:ea typeface="Arial"/>
                <a:cs typeface="Arial"/>
                <a:sym typeface="Arial"/>
              </a:rPr>
              <a:t>. If you read the state variable after calling the dispatch function, </a:t>
            </a:r>
            <a:r>
              <a:rPr b="0" i="0" lang="en-US" u="sng">
                <a:solidFill>
                  <a:srgbClr val="23272F"/>
                </a:solidFill>
                <a:latin typeface="Arial"/>
                <a:ea typeface="Arial"/>
                <a:cs typeface="Arial"/>
                <a:sym typeface="Arial"/>
                <a:hlinkClick r:id="rId2">
                  <a:extLst>
                    <a:ext uri="{A12FA001-AC4F-418D-AE19-62706E023703}">
                      <ahyp:hlinkClr val="tx"/>
                    </a:ext>
                  </a:extLst>
                </a:hlinkClick>
              </a:rPr>
              <a:t>you will still get the old value</a:t>
            </a:r>
            <a:r>
              <a:rPr b="0" i="0" lang="en-US">
                <a:solidFill>
                  <a:srgbClr val="23272F"/>
                </a:solidFill>
                <a:latin typeface="Arial"/>
                <a:ea typeface="Arial"/>
                <a:cs typeface="Arial"/>
                <a:sym typeface="Arial"/>
              </a:rPr>
              <a:t> that was on the screen before your call.</a:t>
            </a:r>
            <a:endParaRPr/>
          </a:p>
          <a:p>
            <a:pPr indent="-76200" lvl="0" marL="0" rtl="0" algn="l">
              <a:spcBef>
                <a:spcPts val="0"/>
              </a:spcBef>
              <a:spcAft>
                <a:spcPts val="0"/>
              </a:spcAft>
              <a:buClr>
                <a:srgbClr val="23272F"/>
              </a:buClr>
              <a:buSzPts val="1200"/>
              <a:buFont typeface="Arial"/>
              <a:buChar char="•"/>
            </a:pPr>
            <a:r>
              <a:rPr b="0" i="0" lang="en-US">
                <a:solidFill>
                  <a:srgbClr val="23272F"/>
                </a:solidFill>
                <a:latin typeface="Arial"/>
                <a:ea typeface="Arial"/>
                <a:cs typeface="Arial"/>
                <a:sym typeface="Arial"/>
              </a:rPr>
              <a:t>If the new value you provide is identical to the current state, as determined by an </a:t>
            </a:r>
            <a:r>
              <a:rPr b="0" i="0" lang="en-US" u="sng">
                <a:solidFill>
                  <a:srgbClr val="23272F"/>
                </a:solidFill>
                <a:latin typeface="Arial"/>
                <a:ea typeface="Arial"/>
                <a:cs typeface="Arial"/>
                <a:sym typeface="Arial"/>
                <a:hlinkClick r:id="rId3">
                  <a:extLst>
                    <a:ext uri="{A12FA001-AC4F-418D-AE19-62706E023703}">
                      <ahyp:hlinkClr val="tx"/>
                    </a:ext>
                  </a:extLst>
                </a:hlinkClick>
              </a:rPr>
              <a:t>Object.is</a:t>
            </a:r>
            <a:r>
              <a:rPr b="0" i="0" lang="en-US">
                <a:solidFill>
                  <a:srgbClr val="23272F"/>
                </a:solidFill>
                <a:latin typeface="Arial"/>
                <a:ea typeface="Arial"/>
                <a:cs typeface="Arial"/>
                <a:sym typeface="Arial"/>
              </a:rPr>
              <a:t> comparison, React will </a:t>
            </a:r>
            <a:r>
              <a:rPr b="1" i="0" lang="en-US">
                <a:solidFill>
                  <a:srgbClr val="23272F"/>
                </a:solidFill>
                <a:latin typeface="Arial"/>
                <a:ea typeface="Arial"/>
                <a:cs typeface="Arial"/>
                <a:sym typeface="Arial"/>
              </a:rPr>
              <a:t>skip re-rendering the component and its children.</a:t>
            </a:r>
            <a:r>
              <a:rPr b="0" i="0" lang="en-US">
                <a:solidFill>
                  <a:srgbClr val="23272F"/>
                </a:solidFill>
                <a:latin typeface="Arial"/>
                <a:ea typeface="Arial"/>
                <a:cs typeface="Arial"/>
                <a:sym typeface="Arial"/>
              </a:rPr>
              <a:t> This is an optimization. React may still need to call your component before ignoring the result, but it shouldn’t affect your code.</a:t>
            </a:r>
            <a:endParaRPr/>
          </a:p>
          <a:p>
            <a:pPr indent="-76200" lvl="0" marL="0" rtl="0" algn="l">
              <a:spcBef>
                <a:spcPts val="0"/>
              </a:spcBef>
              <a:spcAft>
                <a:spcPts val="0"/>
              </a:spcAft>
              <a:buClr>
                <a:srgbClr val="23272F"/>
              </a:buClr>
              <a:buSzPts val="1200"/>
              <a:buFont typeface="Arial"/>
              <a:buChar char="•"/>
            </a:pPr>
            <a:r>
              <a:rPr b="0" i="0" lang="en-US">
                <a:solidFill>
                  <a:srgbClr val="23272F"/>
                </a:solidFill>
                <a:latin typeface="Arial"/>
                <a:ea typeface="Arial"/>
                <a:cs typeface="Arial"/>
                <a:sym typeface="Arial"/>
              </a:rPr>
              <a:t>React </a:t>
            </a:r>
            <a:r>
              <a:rPr b="0" i="0" lang="en-US" u="sng">
                <a:solidFill>
                  <a:srgbClr val="23272F"/>
                </a:solidFill>
                <a:latin typeface="Arial"/>
                <a:ea typeface="Arial"/>
                <a:cs typeface="Arial"/>
                <a:sym typeface="Arial"/>
                <a:hlinkClick r:id="rId4">
                  <a:extLst>
                    <a:ext uri="{A12FA001-AC4F-418D-AE19-62706E023703}">
                      <ahyp:hlinkClr val="tx"/>
                    </a:ext>
                  </a:extLst>
                </a:hlinkClick>
              </a:rPr>
              <a:t>batches state updates.</a:t>
            </a:r>
            <a:r>
              <a:rPr b="0" i="0" lang="en-US">
                <a:solidFill>
                  <a:srgbClr val="23272F"/>
                </a:solidFill>
                <a:latin typeface="Arial"/>
                <a:ea typeface="Arial"/>
                <a:cs typeface="Arial"/>
                <a:sym typeface="Arial"/>
              </a:rPr>
              <a:t> It updates the screen </a:t>
            </a:r>
            <a:r>
              <a:rPr b="1" i="0" lang="en-US">
                <a:solidFill>
                  <a:srgbClr val="23272F"/>
                </a:solidFill>
                <a:latin typeface="Arial"/>
                <a:ea typeface="Arial"/>
                <a:cs typeface="Arial"/>
                <a:sym typeface="Arial"/>
              </a:rPr>
              <a:t>after all the event handlers have run</a:t>
            </a:r>
            <a:r>
              <a:rPr b="0" i="0" lang="en-US">
                <a:solidFill>
                  <a:srgbClr val="23272F"/>
                </a:solidFill>
                <a:latin typeface="Arial"/>
                <a:ea typeface="Arial"/>
                <a:cs typeface="Arial"/>
                <a:sym typeface="Arial"/>
              </a:rPr>
              <a:t> and have called their set functions. This prevents multiple re-renders during a single event. In the rare case that you need to force React to update the screen earlier, for example to access the DOM, you can use </a:t>
            </a:r>
            <a:r>
              <a:rPr b="0" i="0" lang="en-US" u="sng">
                <a:solidFill>
                  <a:srgbClr val="23272F"/>
                </a:solidFill>
                <a:latin typeface="Arial"/>
                <a:ea typeface="Arial"/>
                <a:cs typeface="Arial"/>
                <a:sym typeface="Arial"/>
                <a:hlinkClick r:id="rId5">
                  <a:extLst>
                    <a:ext uri="{A12FA001-AC4F-418D-AE19-62706E023703}">
                      <ahyp:hlinkClr val="tx"/>
                    </a:ext>
                  </a:extLst>
                </a:hlinkClick>
              </a:rPr>
              <a:t>flushSync.</a:t>
            </a:r>
            <a:endParaRPr b="0" i="0">
              <a:solidFill>
                <a:srgbClr val="23272F"/>
              </a:solidFill>
              <a:latin typeface="Arial"/>
              <a:ea typeface="Arial"/>
              <a:cs typeface="Arial"/>
              <a:sym typeface="Arial"/>
            </a:endParaRPr>
          </a:p>
          <a:p>
            <a:pPr indent="0" lvl="0" marL="0" rtl="0" algn="l">
              <a:spcBef>
                <a:spcPts val="0"/>
              </a:spcBef>
              <a:spcAft>
                <a:spcPts val="0"/>
              </a:spcAft>
              <a:buNone/>
            </a:pPr>
            <a:r>
              <a:t/>
            </a:r>
            <a:endParaRPr/>
          </a:p>
        </p:txBody>
      </p:sp>
      <p:sp>
        <p:nvSpPr>
          <p:cNvPr id="299" name="Google Shape;29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1B1B1B"/>
                </a:solidFill>
                <a:latin typeface="Open Sans"/>
                <a:ea typeface="Open Sans"/>
                <a:cs typeface="Open Sans"/>
                <a:sym typeface="Open Sans"/>
              </a:rPr>
              <a:t>Khái niệm memoization trong JavaScript được xây dựng chủ yếu trên hai khái niệm:</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Closures</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Higher Order Functions (returning functions from functions)</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Scope là nơi mà biến hoặc hàm có thể truy cập vào và sử dụng/ tham chiếu được qua tên trực tiếp. Và ở ngoài scope đó thì biến hoặc hàm đó sẽ không thể nhìn được một cách trực tiếp nữa.</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Closure là một hàm hoặc một tham chiếu (hay còn gọi là một cái bao đóng) đi kèm với cái môi trường mà nó tham chiếu đến (khá là xoắn).</a:t>
            </a:r>
            <a:endParaRPr/>
          </a:p>
          <a:p>
            <a:pPr indent="0" lvl="0" marL="0" rtl="0" algn="l">
              <a:spcBef>
                <a:spcPts val="0"/>
              </a:spcBef>
              <a:spcAft>
                <a:spcPts val="0"/>
              </a:spcAft>
              <a:buNone/>
            </a:pPr>
            <a:r>
              <a:t/>
            </a:r>
            <a:endParaRPr/>
          </a:p>
        </p:txBody>
      </p:sp>
      <p:sp>
        <p:nvSpPr>
          <p:cNvPr id="376" name="Google Shape;37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 useState } from 'react'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Square({style}) {</a:t>
            </a:r>
            <a:endParaRPr/>
          </a:p>
          <a:p>
            <a:pPr indent="0" lvl="0" marL="0" rtl="0" algn="l">
              <a:spcBef>
                <a:spcPts val="0"/>
              </a:spcBef>
              <a:spcAft>
                <a:spcPts val="0"/>
              </a:spcAft>
              <a:buNone/>
            </a:pPr>
            <a:r>
              <a:rPr lang="en-US"/>
              <a:t>  console.log('rendering square');</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return (</a:t>
            </a:r>
            <a:endParaRPr/>
          </a:p>
          <a:p>
            <a:pPr indent="0" lvl="0" marL="0" rtl="0" algn="l">
              <a:spcBef>
                <a:spcPts val="0"/>
              </a:spcBef>
              <a:spcAft>
                <a:spcPts val="0"/>
              </a:spcAft>
              <a:buNone/>
            </a:pPr>
            <a:r>
              <a:rPr lang="en-US"/>
              <a:t>  &lt;div style={style} className={{height:'30px', width:'30px'}}&gt;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&lt;h1&gt;This is...&lt;/h1&gt;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ColorSquare = ({number}) =&gt; {</a:t>
            </a:r>
            <a:endParaRPr/>
          </a:p>
          <a:p>
            <a:pPr indent="0" lvl="0" marL="0" rtl="0" algn="l">
              <a:spcBef>
                <a:spcPts val="0"/>
              </a:spcBef>
              <a:spcAft>
                <a:spcPts val="0"/>
              </a:spcAft>
              <a:buNone/>
            </a:pPr>
            <a:r>
              <a:rPr lang="en-US"/>
              <a:t>  const isEvenNumber = number %2===0;</a:t>
            </a:r>
            <a:endParaRPr/>
          </a:p>
          <a:p>
            <a:pPr indent="0" lvl="0" marL="0" rtl="0" algn="l">
              <a:spcBef>
                <a:spcPts val="0"/>
              </a:spcBef>
              <a:spcAft>
                <a:spcPts val="0"/>
              </a:spcAft>
              <a:buNone/>
            </a:pPr>
            <a:r>
              <a:rPr lang="en-US"/>
              <a:t>  console.log('rendering color square');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   </a:t>
            </a:r>
            <a:endParaRPr/>
          </a:p>
          <a:p>
            <a:pPr indent="0" lvl="0" marL="0" rtl="0" algn="l">
              <a:spcBef>
                <a:spcPts val="0"/>
              </a:spcBef>
              <a:spcAft>
                <a:spcPts val="0"/>
              </a:spcAft>
              <a:buNone/>
            </a:pPr>
            <a:r>
              <a:rPr lang="en-US"/>
              <a:t>      &lt;Square style={{background: isEvenNumber?'red':'green'}} number = {number}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MemoizedColorSquare = React.memo(ColorSquare,</a:t>
            </a:r>
            <a:endParaRPr/>
          </a:p>
          <a:p>
            <a:pPr indent="0" lvl="0" marL="0" rtl="0" algn="l">
              <a:spcBef>
                <a:spcPts val="0"/>
              </a:spcBef>
              <a:spcAft>
                <a:spcPts val="0"/>
              </a:spcAft>
              <a:buNone/>
            </a:pPr>
            <a:r>
              <a:rPr lang="en-US"/>
              <a:t>  (prevProps, nextProps) =&gt; (prevProps.number%2) === (nextProps.number%2)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[number, setNumber] = useState(0);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&lt;input type="number"</a:t>
            </a:r>
            <a:endParaRPr/>
          </a:p>
          <a:p>
            <a:pPr indent="0" lvl="0" marL="0" rtl="0" algn="l">
              <a:spcBef>
                <a:spcPts val="0"/>
              </a:spcBef>
              <a:spcAft>
                <a:spcPts val="0"/>
              </a:spcAft>
              <a:buNone/>
            </a:pPr>
            <a:r>
              <a:rPr lang="en-US"/>
              <a:t>      style={{border: '1px solid red', width: '100px'}}</a:t>
            </a:r>
            <a:endParaRPr/>
          </a:p>
          <a:p>
            <a:pPr indent="0" lvl="0" marL="0" rtl="0" algn="l">
              <a:spcBef>
                <a:spcPts val="0"/>
              </a:spcBef>
              <a:spcAft>
                <a:spcPts val="0"/>
              </a:spcAft>
              <a:buNone/>
            </a:pPr>
            <a:r>
              <a:rPr lang="en-US"/>
              <a:t>      value={number}</a:t>
            </a:r>
            <a:endParaRPr/>
          </a:p>
          <a:p>
            <a:pPr indent="0" lvl="0" marL="0" rtl="0" algn="l">
              <a:spcBef>
                <a:spcPts val="0"/>
              </a:spcBef>
              <a:spcAft>
                <a:spcPts val="0"/>
              </a:spcAft>
              <a:buNone/>
            </a:pPr>
            <a:r>
              <a:rPr lang="en-US"/>
              <a:t>      onChange={(e)=&gt;setNumber(e.target.value)}</a:t>
            </a:r>
            <a:endParaRPr/>
          </a:p>
          <a:p>
            <a:pPr indent="0" lvl="0" marL="0" rtl="0" algn="l">
              <a:spcBef>
                <a:spcPts val="0"/>
              </a:spcBef>
              <a:spcAft>
                <a:spcPts val="0"/>
              </a:spcAft>
              <a:buNone/>
            </a:pPr>
            <a:r>
              <a:rPr lang="en-US"/>
              <a:t>       /&gt;</a:t>
            </a:r>
            <a:endParaRPr/>
          </a:p>
          <a:p>
            <a:pPr indent="0" lvl="0" marL="0" rtl="0" algn="l">
              <a:spcBef>
                <a:spcPts val="0"/>
              </a:spcBef>
              <a:spcAft>
                <a:spcPts val="0"/>
              </a:spcAft>
              <a:buNone/>
            </a:pPr>
            <a:r>
              <a:rPr lang="en-US"/>
              <a:t>      &lt;MemoizedColorSquare number={number} /&gt;</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p:txBody>
      </p:sp>
      <p:sp>
        <p:nvSpPr>
          <p:cNvPr id="382" name="Google Shape;38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https://viblo.asia/p/tim-hieu-ve-reactmemo-usememo-va-usecallback-aWj53BEPl6m</a:t>
            </a:r>
            <a:endParaRPr/>
          </a:p>
          <a:p>
            <a:pPr indent="0" lvl="0" marL="0" rtl="0" algn="l">
              <a:spcBef>
                <a:spcPts val="0"/>
              </a:spcBef>
              <a:spcAft>
                <a:spcPts val="0"/>
              </a:spcAft>
              <a:buNone/>
            </a:pPr>
            <a:r>
              <a:t/>
            </a:r>
            <a:endParaRPr/>
          </a:p>
        </p:txBody>
      </p:sp>
      <p:sp>
        <p:nvSpPr>
          <p:cNvPr id="390" name="Google Shape;39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 useState, useMemo } from 'react'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[count, setCount] = useState(0);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getArray = useMemo(()=&gt;{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var arr = [];</a:t>
            </a:r>
            <a:endParaRPr/>
          </a:p>
          <a:p>
            <a:pPr indent="0" lvl="0" marL="0" rtl="0" algn="l">
              <a:spcBef>
                <a:spcPts val="0"/>
              </a:spcBef>
              <a:spcAft>
                <a:spcPts val="0"/>
              </a:spcAft>
              <a:buNone/>
            </a:pPr>
            <a:r>
              <a:rPr lang="en-US"/>
              <a:t>      for (let i = 0; i &lt; 100000000; i++) {</a:t>
            </a:r>
            <a:endParaRPr/>
          </a:p>
          <a:p>
            <a:pPr indent="0" lvl="0" marL="0" rtl="0" algn="l">
              <a:spcBef>
                <a:spcPts val="0"/>
              </a:spcBef>
              <a:spcAft>
                <a:spcPts val="0"/>
              </a:spcAft>
              <a:buNone/>
            </a:pPr>
            <a:r>
              <a:rPr lang="en-US"/>
              <a:t>        arr.push(i);</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console.log('getArray');</a:t>
            </a:r>
            <a:endParaRPr/>
          </a:p>
          <a:p>
            <a:pPr indent="0" lvl="0" marL="0" rtl="0" algn="l">
              <a:spcBef>
                <a:spcPts val="0"/>
              </a:spcBef>
              <a:spcAft>
                <a:spcPts val="0"/>
              </a:spcAft>
              <a:buNone/>
            </a:pPr>
            <a:r>
              <a:rPr lang="en-US"/>
              <a:t>      return arr;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const getArray = ()=&gt;{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   var arr = [];</a:t>
            </a:r>
            <a:endParaRPr/>
          </a:p>
          <a:p>
            <a:pPr indent="0" lvl="0" marL="0" rtl="0" algn="l">
              <a:spcBef>
                <a:spcPts val="0"/>
              </a:spcBef>
              <a:spcAft>
                <a:spcPts val="0"/>
              </a:spcAft>
              <a:buNone/>
            </a:pPr>
            <a:r>
              <a:rPr lang="en-US"/>
              <a:t>  //     for (let i = 0; i &lt; 100000000; i++) {</a:t>
            </a:r>
            <a:endParaRPr/>
          </a:p>
          <a:p>
            <a:pPr indent="0" lvl="0" marL="0" rtl="0" algn="l">
              <a:spcBef>
                <a:spcPts val="0"/>
              </a:spcBef>
              <a:spcAft>
                <a:spcPts val="0"/>
              </a:spcAft>
              <a:buNone/>
            </a:pPr>
            <a:r>
              <a:rPr lang="en-US"/>
              <a:t>  //       arr.push(i);</a:t>
            </a:r>
            <a:endParaRPr/>
          </a:p>
          <a:p>
            <a:pPr indent="0" lvl="0" marL="0" rtl="0" algn="l">
              <a:spcBef>
                <a:spcPts val="0"/>
              </a:spcBef>
              <a:spcAft>
                <a:spcPts val="0"/>
              </a:spcAft>
              <a:buNone/>
            </a:pPr>
            <a:r>
              <a:rPr lang="en-US"/>
              <a:t>  //     }</a:t>
            </a:r>
            <a:endParaRPr/>
          </a:p>
          <a:p>
            <a:pPr indent="0" lvl="0" marL="0" rtl="0" algn="l">
              <a:spcBef>
                <a:spcPts val="0"/>
              </a:spcBef>
              <a:spcAft>
                <a:spcPts val="0"/>
              </a:spcAft>
              <a:buNone/>
            </a:pPr>
            <a:r>
              <a:rPr lang="en-US"/>
              <a:t>  //     console.log('getArray');</a:t>
            </a:r>
            <a:endParaRPr/>
          </a:p>
          <a:p>
            <a:pPr indent="0" lvl="0" marL="0" rtl="0" algn="l">
              <a:spcBef>
                <a:spcPts val="0"/>
              </a:spcBef>
              <a:spcAft>
                <a:spcPts val="0"/>
              </a:spcAft>
              <a:buNone/>
            </a:pPr>
            <a:r>
              <a:rPr lang="en-US"/>
              <a:t>  //     return arr;</a:t>
            </a:r>
            <a:endParaRPr/>
          </a:p>
          <a:p>
            <a:pPr indent="0" lvl="0" marL="0" rtl="0" algn="l">
              <a:spcBef>
                <a:spcPts val="0"/>
              </a:spcBef>
              <a:spcAft>
                <a:spcPts val="0"/>
              </a:spcAft>
              <a:buNone/>
            </a:pPr>
            <a:r>
              <a:rPr lang="en-US"/>
              <a:t>  //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&lt;button style={{background:'green'}} onClick={() =&gt; setCount(count + 1)}&gt;Click me&lt;/button&gt;</a:t>
            </a:r>
            <a:endParaRPr/>
          </a:p>
          <a:p>
            <a:pPr indent="0" lvl="0" marL="0" rtl="0" algn="l">
              <a:spcBef>
                <a:spcPts val="0"/>
              </a:spcBef>
              <a:spcAft>
                <a:spcPts val="0"/>
              </a:spcAft>
              <a:buNone/>
            </a:pPr>
            <a:r>
              <a:rPr lang="en-US"/>
              <a:t>      &lt;p&gt;Array Length: {getArray.length}&lt;/p&gt;</a:t>
            </a:r>
            <a:endParaRPr/>
          </a:p>
          <a:p>
            <a:pPr indent="0" lvl="0" marL="0" rtl="0" algn="l">
              <a:spcBef>
                <a:spcPts val="0"/>
              </a:spcBef>
              <a:spcAft>
                <a:spcPts val="0"/>
              </a:spcAft>
              <a:buNone/>
            </a:pPr>
            <a:r>
              <a:rPr lang="en-US"/>
              <a:t>      {/* &lt;p&gt;Array Length: {getArray().length}&lt;/p&gt; */}</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p:txBody>
      </p:sp>
      <p:sp>
        <p:nvSpPr>
          <p:cNvPr id="435" name="Google Shape;43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 useState, useMemo } from 'react'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[count, setCount] = useState(0);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getArray = useMemo(()=&gt;{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var arr = [];</a:t>
            </a:r>
            <a:endParaRPr/>
          </a:p>
          <a:p>
            <a:pPr indent="0" lvl="0" marL="0" rtl="0" algn="l">
              <a:spcBef>
                <a:spcPts val="0"/>
              </a:spcBef>
              <a:spcAft>
                <a:spcPts val="0"/>
              </a:spcAft>
              <a:buNone/>
            </a:pPr>
            <a:r>
              <a:rPr lang="en-US"/>
              <a:t>      for (let i = 0; i &lt; 100000000; i++) {</a:t>
            </a:r>
            <a:endParaRPr/>
          </a:p>
          <a:p>
            <a:pPr indent="0" lvl="0" marL="0" rtl="0" algn="l">
              <a:spcBef>
                <a:spcPts val="0"/>
              </a:spcBef>
              <a:spcAft>
                <a:spcPts val="0"/>
              </a:spcAft>
              <a:buNone/>
            </a:pPr>
            <a:r>
              <a:rPr lang="en-US"/>
              <a:t>        arr.push(i);</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console.log('getArray');</a:t>
            </a:r>
            <a:endParaRPr/>
          </a:p>
          <a:p>
            <a:pPr indent="0" lvl="0" marL="0" rtl="0" algn="l">
              <a:spcBef>
                <a:spcPts val="0"/>
              </a:spcBef>
              <a:spcAft>
                <a:spcPts val="0"/>
              </a:spcAft>
              <a:buNone/>
            </a:pPr>
            <a:r>
              <a:rPr lang="en-US"/>
              <a:t>      return arr;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const getArray = ()=&gt;{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   var arr = [];</a:t>
            </a:r>
            <a:endParaRPr/>
          </a:p>
          <a:p>
            <a:pPr indent="0" lvl="0" marL="0" rtl="0" algn="l">
              <a:spcBef>
                <a:spcPts val="0"/>
              </a:spcBef>
              <a:spcAft>
                <a:spcPts val="0"/>
              </a:spcAft>
              <a:buNone/>
            </a:pPr>
            <a:r>
              <a:rPr lang="en-US"/>
              <a:t>  //     for (let i = 0; i &lt; 100000000; i++) {</a:t>
            </a:r>
            <a:endParaRPr/>
          </a:p>
          <a:p>
            <a:pPr indent="0" lvl="0" marL="0" rtl="0" algn="l">
              <a:spcBef>
                <a:spcPts val="0"/>
              </a:spcBef>
              <a:spcAft>
                <a:spcPts val="0"/>
              </a:spcAft>
              <a:buNone/>
            </a:pPr>
            <a:r>
              <a:rPr lang="en-US"/>
              <a:t>  //       arr.push(i);</a:t>
            </a:r>
            <a:endParaRPr/>
          </a:p>
          <a:p>
            <a:pPr indent="0" lvl="0" marL="0" rtl="0" algn="l">
              <a:spcBef>
                <a:spcPts val="0"/>
              </a:spcBef>
              <a:spcAft>
                <a:spcPts val="0"/>
              </a:spcAft>
              <a:buNone/>
            </a:pPr>
            <a:r>
              <a:rPr lang="en-US"/>
              <a:t>  //     }</a:t>
            </a:r>
            <a:endParaRPr/>
          </a:p>
          <a:p>
            <a:pPr indent="0" lvl="0" marL="0" rtl="0" algn="l">
              <a:spcBef>
                <a:spcPts val="0"/>
              </a:spcBef>
              <a:spcAft>
                <a:spcPts val="0"/>
              </a:spcAft>
              <a:buNone/>
            </a:pPr>
            <a:r>
              <a:rPr lang="en-US"/>
              <a:t>  //     console.log('getArray');</a:t>
            </a:r>
            <a:endParaRPr/>
          </a:p>
          <a:p>
            <a:pPr indent="0" lvl="0" marL="0" rtl="0" algn="l">
              <a:spcBef>
                <a:spcPts val="0"/>
              </a:spcBef>
              <a:spcAft>
                <a:spcPts val="0"/>
              </a:spcAft>
              <a:buNone/>
            </a:pPr>
            <a:r>
              <a:rPr lang="en-US"/>
              <a:t>  //     return arr;</a:t>
            </a:r>
            <a:endParaRPr/>
          </a:p>
          <a:p>
            <a:pPr indent="0" lvl="0" marL="0" rtl="0" algn="l">
              <a:spcBef>
                <a:spcPts val="0"/>
              </a:spcBef>
              <a:spcAft>
                <a:spcPts val="0"/>
              </a:spcAft>
              <a:buNone/>
            </a:pPr>
            <a:r>
              <a:rPr lang="en-US"/>
              <a:t>  //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&lt;button style={{background:'green'}} onClick={() =&gt; setCount(count + 1)}&gt;Click me&lt;/button&gt;</a:t>
            </a:r>
            <a:endParaRPr/>
          </a:p>
          <a:p>
            <a:pPr indent="0" lvl="0" marL="0" rtl="0" algn="l">
              <a:spcBef>
                <a:spcPts val="0"/>
              </a:spcBef>
              <a:spcAft>
                <a:spcPts val="0"/>
              </a:spcAft>
              <a:buNone/>
            </a:pPr>
            <a:r>
              <a:rPr lang="en-US"/>
              <a:t>      &lt;p&gt;Array Length: {getArray.length}&lt;/p&gt;</a:t>
            </a:r>
            <a:endParaRPr/>
          </a:p>
          <a:p>
            <a:pPr indent="0" lvl="0" marL="0" rtl="0" algn="l">
              <a:spcBef>
                <a:spcPts val="0"/>
              </a:spcBef>
              <a:spcAft>
                <a:spcPts val="0"/>
              </a:spcAft>
              <a:buNone/>
            </a:pPr>
            <a:r>
              <a:rPr lang="en-US"/>
              <a:t>      {/* &lt;p&gt;Array Length: {getArray().length}&lt;/p&gt; */}</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p:txBody>
      </p:sp>
      <p:sp>
        <p:nvSpPr>
          <p:cNvPr id="442" name="Google Shape;44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 useState, useMemo } from 'react'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[count, setCount] = useState(0);</a:t>
            </a:r>
            <a:endParaRPr/>
          </a:p>
          <a:p>
            <a:pPr indent="0" lvl="0" marL="0" rtl="0" algn="l">
              <a:spcBef>
                <a:spcPts val="0"/>
              </a:spcBef>
              <a:spcAft>
                <a:spcPts val="0"/>
              </a:spcAft>
              <a:buNone/>
            </a:pPr>
            <a:r>
              <a:rPr lang="en-US"/>
              <a:t>  const [todos, setTodos] = useState([]);</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const expensiveCalculation = function(num) {</a:t>
            </a:r>
            <a:endParaRPr/>
          </a:p>
          <a:p>
            <a:pPr indent="0" lvl="0" marL="0" rtl="0" algn="l">
              <a:spcBef>
                <a:spcPts val="0"/>
              </a:spcBef>
              <a:spcAft>
                <a:spcPts val="0"/>
              </a:spcAft>
              <a:buNone/>
            </a:pPr>
            <a:r>
              <a:rPr lang="en-US"/>
              <a:t>    console.log("Calculating...");</a:t>
            </a:r>
            <a:endParaRPr/>
          </a:p>
          <a:p>
            <a:pPr indent="0" lvl="0" marL="0" rtl="0" algn="l">
              <a:spcBef>
                <a:spcPts val="0"/>
              </a:spcBef>
              <a:spcAft>
                <a:spcPts val="0"/>
              </a:spcAft>
              <a:buNone/>
            </a:pPr>
            <a:r>
              <a:rPr lang="en-US"/>
              <a:t>    for (let i = 0; i &lt; 1000000000; i++) {</a:t>
            </a:r>
            <a:endParaRPr/>
          </a:p>
          <a:p>
            <a:pPr indent="0" lvl="0" marL="0" rtl="0" algn="l">
              <a:spcBef>
                <a:spcPts val="0"/>
              </a:spcBef>
              <a:spcAft>
                <a:spcPts val="0"/>
              </a:spcAft>
              <a:buNone/>
            </a:pPr>
            <a:r>
              <a:rPr lang="en-US"/>
              <a:t>      num += 1;</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return num;</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calculation = useMemo(() =&gt; expensiveCalculation(count), [count]);</a:t>
            </a:r>
            <a:endParaRPr/>
          </a:p>
          <a:p>
            <a:pPr indent="0" lvl="0" marL="0" rtl="0" algn="l">
              <a:spcBef>
                <a:spcPts val="0"/>
              </a:spcBef>
              <a:spcAft>
                <a:spcPts val="0"/>
              </a:spcAft>
              <a:buNone/>
            </a:pPr>
            <a:r>
              <a:rPr lang="en-US"/>
              <a:t>  //const calculation = expensiveCalculation(count);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const increment = () =&gt; {</a:t>
            </a:r>
            <a:endParaRPr/>
          </a:p>
          <a:p>
            <a:pPr indent="0" lvl="0" marL="0" rtl="0" algn="l">
              <a:spcBef>
                <a:spcPts val="0"/>
              </a:spcBef>
              <a:spcAft>
                <a:spcPts val="0"/>
              </a:spcAft>
              <a:buNone/>
            </a:pPr>
            <a:r>
              <a:rPr lang="en-US"/>
              <a:t>    console.log("Increment");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setCount((c) =&gt; c + 1);</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const addTodo = () =&gt; {</a:t>
            </a:r>
            <a:endParaRPr/>
          </a:p>
          <a:p>
            <a:pPr indent="0" lvl="0" marL="0" rtl="0" algn="l">
              <a:spcBef>
                <a:spcPts val="0"/>
              </a:spcBef>
              <a:spcAft>
                <a:spcPts val="0"/>
              </a:spcAft>
              <a:buNone/>
            </a:pPr>
            <a:r>
              <a:rPr lang="en-US"/>
              <a:t>    setTodos((t) =&gt; [...t, "New Todo"]);</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&lt;h2&gt;My Todos&lt;/h2&gt;</a:t>
            </a:r>
            <a:endParaRPr/>
          </a:p>
          <a:p>
            <a:pPr indent="0" lvl="0" marL="0" rtl="0" algn="l">
              <a:spcBef>
                <a:spcPts val="0"/>
              </a:spcBef>
              <a:spcAft>
                <a:spcPts val="0"/>
              </a:spcAft>
              <a:buNone/>
            </a:pPr>
            <a:r>
              <a:rPr lang="en-US"/>
              <a:t>        {todos.map((todo, index) =&gt; {</a:t>
            </a:r>
            <a:endParaRPr/>
          </a:p>
          <a:p>
            <a:pPr indent="0" lvl="0" marL="0" rtl="0" algn="l">
              <a:spcBef>
                <a:spcPts val="0"/>
              </a:spcBef>
              <a:spcAft>
                <a:spcPts val="0"/>
              </a:spcAft>
              <a:buNone/>
            </a:pPr>
            <a:r>
              <a:rPr lang="en-US"/>
              <a:t>          return &lt;p key={index}&gt;{todo}&lt;/p&gt;;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&lt;button onClick={addTodo}&gt;Add Todo&lt;/button&gt;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&lt;hr /&gt;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Count: {count}</a:t>
            </a:r>
            <a:endParaRPr/>
          </a:p>
          <a:p>
            <a:pPr indent="0" lvl="0" marL="0" rtl="0" algn="l">
              <a:spcBef>
                <a:spcPts val="0"/>
              </a:spcBef>
              <a:spcAft>
                <a:spcPts val="0"/>
              </a:spcAft>
              <a:buNone/>
            </a:pPr>
            <a:r>
              <a:rPr lang="en-US"/>
              <a:t>        &lt;button onClick={increment}&gt;+&lt;/button&gt;</a:t>
            </a:r>
            <a:endParaRPr/>
          </a:p>
          <a:p>
            <a:pPr indent="0" lvl="0" marL="0" rtl="0" algn="l">
              <a:spcBef>
                <a:spcPts val="0"/>
              </a:spcBef>
              <a:spcAft>
                <a:spcPts val="0"/>
              </a:spcAft>
              <a:buNone/>
            </a:pPr>
            <a:r>
              <a:rPr lang="en-US"/>
              <a:t>        &lt;h2&gt;Expensive Calculation&lt;/h2&gt;</a:t>
            </a:r>
            <a:endParaRPr/>
          </a:p>
          <a:p>
            <a:pPr indent="0" lvl="0" marL="0" rtl="0" algn="l">
              <a:spcBef>
                <a:spcPts val="0"/>
              </a:spcBef>
              <a:spcAft>
                <a:spcPts val="0"/>
              </a:spcAft>
              <a:buNone/>
            </a:pPr>
            <a:r>
              <a:rPr lang="en-US"/>
              <a:t>        {calculation}</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p:txBody>
      </p:sp>
      <p:sp>
        <p:nvSpPr>
          <p:cNvPr id="449" name="Google Shape;44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https://levelup.gitconnected.com/understanding-the-difference-between-usememo-and-usecallback-ec956adb2004</a:t>
            </a:r>
            <a:endParaRPr/>
          </a:p>
          <a:p>
            <a:pPr indent="0" lvl="0" marL="0" rtl="0" algn="l">
              <a:spcBef>
                <a:spcPts val="0"/>
              </a:spcBef>
              <a:spcAft>
                <a:spcPts val="0"/>
              </a:spcAft>
              <a:buNone/>
            </a:pPr>
            <a:r>
              <a:t/>
            </a:r>
            <a:endParaRPr/>
          </a:p>
        </p:txBody>
      </p:sp>
      <p:sp>
        <p:nvSpPr>
          <p:cNvPr id="457" name="Google Shape;45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50"/>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50"/>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50"/>
          <p:cNvSpPr/>
          <p:nvPr>
            <p:ph idx="2" type="pic"/>
          </p:nvPr>
        </p:nvSpPr>
        <p:spPr>
          <a:xfrm>
            <a:off x="6981063" y="1310656"/>
            <a:ext cx="5210937" cy="4208604"/>
          </a:xfrm>
          <a:prstGeom prst="rect">
            <a:avLst/>
          </a:prstGeom>
          <a:solidFill>
            <a:srgbClr val="DED9D6"/>
          </a:solidFill>
          <a:ln>
            <a:noFill/>
          </a:ln>
        </p:spPr>
      </p:sp>
      <p:sp>
        <p:nvSpPr>
          <p:cNvPr id="22" name="Google Shape;22;p50"/>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3" name="Google Shape;23;p50"/>
          <p:cNvGrpSpPr/>
          <p:nvPr/>
        </p:nvGrpSpPr>
        <p:grpSpPr>
          <a:xfrm>
            <a:off x="0" y="1143000"/>
            <a:ext cx="12192000" cy="63125"/>
            <a:chOff x="507492" y="1501519"/>
            <a:chExt cx="8129016" cy="63125"/>
          </a:xfrm>
        </p:grpSpPr>
        <p:cxnSp>
          <p:nvCxnSpPr>
            <p:cNvPr id="24" name="Google Shape;24;p5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5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pic>
        <p:nvPicPr>
          <p:cNvPr id="26" name="Google Shape;26;p50"/>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50"/>
          <p:cNvGrpSpPr/>
          <p:nvPr/>
        </p:nvGrpSpPr>
        <p:grpSpPr>
          <a:xfrm rot="10800000">
            <a:off x="0" y="5645510"/>
            <a:ext cx="12192000" cy="63125"/>
            <a:chOff x="507492" y="1501519"/>
            <a:chExt cx="8129016" cy="63125"/>
          </a:xfrm>
        </p:grpSpPr>
        <p:cxnSp>
          <p:nvCxnSpPr>
            <p:cNvPr id="28" name="Google Shape;28;p5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9" name="Google Shape;29;p5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0" name="Google Shape;30;p50"/>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1" name="Shape 31"/>
        <p:cNvGrpSpPr/>
        <p:nvPr/>
      </p:nvGrpSpPr>
      <p:grpSpPr>
        <a:xfrm>
          <a:off x="0" y="0"/>
          <a:ext cx="0" cy="0"/>
          <a:chOff x="0" y="0"/>
          <a:chExt cx="0" cy="0"/>
        </a:xfrm>
      </p:grpSpPr>
      <p:sp>
        <p:nvSpPr>
          <p:cNvPr id="32" name="Google Shape;32;p5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7" name="Shape 37"/>
        <p:cNvGrpSpPr/>
        <p:nvPr/>
      </p:nvGrpSpPr>
      <p:grpSpPr>
        <a:xfrm>
          <a:off x="0" y="0"/>
          <a:ext cx="0" cy="0"/>
          <a:chOff x="0" y="0"/>
          <a:chExt cx="0" cy="0"/>
        </a:xfrm>
      </p:grpSpPr>
      <p:sp>
        <p:nvSpPr>
          <p:cNvPr id="38" name="Google Shape;38;p52"/>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9" name="Google Shape;39;p52"/>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40" name="Google Shape;40;p52"/>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2"/>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52"/>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 name="Google Shape;43;p5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sz="1200">
                <a:solidFill>
                  <a:srgbClr val="DED9D6"/>
                </a:solidFill>
                <a:latin typeface="Arial"/>
                <a:ea typeface="Arial"/>
                <a:cs typeface="Arial"/>
                <a:sym typeface="Arial"/>
              </a:defRPr>
            </a:lvl1pPr>
            <a:lvl2pPr indent="0" lvl="1" marL="0" algn="r">
              <a:spcBef>
                <a:spcPts val="0"/>
              </a:spcBef>
              <a:buNone/>
              <a:defRPr sz="1200">
                <a:solidFill>
                  <a:srgbClr val="DED9D6"/>
                </a:solidFill>
                <a:latin typeface="Arial"/>
                <a:ea typeface="Arial"/>
                <a:cs typeface="Arial"/>
                <a:sym typeface="Arial"/>
              </a:defRPr>
            </a:lvl2pPr>
            <a:lvl3pPr indent="0" lvl="2" marL="0" algn="r">
              <a:spcBef>
                <a:spcPts val="0"/>
              </a:spcBef>
              <a:buNone/>
              <a:defRPr sz="1200">
                <a:solidFill>
                  <a:srgbClr val="DED9D6"/>
                </a:solidFill>
                <a:latin typeface="Arial"/>
                <a:ea typeface="Arial"/>
                <a:cs typeface="Arial"/>
                <a:sym typeface="Arial"/>
              </a:defRPr>
            </a:lvl3pPr>
            <a:lvl4pPr indent="0" lvl="3" marL="0" algn="r">
              <a:spcBef>
                <a:spcPts val="0"/>
              </a:spcBef>
              <a:buNone/>
              <a:defRPr sz="1200">
                <a:solidFill>
                  <a:srgbClr val="DED9D6"/>
                </a:solidFill>
                <a:latin typeface="Arial"/>
                <a:ea typeface="Arial"/>
                <a:cs typeface="Arial"/>
                <a:sym typeface="Arial"/>
              </a:defRPr>
            </a:lvl4pPr>
            <a:lvl5pPr indent="0" lvl="4" marL="0" algn="r">
              <a:spcBef>
                <a:spcPts val="0"/>
              </a:spcBef>
              <a:buNone/>
              <a:defRPr sz="1200">
                <a:solidFill>
                  <a:srgbClr val="DED9D6"/>
                </a:solidFill>
                <a:latin typeface="Arial"/>
                <a:ea typeface="Arial"/>
                <a:cs typeface="Arial"/>
                <a:sym typeface="Arial"/>
              </a:defRPr>
            </a:lvl5pPr>
            <a:lvl6pPr indent="0" lvl="5" marL="0" algn="r">
              <a:spcBef>
                <a:spcPts val="0"/>
              </a:spcBef>
              <a:buNone/>
              <a:defRPr sz="1200">
                <a:solidFill>
                  <a:srgbClr val="DED9D6"/>
                </a:solidFill>
                <a:latin typeface="Arial"/>
                <a:ea typeface="Arial"/>
                <a:cs typeface="Arial"/>
                <a:sym typeface="Arial"/>
              </a:defRPr>
            </a:lvl6pPr>
            <a:lvl7pPr indent="0" lvl="6" marL="0" algn="r">
              <a:spcBef>
                <a:spcPts val="0"/>
              </a:spcBef>
              <a:buNone/>
              <a:defRPr sz="1200">
                <a:solidFill>
                  <a:srgbClr val="DED9D6"/>
                </a:solidFill>
                <a:latin typeface="Arial"/>
                <a:ea typeface="Arial"/>
                <a:cs typeface="Arial"/>
                <a:sym typeface="Arial"/>
              </a:defRPr>
            </a:lvl7pPr>
            <a:lvl8pPr indent="0" lvl="7" marL="0" algn="r">
              <a:spcBef>
                <a:spcPts val="0"/>
              </a:spcBef>
              <a:buNone/>
              <a:defRPr sz="1200">
                <a:solidFill>
                  <a:srgbClr val="DED9D6"/>
                </a:solidFill>
                <a:latin typeface="Arial"/>
                <a:ea typeface="Arial"/>
                <a:cs typeface="Arial"/>
                <a:sym typeface="Arial"/>
              </a:defRPr>
            </a:lvl8pPr>
            <a:lvl9pPr indent="0" lvl="8" marL="0" algn="r">
              <a:spcBef>
                <a:spcPts val="0"/>
              </a:spcBef>
              <a:buNone/>
              <a:defRPr sz="1200">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6" name="Shape 46"/>
        <p:cNvGrpSpPr/>
        <p:nvPr/>
      </p:nvGrpSpPr>
      <p:grpSpPr>
        <a:xfrm>
          <a:off x="0" y="0"/>
          <a:ext cx="0" cy="0"/>
          <a:chOff x="0" y="0"/>
          <a:chExt cx="0" cy="0"/>
        </a:xfrm>
      </p:grpSpPr>
      <p:sp>
        <p:nvSpPr>
          <p:cNvPr id="47" name="Google Shape;47;p5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2" name="Shape 52"/>
        <p:cNvGrpSpPr/>
        <p:nvPr/>
      </p:nvGrpSpPr>
      <p:grpSpPr>
        <a:xfrm>
          <a:off x="0" y="0"/>
          <a:ext cx="0" cy="0"/>
          <a:chOff x="0" y="0"/>
          <a:chExt cx="0" cy="0"/>
        </a:xfrm>
      </p:grpSpPr>
      <p:grpSp>
        <p:nvGrpSpPr>
          <p:cNvPr id="53" name="Google Shape;53;p54"/>
          <p:cNvGrpSpPr/>
          <p:nvPr/>
        </p:nvGrpSpPr>
        <p:grpSpPr>
          <a:xfrm>
            <a:off x="0" y="2514600"/>
            <a:ext cx="12192000" cy="3194035"/>
            <a:chOff x="647402" y="2514600"/>
            <a:chExt cx="10838688" cy="3194035"/>
          </a:xfrm>
        </p:grpSpPr>
        <p:grpSp>
          <p:nvGrpSpPr>
            <p:cNvPr id="54" name="Google Shape;54;p54"/>
            <p:cNvGrpSpPr/>
            <p:nvPr/>
          </p:nvGrpSpPr>
          <p:grpSpPr>
            <a:xfrm>
              <a:off x="647402" y="2514600"/>
              <a:ext cx="10838688" cy="63125"/>
              <a:chOff x="507492" y="1501519"/>
              <a:chExt cx="8129016" cy="63125"/>
            </a:xfrm>
          </p:grpSpPr>
          <p:cxnSp>
            <p:nvCxnSpPr>
              <p:cNvPr id="55" name="Google Shape;55;p54"/>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56" name="Google Shape;56;p54"/>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57" name="Google Shape;57;p54"/>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8" name="Google Shape;58;p54"/>
            <p:cNvGrpSpPr/>
            <p:nvPr/>
          </p:nvGrpSpPr>
          <p:grpSpPr>
            <a:xfrm rot="10800000">
              <a:off x="647402" y="5645510"/>
              <a:ext cx="10838688" cy="63125"/>
              <a:chOff x="507492" y="1501519"/>
              <a:chExt cx="8129016" cy="63125"/>
            </a:xfrm>
          </p:grpSpPr>
          <p:cxnSp>
            <p:nvCxnSpPr>
              <p:cNvPr id="59" name="Google Shape;59;p54"/>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60" name="Google Shape;60;p54"/>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61" name="Google Shape;61;p54"/>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62" name="Google Shape;62;p54"/>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4"/>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100000"/>
              </a:lnSpc>
              <a:spcBef>
                <a:spcPts val="600"/>
              </a:spcBef>
              <a:spcAft>
                <a:spcPts val="0"/>
              </a:spcAft>
              <a:buClr>
                <a:srgbClr val="969391"/>
              </a:buClr>
              <a:buSzPts val="2000"/>
              <a:buNone/>
              <a:defRPr sz="2000">
                <a:solidFill>
                  <a:srgbClr val="969391"/>
                </a:solidFill>
              </a:defRPr>
            </a:lvl2pPr>
            <a:lvl3pPr indent="-228600" lvl="2" marL="1371600" algn="l">
              <a:lnSpc>
                <a:spcPct val="100000"/>
              </a:lnSpc>
              <a:spcBef>
                <a:spcPts val="600"/>
              </a:spcBef>
              <a:spcAft>
                <a:spcPts val="0"/>
              </a:spcAft>
              <a:buClr>
                <a:srgbClr val="969391"/>
              </a:buClr>
              <a:buSzPts val="1800"/>
              <a:buNone/>
              <a:defRPr sz="1800">
                <a:solidFill>
                  <a:srgbClr val="969391"/>
                </a:solidFill>
              </a:defRPr>
            </a:lvl3pPr>
            <a:lvl4pPr indent="-228600" lvl="3" marL="1828800" algn="l">
              <a:lnSpc>
                <a:spcPct val="100000"/>
              </a:lnSpc>
              <a:spcBef>
                <a:spcPts val="600"/>
              </a:spcBef>
              <a:spcAft>
                <a:spcPts val="0"/>
              </a:spcAft>
              <a:buClr>
                <a:srgbClr val="969391"/>
              </a:buClr>
              <a:buSzPts val="1600"/>
              <a:buNone/>
              <a:defRPr sz="1600">
                <a:solidFill>
                  <a:srgbClr val="969391"/>
                </a:solidFill>
              </a:defRPr>
            </a:lvl4pPr>
            <a:lvl5pPr indent="-228600" lvl="4" marL="2286000" algn="l">
              <a:lnSpc>
                <a:spcPct val="10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64" name="Google Shape;64;p5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5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5"/>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70" name="Google Shape;70;p55"/>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5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6"/>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56"/>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6"/>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9" name="Google Shape;79;p56"/>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5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5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5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9"/>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5" name="Google Shape;95;p59"/>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100000"/>
              </a:lnSpc>
              <a:spcBef>
                <a:spcPts val="1800"/>
              </a:spcBef>
              <a:spcAft>
                <a:spcPts val="0"/>
              </a:spcAft>
              <a:buClr>
                <a:schemeClr val="dk1"/>
              </a:buClr>
              <a:buSzPts val="2000"/>
              <a:buChar char="▪"/>
              <a:defRPr sz="2000"/>
            </a:lvl1pPr>
            <a:lvl2pPr indent="-330200" lvl="1" marL="914400" algn="l">
              <a:lnSpc>
                <a:spcPct val="100000"/>
              </a:lnSpc>
              <a:spcBef>
                <a:spcPts val="600"/>
              </a:spcBef>
              <a:spcAft>
                <a:spcPts val="0"/>
              </a:spcAft>
              <a:buClr>
                <a:schemeClr val="dk1"/>
              </a:buClr>
              <a:buSzPts val="1600"/>
              <a:buChar char="▪"/>
              <a:defRPr sz="1600"/>
            </a:lvl2pPr>
            <a:lvl3pPr indent="-330200" lvl="2" marL="1371600" algn="l">
              <a:lnSpc>
                <a:spcPct val="100000"/>
              </a:lnSpc>
              <a:spcBef>
                <a:spcPts val="600"/>
              </a:spcBef>
              <a:spcAft>
                <a:spcPts val="0"/>
              </a:spcAft>
              <a:buClr>
                <a:schemeClr val="dk1"/>
              </a:buClr>
              <a:buSzPts val="1600"/>
              <a:buChar char="▪"/>
              <a:defRPr sz="1600"/>
            </a:lvl3pPr>
            <a:lvl4pPr indent="-317500" lvl="3" marL="1828800" algn="l">
              <a:lnSpc>
                <a:spcPct val="100000"/>
              </a:lnSpc>
              <a:spcBef>
                <a:spcPts val="600"/>
              </a:spcBef>
              <a:spcAft>
                <a:spcPts val="0"/>
              </a:spcAft>
              <a:buClr>
                <a:schemeClr val="dk1"/>
              </a:buClr>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6" name="Google Shape;96;p5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9" name="Shape 99"/>
        <p:cNvGrpSpPr/>
        <p:nvPr/>
      </p:nvGrpSpPr>
      <p:grpSpPr>
        <a:xfrm>
          <a:off x="0" y="0"/>
          <a:ext cx="0" cy="0"/>
          <a:chOff x="0" y="0"/>
          <a:chExt cx="0" cy="0"/>
        </a:xfrm>
      </p:grpSpPr>
      <p:sp>
        <p:nvSpPr>
          <p:cNvPr id="100" name="Google Shape;100;p6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60"/>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102" name="Google Shape;102;p60"/>
          <p:cNvSpPr/>
          <p:nvPr>
            <p:ph idx="2" type="pic"/>
          </p:nvPr>
        </p:nvSpPr>
        <p:spPr>
          <a:xfrm>
            <a:off x="4654671" y="1600199"/>
            <a:ext cx="6430912" cy="4572001"/>
          </a:xfrm>
          <a:prstGeom prst="rect">
            <a:avLst/>
          </a:prstGeom>
          <a:noFill/>
          <a:ln>
            <a:noFill/>
          </a:ln>
        </p:spPr>
      </p:sp>
      <p:sp>
        <p:nvSpPr>
          <p:cNvPr id="103" name="Google Shape;103;p6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6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6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p6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61"/>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6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6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12" name="Shape 112"/>
        <p:cNvGrpSpPr/>
        <p:nvPr/>
      </p:nvGrpSpPr>
      <p:grpSpPr>
        <a:xfrm>
          <a:off x="0" y="0"/>
          <a:ext cx="0" cy="0"/>
          <a:chOff x="0" y="0"/>
          <a:chExt cx="0" cy="0"/>
        </a:xfrm>
      </p:grpSpPr>
      <p:sp>
        <p:nvSpPr>
          <p:cNvPr id="113" name="Google Shape;113;p62"/>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62"/>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6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8" name="Google Shape;118;p62"/>
          <p:cNvGrpSpPr/>
          <p:nvPr/>
        </p:nvGrpSpPr>
        <p:grpSpPr>
          <a:xfrm rot="5400000">
            <a:off x="6514047" y="3228843"/>
            <a:ext cx="5632704" cy="84403"/>
            <a:chOff x="1073150" y="1219201"/>
            <a:chExt cx="10058400" cy="63125"/>
          </a:xfrm>
        </p:grpSpPr>
        <p:cxnSp>
          <p:nvCxnSpPr>
            <p:cNvPr id="119" name="Google Shape;119;p62"/>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20" name="Google Shape;120;p62"/>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406400" lvl="0" marL="457200" marR="0" rtl="0" algn="l">
              <a:lnSpc>
                <a:spcPct val="100000"/>
              </a:lnSpc>
              <a:spcBef>
                <a:spcPts val="18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100000"/>
              </a:lnSpc>
              <a:spcBef>
                <a:spcPts val="6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55600" lvl="3" marL="18288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4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buNone/>
              <a:defRPr b="0" i="0" sz="1200" u="none" cap="none" strike="noStrike">
                <a:solidFill>
                  <a:srgbClr val="3C3632"/>
                </a:solidFill>
                <a:latin typeface="Arial"/>
                <a:ea typeface="Arial"/>
                <a:cs typeface="Arial"/>
                <a:sym typeface="Arial"/>
              </a:defRPr>
            </a:lvl1pPr>
            <a:lvl2pPr indent="0" lvl="1" marL="0" marR="0" rtl="0" algn="r">
              <a:spcBef>
                <a:spcPts val="0"/>
              </a:spcBef>
              <a:buNone/>
              <a:defRPr b="0" i="0" sz="1200" u="none" cap="none" strike="noStrike">
                <a:solidFill>
                  <a:srgbClr val="3C3632"/>
                </a:solidFill>
                <a:latin typeface="Arial"/>
                <a:ea typeface="Arial"/>
                <a:cs typeface="Arial"/>
                <a:sym typeface="Arial"/>
              </a:defRPr>
            </a:lvl2pPr>
            <a:lvl3pPr indent="0" lvl="2" marL="0" marR="0" rtl="0" algn="r">
              <a:spcBef>
                <a:spcPts val="0"/>
              </a:spcBef>
              <a:buNone/>
              <a:defRPr b="0" i="0" sz="1200" u="none" cap="none" strike="noStrike">
                <a:solidFill>
                  <a:srgbClr val="3C3632"/>
                </a:solidFill>
                <a:latin typeface="Arial"/>
                <a:ea typeface="Arial"/>
                <a:cs typeface="Arial"/>
                <a:sym typeface="Arial"/>
              </a:defRPr>
            </a:lvl3pPr>
            <a:lvl4pPr indent="0" lvl="3" marL="0" marR="0" rtl="0" algn="r">
              <a:spcBef>
                <a:spcPts val="0"/>
              </a:spcBef>
              <a:buNone/>
              <a:defRPr b="0" i="0" sz="1200" u="none" cap="none" strike="noStrike">
                <a:solidFill>
                  <a:srgbClr val="3C3632"/>
                </a:solidFill>
                <a:latin typeface="Arial"/>
                <a:ea typeface="Arial"/>
                <a:cs typeface="Arial"/>
                <a:sym typeface="Arial"/>
              </a:defRPr>
            </a:lvl4pPr>
            <a:lvl5pPr indent="0" lvl="4" marL="0" marR="0" rtl="0" algn="r">
              <a:spcBef>
                <a:spcPts val="0"/>
              </a:spcBef>
              <a:buNone/>
              <a:defRPr b="0" i="0" sz="1200" u="none" cap="none" strike="noStrike">
                <a:solidFill>
                  <a:srgbClr val="3C3632"/>
                </a:solidFill>
                <a:latin typeface="Arial"/>
                <a:ea typeface="Arial"/>
                <a:cs typeface="Arial"/>
                <a:sym typeface="Arial"/>
              </a:defRPr>
            </a:lvl5pPr>
            <a:lvl6pPr indent="0" lvl="5" marL="0" marR="0" rtl="0" algn="r">
              <a:spcBef>
                <a:spcPts val="0"/>
              </a:spcBef>
              <a:buNone/>
              <a:defRPr b="0" i="0" sz="1200" u="none" cap="none" strike="noStrike">
                <a:solidFill>
                  <a:srgbClr val="3C3632"/>
                </a:solidFill>
                <a:latin typeface="Arial"/>
                <a:ea typeface="Arial"/>
                <a:cs typeface="Arial"/>
                <a:sym typeface="Arial"/>
              </a:defRPr>
            </a:lvl6pPr>
            <a:lvl7pPr indent="0" lvl="6" marL="0" marR="0" rtl="0" algn="r">
              <a:spcBef>
                <a:spcPts val="0"/>
              </a:spcBef>
              <a:buNone/>
              <a:defRPr b="0" i="0" sz="1200" u="none" cap="none" strike="noStrike">
                <a:solidFill>
                  <a:srgbClr val="3C3632"/>
                </a:solidFill>
                <a:latin typeface="Arial"/>
                <a:ea typeface="Arial"/>
                <a:cs typeface="Arial"/>
                <a:sym typeface="Arial"/>
              </a:defRPr>
            </a:lvl7pPr>
            <a:lvl8pPr indent="0" lvl="7" marL="0" marR="0" rtl="0" algn="r">
              <a:spcBef>
                <a:spcPts val="0"/>
              </a:spcBef>
              <a:buNone/>
              <a:defRPr b="0" i="0" sz="1200" u="none" cap="none" strike="noStrike">
                <a:solidFill>
                  <a:srgbClr val="3C3632"/>
                </a:solidFill>
                <a:latin typeface="Arial"/>
                <a:ea typeface="Arial"/>
                <a:cs typeface="Arial"/>
                <a:sym typeface="Arial"/>
              </a:defRPr>
            </a:lvl8pPr>
            <a:lvl9pPr indent="0" lvl="8" marL="0" marR="0" rtl="0" algn="r">
              <a:spcBef>
                <a:spcPts val="0"/>
              </a:spcBef>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 name="Google Shape;15;p49"/>
          <p:cNvGrpSpPr/>
          <p:nvPr/>
        </p:nvGrpSpPr>
        <p:grpSpPr>
          <a:xfrm>
            <a:off x="1103376" y="1219201"/>
            <a:ext cx="9985248" cy="84403"/>
            <a:chOff x="1073150" y="1219201"/>
            <a:chExt cx="10058400" cy="63125"/>
          </a:xfrm>
        </p:grpSpPr>
        <p:cxnSp>
          <p:nvCxnSpPr>
            <p:cNvPr id="16" name="Google Shape;16;p49"/>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7" name="Google Shape;17;p49"/>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800"/>
              <a:buNone/>
            </a:pPr>
            <a:r>
              <a:rPr lang="en-US"/>
              <a:t>Giảng viên: Từ Thị Xuân Hiền</a:t>
            </a:r>
            <a:endParaRPr/>
          </a:p>
        </p:txBody>
      </p:sp>
      <p:pic>
        <p:nvPicPr>
          <p:cNvPr descr="Open book on table, blurred shelves of books in background" id="127" name="Google Shape;127;p1"/>
          <p:cNvPicPr preferRelativeResize="0"/>
          <p:nvPr>
            <p:ph idx="2" type="pic"/>
          </p:nvPr>
        </p:nvPicPr>
        <p:blipFill rotWithShape="1">
          <a:blip r:embed="rId3">
            <a:alphaModFix/>
          </a:blip>
          <a:srcRect b="0" l="8895" r="8895" t="0"/>
          <a:stretch/>
        </p:blipFill>
        <p:spPr>
          <a:xfrm>
            <a:off x="6981063" y="1310656"/>
            <a:ext cx="5210937" cy="4208604"/>
          </a:xfrm>
          <a:prstGeom prst="rect">
            <a:avLst/>
          </a:prstGeom>
          <a:solidFill>
            <a:srgbClr val="DED9D6"/>
          </a:solidFill>
          <a:ln>
            <a:noFill/>
          </a:ln>
        </p:spPr>
      </p:pic>
      <p:grpSp>
        <p:nvGrpSpPr>
          <p:cNvPr id="128" name="Google Shape;128;p1"/>
          <p:cNvGrpSpPr/>
          <p:nvPr/>
        </p:nvGrpSpPr>
        <p:grpSpPr>
          <a:xfrm>
            <a:off x="1049124" y="2927692"/>
            <a:ext cx="10401348" cy="1200329"/>
            <a:chOff x="871700" y="2709329"/>
            <a:chExt cx="5385037" cy="1200329"/>
          </a:xfrm>
        </p:grpSpPr>
        <p:pic>
          <p:nvPicPr>
            <p:cNvPr id="129" name="Google Shape;129;p1"/>
            <p:cNvPicPr preferRelativeResize="0"/>
            <p:nvPr/>
          </p:nvPicPr>
          <p:blipFill rotWithShape="1">
            <a:blip r:embed="rId4">
              <a:alphaModFix/>
            </a:blip>
            <a:srcRect b="24623" l="21349" r="19027" t="0"/>
            <a:stretch/>
          </p:blipFill>
          <p:spPr>
            <a:xfrm>
              <a:off x="871700" y="2712616"/>
              <a:ext cx="735750" cy="1188720"/>
            </a:xfrm>
            <a:prstGeom prst="rect">
              <a:avLst/>
            </a:prstGeom>
            <a:noFill/>
            <a:ln>
              <a:noFill/>
            </a:ln>
          </p:spPr>
        </p:pic>
        <p:sp>
          <p:nvSpPr>
            <p:cNvPr id="130" name="Google Shape;130;p1"/>
            <p:cNvSpPr/>
            <p:nvPr/>
          </p:nvSpPr>
          <p:spPr>
            <a:xfrm>
              <a:off x="1607450" y="2709329"/>
              <a:ext cx="4649287" cy="1200329"/>
            </a:xfrm>
            <a:prstGeom prst="rect">
              <a:avLst/>
            </a:prstGeom>
            <a:solidFill>
              <a:schemeClr val="dk2"/>
            </a:solidFill>
            <a:ln>
              <a:noFill/>
            </a:ln>
            <a:effectLst>
              <a:reflection blurRad="0" dir="0" dist="0" endA="300" endPos="35000" kx="0" rotWithShape="0" algn="bl" stA="52000" stPos="0" sy="-100000" ky="0"/>
            </a:effectLst>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FEFEFE"/>
                  </a:solidFill>
                  <a:latin typeface="Arial Black"/>
                  <a:ea typeface="Arial Black"/>
                  <a:cs typeface="Arial Black"/>
                  <a:sym typeface="Arial Black"/>
                </a:rPr>
                <a:t>Hook in React JS</a:t>
              </a:r>
              <a:endParaRPr b="1" i="0" sz="7200" u="none" cap="none" strike="noStrike">
                <a:solidFill>
                  <a:srgbClr val="FEFEFE"/>
                </a:solidFill>
                <a:latin typeface="Arial Black"/>
                <a:ea typeface="Arial Black"/>
                <a:cs typeface="Arial Black"/>
                <a:sym typeface="Arial Black"/>
              </a:endParaRPr>
            </a:p>
          </p:txBody>
        </p:sp>
      </p:grpSp>
      <p:sp>
        <p:nvSpPr>
          <p:cNvPr id="131" name="Google Shape;131;p1"/>
          <p:cNvSpPr txBox="1"/>
          <p:nvPr/>
        </p:nvSpPr>
        <p:spPr>
          <a:xfrm>
            <a:off x="3920553" y="1981758"/>
            <a:ext cx="306051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0000"/>
                </a:solidFill>
                <a:latin typeface="Arial Black"/>
                <a:ea typeface="Arial Black"/>
                <a:cs typeface="Arial Black"/>
                <a:sym typeface="Arial Black"/>
              </a:rPr>
              <a:t>Chương 3.</a:t>
            </a:r>
            <a:endParaRPr sz="400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React Hooks overview</a:t>
            </a:r>
            <a:endParaRPr/>
          </a:p>
        </p:txBody>
      </p:sp>
      <p:sp>
        <p:nvSpPr>
          <p:cNvPr id="138" name="Google Shape;138;p2"/>
          <p:cNvSpPr txBox="1"/>
          <p:nvPr>
            <p:ph idx="1" type="body"/>
          </p:nvPr>
        </p:nvSpPr>
        <p:spPr>
          <a:xfrm>
            <a:off x="1104899" y="1600200"/>
            <a:ext cx="10372867" cy="4814248"/>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React Hooks </a:t>
            </a:r>
            <a:r>
              <a:rPr lang="en-US"/>
              <a:t>is a feature in the </a:t>
            </a:r>
            <a:r>
              <a:rPr i="1" lang="en-US"/>
              <a:t>React library</a:t>
            </a:r>
            <a:r>
              <a:rPr lang="en-US"/>
              <a:t>, introduced in React 16.8, that helps you use React features in functional components instead of just class components. </a:t>
            </a:r>
            <a:endParaRPr/>
          </a:p>
          <a:p>
            <a:pPr indent="-228600" lvl="0" marL="228600" rtl="0" algn="l">
              <a:lnSpc>
                <a:spcPct val="100000"/>
              </a:lnSpc>
              <a:spcBef>
                <a:spcPts val="1800"/>
              </a:spcBef>
              <a:spcAft>
                <a:spcPts val="0"/>
              </a:spcAft>
              <a:buClr>
                <a:schemeClr val="dk1"/>
              </a:buClr>
              <a:buSzPts val="2800"/>
              <a:buChar char="▪"/>
            </a:pPr>
            <a:r>
              <a:rPr b="1" lang="en-US"/>
              <a:t>Hooks</a:t>
            </a:r>
            <a:r>
              <a:rPr lang="en-US"/>
              <a:t> in React allow the </a:t>
            </a:r>
            <a:r>
              <a:rPr i="1" lang="en-US">
                <a:solidFill>
                  <a:schemeClr val="dk2"/>
                </a:solidFill>
              </a:rPr>
              <a:t>functional components </a:t>
            </a:r>
            <a:r>
              <a:rPr lang="en-US"/>
              <a:t>to use </a:t>
            </a:r>
            <a:r>
              <a:rPr b="1" lang="en-US"/>
              <a:t>states</a:t>
            </a:r>
            <a:r>
              <a:rPr lang="en-US"/>
              <a:t> and manage side </a:t>
            </a:r>
            <a:r>
              <a:rPr b="1" lang="en-US"/>
              <a:t>effects</a:t>
            </a:r>
            <a:r>
              <a:rPr lang="en-US"/>
              <a:t>. They were first introduced in React 16.8, and let developers to hook into the state and other React features without having to write a class. </a:t>
            </a:r>
            <a:endParaRPr/>
          </a:p>
          <a:p>
            <a:pPr indent="-228600" lvl="0" marL="228600" rtl="0" algn="l">
              <a:lnSpc>
                <a:spcPct val="100000"/>
              </a:lnSpc>
              <a:spcBef>
                <a:spcPts val="1800"/>
              </a:spcBef>
              <a:spcAft>
                <a:spcPts val="0"/>
              </a:spcAft>
              <a:buClr>
                <a:schemeClr val="dk1"/>
              </a:buClr>
              <a:buSzPts val="2800"/>
              <a:buChar char="▪"/>
            </a:pPr>
            <a:r>
              <a:rPr lang="en-US"/>
              <a:t>They provide a cleaner and more concise way to handle state and side effects in React applications.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React Hooks overview</a:t>
            </a:r>
            <a:endParaRPr/>
          </a:p>
        </p:txBody>
      </p:sp>
      <p:sp>
        <p:nvSpPr>
          <p:cNvPr id="144" name="Google Shape;144;p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chemeClr val="dk1"/>
              </a:buClr>
              <a:buSzPts val="2800"/>
              <a:buChar char="▪"/>
            </a:pPr>
            <a:r>
              <a:rPr b="1" lang="en-US"/>
              <a:t>Hooks are backward-compatible</a:t>
            </a:r>
            <a:r>
              <a:rPr lang="en-US"/>
              <a:t>, which means it does not contain any breaking changes. Also, it does not replace your knowledge of React concepts.</a:t>
            </a:r>
            <a:endParaRPr/>
          </a:p>
          <a:p>
            <a:pPr indent="-228600" lvl="0" marL="228600" rtl="0" algn="just">
              <a:lnSpc>
                <a:spcPct val="100000"/>
              </a:lnSpc>
              <a:spcBef>
                <a:spcPts val="1800"/>
              </a:spcBef>
              <a:spcAft>
                <a:spcPts val="0"/>
              </a:spcAft>
              <a:buClr>
                <a:srgbClr val="FF0000"/>
              </a:buClr>
              <a:buSzPts val="2800"/>
              <a:buChar char="▪"/>
            </a:pPr>
            <a:r>
              <a:rPr b="1" lang="en-US">
                <a:solidFill>
                  <a:srgbClr val="FF0000"/>
                </a:solidFill>
              </a:rPr>
              <a:t>When to use React Hooks?</a:t>
            </a:r>
            <a:endParaRPr/>
          </a:p>
          <a:p>
            <a:pPr indent="-228600" lvl="1" marL="685800" rtl="0" algn="just">
              <a:lnSpc>
                <a:spcPct val="100000"/>
              </a:lnSpc>
              <a:spcBef>
                <a:spcPts val="600"/>
              </a:spcBef>
              <a:spcAft>
                <a:spcPts val="0"/>
              </a:spcAft>
              <a:buClr>
                <a:schemeClr val="dk1"/>
              </a:buClr>
              <a:buSzPts val="2400"/>
              <a:buChar char="▪"/>
            </a:pPr>
            <a:r>
              <a:rPr lang="en-US"/>
              <a:t>If you write a function component, and then you want to add some state to it, previously you do this by converting it to a class. But, now you can do it by using a Hook inside the existing function component.</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React Hooks Installation</a:t>
            </a:r>
            <a:endParaRPr/>
          </a:p>
        </p:txBody>
      </p:sp>
      <p:sp>
        <p:nvSpPr>
          <p:cNvPr id="150" name="Google Shape;150;p4"/>
          <p:cNvSpPr txBox="1"/>
          <p:nvPr>
            <p:ph idx="1" type="body"/>
          </p:nvPr>
        </p:nvSpPr>
        <p:spPr>
          <a:xfrm>
            <a:off x="1104900" y="1600200"/>
            <a:ext cx="108839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To use React Hooks, we need to run the following commands:</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228600" lvl="0" marL="228600" rtl="0" algn="l">
              <a:lnSpc>
                <a:spcPct val="100000"/>
              </a:lnSpc>
              <a:spcBef>
                <a:spcPts val="1800"/>
              </a:spcBef>
              <a:spcAft>
                <a:spcPts val="0"/>
              </a:spcAft>
              <a:buClr>
                <a:schemeClr val="dk1"/>
              </a:buClr>
              <a:buSzPts val="2800"/>
              <a:buChar char="▪"/>
            </a:pPr>
            <a:r>
              <a:rPr lang="en-US"/>
              <a:t>The above command will install the latest React and React-DOM alpha versions which support React Hooks. </a:t>
            </a:r>
            <a:endParaRPr/>
          </a:p>
          <a:p>
            <a:pPr indent="-228600" lvl="0" marL="228600" rtl="0" algn="l">
              <a:lnSpc>
                <a:spcPct val="100000"/>
              </a:lnSpc>
              <a:spcBef>
                <a:spcPts val="1800"/>
              </a:spcBef>
              <a:spcAft>
                <a:spcPts val="0"/>
              </a:spcAft>
              <a:buClr>
                <a:schemeClr val="dk1"/>
              </a:buClr>
              <a:buSzPts val="2800"/>
              <a:buChar char="▪"/>
            </a:pPr>
            <a:r>
              <a:rPr lang="en-US"/>
              <a:t>Make sure the </a:t>
            </a:r>
            <a:r>
              <a:rPr i="1" lang="en-US"/>
              <a:t>package.json </a:t>
            </a:r>
            <a:r>
              <a:rPr lang="en-US"/>
              <a:t>file lists the React and React-DOM dependencies as given below.</a:t>
            </a:r>
            <a:endParaRPr/>
          </a:p>
        </p:txBody>
      </p:sp>
      <p:sp>
        <p:nvSpPr>
          <p:cNvPr id="151" name="Google Shape;151;p4"/>
          <p:cNvSpPr txBox="1"/>
          <p:nvPr/>
        </p:nvSpPr>
        <p:spPr>
          <a:xfrm>
            <a:off x="1473199" y="2326902"/>
            <a:ext cx="8703733" cy="83099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152400" lvl="0" marL="0" marR="0" rtl="0" algn="l">
              <a:spcBef>
                <a:spcPts val="0"/>
              </a:spcBef>
              <a:spcAft>
                <a:spcPts val="0"/>
              </a:spcAft>
              <a:buClr>
                <a:srgbClr val="2B2A29"/>
              </a:buClr>
              <a:buSzPts val="2400"/>
              <a:buFont typeface="Arial"/>
              <a:buAutoNum type="arabicPeriod"/>
            </a:pPr>
            <a:r>
              <a:rPr b="1" i="0" lang="en-US" sz="2400">
                <a:solidFill>
                  <a:srgbClr val="2B2A29"/>
                </a:solidFill>
                <a:latin typeface="Montserrat"/>
                <a:ea typeface="Montserrat"/>
                <a:cs typeface="Montserrat"/>
                <a:sym typeface="Montserrat"/>
              </a:rPr>
              <a:t>$ npm install react</a:t>
            </a:r>
            <a:r>
              <a:rPr b="1" i="0" lang="en-US" sz="2400">
                <a:solidFill>
                  <a:srgbClr val="646464"/>
                </a:solidFill>
                <a:latin typeface="Montserrat"/>
                <a:ea typeface="Montserrat"/>
                <a:cs typeface="Montserrat"/>
                <a:sym typeface="Montserrat"/>
              </a:rPr>
              <a:t>@16</a:t>
            </a:r>
            <a:r>
              <a:rPr b="1" i="0" lang="en-US" sz="2400">
                <a:solidFill>
                  <a:srgbClr val="2B2A29"/>
                </a:solidFill>
                <a:latin typeface="Montserrat"/>
                <a:ea typeface="Montserrat"/>
                <a:cs typeface="Montserrat"/>
                <a:sym typeface="Montserrat"/>
              </a:rPr>
              <a:t>.8.</a:t>
            </a:r>
            <a:r>
              <a:rPr b="1" i="0" lang="en-US" sz="2400">
                <a:solidFill>
                  <a:srgbClr val="C00000"/>
                </a:solidFill>
                <a:latin typeface="Montserrat"/>
                <a:ea typeface="Montserrat"/>
                <a:cs typeface="Montserrat"/>
                <a:sym typeface="Montserrat"/>
              </a:rPr>
              <a:t>0</a:t>
            </a:r>
            <a:r>
              <a:rPr b="1" i="0" lang="en-US" sz="2400">
                <a:solidFill>
                  <a:srgbClr val="2B2A29"/>
                </a:solidFill>
                <a:latin typeface="Montserrat"/>
                <a:ea typeface="Montserrat"/>
                <a:cs typeface="Montserrat"/>
                <a:sym typeface="Montserrat"/>
              </a:rPr>
              <a:t>-alpha.</a:t>
            </a:r>
            <a:r>
              <a:rPr b="1" i="0" lang="en-US" sz="2400">
                <a:solidFill>
                  <a:srgbClr val="C00000"/>
                </a:solidFill>
                <a:latin typeface="Montserrat"/>
                <a:ea typeface="Montserrat"/>
                <a:cs typeface="Montserrat"/>
                <a:sym typeface="Montserrat"/>
              </a:rPr>
              <a:t>1</a:t>
            </a:r>
            <a:r>
              <a:rPr b="1" i="0" lang="en-US" sz="2400">
                <a:solidFill>
                  <a:srgbClr val="2B2A29"/>
                </a:solidFill>
                <a:latin typeface="Montserrat"/>
                <a:ea typeface="Montserrat"/>
                <a:cs typeface="Montserrat"/>
                <a:sym typeface="Montserrat"/>
              </a:rPr>
              <a:t> --save  </a:t>
            </a:r>
            <a:endParaRPr/>
          </a:p>
          <a:p>
            <a:pPr indent="-152400" lvl="0" marL="0" marR="0" rtl="0" algn="l">
              <a:spcBef>
                <a:spcPts val="0"/>
              </a:spcBef>
              <a:spcAft>
                <a:spcPts val="0"/>
              </a:spcAft>
              <a:buClr>
                <a:srgbClr val="2B2A29"/>
              </a:buClr>
              <a:buSzPts val="2400"/>
              <a:buFont typeface="Arial"/>
              <a:buAutoNum type="arabicPeriod"/>
            </a:pPr>
            <a:r>
              <a:rPr b="1" i="0" lang="en-US" sz="2400">
                <a:solidFill>
                  <a:srgbClr val="2B2A29"/>
                </a:solidFill>
                <a:latin typeface="Montserrat"/>
                <a:ea typeface="Montserrat"/>
                <a:cs typeface="Montserrat"/>
                <a:sym typeface="Montserrat"/>
              </a:rPr>
              <a:t>$ npm install react-dom</a:t>
            </a:r>
            <a:r>
              <a:rPr b="1" i="0" lang="en-US" sz="2400">
                <a:solidFill>
                  <a:srgbClr val="646464"/>
                </a:solidFill>
                <a:latin typeface="Montserrat"/>
                <a:ea typeface="Montserrat"/>
                <a:cs typeface="Montserrat"/>
                <a:sym typeface="Montserrat"/>
              </a:rPr>
              <a:t>@16</a:t>
            </a:r>
            <a:r>
              <a:rPr b="1" i="0" lang="en-US" sz="2400">
                <a:solidFill>
                  <a:srgbClr val="2B2A29"/>
                </a:solidFill>
                <a:latin typeface="Montserrat"/>
                <a:ea typeface="Montserrat"/>
                <a:cs typeface="Montserrat"/>
                <a:sym typeface="Montserrat"/>
              </a:rPr>
              <a:t>.8.</a:t>
            </a:r>
            <a:r>
              <a:rPr b="1" i="0" lang="en-US" sz="2400">
                <a:solidFill>
                  <a:srgbClr val="C00000"/>
                </a:solidFill>
                <a:latin typeface="Montserrat"/>
                <a:ea typeface="Montserrat"/>
                <a:cs typeface="Montserrat"/>
                <a:sym typeface="Montserrat"/>
              </a:rPr>
              <a:t>0</a:t>
            </a:r>
            <a:r>
              <a:rPr b="1" i="0" lang="en-US" sz="2400">
                <a:solidFill>
                  <a:srgbClr val="2B2A29"/>
                </a:solidFill>
                <a:latin typeface="Montserrat"/>
                <a:ea typeface="Montserrat"/>
                <a:cs typeface="Montserrat"/>
                <a:sym typeface="Montserrat"/>
              </a:rPr>
              <a:t>-alpha.</a:t>
            </a:r>
            <a:r>
              <a:rPr b="1" i="0" lang="en-US" sz="2400">
                <a:solidFill>
                  <a:srgbClr val="C00000"/>
                </a:solidFill>
                <a:latin typeface="Montserrat"/>
                <a:ea typeface="Montserrat"/>
                <a:cs typeface="Montserrat"/>
                <a:sym typeface="Montserrat"/>
              </a:rPr>
              <a:t>1</a:t>
            </a:r>
            <a:r>
              <a:rPr b="1" i="0" lang="en-US" sz="2400">
                <a:solidFill>
                  <a:srgbClr val="2B2A29"/>
                </a:solidFill>
                <a:latin typeface="Montserrat"/>
                <a:ea typeface="Montserrat"/>
                <a:cs typeface="Montserrat"/>
                <a:sym typeface="Montserrat"/>
              </a:rPr>
              <a:t> --save  </a:t>
            </a:r>
            <a:endParaRPr/>
          </a:p>
        </p:txBody>
      </p:sp>
      <p:sp>
        <p:nvSpPr>
          <p:cNvPr id="152" name="Google Shape;152;p4"/>
          <p:cNvSpPr txBox="1"/>
          <p:nvPr/>
        </p:nvSpPr>
        <p:spPr>
          <a:xfrm>
            <a:off x="3047240" y="5756701"/>
            <a:ext cx="6198359" cy="83099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152400" lvl="0" marL="0" marR="0" rtl="0" algn="l">
              <a:spcBef>
                <a:spcPts val="0"/>
              </a:spcBef>
              <a:spcAft>
                <a:spcPts val="0"/>
              </a:spcAft>
              <a:buClr>
                <a:srgbClr val="2B2A29"/>
              </a:buClr>
              <a:buSzPts val="2400"/>
              <a:buFont typeface="Arial"/>
              <a:buAutoNum type="arabicPeriod"/>
            </a:pPr>
            <a:r>
              <a:rPr b="1" i="0" lang="en-US" sz="2400">
                <a:solidFill>
                  <a:srgbClr val="2B2A29"/>
                </a:solidFill>
                <a:latin typeface="Montserrat"/>
                <a:ea typeface="Montserrat"/>
                <a:cs typeface="Montserrat"/>
                <a:sym typeface="Montserrat"/>
              </a:rPr>
              <a:t>"react": "^16.8.0-alpha.1",  </a:t>
            </a:r>
            <a:endParaRPr/>
          </a:p>
          <a:p>
            <a:pPr indent="-152400" lvl="0" marL="0" marR="0" rtl="0" algn="l">
              <a:spcBef>
                <a:spcPts val="0"/>
              </a:spcBef>
              <a:spcAft>
                <a:spcPts val="0"/>
              </a:spcAft>
              <a:buClr>
                <a:srgbClr val="2B2A29"/>
              </a:buClr>
              <a:buSzPts val="2400"/>
              <a:buFont typeface="Arial"/>
              <a:buAutoNum type="arabicPeriod"/>
            </a:pPr>
            <a:r>
              <a:rPr b="1" i="0" lang="en-US" sz="2400">
                <a:solidFill>
                  <a:srgbClr val="2B2A29"/>
                </a:solidFill>
                <a:latin typeface="Montserrat"/>
                <a:ea typeface="Montserrat"/>
                <a:cs typeface="Montserrat"/>
                <a:sym typeface="Montserrat"/>
              </a:rPr>
              <a:t>"react-dom": "^16.8.0-alpha.1",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the effect Hook</a:t>
            </a:r>
            <a:endParaRPr/>
          </a:p>
        </p:txBody>
      </p:sp>
      <p:sp>
        <p:nvSpPr>
          <p:cNvPr id="159" name="Google Shape;159;p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The effect Hook </a:t>
            </a:r>
            <a:r>
              <a:rPr lang="en-US"/>
              <a:t>is used for component side effects. A component side effect is something executed outside the scope of the component such as a web service request. </a:t>
            </a:r>
            <a:endParaRPr/>
          </a:p>
          <a:p>
            <a:pPr indent="-228600" lvl="0" marL="228600" rtl="0" algn="just">
              <a:lnSpc>
                <a:spcPct val="100000"/>
              </a:lnSpc>
              <a:spcBef>
                <a:spcPts val="1800"/>
              </a:spcBef>
              <a:spcAft>
                <a:spcPts val="0"/>
              </a:spcAft>
              <a:buClr>
                <a:schemeClr val="dk1"/>
              </a:buClr>
              <a:buSzPts val="2800"/>
              <a:buChar char="▪"/>
            </a:pPr>
            <a:r>
              <a:rPr b="1" lang="en-US"/>
              <a:t>The effect Hook </a:t>
            </a:r>
            <a:r>
              <a:rPr lang="en-US"/>
              <a:t>is defined using the </a:t>
            </a:r>
            <a:r>
              <a:rPr b="1" i="1" lang="en-US"/>
              <a:t>useEffect</a:t>
            </a:r>
            <a:r>
              <a:rPr lang="en-US"/>
              <a:t> function from React. </a:t>
            </a:r>
            <a:r>
              <a:rPr b="1" i="1" lang="en-US"/>
              <a:t>useEffect</a:t>
            </a:r>
            <a:r>
              <a:rPr lang="en-US"/>
              <a:t> contains </a:t>
            </a:r>
            <a:r>
              <a:rPr i="1" lang="en-US"/>
              <a:t>two parameters</a:t>
            </a:r>
            <a:r>
              <a:rPr lang="en-US"/>
              <a:t>:</a:t>
            </a:r>
            <a:endParaRPr/>
          </a:p>
          <a:p>
            <a:pPr indent="-228600" lvl="1" marL="685800" rtl="0" algn="just">
              <a:lnSpc>
                <a:spcPct val="100000"/>
              </a:lnSpc>
              <a:spcBef>
                <a:spcPts val="600"/>
              </a:spcBef>
              <a:spcAft>
                <a:spcPts val="0"/>
              </a:spcAft>
              <a:buClr>
                <a:schemeClr val="dk1"/>
              </a:buClr>
              <a:buSzPts val="2400"/>
              <a:buChar char="▪"/>
            </a:pPr>
            <a:r>
              <a:rPr lang="en-US"/>
              <a:t>A function that executes the effect; at a minimum, this function runs each time the component is rendered</a:t>
            </a:r>
            <a:endParaRPr/>
          </a:p>
          <a:p>
            <a:pPr indent="-228600" lvl="1" marL="685800" rtl="0" algn="just">
              <a:lnSpc>
                <a:spcPct val="100000"/>
              </a:lnSpc>
              <a:spcBef>
                <a:spcPts val="600"/>
              </a:spcBef>
              <a:spcAft>
                <a:spcPts val="0"/>
              </a:spcAft>
              <a:buClr>
                <a:schemeClr val="dk1"/>
              </a:buClr>
              <a:buSzPts val="2400"/>
              <a:buChar char="▪"/>
            </a:pPr>
            <a:r>
              <a:rPr lang="en-US"/>
              <a:t>An optional array of dependencies that cause the effect function to rerun when changed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the effect Hook</a:t>
            </a:r>
            <a:endParaRPr/>
          </a:p>
        </p:txBody>
      </p:sp>
      <p:sp>
        <p:nvSpPr>
          <p:cNvPr id="165" name="Google Shape;165;p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of the </a:t>
            </a:r>
            <a:r>
              <a:rPr b="1" i="1" lang="en-US"/>
              <a:t>useEffect</a:t>
            </a:r>
            <a:r>
              <a:rPr lang="en-US"/>
              <a:t> Hook in a component:</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166" name="Google Shape;166;p6"/>
          <p:cNvSpPr txBox="1"/>
          <p:nvPr/>
        </p:nvSpPr>
        <p:spPr>
          <a:xfrm>
            <a:off x="1507067" y="2393371"/>
            <a:ext cx="8229600" cy="353943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12110C"/>
                </a:solidFill>
                <a:latin typeface="Consolas"/>
                <a:ea typeface="Consolas"/>
                <a:cs typeface="Consolas"/>
                <a:sym typeface="Consolas"/>
              </a:rPr>
              <a:t>function SomeComponent() {</a:t>
            </a:r>
            <a:br>
              <a:rPr b="1" i="0" lang="en-US" sz="2800">
                <a:solidFill>
                  <a:srgbClr val="12110C"/>
                </a:solidFill>
                <a:latin typeface="Consolas"/>
                <a:ea typeface="Consolas"/>
                <a:cs typeface="Consolas"/>
                <a:sym typeface="Consolas"/>
              </a:rPr>
            </a:br>
            <a:r>
              <a:rPr b="1" i="0" lang="en-US" sz="2800">
                <a:solidFill>
                  <a:srgbClr val="12110C"/>
                </a:solidFill>
                <a:latin typeface="Consolas"/>
                <a:ea typeface="Consolas"/>
                <a:cs typeface="Consolas"/>
                <a:sym typeface="Consolas"/>
              </a:rPr>
              <a:t>    </a:t>
            </a:r>
            <a:r>
              <a:rPr b="1" i="0" lang="en-US" sz="2800">
                <a:solidFill>
                  <a:srgbClr val="000000"/>
                </a:solidFill>
                <a:latin typeface="Consolas"/>
                <a:ea typeface="Consolas"/>
                <a:cs typeface="Consolas"/>
                <a:sym typeface="Consolas"/>
              </a:rPr>
              <a:t>function someEffect() {</a:t>
            </a:r>
            <a:br>
              <a:rPr b="1" i="0" lang="en-US" sz="2800">
                <a:solidFill>
                  <a:srgbClr val="000000"/>
                </a:solidFill>
                <a:latin typeface="Consolas"/>
                <a:ea typeface="Consolas"/>
                <a:cs typeface="Consolas"/>
                <a:sym typeface="Consolas"/>
              </a:rPr>
            </a:br>
            <a:r>
              <a:rPr b="1" i="0" lang="en-US" sz="2800">
                <a:solidFill>
                  <a:srgbClr val="000000"/>
                </a:solidFill>
                <a:latin typeface="Consolas"/>
                <a:ea typeface="Consolas"/>
                <a:cs typeface="Consolas"/>
                <a:sym typeface="Consolas"/>
              </a:rPr>
              <a:t>       console.log("Some effect");</a:t>
            </a:r>
            <a:br>
              <a:rPr b="1" i="0" lang="en-US" sz="2800">
                <a:solidFill>
                  <a:srgbClr val="000000"/>
                </a:solidFill>
                <a:latin typeface="Consolas"/>
                <a:ea typeface="Consolas"/>
                <a:cs typeface="Consolas"/>
                <a:sym typeface="Consolas"/>
              </a:rPr>
            </a:br>
            <a:r>
              <a:rPr b="1" i="0" lang="en-US" sz="2800">
                <a:solidFill>
                  <a:srgbClr val="000000"/>
                </a:solidFill>
                <a:latin typeface="Consolas"/>
                <a:ea typeface="Consolas"/>
                <a:cs typeface="Consolas"/>
                <a:sym typeface="Consolas"/>
              </a:rPr>
              <a:t>       }</a:t>
            </a:r>
            <a:br>
              <a:rPr b="1" i="0" lang="en-US" sz="2800">
                <a:solidFill>
                  <a:srgbClr val="000000"/>
                </a:solidFill>
                <a:latin typeface="Consolas"/>
                <a:ea typeface="Consolas"/>
                <a:cs typeface="Consolas"/>
                <a:sym typeface="Consolas"/>
              </a:rPr>
            </a:br>
            <a:r>
              <a:rPr b="1" i="0" lang="en-US" sz="2800">
                <a:solidFill>
                  <a:srgbClr val="000000"/>
                </a:solidFill>
                <a:latin typeface="Consolas"/>
                <a:ea typeface="Consolas"/>
                <a:cs typeface="Consolas"/>
                <a:sym typeface="Consolas"/>
              </a:rPr>
              <a:t>    </a:t>
            </a:r>
            <a:r>
              <a:rPr b="1" i="0" lang="en-US" sz="2800">
                <a:solidFill>
                  <a:srgbClr val="FF0000"/>
                </a:solidFill>
                <a:latin typeface="Consolas"/>
                <a:ea typeface="Consolas"/>
                <a:cs typeface="Consolas"/>
                <a:sym typeface="Consolas"/>
              </a:rPr>
              <a:t>useEffect</a:t>
            </a:r>
            <a:r>
              <a:rPr b="1" i="0" lang="en-US" sz="2800">
                <a:solidFill>
                  <a:srgbClr val="000000"/>
                </a:solidFill>
                <a:latin typeface="Consolas"/>
                <a:ea typeface="Consolas"/>
                <a:cs typeface="Consolas"/>
                <a:sym typeface="Consolas"/>
              </a:rPr>
              <a:t>(</a:t>
            </a:r>
            <a:r>
              <a:rPr b="1" i="0" lang="en-US" sz="2800">
                <a:solidFill>
                  <a:srgbClr val="0070C0"/>
                </a:solidFill>
                <a:latin typeface="Consolas"/>
                <a:ea typeface="Consolas"/>
                <a:cs typeface="Consolas"/>
                <a:sym typeface="Consolas"/>
              </a:rPr>
              <a:t>someEffect</a:t>
            </a:r>
            <a:r>
              <a:rPr b="1" i="0" lang="en-US" sz="2800">
                <a:solidFill>
                  <a:srgbClr val="000000"/>
                </a:solidFill>
                <a:latin typeface="Consolas"/>
                <a:ea typeface="Consolas"/>
                <a:cs typeface="Consolas"/>
                <a:sym typeface="Consolas"/>
              </a:rPr>
              <a:t>);</a:t>
            </a:r>
            <a:br>
              <a:rPr b="1" i="0" lang="en-US" sz="2800">
                <a:solidFill>
                  <a:srgbClr val="000000"/>
                </a:solidFill>
                <a:latin typeface="Consolas"/>
                <a:ea typeface="Consolas"/>
                <a:cs typeface="Consolas"/>
                <a:sym typeface="Consolas"/>
              </a:rPr>
            </a:br>
            <a:r>
              <a:rPr b="1" i="0" lang="en-US" sz="2800">
                <a:solidFill>
                  <a:srgbClr val="000000"/>
                </a:solidFill>
                <a:latin typeface="Consolas"/>
                <a:ea typeface="Consolas"/>
                <a:cs typeface="Consolas"/>
                <a:sym typeface="Consolas"/>
              </a:rPr>
              <a:t>        </a:t>
            </a:r>
            <a:r>
              <a:rPr b="1" i="0" lang="en-US" sz="2800">
                <a:solidFill>
                  <a:srgbClr val="12110C"/>
                </a:solidFill>
                <a:latin typeface="Consolas"/>
                <a:ea typeface="Consolas"/>
                <a:cs typeface="Consolas"/>
                <a:sym typeface="Consolas"/>
              </a:rPr>
              <a:t>return ...</a:t>
            </a:r>
            <a:br>
              <a:rPr b="1" i="0" lang="en-US" sz="2800">
                <a:solidFill>
                  <a:srgbClr val="12110C"/>
                </a:solidFill>
                <a:latin typeface="Consolas"/>
                <a:ea typeface="Consolas"/>
                <a:cs typeface="Consolas"/>
                <a:sym typeface="Consolas"/>
              </a:rPr>
            </a:br>
            <a:r>
              <a:rPr b="1" i="0" lang="en-US" sz="2800">
                <a:solidFill>
                  <a:srgbClr val="12110C"/>
                </a:solidFill>
                <a:latin typeface="Consolas"/>
                <a:ea typeface="Consolas"/>
                <a:cs typeface="Consolas"/>
                <a:sym typeface="Consolas"/>
              </a:rPr>
              <a:t>}</a:t>
            </a:r>
            <a:r>
              <a:rPr b="1" lang="en-US" sz="2800">
                <a:solidFill>
                  <a:schemeClr val="dk1"/>
                </a:solidFill>
                <a:latin typeface="Consolas"/>
                <a:ea typeface="Consolas"/>
                <a:cs typeface="Consolas"/>
                <a:sym typeface="Consolas"/>
              </a:rPr>
              <a:t> </a:t>
            </a:r>
            <a:br>
              <a:rPr b="1" lang="en-US" sz="2800">
                <a:solidFill>
                  <a:schemeClr val="dk1"/>
                </a:solidFill>
                <a:latin typeface="Consolas"/>
                <a:ea typeface="Consolas"/>
                <a:cs typeface="Consolas"/>
                <a:sym typeface="Consolas"/>
              </a:rPr>
            </a:br>
            <a:endParaRPr b="1" sz="2800">
              <a:solidFill>
                <a:schemeClr val="dk1"/>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the effect Hook</a:t>
            </a:r>
            <a:endParaRPr/>
          </a:p>
        </p:txBody>
      </p:sp>
      <p:sp>
        <p:nvSpPr>
          <p:cNvPr id="173" name="Google Shape;173;p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an anonymous effect function:</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174" name="Google Shape;174;p7"/>
          <p:cNvSpPr txBox="1"/>
          <p:nvPr/>
        </p:nvSpPr>
        <p:spPr>
          <a:xfrm>
            <a:off x="2370665" y="2379471"/>
            <a:ext cx="6485467" cy="316311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2400">
                <a:solidFill>
                  <a:srgbClr val="12110C"/>
                </a:solidFill>
                <a:latin typeface="Consolas"/>
                <a:ea typeface="Consolas"/>
                <a:cs typeface="Consolas"/>
                <a:sym typeface="Consolas"/>
              </a:rPr>
              <a:t>function SomeComponent() {</a:t>
            </a:r>
            <a:br>
              <a:rPr b="1" i="0" lang="en-US" sz="2400">
                <a:solidFill>
                  <a:srgbClr val="12110C"/>
                </a:solidFill>
                <a:latin typeface="Consolas"/>
                <a:ea typeface="Consolas"/>
                <a:cs typeface="Consolas"/>
                <a:sym typeface="Consolas"/>
              </a:rPr>
            </a:br>
            <a:r>
              <a:rPr b="1" i="0" lang="en-US" sz="2400">
                <a:solidFill>
                  <a:srgbClr val="C00000"/>
                </a:solidFill>
                <a:latin typeface="Consolas"/>
                <a:ea typeface="Consolas"/>
                <a:cs typeface="Consolas"/>
                <a:sym typeface="Consolas"/>
              </a:rPr>
              <a:t>   useEffect</a:t>
            </a:r>
            <a:r>
              <a:rPr b="1" i="0" lang="en-US" sz="2400">
                <a:solidFill>
                  <a:srgbClr val="000000"/>
                </a:solidFill>
                <a:latin typeface="Consolas"/>
                <a:ea typeface="Consolas"/>
                <a:cs typeface="Consolas"/>
                <a:sym typeface="Consolas"/>
              </a:rPr>
              <a:t>(() </a:t>
            </a:r>
            <a:r>
              <a:rPr b="1" i="0" lang="en-US" sz="2400">
                <a:solidFill>
                  <a:srgbClr val="C00000"/>
                </a:solidFill>
                <a:latin typeface="Consolas"/>
                <a:ea typeface="Consolas"/>
                <a:cs typeface="Consolas"/>
                <a:sym typeface="Consolas"/>
              </a:rPr>
              <a:t>=&gt;</a:t>
            </a:r>
            <a:r>
              <a:rPr b="1" i="0" lang="en-US" sz="2400">
                <a:solidFill>
                  <a:srgbClr val="000000"/>
                </a:solidFill>
                <a:latin typeface="Consolas"/>
                <a:ea typeface="Consolas"/>
                <a:cs typeface="Consolas"/>
                <a:sym typeface="Consolas"/>
              </a:rPr>
              <a:t> {</a:t>
            </a:r>
            <a:br>
              <a:rPr b="1" i="0" lang="en-US" sz="2400">
                <a:solidFill>
                  <a:srgbClr val="000000"/>
                </a:solidFill>
                <a:latin typeface="Consolas"/>
                <a:ea typeface="Consolas"/>
                <a:cs typeface="Consolas"/>
                <a:sym typeface="Consolas"/>
              </a:rPr>
            </a:br>
            <a:r>
              <a:rPr b="1" i="0" lang="en-US" sz="2400">
                <a:solidFill>
                  <a:srgbClr val="000000"/>
                </a:solidFill>
                <a:latin typeface="Consolas"/>
                <a:ea typeface="Consolas"/>
                <a:cs typeface="Consolas"/>
                <a:sym typeface="Consolas"/>
              </a:rPr>
              <a:t>      console.log("Some effect");</a:t>
            </a:r>
            <a:br>
              <a:rPr b="1" i="0" lang="en-US" sz="2400">
                <a:solidFill>
                  <a:srgbClr val="000000"/>
                </a:solidFill>
                <a:latin typeface="Consolas"/>
                <a:ea typeface="Consolas"/>
                <a:cs typeface="Consolas"/>
                <a:sym typeface="Consolas"/>
              </a:rPr>
            </a:br>
            <a:r>
              <a:rPr b="1" i="0" lang="en-US" sz="2400">
                <a:solidFill>
                  <a:srgbClr val="000000"/>
                </a:solidFill>
                <a:latin typeface="Consolas"/>
                <a:ea typeface="Consolas"/>
                <a:cs typeface="Consolas"/>
                <a:sym typeface="Consolas"/>
              </a:rPr>
              <a:t>    });</a:t>
            </a:r>
            <a:br>
              <a:rPr b="1" i="0" lang="en-US" sz="2400">
                <a:solidFill>
                  <a:srgbClr val="000000"/>
                </a:solidFill>
                <a:latin typeface="Consolas"/>
                <a:ea typeface="Consolas"/>
                <a:cs typeface="Consolas"/>
                <a:sym typeface="Consolas"/>
              </a:rPr>
            </a:br>
            <a:r>
              <a:rPr b="1" i="0" lang="en-US" sz="2400">
                <a:solidFill>
                  <a:srgbClr val="000000"/>
                </a:solidFill>
                <a:latin typeface="Consolas"/>
                <a:ea typeface="Consolas"/>
                <a:cs typeface="Consolas"/>
                <a:sym typeface="Consolas"/>
              </a:rPr>
              <a:t>    </a:t>
            </a:r>
            <a:r>
              <a:rPr b="1" i="0" lang="en-US" sz="2400">
                <a:solidFill>
                  <a:srgbClr val="12110C"/>
                </a:solidFill>
                <a:latin typeface="Consolas"/>
                <a:ea typeface="Consolas"/>
                <a:cs typeface="Consolas"/>
                <a:sym typeface="Consolas"/>
              </a:rPr>
              <a:t>return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a:t>
            </a:r>
            <a:r>
              <a:rPr b="1" lang="en-US" sz="2400">
                <a:solidFill>
                  <a:schemeClr val="dk1"/>
                </a:solidFill>
                <a:latin typeface="Consolas"/>
                <a:ea typeface="Consolas"/>
                <a:cs typeface="Consolas"/>
                <a:sym typeface="Consolas"/>
              </a:rPr>
              <a:t> </a:t>
            </a:r>
            <a:br>
              <a:rPr b="1" lang="en-US" sz="2400">
                <a:solidFill>
                  <a:schemeClr val="dk1"/>
                </a:solidFill>
                <a:latin typeface="Consolas"/>
                <a:ea typeface="Consolas"/>
                <a:cs typeface="Consolas"/>
                <a:sym typeface="Consolas"/>
              </a:rPr>
            </a:br>
            <a:endParaRPr b="1" sz="2400">
              <a:solidFill>
                <a:schemeClr val="dk1"/>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The rules of Hooks</a:t>
            </a:r>
            <a:endParaRPr/>
          </a:p>
        </p:txBody>
      </p:sp>
      <p:sp>
        <p:nvSpPr>
          <p:cNvPr id="180" name="Google Shape;180;p8"/>
          <p:cNvSpPr txBox="1"/>
          <p:nvPr>
            <p:ph idx="1" type="body"/>
          </p:nvPr>
        </p:nvSpPr>
        <p:spPr>
          <a:xfrm>
            <a:off x="1104900" y="1600199"/>
            <a:ext cx="9982200" cy="4766733"/>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2"/>
              </a:buClr>
              <a:buSzPts val="2800"/>
              <a:buChar char="▪"/>
            </a:pPr>
            <a:r>
              <a:rPr lang="en-US">
                <a:solidFill>
                  <a:schemeClr val="dk2"/>
                </a:solidFill>
              </a:rPr>
              <a:t>There are some rules that all Hooks, including </a:t>
            </a:r>
            <a:r>
              <a:rPr b="1" i="1" lang="en-US">
                <a:solidFill>
                  <a:schemeClr val="dk2"/>
                </a:solidFill>
              </a:rPr>
              <a:t>useEffect</a:t>
            </a:r>
            <a:r>
              <a:rPr lang="en-US">
                <a:solidFill>
                  <a:schemeClr val="dk2"/>
                </a:solidFill>
              </a:rPr>
              <a:t>, must obey:</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A Hook can only be called at the top level of a function component. So, a Hook can’t be called in a loop or in a nested function such as an event handler.</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A Hook can’t be called conditionally.</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A Hook can only be used in function components and not class components.</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The rules of Hooks</a:t>
            </a:r>
            <a:endParaRPr/>
          </a:p>
        </p:txBody>
      </p:sp>
      <p:sp>
        <p:nvSpPr>
          <p:cNvPr id="187" name="Google Shape;187;p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is a violation of the rules:</a:t>
            </a:r>
            <a:endParaRPr/>
          </a:p>
        </p:txBody>
      </p:sp>
      <p:sp>
        <p:nvSpPr>
          <p:cNvPr id="188" name="Google Shape;188;p9"/>
          <p:cNvSpPr txBox="1"/>
          <p:nvPr/>
        </p:nvSpPr>
        <p:spPr>
          <a:xfrm>
            <a:off x="795868" y="2395477"/>
            <a:ext cx="11040532" cy="34163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12110C"/>
                </a:solidFill>
                <a:latin typeface="Consolas"/>
                <a:ea typeface="Consolas"/>
                <a:cs typeface="Consolas"/>
                <a:sym typeface="Consolas"/>
              </a:rPr>
              <a:t>export function </a:t>
            </a:r>
            <a:r>
              <a:rPr b="1" i="0" lang="en-US" sz="2400">
                <a:solidFill>
                  <a:srgbClr val="C00000"/>
                </a:solidFill>
                <a:latin typeface="Consolas"/>
                <a:ea typeface="Consolas"/>
                <a:cs typeface="Consolas"/>
                <a:sym typeface="Consolas"/>
              </a:rPr>
              <a:t>AnotherComponent</a:t>
            </a: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function </a:t>
            </a:r>
            <a:r>
              <a:rPr b="1" i="0" lang="en-US" sz="2400">
                <a:solidFill>
                  <a:srgbClr val="C00000"/>
                </a:solidFill>
                <a:latin typeface="Consolas"/>
                <a:ea typeface="Consolas"/>
                <a:cs typeface="Consolas"/>
                <a:sym typeface="Consolas"/>
              </a:rPr>
              <a:t>handleClick</a:t>
            </a: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r>
              <a:rPr b="1" i="0" lang="en-US" sz="2400">
                <a:solidFill>
                  <a:srgbClr val="C00000"/>
                </a:solidFill>
                <a:latin typeface="Consolas"/>
                <a:ea typeface="Consolas"/>
                <a:cs typeface="Consolas"/>
                <a:sym typeface="Consolas"/>
              </a:rPr>
              <a:t>useEffect</a:t>
            </a:r>
            <a:r>
              <a:rPr b="1" i="0" lang="en-US" sz="2400">
                <a:solidFill>
                  <a:srgbClr val="12110C"/>
                </a:solidFill>
                <a:latin typeface="Consolas"/>
                <a:ea typeface="Consolas"/>
                <a:cs typeface="Consolas"/>
                <a:sym typeface="Consolas"/>
              </a:rPr>
              <a:t>(() =&gt;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console.log("Some effect");</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return &lt;button onClick={handleClick}&gt;Cause effect&lt;/button&gt;;</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a:t>
            </a:r>
            <a:r>
              <a:rPr b="1" lang="en-US" sz="2400">
                <a:solidFill>
                  <a:schemeClr val="dk1"/>
                </a:solidFill>
                <a:latin typeface="Consolas"/>
                <a:ea typeface="Consolas"/>
                <a:cs typeface="Consolas"/>
                <a:sym typeface="Consolas"/>
              </a:rPr>
              <a:t> </a:t>
            </a:r>
            <a:br>
              <a:rPr b="1" lang="en-US" sz="2400">
                <a:solidFill>
                  <a:schemeClr val="dk1"/>
                </a:solidFill>
                <a:latin typeface="Consolas"/>
                <a:ea typeface="Consolas"/>
                <a:cs typeface="Consolas"/>
                <a:sym typeface="Consolas"/>
              </a:rPr>
            </a:br>
            <a:endParaRPr b="1" sz="2400">
              <a:solidFill>
                <a:schemeClr val="dk1"/>
              </a:solidFill>
              <a:latin typeface="Consolas"/>
              <a:ea typeface="Consolas"/>
              <a:cs typeface="Consolas"/>
              <a:sym typeface="Consolas"/>
            </a:endParaRPr>
          </a:p>
        </p:txBody>
      </p:sp>
      <p:sp>
        <p:nvSpPr>
          <p:cNvPr id="189" name="Google Shape;189;p9"/>
          <p:cNvSpPr txBox="1"/>
          <p:nvPr/>
        </p:nvSpPr>
        <p:spPr>
          <a:xfrm>
            <a:off x="795867" y="5952907"/>
            <a:ext cx="1104053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C00000"/>
                </a:solidFill>
                <a:latin typeface="Arial"/>
                <a:ea typeface="Arial"/>
                <a:cs typeface="Arial"/>
                <a:sym typeface="Arial"/>
              </a:rPr>
              <a:t>This is a violation because useEffect is called in a handler function rather than at the top level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The rules of Hooks</a:t>
            </a:r>
            <a:endParaRPr/>
          </a:p>
        </p:txBody>
      </p:sp>
      <p:sp>
        <p:nvSpPr>
          <p:cNvPr id="196" name="Google Shape;196;p1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A corrected version is as follows:</a:t>
            </a:r>
            <a:endParaRPr/>
          </a:p>
        </p:txBody>
      </p:sp>
      <p:sp>
        <p:nvSpPr>
          <p:cNvPr id="197" name="Google Shape;197;p10"/>
          <p:cNvSpPr txBox="1"/>
          <p:nvPr/>
        </p:nvSpPr>
        <p:spPr>
          <a:xfrm>
            <a:off x="715434" y="2083965"/>
            <a:ext cx="11087100" cy="452431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12110C"/>
                </a:solidFill>
                <a:latin typeface="Consolas"/>
                <a:ea typeface="Consolas"/>
                <a:cs typeface="Consolas"/>
                <a:sym typeface="Consolas"/>
              </a:rPr>
              <a:t>export function AnotherComponent()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const [clicked, setClicked] = useState(false);</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r>
              <a:rPr b="1" i="0" lang="en-US" sz="2400">
                <a:solidFill>
                  <a:srgbClr val="C00000"/>
                </a:solidFill>
                <a:latin typeface="Consolas"/>
                <a:ea typeface="Consolas"/>
                <a:cs typeface="Consolas"/>
                <a:sym typeface="Consolas"/>
              </a:rPr>
              <a:t>useEffect</a:t>
            </a:r>
            <a:r>
              <a:rPr b="1" i="0" lang="en-US" sz="2400">
                <a:solidFill>
                  <a:srgbClr val="12110C"/>
                </a:solidFill>
                <a:latin typeface="Consolas"/>
                <a:ea typeface="Consolas"/>
                <a:cs typeface="Consolas"/>
                <a:sym typeface="Consolas"/>
              </a:rPr>
              <a:t>(() =&gt; {</a:t>
            </a:r>
            <a:br>
              <a:rPr b="1" lang="en-US" sz="2400">
                <a:solidFill>
                  <a:schemeClr val="dk1"/>
                </a:solidFill>
                <a:latin typeface="Consolas"/>
                <a:ea typeface="Consolas"/>
                <a:cs typeface="Consolas"/>
                <a:sym typeface="Consolas"/>
              </a:rPr>
            </a:br>
            <a:r>
              <a:rPr b="1" lang="en-US" sz="2400">
                <a:solidFill>
                  <a:schemeClr val="dk1"/>
                </a:solidFill>
                <a:latin typeface="Consolas"/>
                <a:ea typeface="Consolas"/>
                <a:cs typeface="Consolas"/>
                <a:sym typeface="Consolas"/>
              </a:rPr>
              <a:t>			   </a:t>
            </a:r>
            <a:r>
              <a:rPr b="1" i="0" lang="en-US" sz="2400">
                <a:solidFill>
                  <a:srgbClr val="12110C"/>
                </a:solidFill>
                <a:latin typeface="Consolas"/>
                <a:ea typeface="Consolas"/>
                <a:cs typeface="Consolas"/>
                <a:sym typeface="Consolas"/>
              </a:rPr>
              <a:t>if (clicked)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console.log("Some effect");</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 [clicked]);</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function handleClick()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setClicked(true);</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return &lt;button onClick={handleClick}&gt;Cause effect&lt;/button&gt;;</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a:t>
            </a:r>
            <a:r>
              <a:rPr b="1" lang="en-US" sz="2400">
                <a:solidFill>
                  <a:schemeClr val="dk1"/>
                </a:solidFill>
                <a:latin typeface="Consolas"/>
                <a:ea typeface="Consolas"/>
                <a:cs typeface="Consolas"/>
                <a:sym typeface="Consolas"/>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The rules of Hooks</a:t>
            </a:r>
            <a:endParaRPr/>
          </a:p>
        </p:txBody>
      </p:sp>
      <p:sp>
        <p:nvSpPr>
          <p:cNvPr id="204" name="Google Shape;204;p1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 Example that violates the rules of Hooks:</a:t>
            </a:r>
            <a:endParaRPr/>
          </a:p>
        </p:txBody>
      </p:sp>
      <p:sp>
        <p:nvSpPr>
          <p:cNvPr id="205" name="Google Shape;205;p11"/>
          <p:cNvSpPr txBox="1"/>
          <p:nvPr/>
        </p:nvSpPr>
        <p:spPr>
          <a:xfrm>
            <a:off x="1104899" y="2118479"/>
            <a:ext cx="9980681" cy="34163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12110C"/>
                </a:solidFill>
                <a:latin typeface="Consolas"/>
                <a:ea typeface="Consolas"/>
                <a:cs typeface="Consolas"/>
                <a:sym typeface="Consolas"/>
              </a:rPr>
              <a:t>function YetAnotherComponent({ someProp })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if (!someProp)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return null;</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useEffect(() =&gt;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console.log("Some effect");</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	return ...</a:t>
            </a:r>
            <a:br>
              <a:rPr b="1" i="0" lang="en-US" sz="2400">
                <a:solidFill>
                  <a:srgbClr val="12110C"/>
                </a:solidFill>
                <a:latin typeface="Consolas"/>
                <a:ea typeface="Consolas"/>
                <a:cs typeface="Consolas"/>
                <a:sym typeface="Consolas"/>
              </a:rPr>
            </a:br>
            <a:r>
              <a:rPr b="1" i="0" lang="en-US" sz="2400">
                <a:solidFill>
                  <a:srgbClr val="12110C"/>
                </a:solidFill>
                <a:latin typeface="Consolas"/>
                <a:ea typeface="Consolas"/>
                <a:cs typeface="Consolas"/>
                <a:sym typeface="Consolas"/>
              </a:rPr>
              <a:t>}</a:t>
            </a:r>
            <a:r>
              <a:rPr b="1" lang="en-US" sz="2400">
                <a:solidFill>
                  <a:schemeClr val="dk1"/>
                </a:solidFill>
                <a:latin typeface="Consolas"/>
                <a:ea typeface="Consolas"/>
                <a:cs typeface="Consolas"/>
                <a:sym typeface="Consolas"/>
              </a:rP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Effect cleanup</a:t>
            </a:r>
            <a:endParaRPr/>
          </a:p>
        </p:txBody>
      </p:sp>
      <p:sp>
        <p:nvSpPr>
          <p:cNvPr id="211" name="Google Shape;211;p12"/>
          <p:cNvSpPr txBox="1"/>
          <p:nvPr>
            <p:ph idx="1" type="body"/>
          </p:nvPr>
        </p:nvSpPr>
        <p:spPr>
          <a:xfrm>
            <a:off x="1104900" y="1600200"/>
            <a:ext cx="102747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C00000"/>
              </a:buClr>
              <a:buSzPts val="2800"/>
              <a:buChar char="▪"/>
            </a:pPr>
            <a:r>
              <a:rPr b="1" lang="en-US">
                <a:solidFill>
                  <a:srgbClr val="C00000"/>
                </a:solidFill>
              </a:rPr>
              <a:t>Cleanup logic </a:t>
            </a:r>
            <a:r>
              <a:rPr lang="en-US"/>
              <a:t>ensures nothing is left that could cause a memory leak. An effect can return a function that performs cleanup logic when the component is unmounted.</a:t>
            </a:r>
            <a:endParaRPr/>
          </a:p>
          <a:p>
            <a:pPr indent="-228600" lvl="0" marL="228600" rtl="0" algn="l">
              <a:lnSpc>
                <a:spcPct val="100000"/>
              </a:lnSpc>
              <a:spcBef>
                <a:spcPts val="1800"/>
              </a:spcBef>
              <a:spcAft>
                <a:spcPts val="0"/>
              </a:spcAft>
              <a:buClr>
                <a:schemeClr val="dk1"/>
              </a:buClr>
              <a:buSzPts val="2800"/>
              <a:buChar char="▪"/>
            </a:pPr>
            <a:r>
              <a:rPr lang="en-US"/>
              <a:t>Example </a:t>
            </a:r>
            <a:endParaRPr/>
          </a:p>
        </p:txBody>
      </p:sp>
      <p:sp>
        <p:nvSpPr>
          <p:cNvPr id="212" name="Google Shape;212;p12"/>
          <p:cNvSpPr txBox="1"/>
          <p:nvPr/>
        </p:nvSpPr>
        <p:spPr>
          <a:xfrm>
            <a:off x="2912533" y="3182918"/>
            <a:ext cx="8991599" cy="34163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rgbClr val="12110C"/>
                </a:solidFill>
                <a:latin typeface="Consolas"/>
                <a:ea typeface="Consolas"/>
                <a:cs typeface="Consolas"/>
                <a:sym typeface="Consolas"/>
              </a:rPr>
              <a:t>function ExampleComponent({onClickAnywhere}) {</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a:t>
            </a:r>
            <a:r>
              <a:rPr b="1" i="0" lang="en-US" sz="2400">
                <a:solidFill>
                  <a:srgbClr val="C00000"/>
                </a:solidFill>
                <a:latin typeface="Consolas"/>
                <a:ea typeface="Consolas"/>
                <a:cs typeface="Consolas"/>
                <a:sym typeface="Consolas"/>
              </a:rPr>
              <a:t>useEffect</a:t>
            </a:r>
            <a:r>
              <a:rPr b="0" i="0" lang="en-US" sz="2400">
                <a:solidFill>
                  <a:srgbClr val="12110C"/>
                </a:solidFill>
                <a:latin typeface="Consolas"/>
                <a:ea typeface="Consolas"/>
                <a:cs typeface="Consolas"/>
                <a:sym typeface="Consolas"/>
              </a:rPr>
              <a:t>(() =&gt; {</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function handleClick() {</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onClickAnywhere();</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document.addEventListener("click", handleClick);</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  return ...</a:t>
            </a:r>
            <a:br>
              <a:rPr b="0" i="0" lang="en-US" sz="2400">
                <a:solidFill>
                  <a:srgbClr val="12110C"/>
                </a:solidFill>
                <a:latin typeface="Consolas"/>
                <a:ea typeface="Consolas"/>
                <a:cs typeface="Consolas"/>
                <a:sym typeface="Consolas"/>
              </a:rPr>
            </a:br>
            <a:r>
              <a:rPr b="0" i="0" lang="en-US" sz="2400">
                <a:solidFill>
                  <a:srgbClr val="12110C"/>
                </a:solidFill>
                <a:latin typeface="Consolas"/>
                <a:ea typeface="Consolas"/>
                <a:cs typeface="Consolas"/>
                <a:sym typeface="Consolas"/>
              </a:rPr>
              <a:t>}</a:t>
            </a:r>
            <a:r>
              <a:rPr lang="en-US" sz="2400">
                <a:solidFill>
                  <a:schemeClr val="dk1"/>
                </a:solidFill>
                <a:latin typeface="Consolas"/>
                <a:ea typeface="Consolas"/>
                <a:cs typeface="Consolas"/>
                <a:sym typeface="Consolas"/>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Effect cleanup</a:t>
            </a:r>
            <a:endParaRPr/>
          </a:p>
        </p:txBody>
      </p:sp>
      <p:sp>
        <p:nvSpPr>
          <p:cNvPr id="218" name="Google Shape;218;p1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chemeClr val="dk1"/>
              </a:buClr>
              <a:buSzPts val="2800"/>
              <a:buChar char="▪"/>
            </a:pPr>
            <a:r>
              <a:rPr lang="en-US"/>
              <a:t>The preceding effect function attaches an event handler to the document element. </a:t>
            </a:r>
            <a:endParaRPr/>
          </a:p>
          <a:p>
            <a:pPr indent="-228600" lvl="0" marL="228600" rtl="0" algn="just">
              <a:lnSpc>
                <a:spcPct val="100000"/>
              </a:lnSpc>
              <a:spcBef>
                <a:spcPts val="1800"/>
              </a:spcBef>
              <a:spcAft>
                <a:spcPts val="0"/>
              </a:spcAft>
              <a:buClr>
                <a:schemeClr val="dk1"/>
              </a:buClr>
              <a:buSzPts val="2800"/>
              <a:buChar char="▪"/>
            </a:pPr>
            <a:r>
              <a:rPr lang="en-US"/>
              <a:t>The event handler is never detatched though, so multiple event handlers will become attached to the document element as the effect is rerun.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Effect cleanup</a:t>
            </a:r>
            <a:endParaRPr/>
          </a:p>
        </p:txBody>
      </p:sp>
      <p:sp>
        <p:nvSpPr>
          <p:cNvPr id="224" name="Google Shape;224;p1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This problem is resolved by returning a cleanup function that detaches the event handler as follows</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225" name="Google Shape;225;p14"/>
          <p:cNvSpPr txBox="1"/>
          <p:nvPr/>
        </p:nvSpPr>
        <p:spPr>
          <a:xfrm>
            <a:off x="1104900" y="2623110"/>
            <a:ext cx="9980682"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12110C"/>
                </a:solidFill>
                <a:latin typeface="Courier"/>
                <a:ea typeface="Courier"/>
                <a:cs typeface="Courier"/>
                <a:sym typeface="Courier"/>
              </a:rPr>
              <a:t>function ExampleComponent({ onClickAnywhere }) {</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useEffect(() =&gt; {</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function handleClick() {</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onClickAnywhere();</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document.addEventListener("click", listener);</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a:t>
            </a:r>
            <a:r>
              <a:rPr b="1" i="0" lang="en-US" sz="2400">
                <a:solidFill>
                  <a:srgbClr val="000000"/>
                </a:solidFill>
                <a:latin typeface="Courier"/>
                <a:ea typeface="Courier"/>
                <a:cs typeface="Courier"/>
                <a:sym typeface="Courier"/>
              </a:rPr>
              <a:t>return function cleanup() {</a:t>
            </a:r>
            <a:br>
              <a:rPr b="1" i="0" lang="en-US" sz="2400">
                <a:solidFill>
                  <a:srgbClr val="000000"/>
                </a:solidFill>
                <a:latin typeface="Courier"/>
                <a:ea typeface="Courier"/>
                <a:cs typeface="Courier"/>
                <a:sym typeface="Courier"/>
              </a:rPr>
            </a:br>
            <a:r>
              <a:rPr b="1" i="0" lang="en-US" sz="2400">
                <a:solidFill>
                  <a:srgbClr val="000000"/>
                </a:solidFill>
                <a:latin typeface="Courier"/>
                <a:ea typeface="Courier"/>
                <a:cs typeface="Courier"/>
                <a:sym typeface="Courier"/>
              </a:rPr>
              <a:t>   document.removeEventListener("click", listener);};</a:t>
            </a:r>
            <a:br>
              <a:rPr b="1" i="0" lang="en-US" sz="2400">
                <a:solidFill>
                  <a:srgbClr val="000000"/>
                </a:solidFill>
                <a:latin typeface="Courier"/>
                <a:ea typeface="Courier"/>
                <a:cs typeface="Courier"/>
                <a:sym typeface="Courier"/>
              </a:rPr>
            </a:br>
            <a:r>
              <a:rPr b="1" i="0" lang="en-US" sz="2400">
                <a:solidFill>
                  <a:srgbClr val="000000"/>
                </a:solidFill>
                <a:latin typeface="Courier"/>
                <a:ea typeface="Courier"/>
                <a:cs typeface="Courier"/>
                <a:sym typeface="Courier"/>
              </a:rPr>
              <a:t>   </a:t>
            </a:r>
            <a:r>
              <a:rPr b="1" i="0" lang="en-US" sz="2400">
                <a:solidFill>
                  <a:srgbClr val="12110C"/>
                </a:solidFill>
                <a:latin typeface="Courier"/>
                <a:ea typeface="Courier"/>
                <a:cs typeface="Courier"/>
                <a:sym typeface="Courier"/>
              </a:rPr>
              <a:t>});</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   return ...;</a:t>
            </a:r>
            <a:br>
              <a:rPr b="1" i="0" lang="en-US" sz="2400">
                <a:solidFill>
                  <a:srgbClr val="12110C"/>
                </a:solidFill>
                <a:latin typeface="Courier"/>
                <a:ea typeface="Courier"/>
                <a:cs typeface="Courier"/>
                <a:sym typeface="Courier"/>
              </a:rPr>
            </a:br>
            <a:r>
              <a:rPr b="1" i="0" lang="en-US" sz="2400">
                <a:solidFill>
                  <a:srgbClr val="12110C"/>
                </a:solidFill>
                <a:latin typeface="Courier"/>
                <a:ea typeface="Courier"/>
                <a:cs typeface="Courier"/>
                <a:sym typeface="Courier"/>
              </a:rPr>
              <a:t>}</a:t>
            </a:r>
            <a:r>
              <a:rPr b="1" lang="en-US" sz="2400">
                <a:solidFill>
                  <a:schemeClr val="dk1"/>
                </a:solidFill>
                <a:latin typeface="Arial"/>
                <a:ea typeface="Arial"/>
                <a:cs typeface="Arial"/>
                <a:sym typeface="Aria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a:t>
            </a:r>
            <a:endParaRPr/>
          </a:p>
        </p:txBody>
      </p:sp>
      <p:sp>
        <p:nvSpPr>
          <p:cNvPr id="232" name="Google Shape;232;p1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100000"/>
              </a:lnSpc>
              <a:spcBef>
                <a:spcPts val="0"/>
              </a:spcBef>
              <a:spcAft>
                <a:spcPts val="0"/>
              </a:spcAft>
              <a:buClr>
                <a:srgbClr val="C00000"/>
              </a:buClr>
              <a:buSzPts val="2800"/>
              <a:buChar char="▪"/>
            </a:pPr>
            <a:r>
              <a:rPr b="1" lang="en-US">
                <a:solidFill>
                  <a:srgbClr val="C00000"/>
                </a:solidFill>
              </a:rPr>
              <a:t>Hook state </a:t>
            </a:r>
            <a:r>
              <a:rPr lang="en-US"/>
              <a:t>is the new way of declaring a </a:t>
            </a:r>
            <a:r>
              <a:rPr b="1" lang="en-US"/>
              <a:t>state</a:t>
            </a:r>
            <a:r>
              <a:rPr lang="en-US"/>
              <a:t> in </a:t>
            </a:r>
            <a:r>
              <a:rPr b="1" lang="en-US"/>
              <a:t>React app</a:t>
            </a:r>
            <a:r>
              <a:rPr lang="en-US"/>
              <a:t>. </a:t>
            </a:r>
            <a:r>
              <a:rPr b="1" lang="en-US"/>
              <a:t>Hook</a:t>
            </a:r>
            <a:r>
              <a:rPr lang="en-US"/>
              <a:t> uses </a:t>
            </a:r>
            <a:r>
              <a:rPr b="1" lang="en-US"/>
              <a:t>useState() </a:t>
            </a:r>
            <a:r>
              <a:rPr lang="en-US"/>
              <a:t>functional component for setting and retrieving state. </a:t>
            </a:r>
            <a:endParaRPr/>
          </a:p>
          <a:p>
            <a:pPr indent="-228600" lvl="0" marL="228600" rtl="0" algn="l">
              <a:lnSpc>
                <a:spcPct val="100000"/>
              </a:lnSpc>
              <a:spcBef>
                <a:spcPts val="1800"/>
              </a:spcBef>
              <a:spcAft>
                <a:spcPts val="0"/>
              </a:spcAft>
              <a:buClr>
                <a:schemeClr val="dk1"/>
              </a:buClr>
              <a:buSzPts val="2800"/>
              <a:buChar char="▪"/>
            </a:pPr>
            <a:r>
              <a:rPr b="1" lang="en-US"/>
              <a:t>State Hooks </a:t>
            </a:r>
            <a:r>
              <a:rPr lang="en-US"/>
              <a:t>stores and provide access to the information.</a:t>
            </a:r>
            <a:endParaRPr/>
          </a:p>
          <a:p>
            <a:pPr indent="-228600" lvl="0" marL="228600" rtl="0" algn="l">
              <a:lnSpc>
                <a:spcPct val="100000"/>
              </a:lnSpc>
              <a:spcBef>
                <a:spcPts val="1800"/>
              </a:spcBef>
              <a:spcAft>
                <a:spcPts val="0"/>
              </a:spcAft>
              <a:buClr>
                <a:schemeClr val="dk1"/>
              </a:buClr>
              <a:buSzPts val="2800"/>
              <a:buChar char="▪"/>
            </a:pPr>
            <a:r>
              <a:rPr lang="en-US"/>
              <a:t>To add state in Components we use:</a:t>
            </a:r>
            <a:endParaRPr/>
          </a:p>
          <a:p>
            <a:pPr indent="-228600" lvl="1" marL="685800" rtl="0" algn="l">
              <a:lnSpc>
                <a:spcPct val="100000"/>
              </a:lnSpc>
              <a:spcBef>
                <a:spcPts val="600"/>
              </a:spcBef>
              <a:spcAft>
                <a:spcPts val="0"/>
              </a:spcAft>
              <a:buClr>
                <a:srgbClr val="C00000"/>
              </a:buClr>
              <a:buSzPts val="2400"/>
              <a:buChar char="▪"/>
            </a:pPr>
            <a:r>
              <a:rPr b="1" i="1" lang="en-US">
                <a:solidFill>
                  <a:srgbClr val="C00000"/>
                </a:solidFill>
              </a:rPr>
              <a:t>useState</a:t>
            </a:r>
            <a:r>
              <a:rPr lang="en-US"/>
              <a:t> Hook: useState Hooks provides state variable with direct update access.</a:t>
            </a:r>
            <a:endParaRPr/>
          </a:p>
          <a:p>
            <a:pPr indent="-228600" lvl="1" marL="685800" rtl="0" algn="l">
              <a:lnSpc>
                <a:spcPct val="100000"/>
              </a:lnSpc>
              <a:spcBef>
                <a:spcPts val="600"/>
              </a:spcBef>
              <a:spcAft>
                <a:spcPts val="0"/>
              </a:spcAft>
              <a:buClr>
                <a:srgbClr val="C00000"/>
              </a:buClr>
              <a:buSzPts val="2400"/>
              <a:buChar char="▪"/>
            </a:pPr>
            <a:r>
              <a:rPr b="1" i="1" lang="en-US">
                <a:solidFill>
                  <a:srgbClr val="C00000"/>
                </a:solidFill>
              </a:rPr>
              <a:t>useReducer</a:t>
            </a:r>
            <a:r>
              <a:rPr lang="en-US"/>
              <a:t> Hook: useReducer Hook provides a state variable along with the update logic in reducer function.</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useState</a:t>
            </a:r>
            <a:endParaRPr/>
          </a:p>
        </p:txBody>
      </p:sp>
      <p:sp>
        <p:nvSpPr>
          <p:cNvPr id="239" name="Google Shape;239;p1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20000"/>
          </a:bodyPr>
          <a:lstStyle/>
          <a:p>
            <a:pPr indent="-228600" lvl="0" marL="228600" rtl="0" algn="l">
              <a:lnSpc>
                <a:spcPct val="100000"/>
              </a:lnSpc>
              <a:spcBef>
                <a:spcPts val="0"/>
              </a:spcBef>
              <a:spcAft>
                <a:spcPts val="0"/>
              </a:spcAft>
              <a:buClr>
                <a:srgbClr val="C00000"/>
              </a:buClr>
              <a:buSzPts val="2800"/>
              <a:buChar char="▪"/>
            </a:pPr>
            <a:r>
              <a:rPr b="1" lang="en-US">
                <a:solidFill>
                  <a:srgbClr val="C00000"/>
                </a:solidFill>
              </a:rPr>
              <a:t>Using useState</a:t>
            </a:r>
            <a:r>
              <a:rPr lang="en-US"/>
              <a:t>: allows state to be defined in a variable. The syntax for </a:t>
            </a:r>
            <a:r>
              <a:rPr b="1" i="1" lang="en-US"/>
              <a:t>useState</a:t>
            </a:r>
            <a:r>
              <a:rPr lang="en-US"/>
              <a:t> is as follows</a:t>
            </a:r>
            <a:endParaRPr/>
          </a:p>
          <a:p>
            <a:pPr indent="-50800" lvl="0" marL="228600" rtl="0" algn="l">
              <a:lnSpc>
                <a:spcPct val="100000"/>
              </a:lnSpc>
              <a:spcBef>
                <a:spcPts val="1800"/>
              </a:spcBef>
              <a:spcAft>
                <a:spcPts val="0"/>
              </a:spcAft>
              <a:buClr>
                <a:schemeClr val="dk1"/>
              </a:buClr>
              <a:buSzPts val="2800"/>
              <a:buNone/>
            </a:pPr>
            <a:r>
              <a:t/>
            </a:r>
            <a:endParaRPr/>
          </a:p>
          <a:p>
            <a:pPr indent="-228600" lvl="0" marL="228600" rtl="0" algn="l">
              <a:lnSpc>
                <a:spcPct val="100000"/>
              </a:lnSpc>
              <a:spcBef>
                <a:spcPts val="1800"/>
              </a:spcBef>
              <a:spcAft>
                <a:spcPts val="0"/>
              </a:spcAft>
              <a:buClr>
                <a:schemeClr val="dk1"/>
              </a:buClr>
              <a:buSzPts val="2800"/>
              <a:buChar char="▪"/>
            </a:pPr>
            <a:r>
              <a:rPr lang="en-US"/>
              <a:t>Example: </a:t>
            </a:r>
            <a:endParaRPr/>
          </a:p>
          <a:p>
            <a:pPr indent="-228600" lvl="1" marL="685800" rtl="0" algn="just">
              <a:lnSpc>
                <a:spcPct val="100000"/>
              </a:lnSpc>
              <a:spcBef>
                <a:spcPts val="600"/>
              </a:spcBef>
              <a:spcAft>
                <a:spcPts val="0"/>
              </a:spcAft>
              <a:buClr>
                <a:schemeClr val="dk1"/>
              </a:buClr>
              <a:buSzPts val="2400"/>
              <a:buChar char="▪"/>
            </a:pPr>
            <a:r>
              <a:rPr i="1" lang="en-US"/>
              <a:t>useState(0)</a:t>
            </a:r>
            <a:r>
              <a:rPr lang="en-US"/>
              <a:t>:Tạo một state ban đầu với giá trị là 0.</a:t>
            </a:r>
            <a:endParaRPr/>
          </a:p>
          <a:p>
            <a:pPr indent="-228600" lvl="1" marL="685800" rtl="0" algn="just">
              <a:lnSpc>
                <a:spcPct val="100000"/>
              </a:lnSpc>
              <a:spcBef>
                <a:spcPts val="600"/>
              </a:spcBef>
              <a:spcAft>
                <a:spcPts val="0"/>
              </a:spcAft>
              <a:buClr>
                <a:schemeClr val="dk1"/>
              </a:buClr>
              <a:buSzPts val="2400"/>
              <a:buChar char="▪"/>
            </a:pPr>
            <a:r>
              <a:rPr i="1" lang="en-US"/>
              <a:t>useState</a:t>
            </a:r>
            <a:r>
              <a:rPr lang="en-US"/>
              <a:t> trả về một mảng gồm 2 phần tử: giá trị hiện tại (count) và một hàm để cập nhật giá trị (setCount).</a:t>
            </a:r>
            <a:endParaRPr/>
          </a:p>
          <a:p>
            <a:pPr indent="-228600" lvl="1" marL="685800" rtl="0" algn="just">
              <a:lnSpc>
                <a:spcPct val="100000"/>
              </a:lnSpc>
              <a:spcBef>
                <a:spcPts val="600"/>
              </a:spcBef>
              <a:spcAft>
                <a:spcPts val="0"/>
              </a:spcAft>
              <a:buClr>
                <a:schemeClr val="dk1"/>
              </a:buClr>
              <a:buSzPts val="2400"/>
              <a:buChar char="▪"/>
            </a:pPr>
            <a:r>
              <a:rPr i="1" lang="en-US"/>
              <a:t>setCount(newValue): </a:t>
            </a:r>
            <a:r>
              <a:rPr lang="en-US"/>
              <a:t>Được dùng để cập nhật giá trị của state count. </a:t>
            </a:r>
            <a:endParaRPr/>
          </a:p>
          <a:p>
            <a:pPr indent="-228600" lvl="1" marL="685800" rtl="0" algn="just">
              <a:lnSpc>
                <a:spcPct val="100000"/>
              </a:lnSpc>
              <a:spcBef>
                <a:spcPts val="600"/>
              </a:spcBef>
              <a:spcAft>
                <a:spcPts val="0"/>
              </a:spcAft>
              <a:buClr>
                <a:schemeClr val="dk1"/>
              </a:buClr>
              <a:buSzPts val="2400"/>
              <a:buChar char="▪"/>
            </a:pPr>
            <a:r>
              <a:rPr lang="en-US"/>
              <a:t>Các nút điều khiển (onClick): Gọi hàm </a:t>
            </a:r>
            <a:r>
              <a:rPr b="1" lang="en-US"/>
              <a:t>setCount</a:t>
            </a:r>
            <a:r>
              <a:rPr lang="en-US"/>
              <a:t> để tăng, giảm hoặc đặt lại giá trị count.</a:t>
            </a:r>
            <a:endParaRPr/>
          </a:p>
          <a:p>
            <a:pPr indent="-76200" lvl="1" marL="685800" rtl="0" algn="l">
              <a:lnSpc>
                <a:spcPct val="100000"/>
              </a:lnSpc>
              <a:spcBef>
                <a:spcPts val="600"/>
              </a:spcBef>
              <a:spcAft>
                <a:spcPts val="0"/>
              </a:spcAft>
              <a:buClr>
                <a:schemeClr val="dk1"/>
              </a:buClr>
              <a:buSzPts val="2400"/>
              <a:buNone/>
            </a:pPr>
            <a:r>
              <a:t/>
            </a:r>
            <a:endParaRPr/>
          </a:p>
        </p:txBody>
      </p:sp>
      <p:sp>
        <p:nvSpPr>
          <p:cNvPr id="240" name="Google Shape;240;p16"/>
          <p:cNvSpPr txBox="1"/>
          <p:nvPr/>
        </p:nvSpPr>
        <p:spPr>
          <a:xfrm>
            <a:off x="1590975" y="2598003"/>
            <a:ext cx="8823026"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C00000"/>
                </a:solidFill>
                <a:latin typeface="Consolas"/>
                <a:ea typeface="Consolas"/>
                <a:cs typeface="Consolas"/>
                <a:sym typeface="Consolas"/>
              </a:rPr>
              <a:t>const [state, setState] = useState(initialState);</a:t>
            </a:r>
            <a:endParaRPr b="1" sz="2400">
              <a:solidFill>
                <a:srgbClr val="C0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useState </a:t>
            </a:r>
            <a:endParaRPr/>
          </a:p>
        </p:txBody>
      </p:sp>
      <p:sp>
        <p:nvSpPr>
          <p:cNvPr id="247" name="Google Shape;247;p17"/>
          <p:cNvSpPr txBox="1"/>
          <p:nvPr/>
        </p:nvSpPr>
        <p:spPr>
          <a:xfrm>
            <a:off x="884766" y="1400290"/>
            <a:ext cx="10968567" cy="526297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import React, { useState } from 'react';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function Counter()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 Khai báo một state mới, gọi nó là "count"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const [count, setCount] = useState(0);</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return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&lt;div&gt;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&lt;h1&gt;Giá trị hiện tại: {count}&lt;/h1&gt;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&lt;button onClick={() =&gt; setCount(count + 1)}&gt;Tăng&lt;/button&gt;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&lt;button onClick={() =&gt; setCount(count - 1)}&gt;Giảm&lt;/button&gt;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&lt;button onClick={() =&gt; setCount(0)}&gt;Reset&lt;/button&gt;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&lt;/div&gt;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export default Counter;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a:t>
            </a:r>
            <a:endParaRPr/>
          </a:p>
        </p:txBody>
      </p:sp>
      <p:sp>
        <p:nvSpPr>
          <p:cNvPr id="253" name="Google Shape;253;p1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C00000"/>
              </a:buClr>
              <a:buSzPts val="2800"/>
              <a:buChar char="▪"/>
            </a:pPr>
            <a:r>
              <a:rPr b="1" lang="en-US">
                <a:solidFill>
                  <a:srgbClr val="C00000"/>
                </a:solidFill>
              </a:rPr>
              <a:t>Using </a:t>
            </a:r>
            <a:r>
              <a:rPr b="1" i="0" lang="en-US">
                <a:solidFill>
                  <a:srgbClr val="C00000"/>
                </a:solidFill>
                <a:latin typeface="Arial"/>
                <a:ea typeface="Arial"/>
                <a:cs typeface="Arial"/>
                <a:sym typeface="Arial"/>
              </a:rPr>
              <a:t>useReducer </a:t>
            </a:r>
            <a:r>
              <a:rPr b="0" i="0" lang="en-US">
                <a:solidFill>
                  <a:srgbClr val="4D5156"/>
                </a:solidFill>
                <a:latin typeface="Arial"/>
                <a:ea typeface="Arial"/>
                <a:cs typeface="Arial"/>
                <a:sym typeface="Arial"/>
              </a:rPr>
              <a:t>is very similar to useState , but it lets you move the state update logic from event handlers into a single function outside of your component</a:t>
            </a:r>
            <a:endParaRPr/>
          </a:p>
          <a:p>
            <a:pPr indent="-228600" lvl="0" marL="228600" rtl="0" algn="l">
              <a:lnSpc>
                <a:spcPct val="100000"/>
              </a:lnSpc>
              <a:spcBef>
                <a:spcPts val="1800"/>
              </a:spcBef>
              <a:spcAft>
                <a:spcPts val="0"/>
              </a:spcAft>
              <a:buClr>
                <a:srgbClr val="4D5156"/>
              </a:buClr>
              <a:buSzPts val="2800"/>
              <a:buChar char="▪"/>
            </a:pPr>
            <a:r>
              <a:rPr b="1" i="1" lang="en-US">
                <a:solidFill>
                  <a:srgbClr val="4D5156"/>
                </a:solidFill>
                <a:latin typeface="Arial"/>
                <a:ea typeface="Arial"/>
                <a:cs typeface="Arial"/>
                <a:sym typeface="Arial"/>
              </a:rPr>
              <a:t>useReducer</a:t>
            </a:r>
            <a:r>
              <a:rPr b="0" i="0" lang="en-US">
                <a:solidFill>
                  <a:srgbClr val="4D5156"/>
                </a:solidFill>
                <a:latin typeface="Arial"/>
                <a:ea typeface="Arial"/>
                <a:cs typeface="Arial"/>
                <a:sym typeface="Arial"/>
              </a:rPr>
              <a:t> is an alternative method of managing state. It uses a reducer function for state changes, which takes in the current state value and returns the new state value.</a:t>
            </a:r>
            <a:endParaRPr/>
          </a:p>
          <a:p>
            <a:pPr indent="-228600" lvl="0" marL="228600" rtl="0" algn="l">
              <a:lnSpc>
                <a:spcPct val="100000"/>
              </a:lnSpc>
              <a:spcBef>
                <a:spcPts val="1800"/>
              </a:spcBef>
              <a:spcAft>
                <a:spcPts val="0"/>
              </a:spcAft>
              <a:buClr>
                <a:schemeClr val="dk1"/>
              </a:buClr>
              <a:buSzPts val="2800"/>
              <a:buChar char="▪"/>
            </a:pPr>
            <a:r>
              <a:rPr lang="en-US"/>
              <a:t>Example: </a:t>
            </a:r>
            <a:endParaRPr/>
          </a:p>
        </p:txBody>
      </p:sp>
      <p:sp>
        <p:nvSpPr>
          <p:cNvPr id="254" name="Google Shape;254;p18"/>
          <p:cNvSpPr txBox="1"/>
          <p:nvPr/>
        </p:nvSpPr>
        <p:spPr>
          <a:xfrm>
            <a:off x="1104900" y="5295900"/>
            <a:ext cx="10554460"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12110C"/>
                </a:solidFill>
                <a:latin typeface="Consolas"/>
                <a:ea typeface="Consolas"/>
                <a:cs typeface="Consolas"/>
                <a:sym typeface="Consolas"/>
              </a:rPr>
              <a:t>const [state, dispatch] = useReducer(</a:t>
            </a:r>
            <a:r>
              <a:rPr b="1" i="0" lang="en-US" sz="2400">
                <a:solidFill>
                  <a:srgbClr val="C00000"/>
                </a:solidFill>
                <a:latin typeface="Consolas"/>
                <a:ea typeface="Consolas"/>
                <a:cs typeface="Consolas"/>
                <a:sym typeface="Consolas"/>
              </a:rPr>
              <a:t>reducer</a:t>
            </a:r>
            <a:r>
              <a:rPr b="1" i="0" lang="en-US" sz="2400">
                <a:solidFill>
                  <a:srgbClr val="12110C"/>
                </a:solidFill>
                <a:latin typeface="Consolas"/>
                <a:ea typeface="Consolas"/>
                <a:cs typeface="Consolas"/>
                <a:sym typeface="Consolas"/>
              </a:rPr>
              <a:t>, initialState);</a:t>
            </a:r>
            <a:r>
              <a:rPr b="1" lang="en-US" sz="2400">
                <a:solidFill>
                  <a:schemeClr val="dk1"/>
                </a:solidFill>
                <a:latin typeface="Consolas"/>
                <a:ea typeface="Consolas"/>
                <a:cs typeface="Consolas"/>
                <a:sym typeface="Consolas"/>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a:t>
            </a:r>
            <a:endParaRPr/>
          </a:p>
        </p:txBody>
      </p:sp>
      <p:sp>
        <p:nvSpPr>
          <p:cNvPr id="260" name="Google Shape;260;p19"/>
          <p:cNvSpPr txBox="1"/>
          <p:nvPr>
            <p:ph idx="1" type="body"/>
          </p:nvPr>
        </p:nvSpPr>
        <p:spPr>
          <a:xfrm>
            <a:off x="1104900" y="1600200"/>
            <a:ext cx="10363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C00000"/>
              </a:buClr>
              <a:buSzPts val="2800"/>
              <a:buChar char="▪"/>
            </a:pPr>
            <a:r>
              <a:rPr b="1" lang="en-US">
                <a:solidFill>
                  <a:srgbClr val="C00000"/>
                </a:solidFill>
              </a:rPr>
              <a:t>useReducer</a:t>
            </a:r>
            <a:r>
              <a:rPr lang="en-US"/>
              <a:t> is usually preferable to </a:t>
            </a:r>
            <a:r>
              <a:rPr b="1" lang="en-US"/>
              <a:t>useState</a:t>
            </a:r>
            <a:r>
              <a:rPr lang="en-US"/>
              <a:t> when you have complex state logic that involves multiple sub-values or when the next state depends on the previous one.</a:t>
            </a:r>
            <a:endParaRPr/>
          </a:p>
          <a:p>
            <a:pPr indent="-228600" lvl="0" marL="228600" rtl="0" algn="l">
              <a:lnSpc>
                <a:spcPct val="100000"/>
              </a:lnSpc>
              <a:spcBef>
                <a:spcPts val="1800"/>
              </a:spcBef>
              <a:spcAft>
                <a:spcPts val="0"/>
              </a:spcAft>
              <a:buClr>
                <a:schemeClr val="dk1"/>
              </a:buClr>
              <a:buSzPts val="2800"/>
              <a:buChar char="▪"/>
            </a:pPr>
            <a:r>
              <a:rPr b="1" lang="en-US"/>
              <a:t>useReducer</a:t>
            </a:r>
            <a:r>
              <a:rPr lang="en-US"/>
              <a:t> is a React Hook that lets you add a reducer to your component, lets you optimize performance for components that trigger deep updates because you can pass dispatch down instead of callbacks.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267" name="Google Shape;267;p2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Here’s the counter example from the </a:t>
            </a:r>
            <a:r>
              <a:rPr b="1" lang="en-US"/>
              <a:t>useState</a:t>
            </a:r>
            <a:r>
              <a:rPr lang="en-US"/>
              <a:t> section, rewritten to use a </a:t>
            </a:r>
            <a:r>
              <a:rPr b="1" lang="en-US"/>
              <a:t>reducer</a:t>
            </a:r>
            <a:r>
              <a:rPr lang="en-US"/>
              <a:t>:</a:t>
            </a:r>
            <a:endParaRPr/>
          </a:p>
        </p:txBody>
      </p:sp>
      <p:sp>
        <p:nvSpPr>
          <p:cNvPr id="268" name="Google Shape;268;p20"/>
          <p:cNvSpPr/>
          <p:nvPr/>
        </p:nvSpPr>
        <p:spPr>
          <a:xfrm>
            <a:off x="1274233" y="2795364"/>
            <a:ext cx="9811349" cy="3570208"/>
          </a:xfrm>
          <a:prstGeom prst="rect">
            <a:avLst/>
          </a:prstGeom>
          <a:noFill/>
          <a:ln cap="flat" cmpd="sng" w="952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236538" marR="0" rtl="0" algn="l">
              <a:lnSpc>
                <a:spcPct val="100000"/>
              </a:lnSpc>
              <a:spcBef>
                <a:spcPts val="0"/>
              </a:spcBef>
              <a:spcAft>
                <a:spcPts val="0"/>
              </a:spcAft>
              <a:buClr>
                <a:schemeClr val="dk2"/>
              </a:buClr>
              <a:buSzPts val="2800"/>
              <a:buFont typeface="Source Code Pro"/>
              <a:buNone/>
            </a:pPr>
            <a:r>
              <a:rPr b="1" i="0" lang="en-US" sz="2800" u="none" cap="none" strike="noStrike">
                <a:solidFill>
                  <a:schemeClr val="dk2"/>
                </a:solidFill>
                <a:latin typeface="Source Code Pro"/>
                <a:ea typeface="Source Code Pro"/>
                <a:cs typeface="Source Code Pro"/>
                <a:sym typeface="Source Code Pro"/>
              </a:rPr>
              <a:t>const initialState = {count: 0}; </a:t>
            </a:r>
            <a:endParaRPr/>
          </a:p>
          <a:p>
            <a:pPr indent="0" lvl="0" marL="236538" marR="0" rtl="0" algn="l">
              <a:lnSpc>
                <a:spcPct val="100000"/>
              </a:lnSpc>
              <a:spcBef>
                <a:spcPts val="0"/>
              </a:spcBef>
              <a:spcAft>
                <a:spcPts val="0"/>
              </a:spcAft>
              <a:buClr>
                <a:schemeClr val="dk2"/>
              </a:buClr>
              <a:buSzPts val="2800"/>
              <a:buFont typeface="Source Code Pro"/>
              <a:buNone/>
            </a:pPr>
            <a:r>
              <a:rPr b="1" i="0" lang="en-US" sz="2800" u="none" cap="none" strike="noStrike">
                <a:solidFill>
                  <a:schemeClr val="dk2"/>
                </a:solidFill>
                <a:latin typeface="Source Code Pro"/>
                <a:ea typeface="Source Code Pro"/>
                <a:cs typeface="Source Code Pro"/>
                <a:sym typeface="Source Code Pro"/>
              </a:rPr>
              <a:t>function </a:t>
            </a:r>
            <a:r>
              <a:rPr b="1" i="0" lang="en-US" sz="2800" u="none" cap="none" strike="noStrike">
                <a:solidFill>
                  <a:srgbClr val="C00000"/>
                </a:solidFill>
                <a:latin typeface="Source Code Pro"/>
                <a:ea typeface="Source Code Pro"/>
                <a:cs typeface="Source Code Pro"/>
                <a:sym typeface="Source Code Pro"/>
              </a:rPr>
              <a:t>reducer</a:t>
            </a:r>
            <a:r>
              <a:rPr b="1" i="0" lang="en-US" sz="2800" u="none" cap="none" strike="noStrike">
                <a:solidFill>
                  <a:schemeClr val="dk2"/>
                </a:solidFill>
                <a:latin typeface="Source Code Pro"/>
                <a:ea typeface="Source Code Pro"/>
                <a:cs typeface="Source Code Pro"/>
                <a:sym typeface="Source Code Pro"/>
              </a:rPr>
              <a:t>(state, action) { </a:t>
            </a:r>
            <a:endParaRPr/>
          </a:p>
          <a:p>
            <a:pPr indent="0" lvl="0" marL="236538" marR="0" rtl="0" algn="l">
              <a:lnSpc>
                <a:spcPct val="100000"/>
              </a:lnSpc>
              <a:spcBef>
                <a:spcPts val="0"/>
              </a:spcBef>
              <a:spcAft>
                <a:spcPts val="0"/>
              </a:spcAft>
              <a:buClr>
                <a:schemeClr val="dk2"/>
              </a:buClr>
              <a:buSzPts val="2800"/>
              <a:buFont typeface="Source Code Pro"/>
              <a:buNone/>
            </a:pPr>
            <a:r>
              <a:rPr b="1" lang="en-US" sz="2800">
                <a:solidFill>
                  <a:schemeClr val="dk2"/>
                </a:solidFill>
                <a:latin typeface="Source Code Pro"/>
                <a:ea typeface="Source Code Pro"/>
                <a:cs typeface="Source Code Pro"/>
                <a:sym typeface="Source Code Pro"/>
              </a:rPr>
              <a:t>	</a:t>
            </a:r>
            <a:r>
              <a:rPr b="1" i="0" lang="en-US" sz="2800" u="none" cap="none" strike="noStrike">
                <a:solidFill>
                  <a:schemeClr val="dk2"/>
                </a:solidFill>
                <a:latin typeface="Source Code Pro"/>
                <a:ea typeface="Source Code Pro"/>
                <a:cs typeface="Source Code Pro"/>
                <a:sym typeface="Source Code Pro"/>
              </a:rPr>
              <a:t>switch (action.type) { </a:t>
            </a:r>
            <a:endParaRPr/>
          </a:p>
          <a:p>
            <a:pPr indent="0" lvl="0" marL="236538" marR="0" rtl="0" algn="l">
              <a:lnSpc>
                <a:spcPct val="100000"/>
              </a:lnSpc>
              <a:spcBef>
                <a:spcPts val="0"/>
              </a:spcBef>
              <a:spcAft>
                <a:spcPts val="0"/>
              </a:spcAft>
              <a:buClr>
                <a:schemeClr val="dk2"/>
              </a:buClr>
              <a:buSzPts val="2800"/>
              <a:buFont typeface="Source Code Pro"/>
              <a:buNone/>
            </a:pPr>
            <a:r>
              <a:rPr b="1" lang="en-US" sz="2800">
                <a:solidFill>
                  <a:schemeClr val="dk2"/>
                </a:solidFill>
                <a:latin typeface="Source Code Pro"/>
                <a:ea typeface="Source Code Pro"/>
                <a:cs typeface="Source Code Pro"/>
                <a:sym typeface="Source Code Pro"/>
              </a:rPr>
              <a:t>		</a:t>
            </a:r>
            <a:r>
              <a:rPr b="1" i="0" lang="en-US" sz="2800" u="none" cap="none" strike="noStrike">
                <a:solidFill>
                  <a:schemeClr val="dk2"/>
                </a:solidFill>
                <a:latin typeface="Source Code Pro"/>
                <a:ea typeface="Source Code Pro"/>
                <a:cs typeface="Source Code Pro"/>
                <a:sym typeface="Source Code Pro"/>
              </a:rPr>
              <a:t>case 'increment': return {count: state.count + 1}; </a:t>
            </a:r>
            <a:endParaRPr/>
          </a:p>
          <a:p>
            <a:pPr indent="0" lvl="0" marL="236538" marR="0" rtl="0" algn="l">
              <a:lnSpc>
                <a:spcPct val="100000"/>
              </a:lnSpc>
              <a:spcBef>
                <a:spcPts val="0"/>
              </a:spcBef>
              <a:spcAft>
                <a:spcPts val="0"/>
              </a:spcAft>
              <a:buClr>
                <a:schemeClr val="dk2"/>
              </a:buClr>
              <a:buSzPts val="2800"/>
              <a:buFont typeface="Source Code Pro"/>
              <a:buNone/>
            </a:pPr>
            <a:r>
              <a:rPr b="1" lang="en-US" sz="2800">
                <a:solidFill>
                  <a:schemeClr val="dk2"/>
                </a:solidFill>
                <a:latin typeface="Source Code Pro"/>
                <a:ea typeface="Source Code Pro"/>
                <a:cs typeface="Source Code Pro"/>
                <a:sym typeface="Source Code Pro"/>
              </a:rPr>
              <a:t>		</a:t>
            </a:r>
            <a:r>
              <a:rPr b="1" i="0" lang="en-US" sz="2800" u="none" cap="none" strike="noStrike">
                <a:solidFill>
                  <a:schemeClr val="dk2"/>
                </a:solidFill>
                <a:latin typeface="Source Code Pro"/>
                <a:ea typeface="Source Code Pro"/>
                <a:cs typeface="Source Code Pro"/>
                <a:sym typeface="Source Code Pro"/>
              </a:rPr>
              <a:t>case 'decrement': return {count: state.count - 1}; 	default: throw new Error(); </a:t>
            </a:r>
            <a:endParaRPr/>
          </a:p>
          <a:p>
            <a:pPr indent="0" lvl="0" marL="236538" marR="0" rtl="0" algn="l">
              <a:lnSpc>
                <a:spcPct val="100000"/>
              </a:lnSpc>
              <a:spcBef>
                <a:spcPts val="0"/>
              </a:spcBef>
              <a:spcAft>
                <a:spcPts val="0"/>
              </a:spcAft>
              <a:buClr>
                <a:schemeClr val="dk2"/>
              </a:buClr>
              <a:buSzPts val="2800"/>
              <a:buFont typeface="Source Code Pro"/>
              <a:buNone/>
            </a:pPr>
            <a:r>
              <a:rPr b="1" lang="en-US" sz="2800">
                <a:solidFill>
                  <a:schemeClr val="dk2"/>
                </a:solidFill>
                <a:latin typeface="Source Code Pro"/>
                <a:ea typeface="Source Code Pro"/>
                <a:cs typeface="Source Code Pro"/>
                <a:sym typeface="Source Code Pro"/>
              </a:rPr>
              <a:t>	</a:t>
            </a:r>
            <a:r>
              <a:rPr b="1" i="0" lang="en-US" sz="2800" u="none" cap="none" strike="noStrike">
                <a:solidFill>
                  <a:schemeClr val="dk2"/>
                </a:solidFill>
                <a:latin typeface="Source Code Pro"/>
                <a:ea typeface="Source Code Pro"/>
                <a:cs typeface="Source Code Pro"/>
                <a:sym typeface="Source Code Pro"/>
              </a:rPr>
              <a:t>}</a:t>
            </a:r>
            <a:endParaRPr/>
          </a:p>
          <a:p>
            <a:pPr indent="0" lvl="0" marL="236538" marR="0" rtl="0" algn="l">
              <a:lnSpc>
                <a:spcPct val="100000"/>
              </a:lnSpc>
              <a:spcBef>
                <a:spcPts val="0"/>
              </a:spcBef>
              <a:spcAft>
                <a:spcPts val="0"/>
              </a:spcAft>
              <a:buClr>
                <a:schemeClr val="dk2"/>
              </a:buClr>
              <a:buSzPts val="2800"/>
              <a:buFont typeface="Source Code Pro"/>
              <a:buNone/>
            </a:pPr>
            <a:r>
              <a:rPr b="1" i="0" lang="en-US" sz="2800" u="none" cap="none" strike="noStrike">
                <a:solidFill>
                  <a:schemeClr val="dk2"/>
                </a:solidFill>
                <a:latin typeface="Source Code Pro"/>
                <a:ea typeface="Source Code Pro"/>
                <a:cs typeface="Source Code Pro"/>
                <a:sym typeface="Source Code Pro"/>
              </a:rPr>
              <a:t> }</a:t>
            </a:r>
            <a:r>
              <a:rPr b="1" i="0" lang="en-US" sz="3600" u="none" cap="none" strike="noStrike">
                <a:solidFill>
                  <a:schemeClr val="dk2"/>
                </a:solidFill>
                <a:latin typeface="Arial"/>
                <a:ea typeface="Arial"/>
                <a:cs typeface="Arial"/>
                <a:sym typeface="Arial"/>
              </a:rPr>
              <a:t> </a:t>
            </a:r>
            <a:endParaRPr b="1" i="0" sz="5400" u="none" cap="none" strike="noStrike">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275" name="Google Shape;275;p21"/>
          <p:cNvSpPr txBox="1"/>
          <p:nvPr>
            <p:ph idx="1" type="body"/>
          </p:nvPr>
        </p:nvSpPr>
        <p:spPr>
          <a:xfrm>
            <a:off x="1104150" y="1346425"/>
            <a:ext cx="9982200" cy="9846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2"/>
              </a:buClr>
              <a:buSzPts val="2800"/>
              <a:buChar char="▪"/>
            </a:pPr>
            <a:r>
              <a:rPr lang="en-US">
                <a:solidFill>
                  <a:schemeClr val="dk2"/>
                </a:solidFill>
              </a:rPr>
              <a:t>Example: Here’s the counter example from the </a:t>
            </a:r>
            <a:r>
              <a:rPr b="1" lang="en-US">
                <a:solidFill>
                  <a:schemeClr val="dk2"/>
                </a:solidFill>
              </a:rPr>
              <a:t>useState</a:t>
            </a:r>
            <a:r>
              <a:rPr lang="en-US">
                <a:solidFill>
                  <a:schemeClr val="dk2"/>
                </a:solidFill>
              </a:rPr>
              <a:t> section, rewritten to use a </a:t>
            </a:r>
            <a:r>
              <a:rPr b="1" lang="en-US">
                <a:solidFill>
                  <a:schemeClr val="dk2"/>
                </a:solidFill>
              </a:rPr>
              <a:t>reducer</a:t>
            </a:r>
            <a:r>
              <a:rPr lang="en-US">
                <a:solidFill>
                  <a:schemeClr val="dk2"/>
                </a:solidFill>
              </a:rPr>
              <a:t>:</a:t>
            </a:r>
            <a:endParaRPr/>
          </a:p>
        </p:txBody>
      </p:sp>
      <p:sp>
        <p:nvSpPr>
          <p:cNvPr id="276" name="Google Shape;276;p21"/>
          <p:cNvSpPr/>
          <p:nvPr/>
        </p:nvSpPr>
        <p:spPr>
          <a:xfrm>
            <a:off x="787500" y="2475850"/>
            <a:ext cx="11065800" cy="3908400"/>
          </a:xfrm>
          <a:prstGeom prst="rect">
            <a:avLst/>
          </a:prstGeom>
          <a:noFill/>
          <a:ln cap="flat" cmpd="sng" w="952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169863" marR="0" rtl="0" algn="l">
              <a:lnSpc>
                <a:spcPct val="100000"/>
              </a:lnSpc>
              <a:spcBef>
                <a:spcPts val="0"/>
              </a:spcBef>
              <a:spcAft>
                <a:spcPts val="0"/>
              </a:spcAft>
              <a:buClr>
                <a:srgbClr val="C00000"/>
              </a:buClr>
              <a:buSzPts val="2800"/>
              <a:buFont typeface="Source Code Pro"/>
              <a:buNone/>
            </a:pPr>
            <a:r>
              <a:rPr i="0" lang="en-US" sz="2800" u="none" cap="none" strike="noStrike">
                <a:solidFill>
                  <a:srgbClr val="C00000"/>
                </a:solidFill>
                <a:latin typeface="Source Code Pro"/>
                <a:ea typeface="Source Code Pro"/>
                <a:cs typeface="Source Code Pro"/>
                <a:sym typeface="Source Code Pro"/>
              </a:rPr>
              <a:t>function</a:t>
            </a:r>
            <a:r>
              <a:rPr i="0" lang="en-US" sz="2800" u="none" cap="none" strike="noStrike">
                <a:solidFill>
                  <a:srgbClr val="FFFFFF"/>
                </a:solidFill>
                <a:latin typeface="Source Code Pro"/>
                <a:ea typeface="Source Code Pro"/>
                <a:cs typeface="Source Code Pro"/>
                <a:sym typeface="Source Code Pro"/>
              </a:rPr>
              <a:t> </a:t>
            </a:r>
            <a:r>
              <a:rPr i="0" lang="en-US" sz="2800" u="none" cap="none" strike="noStrike">
                <a:solidFill>
                  <a:srgbClr val="0070C0"/>
                </a:solidFill>
                <a:latin typeface="Source Code Pro"/>
                <a:ea typeface="Source Code Pro"/>
                <a:cs typeface="Source Code Pro"/>
                <a:sym typeface="Source Code Pro"/>
              </a:rPr>
              <a:t>Counter() {</a:t>
            </a:r>
            <a:r>
              <a:rPr i="0" lang="en-US" sz="2800" u="none" cap="none" strike="noStrike">
                <a:solidFill>
                  <a:srgbClr val="FFFFFF"/>
                </a:solidFill>
                <a:latin typeface="Source Code Pro"/>
                <a:ea typeface="Source Code Pro"/>
                <a:cs typeface="Source Code Pro"/>
                <a:sym typeface="Source Code Pro"/>
              </a:rPr>
              <a:t> </a:t>
            </a:r>
            <a:endParaRPr/>
          </a:p>
          <a:p>
            <a:pPr indent="0" lvl="0" marL="0" marR="0" rtl="0" algn="l">
              <a:lnSpc>
                <a:spcPct val="100000"/>
              </a:lnSpc>
              <a:spcBef>
                <a:spcPts val="0"/>
              </a:spcBef>
              <a:spcAft>
                <a:spcPts val="0"/>
              </a:spcAft>
              <a:buClr>
                <a:srgbClr val="FFFFFF"/>
              </a:buClr>
              <a:buSzPts val="2800"/>
              <a:buFont typeface="Source Code Pro"/>
              <a:buNone/>
            </a:pPr>
            <a:r>
              <a:rPr lang="en-US" sz="2800">
                <a:solidFill>
                  <a:srgbClr val="FFFFFF"/>
                </a:solidFill>
                <a:latin typeface="Source Code Pro"/>
                <a:ea typeface="Source Code Pro"/>
                <a:cs typeface="Source Code Pro"/>
                <a:sym typeface="Source Code Pro"/>
              </a:rPr>
              <a:t>	</a:t>
            </a:r>
            <a:r>
              <a:rPr i="0" lang="en-US" sz="2800" u="none" cap="none" strike="noStrike">
                <a:solidFill>
                  <a:schemeClr val="dk2"/>
                </a:solidFill>
                <a:latin typeface="Source Code Pro"/>
                <a:ea typeface="Source Code Pro"/>
                <a:cs typeface="Source Code Pro"/>
                <a:sym typeface="Source Code Pro"/>
              </a:rPr>
              <a:t>const</a:t>
            </a:r>
            <a:r>
              <a:rPr i="0" lang="en-US" sz="2800" u="none" cap="none" strike="noStrike">
                <a:solidFill>
                  <a:srgbClr val="FFFFFF"/>
                </a:solidFill>
                <a:latin typeface="Source Code Pro"/>
                <a:ea typeface="Source Code Pro"/>
                <a:cs typeface="Source Code Pro"/>
                <a:sym typeface="Source Code Pro"/>
              </a:rPr>
              <a:t> </a:t>
            </a:r>
            <a:r>
              <a:rPr i="0" lang="en-US" sz="2800" u="none" cap="none" strike="noStrike">
                <a:solidFill>
                  <a:srgbClr val="0070C0"/>
                </a:solidFill>
                <a:latin typeface="Source Code Pro"/>
                <a:ea typeface="Source Code Pro"/>
                <a:cs typeface="Source Code Pro"/>
                <a:sym typeface="Source Code Pro"/>
              </a:rPr>
              <a:t>[</a:t>
            </a:r>
            <a:r>
              <a:rPr i="0" lang="en-US" sz="2800" u="none" cap="none" strike="noStrike">
                <a:solidFill>
                  <a:schemeClr val="dk1"/>
                </a:solidFill>
                <a:latin typeface="Source Code Pro"/>
                <a:ea typeface="Source Code Pro"/>
                <a:cs typeface="Source Code Pro"/>
                <a:sym typeface="Source Code Pro"/>
              </a:rPr>
              <a:t>state, dispatch</a:t>
            </a:r>
            <a:r>
              <a:rPr i="0" lang="en-US" sz="2800" u="none" cap="none" strike="noStrike">
                <a:solidFill>
                  <a:srgbClr val="0070C0"/>
                </a:solidFill>
                <a:latin typeface="Source Code Pro"/>
                <a:ea typeface="Source Code Pro"/>
                <a:cs typeface="Source Code Pro"/>
                <a:sym typeface="Source Code Pro"/>
              </a:rPr>
              <a:t>] =</a:t>
            </a:r>
            <a:r>
              <a:rPr i="0" lang="en-US" sz="2800" u="none" cap="none" strike="noStrike">
                <a:solidFill>
                  <a:srgbClr val="FFFFFF"/>
                </a:solidFill>
                <a:latin typeface="Source Code Pro"/>
                <a:ea typeface="Source Code Pro"/>
                <a:cs typeface="Source Code Pro"/>
                <a:sym typeface="Source Code Pro"/>
              </a:rPr>
              <a:t> </a:t>
            </a:r>
            <a:r>
              <a:rPr b="1" i="0" lang="en-US" sz="2800" u="none" cap="none" strike="noStrike">
                <a:solidFill>
                  <a:srgbClr val="C00000"/>
                </a:solidFill>
                <a:latin typeface="Source Code Pro"/>
                <a:ea typeface="Source Code Pro"/>
                <a:cs typeface="Source Code Pro"/>
                <a:sym typeface="Source Code Pro"/>
              </a:rPr>
              <a:t>useReducer</a:t>
            </a:r>
            <a:r>
              <a:rPr i="0" lang="en-US" sz="2800" u="none" cap="none" strike="noStrike">
                <a:solidFill>
                  <a:schemeClr val="dk2"/>
                </a:solidFill>
                <a:latin typeface="Source Code Pro"/>
                <a:ea typeface="Source Code Pro"/>
                <a:cs typeface="Source Code Pro"/>
                <a:sym typeface="Source Code Pro"/>
              </a:rPr>
              <a:t>(reducer</a:t>
            </a:r>
            <a:r>
              <a:rPr i="0" lang="en-US" sz="2800" u="none" cap="none" strike="noStrike">
                <a:solidFill>
                  <a:srgbClr val="88C6BE"/>
                </a:solidFill>
                <a:latin typeface="Source Code Pro"/>
                <a:ea typeface="Source Code Pro"/>
                <a:cs typeface="Source Code Pro"/>
                <a:sym typeface="Source Code Pro"/>
              </a:rPr>
              <a:t>,</a:t>
            </a:r>
            <a:r>
              <a:rPr i="0" lang="en-US" sz="2800" u="none" cap="none" strike="noStrike">
                <a:solidFill>
                  <a:srgbClr val="FFFFFF"/>
                </a:solidFill>
                <a:latin typeface="Source Code Pro"/>
                <a:ea typeface="Source Code Pro"/>
                <a:cs typeface="Source Code Pro"/>
                <a:sym typeface="Source Code Pro"/>
              </a:rPr>
              <a:t> i</a:t>
            </a:r>
            <a:r>
              <a:rPr i="0" lang="en-US" sz="2800" u="none" cap="none" strike="noStrike">
                <a:solidFill>
                  <a:schemeClr val="dk2"/>
                </a:solidFill>
                <a:latin typeface="Source Code Pro"/>
                <a:ea typeface="Source Code Pro"/>
                <a:cs typeface="Source Code Pro"/>
                <a:sym typeface="Source Code Pro"/>
              </a:rPr>
              <a:t>nitialState);</a:t>
            </a:r>
            <a:r>
              <a:rPr i="0" lang="en-US" sz="2800" u="none" cap="none" strike="noStrike">
                <a:solidFill>
                  <a:srgbClr val="FFFFFF"/>
                </a:solidFill>
                <a:latin typeface="Source Code Pro"/>
                <a:ea typeface="Source Code Pro"/>
                <a:cs typeface="Source Code Pro"/>
                <a:sym typeface="Source Code Pro"/>
              </a:rPr>
              <a:t> 	</a:t>
            </a:r>
            <a:endParaRPr/>
          </a:p>
          <a:p>
            <a:pPr indent="0" lvl="0" marL="0" marR="0" rtl="0" algn="l">
              <a:lnSpc>
                <a:spcPct val="100000"/>
              </a:lnSpc>
              <a:spcBef>
                <a:spcPts val="0"/>
              </a:spcBef>
              <a:spcAft>
                <a:spcPts val="0"/>
              </a:spcAft>
              <a:buClr>
                <a:srgbClr val="FFFFFF"/>
              </a:buClr>
              <a:buSzPts val="2800"/>
              <a:buFont typeface="Source Code Pro"/>
              <a:buNone/>
            </a:pPr>
            <a:r>
              <a:rPr lang="en-US" sz="2800">
                <a:solidFill>
                  <a:srgbClr val="FFFFFF"/>
                </a:solidFill>
                <a:latin typeface="Source Code Pro"/>
                <a:ea typeface="Source Code Pro"/>
                <a:cs typeface="Source Code Pro"/>
                <a:sym typeface="Source Code Pro"/>
              </a:rPr>
              <a:t>	</a:t>
            </a:r>
            <a:r>
              <a:rPr i="0" lang="en-US" sz="2800" u="none" cap="none" strike="noStrike">
                <a:solidFill>
                  <a:schemeClr val="dk2"/>
                </a:solidFill>
                <a:latin typeface="Source Code Pro"/>
                <a:ea typeface="Source Code Pro"/>
                <a:cs typeface="Source Code Pro"/>
                <a:sym typeface="Source Code Pro"/>
              </a:rPr>
              <a:t>return</a:t>
            </a:r>
            <a:r>
              <a:rPr i="0" lang="en-US" sz="2800" u="none" cap="none" strike="noStrike">
                <a:solidFill>
                  <a:srgbClr val="FFFFFF"/>
                </a:solidFill>
                <a:latin typeface="Source Code Pro"/>
                <a:ea typeface="Source Code Pro"/>
                <a:cs typeface="Source Code Pro"/>
                <a:sym typeface="Source Code Pro"/>
              </a:rPr>
              <a:t> </a:t>
            </a:r>
            <a:r>
              <a:rPr i="0" lang="en-US" sz="2800" u="none" cap="none" strike="noStrike">
                <a:solidFill>
                  <a:schemeClr val="dk2"/>
                </a:solidFill>
                <a:latin typeface="Source Code Pro"/>
                <a:ea typeface="Source Code Pro"/>
                <a:cs typeface="Source Code Pro"/>
                <a:sym typeface="Source Code Pro"/>
              </a:rPr>
              <a:t>( &lt;&gt; Count: {state.count}</a:t>
            </a:r>
            <a:r>
              <a:rPr i="0" lang="en-US" sz="2800" u="none" cap="none" strike="noStrike">
                <a:solidFill>
                  <a:srgbClr val="FFFFFF"/>
                </a:solidFill>
                <a:latin typeface="Source Code Pro"/>
                <a:ea typeface="Source Code Pro"/>
                <a:cs typeface="Source Code Pro"/>
                <a:sym typeface="Source Code Pro"/>
              </a:rPr>
              <a:t> </a:t>
            </a:r>
            <a:endParaRPr/>
          </a:p>
          <a:p>
            <a:pPr indent="0" lvl="2" marL="914400" marR="0" rtl="0" algn="l">
              <a:spcBef>
                <a:spcPts val="0"/>
              </a:spcBef>
              <a:spcAft>
                <a:spcPts val="0"/>
              </a:spcAft>
              <a:buNone/>
            </a:pPr>
            <a:r>
              <a:rPr b="0" i="0" lang="en-US" sz="2800" u="none" cap="none" strike="noStrike">
                <a:solidFill>
                  <a:schemeClr val="dk2"/>
                </a:solidFill>
                <a:latin typeface="Source Code Pro"/>
                <a:ea typeface="Source Code Pro"/>
                <a:cs typeface="Source Code Pro"/>
                <a:sym typeface="Source Code Pro"/>
              </a:rPr>
              <a:t>&lt;</a:t>
            </a:r>
            <a:r>
              <a:rPr b="0" i="0" lang="en-US" sz="2800" u="none" cap="none" strike="noStrike">
                <a:solidFill>
                  <a:srgbClr val="C00000"/>
                </a:solidFill>
                <a:latin typeface="Source Code Pro"/>
                <a:ea typeface="Source Code Pro"/>
                <a:cs typeface="Source Code Pro"/>
                <a:sym typeface="Source Code Pro"/>
              </a:rPr>
              <a:t>button</a:t>
            </a:r>
            <a:r>
              <a:rPr b="0" i="0" lang="en-US" sz="2800" u="none" cap="none" strike="noStrike">
                <a:solidFill>
                  <a:srgbClr val="FC929E"/>
                </a:solidFill>
                <a:latin typeface="Source Code Pro"/>
                <a:ea typeface="Source Code Pro"/>
                <a:cs typeface="Source Code Pro"/>
                <a:sym typeface="Source Code Pro"/>
              </a:rPr>
              <a:t> </a:t>
            </a:r>
            <a:r>
              <a:rPr b="0" i="0" lang="en-US" sz="2800" u="none" cap="none" strike="noStrike">
                <a:solidFill>
                  <a:srgbClr val="002060"/>
                </a:solidFill>
                <a:latin typeface="Source Code Pro"/>
                <a:ea typeface="Source Code Pro"/>
                <a:cs typeface="Source Code Pro"/>
                <a:sym typeface="Source Code Pro"/>
              </a:rPr>
              <a:t>onClick</a:t>
            </a:r>
            <a:r>
              <a:rPr b="0" i="0" lang="en-US" sz="2800" u="none" cap="none" strike="noStrike">
                <a:solidFill>
                  <a:srgbClr val="0070C0"/>
                </a:solidFill>
                <a:latin typeface="Source Code Pro"/>
                <a:ea typeface="Source Code Pro"/>
                <a:cs typeface="Source Code Pro"/>
                <a:sym typeface="Source Code Pro"/>
              </a:rPr>
              <a:t>={() =&gt; dispatch({type</a:t>
            </a:r>
            <a:r>
              <a:rPr b="0" i="0" lang="en-US" sz="2800" u="none" cap="none" strike="noStrike">
                <a:solidFill>
                  <a:srgbClr val="D7DEEA"/>
                </a:solidFill>
                <a:latin typeface="Source Code Pro"/>
                <a:ea typeface="Source Code Pro"/>
                <a:cs typeface="Source Code Pro"/>
                <a:sym typeface="Source Code Pro"/>
              </a:rPr>
              <a:t>:</a:t>
            </a:r>
            <a:r>
              <a:rPr b="0" i="0" lang="en-US" sz="2800" u="none" cap="none" strike="noStrike">
                <a:solidFill>
                  <a:srgbClr val="FC929E"/>
                </a:solidFill>
                <a:latin typeface="Source Code Pro"/>
                <a:ea typeface="Source Code Pro"/>
                <a:cs typeface="Source Code Pro"/>
                <a:sym typeface="Source Code Pro"/>
              </a:rPr>
              <a:t> </a:t>
            </a:r>
            <a:r>
              <a:rPr b="0" i="0" lang="en-US" sz="2800" u="none" cap="none" strike="noStrike">
                <a:solidFill>
                  <a:srgbClr val="002060"/>
                </a:solidFill>
                <a:latin typeface="Source Code Pro"/>
                <a:ea typeface="Source Code Pro"/>
                <a:cs typeface="Source Code Pro"/>
                <a:sym typeface="Source Code Pro"/>
              </a:rPr>
              <a:t>'decrement</a:t>
            </a:r>
            <a:r>
              <a:rPr b="0" i="0" lang="en-US" sz="2800" u="none" cap="none" strike="noStrike">
                <a:solidFill>
                  <a:srgbClr val="C00000"/>
                </a:solidFill>
                <a:latin typeface="Source Code Pro"/>
                <a:ea typeface="Source Code Pro"/>
                <a:cs typeface="Source Code Pro"/>
                <a:sym typeface="Source Code Pro"/>
              </a:rPr>
              <a:t>'})}&gt;-&lt;/button&gt; </a:t>
            </a:r>
            <a:endParaRPr/>
          </a:p>
          <a:p>
            <a:pPr indent="0" lvl="2" marL="914400" marR="0" rtl="0" algn="l">
              <a:spcBef>
                <a:spcPts val="0"/>
              </a:spcBef>
              <a:spcAft>
                <a:spcPts val="0"/>
              </a:spcAft>
              <a:buNone/>
            </a:pPr>
            <a:r>
              <a:rPr b="0" i="0" lang="en-US" sz="2800" u="none" cap="none" strike="noStrike">
                <a:solidFill>
                  <a:srgbClr val="C00000"/>
                </a:solidFill>
                <a:latin typeface="Source Code Pro"/>
                <a:ea typeface="Source Code Pro"/>
                <a:cs typeface="Source Code Pro"/>
                <a:sym typeface="Source Code Pro"/>
              </a:rPr>
              <a:t>&lt;button </a:t>
            </a:r>
            <a:r>
              <a:rPr b="0" i="0" lang="en-US" sz="2800" u="none" cap="none" strike="noStrike">
                <a:solidFill>
                  <a:srgbClr val="7030A0"/>
                </a:solidFill>
                <a:latin typeface="Source Code Pro"/>
                <a:ea typeface="Source Code Pro"/>
                <a:cs typeface="Source Code Pro"/>
                <a:sym typeface="Source Code Pro"/>
              </a:rPr>
              <a:t>onClick</a:t>
            </a:r>
            <a:r>
              <a:rPr b="0" i="0" lang="en-US" sz="2800" u="none" cap="none" strike="noStrike">
                <a:solidFill>
                  <a:srgbClr val="0070C0"/>
                </a:solidFill>
                <a:latin typeface="Source Code Pro"/>
                <a:ea typeface="Source Code Pro"/>
                <a:cs typeface="Source Code Pro"/>
                <a:sym typeface="Source Code Pro"/>
              </a:rPr>
              <a:t>={() =&gt; dispatch({type:</a:t>
            </a:r>
            <a:r>
              <a:rPr b="0" i="0" lang="en-US" sz="2800" u="none" cap="none" strike="noStrike">
                <a:solidFill>
                  <a:srgbClr val="FC929E"/>
                </a:solidFill>
                <a:latin typeface="Source Code Pro"/>
                <a:ea typeface="Source Code Pro"/>
                <a:cs typeface="Source Code Pro"/>
                <a:sym typeface="Source Code Pro"/>
              </a:rPr>
              <a:t> </a:t>
            </a:r>
            <a:r>
              <a:rPr b="0" i="0" lang="en-US" sz="2800" u="none" cap="none" strike="noStrike">
                <a:solidFill>
                  <a:srgbClr val="7030A0"/>
                </a:solidFill>
                <a:latin typeface="Source Code Pro"/>
                <a:ea typeface="Source Code Pro"/>
                <a:cs typeface="Source Code Pro"/>
                <a:sym typeface="Source Code Pro"/>
              </a:rPr>
              <a:t>'increment</a:t>
            </a:r>
            <a:r>
              <a:rPr b="0" i="0" lang="en-US" sz="2800" u="none" cap="none" strike="noStrike">
                <a:solidFill>
                  <a:srgbClr val="0070C0"/>
                </a:solidFill>
                <a:latin typeface="Source Code Pro"/>
                <a:ea typeface="Source Code Pro"/>
                <a:cs typeface="Source Code Pro"/>
                <a:sym typeface="Source Code Pro"/>
              </a:rPr>
              <a:t>'})}&gt;</a:t>
            </a:r>
            <a:r>
              <a:rPr b="0" i="0" lang="en-US" sz="2800" u="none" cap="none" strike="noStrike">
                <a:solidFill>
                  <a:srgbClr val="FFFFFF"/>
                </a:solidFill>
                <a:latin typeface="Source Code Pro"/>
                <a:ea typeface="Source Code Pro"/>
                <a:cs typeface="Source Code Pro"/>
                <a:sym typeface="Source Code Pro"/>
              </a:rPr>
              <a:t>+</a:t>
            </a:r>
            <a:r>
              <a:rPr b="0" i="0" lang="en-US" sz="2800" u="none" cap="none" strike="noStrike">
                <a:solidFill>
                  <a:srgbClr val="FF0000"/>
                </a:solidFill>
                <a:latin typeface="Source Code Pro"/>
                <a:ea typeface="Source Code Pro"/>
                <a:cs typeface="Source Code Pro"/>
                <a:sym typeface="Source Code Pro"/>
              </a:rPr>
              <a:t>&lt;/button&gt;</a:t>
            </a:r>
            <a:r>
              <a:rPr b="0" i="0" lang="en-US" sz="2800" u="none" cap="none" strike="noStrike">
                <a:solidFill>
                  <a:srgbClr val="FFFFFF"/>
                </a:solidFill>
                <a:latin typeface="Source Code Pro"/>
                <a:ea typeface="Source Code Pro"/>
                <a:cs typeface="Source Code Pro"/>
                <a:sym typeface="Source Code Pro"/>
              </a:rPr>
              <a:t> </a:t>
            </a:r>
            <a:r>
              <a:rPr b="0" i="0" lang="en-US" sz="2800" u="none" cap="none" strike="noStrike">
                <a:solidFill>
                  <a:srgbClr val="0070C0"/>
                </a:solidFill>
                <a:latin typeface="Source Code Pro"/>
                <a:ea typeface="Source Code Pro"/>
                <a:cs typeface="Source Code Pro"/>
                <a:sym typeface="Source Code Pro"/>
              </a:rPr>
              <a:t>&lt;/&gt; ); </a:t>
            </a:r>
            <a:endParaRPr b="0" i="0" sz="2800" u="none" cap="none" strike="noStrike">
              <a:solidFill>
                <a:srgbClr val="0070C0"/>
              </a:solidFill>
              <a:latin typeface="Source Code Pro"/>
              <a:ea typeface="Source Code Pro"/>
              <a:cs typeface="Source Code Pro"/>
              <a:sym typeface="Source Code Pro"/>
            </a:endParaRPr>
          </a:p>
          <a:p>
            <a:pPr indent="0" lvl="2" marL="169863" marR="0" rtl="0" algn="l">
              <a:spcBef>
                <a:spcPts val="0"/>
              </a:spcBef>
              <a:spcAft>
                <a:spcPts val="0"/>
              </a:spcAft>
              <a:buNone/>
            </a:pPr>
            <a:r>
              <a:rPr b="0" i="0" lang="en-US" sz="2800" u="none" cap="none" strike="noStrike">
                <a:solidFill>
                  <a:srgbClr val="0070C0"/>
                </a:solidFill>
                <a:latin typeface="Source Code Pro"/>
                <a:ea typeface="Source Code Pro"/>
                <a:cs typeface="Source Code Pro"/>
                <a:sym typeface="Source Code Pro"/>
              </a:rPr>
              <a:t>}</a:t>
            </a:r>
            <a:r>
              <a:rPr b="0" i="0" lang="en-US" sz="3600" u="none" cap="none" strike="noStrike">
                <a:solidFill>
                  <a:srgbClr val="0070C0"/>
                </a:solidFill>
                <a:latin typeface="Arial"/>
                <a:ea typeface="Arial"/>
                <a:cs typeface="Arial"/>
                <a:sym typeface="Arial"/>
              </a:rPr>
              <a:t> </a:t>
            </a:r>
            <a:endParaRPr b="0" i="0" sz="5400" u="none" cap="none" strike="noStrike">
              <a:solidFill>
                <a:srgbClr val="0070C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282" name="Google Shape;282;p2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Parameters </a:t>
            </a:r>
            <a:endParaRPr/>
          </a:p>
          <a:p>
            <a:pPr indent="-228600" lvl="1" marL="685800" rtl="0" algn="just">
              <a:lnSpc>
                <a:spcPct val="100000"/>
              </a:lnSpc>
              <a:spcBef>
                <a:spcPts val="600"/>
              </a:spcBef>
              <a:spcAft>
                <a:spcPts val="0"/>
              </a:spcAft>
              <a:buClr>
                <a:schemeClr val="dk1"/>
              </a:buClr>
              <a:buSzPts val="2400"/>
              <a:buChar char="▪"/>
            </a:pPr>
            <a:r>
              <a:rPr b="1" lang="en-US"/>
              <a:t>reducer</a:t>
            </a:r>
            <a:r>
              <a:rPr lang="en-US"/>
              <a:t>: The reducer function that specifies how the state gets updated. It must be pure, should take the state and action as arguments, and should return the next state. State and action can be of any types.</a:t>
            </a:r>
            <a:endParaRPr/>
          </a:p>
          <a:p>
            <a:pPr indent="-228600" lvl="1" marL="685800" rtl="0" algn="just">
              <a:lnSpc>
                <a:spcPct val="100000"/>
              </a:lnSpc>
              <a:spcBef>
                <a:spcPts val="600"/>
              </a:spcBef>
              <a:spcAft>
                <a:spcPts val="0"/>
              </a:spcAft>
              <a:buClr>
                <a:schemeClr val="dk1"/>
              </a:buClr>
              <a:buSzPts val="2400"/>
              <a:buChar char="▪"/>
            </a:pPr>
            <a:r>
              <a:rPr b="1" lang="en-US"/>
              <a:t>initialArg</a:t>
            </a:r>
            <a:r>
              <a:rPr lang="en-US"/>
              <a:t>: The value from which the initial state is calculated. It can be a value of any type. How the initial state is calculated from it depends on the next init argument.</a:t>
            </a:r>
            <a:endParaRPr/>
          </a:p>
          <a:p>
            <a:pPr indent="-228600" lvl="1" marL="685800" rtl="0" algn="just">
              <a:lnSpc>
                <a:spcPct val="100000"/>
              </a:lnSpc>
              <a:spcBef>
                <a:spcPts val="600"/>
              </a:spcBef>
              <a:spcAft>
                <a:spcPts val="0"/>
              </a:spcAft>
              <a:buClr>
                <a:schemeClr val="dk1"/>
              </a:buClr>
              <a:buSzPts val="2400"/>
              <a:buChar char="▪"/>
            </a:pPr>
            <a:r>
              <a:rPr lang="en-US"/>
              <a:t>optional </a:t>
            </a:r>
            <a:r>
              <a:rPr b="1" lang="en-US"/>
              <a:t>init</a:t>
            </a:r>
            <a:r>
              <a:rPr lang="en-US"/>
              <a:t>: The initializer function that should return the initial state. If it’s not specified, the initial state is set to initialArg. Otherwise, the initial state is set to the result of calling init(initialArg).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288" name="Google Shape;288;p2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Returns: </a:t>
            </a:r>
            <a:r>
              <a:rPr lang="en-US"/>
              <a:t>useReducer returns an array with exactly two values:</a:t>
            </a:r>
            <a:endParaRPr/>
          </a:p>
          <a:p>
            <a:pPr indent="-228600" lvl="1" marL="685800" rtl="0" algn="l">
              <a:lnSpc>
                <a:spcPct val="100000"/>
              </a:lnSpc>
              <a:spcBef>
                <a:spcPts val="600"/>
              </a:spcBef>
              <a:spcAft>
                <a:spcPts val="0"/>
              </a:spcAft>
              <a:buClr>
                <a:schemeClr val="dk1"/>
              </a:buClr>
              <a:buSzPts val="2400"/>
              <a:buChar char="▪"/>
            </a:pPr>
            <a:r>
              <a:rPr b="1" lang="en-US"/>
              <a:t>The current state</a:t>
            </a:r>
            <a:r>
              <a:rPr lang="en-US"/>
              <a:t>. During the first render, it’s set to init(initialArg) or initialArg (if there’s no init).</a:t>
            </a:r>
            <a:endParaRPr/>
          </a:p>
          <a:p>
            <a:pPr indent="-228600" lvl="1" marL="685800" rtl="0" algn="l">
              <a:lnSpc>
                <a:spcPct val="100000"/>
              </a:lnSpc>
              <a:spcBef>
                <a:spcPts val="600"/>
              </a:spcBef>
              <a:spcAft>
                <a:spcPts val="0"/>
              </a:spcAft>
              <a:buClr>
                <a:schemeClr val="dk1"/>
              </a:buClr>
              <a:buSzPts val="2400"/>
              <a:buChar char="▪"/>
            </a:pPr>
            <a:r>
              <a:rPr b="1" lang="en-US"/>
              <a:t>The dispatch function </a:t>
            </a:r>
            <a:r>
              <a:rPr lang="en-US"/>
              <a:t>that lets you update the state to a different value and trigger a re-render.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294" name="Google Shape;294;p2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dispatch function </a:t>
            </a:r>
            <a:endParaRPr/>
          </a:p>
          <a:p>
            <a:pPr indent="-228600" lvl="1" marL="685800" rtl="0" algn="l">
              <a:lnSpc>
                <a:spcPct val="100000"/>
              </a:lnSpc>
              <a:spcBef>
                <a:spcPts val="600"/>
              </a:spcBef>
              <a:spcAft>
                <a:spcPts val="0"/>
              </a:spcAft>
              <a:buClr>
                <a:schemeClr val="dk1"/>
              </a:buClr>
              <a:buSzPts val="2400"/>
              <a:buChar char="▪"/>
            </a:pPr>
            <a:r>
              <a:rPr lang="en-US"/>
              <a:t>The dispatch function returned by </a:t>
            </a:r>
            <a:r>
              <a:rPr b="1" lang="en-US"/>
              <a:t>useReducer</a:t>
            </a:r>
            <a:r>
              <a:rPr lang="en-US"/>
              <a:t> lets you update the state to a different value and trigger a re-render. </a:t>
            </a:r>
            <a:endParaRPr/>
          </a:p>
          <a:p>
            <a:pPr indent="-228600" lvl="1" marL="685800" rtl="0" algn="l">
              <a:lnSpc>
                <a:spcPct val="100000"/>
              </a:lnSpc>
              <a:spcBef>
                <a:spcPts val="600"/>
              </a:spcBef>
              <a:spcAft>
                <a:spcPts val="0"/>
              </a:spcAft>
              <a:buClr>
                <a:schemeClr val="dk1"/>
              </a:buClr>
              <a:buSzPts val="2400"/>
              <a:buChar char="▪"/>
            </a:pPr>
            <a:r>
              <a:rPr lang="en-US"/>
              <a:t>We need to pass the action as the only argument to the dispatch function:</a:t>
            </a:r>
            <a:endParaRPr/>
          </a:p>
        </p:txBody>
      </p:sp>
      <p:sp>
        <p:nvSpPr>
          <p:cNvPr id="295" name="Google Shape;295;p24"/>
          <p:cNvSpPr txBox="1"/>
          <p:nvPr/>
        </p:nvSpPr>
        <p:spPr>
          <a:xfrm>
            <a:off x="558041" y="3886200"/>
            <a:ext cx="11074400" cy="225004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2400">
                <a:solidFill>
                  <a:srgbClr val="FF0000"/>
                </a:solidFill>
                <a:latin typeface="Source Code Pro"/>
                <a:ea typeface="Source Code Pro"/>
                <a:cs typeface="Source Code Pro"/>
                <a:sym typeface="Source Code Pro"/>
              </a:rPr>
              <a:t>const</a:t>
            </a:r>
            <a:r>
              <a:rPr b="1" i="0" lang="en-US" sz="2400">
                <a:solidFill>
                  <a:srgbClr val="23272F"/>
                </a:solidFill>
                <a:latin typeface="Source Code Pro"/>
                <a:ea typeface="Source Code Pro"/>
                <a:cs typeface="Source Code Pro"/>
                <a:sym typeface="Source Code Pro"/>
              </a:rPr>
              <a:t> [state, dispatch] = </a:t>
            </a:r>
            <a:r>
              <a:rPr b="1" i="0" lang="en-US" sz="2400">
                <a:solidFill>
                  <a:srgbClr val="0070C0"/>
                </a:solidFill>
                <a:latin typeface="Source Code Pro"/>
                <a:ea typeface="Source Code Pro"/>
                <a:cs typeface="Source Code Pro"/>
                <a:sym typeface="Source Code Pro"/>
              </a:rPr>
              <a:t>useReducer</a:t>
            </a:r>
            <a:r>
              <a:rPr b="1" i="0" lang="en-US" sz="2400">
                <a:solidFill>
                  <a:srgbClr val="23272F"/>
                </a:solidFill>
                <a:latin typeface="Source Code Pro"/>
                <a:ea typeface="Source Code Pro"/>
                <a:cs typeface="Source Code Pro"/>
                <a:sym typeface="Source Code Pro"/>
              </a:rPr>
              <a:t>(reducer, { age: 42 });</a:t>
            </a:r>
            <a:br>
              <a:rPr b="1" i="0" lang="en-US" sz="2400">
                <a:solidFill>
                  <a:srgbClr val="23272F"/>
                </a:solidFill>
                <a:latin typeface="Source Code Pro"/>
                <a:ea typeface="Source Code Pro"/>
                <a:cs typeface="Source Code Pro"/>
                <a:sym typeface="Source Code Pro"/>
              </a:rPr>
            </a:b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0070C0"/>
                </a:solidFill>
                <a:latin typeface="Source Code Pro"/>
                <a:ea typeface="Source Code Pro"/>
                <a:cs typeface="Source Code Pro"/>
                <a:sym typeface="Source Code Pro"/>
              </a:rPr>
              <a:t>handleClick</a:t>
            </a:r>
            <a:r>
              <a:rPr b="1" i="0" lang="en-US" sz="2400">
                <a:solidFill>
                  <a:srgbClr val="23272F"/>
                </a:solidFill>
                <a:latin typeface="Source Code Pro"/>
                <a:ea typeface="Source Code Pro"/>
                <a:cs typeface="Source Code Pro"/>
                <a:sym typeface="Source Code Pro"/>
              </a:rPr>
              <a:t>() {</a:t>
            </a:r>
            <a:br>
              <a:rPr b="1" i="0" lang="en-US" sz="2400">
                <a:solidFill>
                  <a:srgbClr val="23272F"/>
                </a:solidFill>
                <a:latin typeface="Source Code Pro"/>
                <a:ea typeface="Source Code Pro"/>
                <a:cs typeface="Source Code Pro"/>
                <a:sym typeface="Source Code Pro"/>
              </a:rPr>
            </a:br>
            <a:r>
              <a:rPr b="1" i="0" lang="en-US" sz="2400">
                <a:solidFill>
                  <a:srgbClr val="0070C0"/>
                </a:solidFill>
                <a:latin typeface="Source Code Pro"/>
                <a:ea typeface="Source Code Pro"/>
                <a:cs typeface="Source Code Pro"/>
                <a:sym typeface="Source Code Pro"/>
              </a:rPr>
              <a:t>dispatch</a:t>
            </a:r>
            <a:r>
              <a:rPr b="1" i="0" lang="en-US" sz="2400">
                <a:solidFill>
                  <a:srgbClr val="23272F"/>
                </a:solidFill>
                <a:latin typeface="Source Code Pro"/>
                <a:ea typeface="Source Code Pro"/>
                <a:cs typeface="Source Code Pro"/>
                <a:sym typeface="Source Code Pro"/>
              </a:rPr>
              <a:t>({ type: 'incremented_age'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02" name="Google Shape;302;p2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dispatch function </a:t>
            </a:r>
            <a:endParaRPr/>
          </a:p>
          <a:p>
            <a:pPr indent="-228600" lvl="1" marL="685800" rtl="0" algn="l">
              <a:lnSpc>
                <a:spcPct val="100000"/>
              </a:lnSpc>
              <a:spcBef>
                <a:spcPts val="600"/>
              </a:spcBef>
              <a:spcAft>
                <a:spcPts val="0"/>
              </a:spcAft>
              <a:buClr>
                <a:schemeClr val="dk1"/>
              </a:buClr>
              <a:buSzPts val="2400"/>
              <a:buChar char="▪"/>
            </a:pPr>
            <a:r>
              <a:rPr lang="en-US"/>
              <a:t>React will set the next state to the result of calling the reducer function you’ve provided with the current state and the action you’ve passed to dispatch.</a:t>
            </a:r>
            <a:endParaRPr/>
          </a:p>
          <a:p>
            <a:pPr indent="-228600" lvl="1" marL="685800" rtl="0" algn="l">
              <a:lnSpc>
                <a:spcPct val="100000"/>
              </a:lnSpc>
              <a:spcBef>
                <a:spcPts val="600"/>
              </a:spcBef>
              <a:spcAft>
                <a:spcPts val="0"/>
              </a:spcAft>
              <a:buClr>
                <a:srgbClr val="0070C0"/>
              </a:buClr>
              <a:buSzPts val="2400"/>
              <a:buChar char="▪"/>
            </a:pPr>
            <a:r>
              <a:rPr b="1" lang="en-US">
                <a:solidFill>
                  <a:srgbClr val="0070C0"/>
                </a:solidFill>
              </a:rPr>
              <a:t>Parameters</a:t>
            </a:r>
            <a:r>
              <a:rPr lang="en-US"/>
              <a:t> </a:t>
            </a:r>
            <a:endParaRPr/>
          </a:p>
          <a:p>
            <a:pPr indent="-228600" lvl="2" marL="1143000" rtl="0" algn="l">
              <a:lnSpc>
                <a:spcPct val="100000"/>
              </a:lnSpc>
              <a:spcBef>
                <a:spcPts val="600"/>
              </a:spcBef>
              <a:spcAft>
                <a:spcPts val="0"/>
              </a:spcAft>
              <a:buClr>
                <a:schemeClr val="dk1"/>
              </a:buClr>
              <a:buSzPts val="2400"/>
              <a:buChar char="▪"/>
            </a:pPr>
            <a:r>
              <a:rPr b="1" lang="en-US" sz="2400"/>
              <a:t>action</a:t>
            </a:r>
            <a:r>
              <a:rPr lang="en-US" sz="2400"/>
              <a:t>: The action performed by the user. It can be a value of any type. By convention, an action is usually an object with a type property identifying it and, optionally, other properties with additional information.</a:t>
            </a:r>
            <a:endParaRPr/>
          </a:p>
          <a:p>
            <a:pPr indent="-228600" lvl="1" marL="685800" rtl="0" algn="l">
              <a:lnSpc>
                <a:spcPct val="100000"/>
              </a:lnSpc>
              <a:spcBef>
                <a:spcPts val="600"/>
              </a:spcBef>
              <a:spcAft>
                <a:spcPts val="0"/>
              </a:spcAft>
              <a:buClr>
                <a:srgbClr val="0070C0"/>
              </a:buClr>
              <a:buSzPts val="2400"/>
              <a:buChar char="▪"/>
            </a:pPr>
            <a:r>
              <a:rPr b="1" lang="en-US">
                <a:solidFill>
                  <a:srgbClr val="0070C0"/>
                </a:solidFill>
              </a:rPr>
              <a:t>Returns: </a:t>
            </a:r>
            <a:r>
              <a:rPr lang="en-US"/>
              <a:t>dispatch functions do not have a return value.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08" name="Google Shape;308;p2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Adding a reducer to a component</a:t>
            </a:r>
            <a:r>
              <a:rPr lang="en-US"/>
              <a:t>: Call </a:t>
            </a:r>
            <a:r>
              <a:rPr b="1" lang="en-US"/>
              <a:t>useReducer</a:t>
            </a:r>
            <a:r>
              <a:rPr lang="en-US"/>
              <a:t> at the </a:t>
            </a:r>
            <a:r>
              <a:rPr b="1" lang="en-US"/>
              <a:t>top level </a:t>
            </a:r>
            <a:r>
              <a:rPr lang="en-US"/>
              <a:t>of your component to manage state with a reducer.</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309" name="Google Shape;309;p26"/>
          <p:cNvSpPr txBox="1"/>
          <p:nvPr/>
        </p:nvSpPr>
        <p:spPr>
          <a:xfrm>
            <a:off x="752395" y="2701709"/>
            <a:ext cx="10685692" cy="31641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import</a:t>
            </a:r>
            <a:r>
              <a:rPr b="1" i="0" lang="en-US" sz="2400">
                <a:solidFill>
                  <a:srgbClr val="23272F"/>
                </a:solidFill>
                <a:latin typeface="Source Code Pro"/>
                <a:ea typeface="Source Code Pro"/>
                <a:cs typeface="Source Code Pro"/>
                <a:sym typeface="Source Code Pro"/>
              </a:rPr>
              <a:t> { useReducer } from 'react';</a:t>
            </a:r>
            <a:endParaRPr/>
          </a:p>
          <a:p>
            <a:pPr indent="0" lvl="0" marL="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reducer</a:t>
            </a:r>
            <a:r>
              <a:rPr b="1" i="0" lang="en-US" sz="2400">
                <a:solidFill>
                  <a:srgbClr val="23272F"/>
                </a:solidFill>
                <a:latin typeface="Source Code Pro"/>
                <a:ea typeface="Source Code Pro"/>
                <a:cs typeface="Source Code Pro"/>
                <a:sym typeface="Source Code Pro"/>
              </a:rPr>
              <a:t>(state, action) {</a:t>
            </a:r>
            <a:endParaRPr/>
          </a:p>
          <a:p>
            <a:pPr indent="0" lvl="0" marL="0" marR="0" rtl="0" algn="l">
              <a:lnSpc>
                <a:spcPct val="120000"/>
              </a:lnSpc>
              <a:spcBef>
                <a:spcPts val="0"/>
              </a:spcBef>
              <a:spcAft>
                <a:spcPts val="0"/>
              </a:spcAft>
              <a:buNone/>
            </a:pPr>
            <a:r>
              <a:rPr b="1" i="0" lang="en-US" sz="2400">
                <a:solidFill>
                  <a:srgbClr val="23272F"/>
                </a:solidFill>
                <a:latin typeface="Source Code Pro"/>
                <a:ea typeface="Source Code Pro"/>
                <a:cs typeface="Source Code Pro"/>
                <a:sym typeface="Source Code Pro"/>
              </a:rPr>
              <a:t>// ...</a:t>
            </a:r>
            <a:endParaRPr/>
          </a:p>
          <a:p>
            <a:pPr indent="0" lvl="0" marL="0" marR="0" rtl="0" algn="l">
              <a:lnSpc>
                <a:spcPct val="120000"/>
              </a:lnSpc>
              <a:spcBef>
                <a:spcPts val="0"/>
              </a:spcBef>
              <a:spcAft>
                <a:spcPts val="0"/>
              </a:spcAft>
              <a:buNone/>
            </a:pPr>
            <a:r>
              <a:rPr b="1" i="0" lang="en-US" sz="2400">
                <a:solidFill>
                  <a:srgbClr val="23272F"/>
                </a:solidFill>
                <a:latin typeface="Source Code Pro"/>
                <a:ea typeface="Source Code Pro"/>
                <a:cs typeface="Source Code Pro"/>
                <a:sym typeface="Source Code Pro"/>
              </a:rPr>
              <a:t>}</a:t>
            </a:r>
            <a:endParaRPr/>
          </a:p>
          <a:p>
            <a:pPr indent="0" lvl="0" marL="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MyComponent</a:t>
            </a:r>
            <a:r>
              <a:rPr b="1" i="0" lang="en-US" sz="2400">
                <a:solidFill>
                  <a:srgbClr val="23272F"/>
                </a:solidFill>
                <a:latin typeface="Source Code Pro"/>
                <a:ea typeface="Source Code Pro"/>
                <a:cs typeface="Source Code Pro"/>
                <a:sym typeface="Source Code Pro"/>
              </a:rPr>
              <a:t>() {</a:t>
            </a:r>
            <a:endParaRPr/>
          </a:p>
          <a:p>
            <a:pPr indent="0" lvl="0" marL="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const</a:t>
            </a:r>
            <a:r>
              <a:rPr b="1" i="0" lang="en-US" sz="2400">
                <a:solidFill>
                  <a:srgbClr val="23272F"/>
                </a:solidFill>
                <a:latin typeface="Source Code Pro"/>
                <a:ea typeface="Source Code Pro"/>
                <a:cs typeface="Source Code Pro"/>
                <a:sym typeface="Source Code Pro"/>
              </a:rPr>
              <a:t> [</a:t>
            </a:r>
            <a:r>
              <a:rPr b="1" i="0" lang="en-US" sz="2400">
                <a:solidFill>
                  <a:srgbClr val="0070C0"/>
                </a:solidFill>
                <a:latin typeface="Source Code Pro"/>
                <a:ea typeface="Source Code Pro"/>
                <a:cs typeface="Source Code Pro"/>
                <a:sym typeface="Source Code Pro"/>
              </a:rPr>
              <a:t>state</a:t>
            </a:r>
            <a:r>
              <a:rPr b="1" i="0" lang="en-US" sz="2400">
                <a:solidFill>
                  <a:srgbClr val="23272F"/>
                </a:solidFill>
                <a:latin typeface="Source Code Pro"/>
                <a:ea typeface="Source Code Pro"/>
                <a:cs typeface="Source Code Pro"/>
                <a:sym typeface="Source Code Pro"/>
              </a:rPr>
              <a:t>, dispatch] = </a:t>
            </a:r>
            <a:r>
              <a:rPr b="1" i="0" lang="en-US" sz="2400">
                <a:solidFill>
                  <a:srgbClr val="7030A0"/>
                </a:solidFill>
                <a:latin typeface="Source Code Pro"/>
                <a:ea typeface="Source Code Pro"/>
                <a:cs typeface="Source Code Pro"/>
                <a:sym typeface="Source Code Pro"/>
              </a:rPr>
              <a:t>useReducer</a:t>
            </a:r>
            <a:r>
              <a:rPr b="1" i="0" lang="en-US" sz="2400">
                <a:solidFill>
                  <a:srgbClr val="23272F"/>
                </a:solidFill>
                <a:latin typeface="Source Code Pro"/>
                <a:ea typeface="Source Code Pro"/>
                <a:cs typeface="Source Code Pro"/>
                <a:sym typeface="Source Code Pro"/>
              </a:rPr>
              <a:t>(</a:t>
            </a:r>
            <a:r>
              <a:rPr b="1" i="0" lang="en-US" sz="2400">
                <a:solidFill>
                  <a:srgbClr val="0070C0"/>
                </a:solidFill>
                <a:latin typeface="Source Code Pro"/>
                <a:ea typeface="Source Code Pro"/>
                <a:cs typeface="Source Code Pro"/>
                <a:sym typeface="Source Code Pro"/>
              </a:rPr>
              <a:t>reducer</a:t>
            </a:r>
            <a:r>
              <a:rPr b="1" i="0" lang="en-US" sz="2400">
                <a:solidFill>
                  <a:srgbClr val="23272F"/>
                </a:solidFill>
                <a:latin typeface="Source Code Pro"/>
                <a:ea typeface="Source Code Pro"/>
                <a:cs typeface="Source Code Pro"/>
                <a:sym typeface="Source Code Pro"/>
              </a:rPr>
              <a:t>, {age: 42});</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15" name="Google Shape;315;p27"/>
          <p:cNvSpPr txBox="1"/>
          <p:nvPr>
            <p:ph idx="1" type="body"/>
          </p:nvPr>
        </p:nvSpPr>
        <p:spPr>
          <a:xfrm>
            <a:off x="1104900" y="1600200"/>
            <a:ext cx="101219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Adding a reducer to a component</a:t>
            </a:r>
            <a:endParaRPr/>
          </a:p>
          <a:p>
            <a:pPr indent="-228600" lvl="1" marL="685800" rtl="0" algn="l">
              <a:lnSpc>
                <a:spcPct val="100000"/>
              </a:lnSpc>
              <a:spcBef>
                <a:spcPts val="600"/>
              </a:spcBef>
              <a:spcAft>
                <a:spcPts val="0"/>
              </a:spcAft>
              <a:buClr>
                <a:srgbClr val="7030A0"/>
              </a:buClr>
              <a:buSzPts val="2400"/>
              <a:buChar char="▪"/>
            </a:pPr>
            <a:r>
              <a:rPr b="1" lang="en-US">
                <a:solidFill>
                  <a:srgbClr val="7030A0"/>
                </a:solidFill>
              </a:rPr>
              <a:t>useReducer</a:t>
            </a:r>
            <a:r>
              <a:rPr lang="en-US"/>
              <a:t> returns an array with exactly two items:</a:t>
            </a:r>
            <a:endParaRPr/>
          </a:p>
          <a:p>
            <a:pPr indent="-228600" lvl="2" marL="1143000" rtl="0" algn="l">
              <a:lnSpc>
                <a:spcPct val="100000"/>
              </a:lnSpc>
              <a:spcBef>
                <a:spcPts val="600"/>
              </a:spcBef>
              <a:spcAft>
                <a:spcPts val="0"/>
              </a:spcAft>
              <a:buClr>
                <a:schemeClr val="dk1"/>
              </a:buClr>
              <a:buSzPts val="2400"/>
              <a:buChar char="▪"/>
            </a:pPr>
            <a:r>
              <a:rPr lang="en-US" sz="2400"/>
              <a:t>The </a:t>
            </a:r>
            <a:r>
              <a:rPr b="1" lang="en-US" sz="2400">
                <a:solidFill>
                  <a:srgbClr val="0070C0"/>
                </a:solidFill>
              </a:rPr>
              <a:t>current state </a:t>
            </a:r>
            <a:r>
              <a:rPr lang="en-US" sz="2400"/>
              <a:t>of this state variable, initially set to the initial state you provided.</a:t>
            </a:r>
            <a:endParaRPr/>
          </a:p>
          <a:p>
            <a:pPr indent="-228600" lvl="2" marL="1143000" rtl="0" algn="l">
              <a:lnSpc>
                <a:spcPct val="100000"/>
              </a:lnSpc>
              <a:spcBef>
                <a:spcPts val="600"/>
              </a:spcBef>
              <a:spcAft>
                <a:spcPts val="0"/>
              </a:spcAft>
              <a:buClr>
                <a:schemeClr val="dk1"/>
              </a:buClr>
              <a:buSzPts val="2400"/>
              <a:buChar char="▪"/>
            </a:pPr>
            <a:r>
              <a:rPr lang="en-US" sz="2400"/>
              <a:t>The </a:t>
            </a:r>
            <a:r>
              <a:rPr b="1" lang="en-US" sz="2400">
                <a:solidFill>
                  <a:srgbClr val="0070C0"/>
                </a:solidFill>
              </a:rPr>
              <a:t>dispatch function </a:t>
            </a:r>
            <a:r>
              <a:rPr lang="en-US" sz="2400"/>
              <a:t>that lets you change it in response to interaction.</a:t>
            </a:r>
            <a:endParaRPr/>
          </a:p>
          <a:p>
            <a:pPr indent="-228600" lvl="1" marL="685800" rtl="0" algn="l">
              <a:lnSpc>
                <a:spcPct val="100000"/>
              </a:lnSpc>
              <a:spcBef>
                <a:spcPts val="600"/>
              </a:spcBef>
              <a:spcAft>
                <a:spcPts val="0"/>
              </a:spcAft>
              <a:buClr>
                <a:schemeClr val="dk1"/>
              </a:buClr>
              <a:buSzPts val="2400"/>
              <a:buChar char="▪"/>
            </a:pPr>
            <a:r>
              <a:rPr lang="en-US"/>
              <a:t>To update what’s on the screen, call </a:t>
            </a:r>
            <a:r>
              <a:rPr b="1" lang="en-US"/>
              <a:t>dispatch</a:t>
            </a:r>
            <a:r>
              <a:rPr lang="en-US"/>
              <a:t> with an object representing what the user did, called an action:</a:t>
            </a:r>
            <a:endParaRPr/>
          </a:p>
        </p:txBody>
      </p:sp>
      <p:sp>
        <p:nvSpPr>
          <p:cNvPr id="316" name="Google Shape;316;p27"/>
          <p:cNvSpPr txBox="1"/>
          <p:nvPr/>
        </p:nvSpPr>
        <p:spPr>
          <a:xfrm>
            <a:off x="1845734" y="5121910"/>
            <a:ext cx="9239848" cy="12003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handleClick</a:t>
            </a:r>
            <a:r>
              <a:rPr b="1" i="0" lang="en-US" sz="2400">
                <a:solidFill>
                  <a:srgbClr val="23272F"/>
                </a:solidFill>
                <a:latin typeface="Source Code Pro"/>
                <a:ea typeface="Source Code Pro"/>
                <a:cs typeface="Source Code Pro"/>
                <a:sym typeface="Source Code Pro"/>
              </a:rPr>
              <a:t>() {</a:t>
            </a:r>
            <a:endParaRPr/>
          </a:p>
          <a:p>
            <a:pPr indent="0" lvl="0" marL="0" marR="0" rtl="0" algn="l">
              <a:spcBef>
                <a:spcPts val="0"/>
              </a:spcBef>
              <a:spcAft>
                <a:spcPts val="0"/>
              </a:spcAft>
              <a:buNone/>
            </a:pPr>
            <a:r>
              <a:rPr b="1" i="0" lang="en-US" sz="2400">
                <a:solidFill>
                  <a:srgbClr val="23272F"/>
                </a:solidFill>
                <a:latin typeface="Source Code Pro"/>
                <a:ea typeface="Source Code Pro"/>
                <a:cs typeface="Source Code Pro"/>
                <a:sym typeface="Source Code Pro"/>
              </a:rPr>
              <a:t>	</a:t>
            </a:r>
            <a:r>
              <a:rPr b="1" i="0" lang="en-US" sz="2400">
                <a:solidFill>
                  <a:srgbClr val="FF0000"/>
                </a:solidFill>
                <a:latin typeface="Source Code Pro"/>
                <a:ea typeface="Source Code Pro"/>
                <a:cs typeface="Source Code Pro"/>
                <a:sym typeface="Source Code Pro"/>
              </a:rPr>
              <a:t>dispatch</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type</a:t>
            </a:r>
            <a:r>
              <a:rPr b="1" i="0" lang="en-US" sz="2400">
                <a:solidFill>
                  <a:srgbClr val="23272F"/>
                </a:solidFill>
                <a:latin typeface="Source Code Pro"/>
                <a:ea typeface="Source Code Pro"/>
                <a:cs typeface="Source Code Pro"/>
                <a:sym typeface="Source Code Pro"/>
              </a:rPr>
              <a:t>: 'incremented_age' });</a:t>
            </a:r>
            <a:endParaRPr/>
          </a:p>
          <a:p>
            <a:pPr indent="0" lvl="0" marL="0" marR="0" rtl="0" algn="l">
              <a:spcBef>
                <a:spcPts val="0"/>
              </a:spcBef>
              <a:spcAft>
                <a:spcPts val="0"/>
              </a:spcAft>
              <a:buNone/>
            </a:pPr>
            <a:r>
              <a:rPr b="1" i="0" lang="en-US" sz="2400">
                <a:solidFill>
                  <a:srgbClr val="23272F"/>
                </a:solidFill>
                <a:latin typeface="Source Code Pro"/>
                <a:ea typeface="Source Code Pro"/>
                <a:cs typeface="Source Code Pro"/>
                <a:sym typeface="Source Code Pro"/>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22" name="Google Shape;322;p2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React</a:t>
            </a:r>
            <a:r>
              <a:rPr lang="en-US"/>
              <a:t> will pass the current state and the action to reducer function, reducer will calculate and return the next state. React will store that next state, render your component with it, and update the UI.</a:t>
            </a:r>
            <a:endParaRPr/>
          </a:p>
        </p:txBody>
      </p:sp>
      <p:sp>
        <p:nvSpPr>
          <p:cNvPr id="323" name="Google Shape;323;p28"/>
          <p:cNvSpPr txBox="1"/>
          <p:nvPr/>
        </p:nvSpPr>
        <p:spPr>
          <a:xfrm>
            <a:off x="1354667" y="3429000"/>
            <a:ext cx="9730915" cy="316311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400">
                <a:solidFill>
                  <a:srgbClr val="FF0000"/>
                </a:solidFill>
                <a:latin typeface="Consolas"/>
                <a:ea typeface="Consolas"/>
                <a:cs typeface="Consolas"/>
                <a:sym typeface="Consolas"/>
              </a:rPr>
              <a:t>import</a:t>
            </a:r>
            <a:r>
              <a:rPr lang="en-US" sz="2400">
                <a:solidFill>
                  <a:schemeClr val="dk1"/>
                </a:solidFill>
                <a:latin typeface="Consolas"/>
                <a:ea typeface="Consolas"/>
                <a:cs typeface="Consolas"/>
                <a:sym typeface="Consolas"/>
              </a:rPr>
              <a:t> { useReducer } </a:t>
            </a:r>
            <a:r>
              <a:rPr lang="en-US" sz="2400">
                <a:solidFill>
                  <a:srgbClr val="FF0000"/>
                </a:solidFill>
                <a:latin typeface="Consolas"/>
                <a:ea typeface="Consolas"/>
                <a:cs typeface="Consolas"/>
                <a:sym typeface="Consolas"/>
              </a:rPr>
              <a:t>from</a:t>
            </a:r>
            <a:r>
              <a:rPr lang="en-US" sz="2400">
                <a:solidFill>
                  <a:schemeClr val="dk1"/>
                </a:solidFill>
                <a:latin typeface="Consolas"/>
                <a:ea typeface="Consolas"/>
                <a:cs typeface="Consolas"/>
                <a:sym typeface="Consolas"/>
              </a:rPr>
              <a:t> 'react’;</a:t>
            </a:r>
            <a:endParaRPr/>
          </a:p>
          <a:p>
            <a:pPr indent="0" lvl="0" marL="0" marR="0" rtl="0" algn="l">
              <a:lnSpc>
                <a:spcPct val="120000"/>
              </a:lnSpc>
              <a:spcBef>
                <a:spcPts val="0"/>
              </a:spcBef>
              <a:spcAft>
                <a:spcPts val="0"/>
              </a:spcAft>
              <a:buNone/>
            </a:pPr>
            <a:r>
              <a:rPr lang="en-US" sz="2400">
                <a:solidFill>
                  <a:srgbClr val="FF0000"/>
                </a:solidFill>
                <a:latin typeface="Consolas"/>
                <a:ea typeface="Consolas"/>
                <a:cs typeface="Consolas"/>
                <a:sym typeface="Consolas"/>
              </a:rPr>
              <a:t>function</a:t>
            </a:r>
            <a:r>
              <a:rPr lang="en-US" sz="2400">
                <a:solidFill>
                  <a:schemeClr val="dk1"/>
                </a:solidFill>
                <a:latin typeface="Consolas"/>
                <a:ea typeface="Consolas"/>
                <a:cs typeface="Consolas"/>
                <a:sym typeface="Consolas"/>
              </a:rPr>
              <a:t> </a:t>
            </a:r>
            <a:r>
              <a:rPr lang="en-US" sz="2400">
                <a:solidFill>
                  <a:srgbClr val="7030A0"/>
                </a:solidFill>
                <a:latin typeface="Consolas"/>
                <a:ea typeface="Consolas"/>
                <a:cs typeface="Consolas"/>
                <a:sym typeface="Consolas"/>
              </a:rPr>
              <a:t>reducer</a:t>
            </a:r>
            <a:r>
              <a:rPr lang="en-US" sz="2400">
                <a:solidFill>
                  <a:schemeClr val="dk1"/>
                </a:solidFill>
                <a:latin typeface="Consolas"/>
                <a:ea typeface="Consolas"/>
                <a:cs typeface="Consolas"/>
                <a:sym typeface="Consolas"/>
              </a:rPr>
              <a:t>(state, action) {  </a:t>
            </a:r>
            <a:endParaRPr/>
          </a:p>
          <a:p>
            <a:pPr indent="0" lvl="0" marL="0" marR="0" rtl="0" algn="l">
              <a:lnSpc>
                <a:spcPct val="120000"/>
              </a:lnSpc>
              <a:spcBef>
                <a:spcPts val="0"/>
              </a:spcBef>
              <a:spcAft>
                <a:spcPts val="0"/>
              </a:spcAft>
              <a:buNone/>
            </a:pPr>
            <a:r>
              <a:rPr lang="en-US" sz="2400">
                <a:solidFill>
                  <a:schemeClr val="dk1"/>
                </a:solidFill>
                <a:latin typeface="Consolas"/>
                <a:ea typeface="Consolas"/>
                <a:cs typeface="Consolas"/>
                <a:sym typeface="Consolas"/>
              </a:rPr>
              <a:t>	if (action.type === 'incremented_age') {    </a:t>
            </a:r>
            <a:endParaRPr/>
          </a:p>
          <a:p>
            <a:pPr indent="0" lvl="0" marL="0" marR="0" rtl="0" algn="l">
              <a:lnSpc>
                <a:spcPct val="120000"/>
              </a:lnSpc>
              <a:spcBef>
                <a:spcPts val="0"/>
              </a:spcBef>
              <a:spcAft>
                <a:spcPts val="0"/>
              </a:spcAft>
              <a:buNone/>
            </a:pPr>
            <a:r>
              <a:rPr lang="en-US" sz="2400">
                <a:solidFill>
                  <a:srgbClr val="FF0000"/>
                </a:solidFill>
                <a:latin typeface="Consolas"/>
                <a:ea typeface="Consolas"/>
                <a:cs typeface="Consolas"/>
                <a:sym typeface="Consolas"/>
              </a:rPr>
              <a:t>		return</a:t>
            </a:r>
            <a:r>
              <a:rPr lang="en-US" sz="2400">
                <a:solidFill>
                  <a:schemeClr val="dk1"/>
                </a:solidFill>
                <a:latin typeface="Consolas"/>
                <a:ea typeface="Consolas"/>
                <a:cs typeface="Consolas"/>
                <a:sym typeface="Consolas"/>
              </a:rPr>
              <a:t> {age: state.age + 1};  </a:t>
            </a:r>
            <a:endParaRPr/>
          </a:p>
          <a:p>
            <a:pPr indent="0" lvl="0" marL="0" marR="0" rtl="0" algn="l">
              <a:lnSpc>
                <a:spcPct val="120000"/>
              </a:lnSpc>
              <a:spcBef>
                <a:spcPts val="0"/>
              </a:spcBef>
              <a:spcAft>
                <a:spcPts val="0"/>
              </a:spcAft>
              <a:buNone/>
            </a:pPr>
            <a:r>
              <a:rPr lang="en-US" sz="2400">
                <a:solidFill>
                  <a:schemeClr val="dk1"/>
                </a:solidFill>
                <a:latin typeface="Consolas"/>
                <a:ea typeface="Consolas"/>
                <a:cs typeface="Consolas"/>
                <a:sym typeface="Consolas"/>
              </a:rPr>
              <a:t>	}  </a:t>
            </a:r>
            <a:endParaRPr/>
          </a:p>
          <a:p>
            <a:pPr indent="0" lvl="0" marL="0" marR="0" rtl="0" algn="l">
              <a:lnSpc>
                <a:spcPct val="120000"/>
              </a:lnSpc>
              <a:spcBef>
                <a:spcPts val="0"/>
              </a:spcBef>
              <a:spcAft>
                <a:spcPts val="0"/>
              </a:spcAft>
              <a:buNone/>
            </a:pPr>
            <a:r>
              <a:rPr lang="en-US" sz="2400">
                <a:solidFill>
                  <a:schemeClr val="dk1"/>
                </a:solidFill>
                <a:latin typeface="Consolas"/>
                <a:ea typeface="Consolas"/>
                <a:cs typeface="Consolas"/>
                <a:sym typeface="Consolas"/>
              </a:rPr>
              <a:t>	</a:t>
            </a:r>
            <a:r>
              <a:rPr lang="en-US" sz="2400">
                <a:solidFill>
                  <a:srgbClr val="FF0000"/>
                </a:solidFill>
                <a:latin typeface="Consolas"/>
                <a:ea typeface="Consolas"/>
                <a:cs typeface="Consolas"/>
                <a:sym typeface="Consolas"/>
              </a:rPr>
              <a:t>throw</a:t>
            </a:r>
            <a:r>
              <a:rPr lang="en-US" sz="2400">
                <a:solidFill>
                  <a:schemeClr val="dk1"/>
                </a:solidFill>
                <a:latin typeface="Consolas"/>
                <a:ea typeface="Consolas"/>
                <a:cs typeface="Consolas"/>
                <a:sym typeface="Consolas"/>
              </a:rPr>
              <a:t> Error('Unknown action.’);</a:t>
            </a:r>
            <a:endParaRPr/>
          </a:p>
          <a:p>
            <a:pPr indent="0" lvl="0" marL="0" marR="0" rtl="0" algn="l">
              <a:lnSpc>
                <a:spcPct val="120000"/>
              </a:lnSpc>
              <a:spcBef>
                <a:spcPts val="0"/>
              </a:spcBef>
              <a:spcAft>
                <a:spcPts val="0"/>
              </a:spcAft>
              <a:buNone/>
            </a:pPr>
            <a:r>
              <a:rPr lang="en-US" sz="2400">
                <a:solidFill>
                  <a:schemeClr val="dk1"/>
                </a:solidFill>
                <a:latin typeface="Consolas"/>
                <a:ea typeface="Consolas"/>
                <a:cs typeface="Consolas"/>
                <a:sym typeface="Consolas"/>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30" name="Google Shape;330;p29"/>
          <p:cNvSpPr txBox="1"/>
          <p:nvPr/>
        </p:nvSpPr>
        <p:spPr>
          <a:xfrm>
            <a:off x="738717" y="1708202"/>
            <a:ext cx="10713047" cy="415498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Consolas"/>
                <a:ea typeface="Consolas"/>
                <a:cs typeface="Consolas"/>
                <a:sym typeface="Consolas"/>
              </a:rPr>
              <a:t>export default function </a:t>
            </a:r>
            <a:r>
              <a:rPr b="1" lang="en-US" sz="2400">
                <a:solidFill>
                  <a:srgbClr val="0070C0"/>
                </a:solidFill>
                <a:latin typeface="Consolas"/>
                <a:ea typeface="Consolas"/>
                <a:cs typeface="Consolas"/>
                <a:sym typeface="Consolas"/>
              </a:rPr>
              <a:t>Counter</a:t>
            </a:r>
            <a:r>
              <a:rPr b="1" lang="en-US" sz="2400">
                <a:solidFill>
                  <a:schemeClr val="dk1"/>
                </a:solidFill>
                <a:latin typeface="Consolas"/>
                <a:ea typeface="Consolas"/>
                <a:cs typeface="Consolas"/>
                <a:sym typeface="Consolas"/>
              </a:rPr>
              <a:t>() {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FF0000"/>
                </a:solidFill>
                <a:latin typeface="Consolas"/>
                <a:ea typeface="Consolas"/>
                <a:cs typeface="Consolas"/>
                <a:sym typeface="Consolas"/>
              </a:rPr>
              <a:t>const</a:t>
            </a:r>
            <a:r>
              <a:rPr b="1" lang="en-US" sz="2400">
                <a:solidFill>
                  <a:schemeClr val="dk1"/>
                </a:solidFill>
                <a:latin typeface="Consolas"/>
                <a:ea typeface="Consolas"/>
                <a:cs typeface="Consolas"/>
                <a:sym typeface="Consolas"/>
              </a:rPr>
              <a:t> [state, dispatch] = </a:t>
            </a:r>
            <a:r>
              <a:rPr b="1" lang="en-US" sz="2400">
                <a:solidFill>
                  <a:srgbClr val="7030A0"/>
                </a:solidFill>
                <a:latin typeface="Consolas"/>
                <a:ea typeface="Consolas"/>
                <a:cs typeface="Consolas"/>
                <a:sym typeface="Consolas"/>
              </a:rPr>
              <a:t>useReducer</a:t>
            </a:r>
            <a:r>
              <a:rPr b="1" lang="en-US" sz="2400">
                <a:solidFill>
                  <a:schemeClr val="dk1"/>
                </a:solidFill>
                <a:latin typeface="Consolas"/>
                <a:ea typeface="Consolas"/>
                <a:cs typeface="Consolas"/>
                <a:sym typeface="Consolas"/>
              </a:rPr>
              <a:t>(reducer, {age:42 });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FF0000"/>
                </a:solidFill>
                <a:latin typeface="Consolas"/>
                <a:ea typeface="Consolas"/>
                <a:cs typeface="Consolas"/>
                <a:sym typeface="Consolas"/>
              </a:rPr>
              <a:t>return</a:t>
            </a:r>
            <a:r>
              <a:rPr b="1" lang="en-US" sz="2400">
                <a:solidFill>
                  <a:schemeClr val="dk1"/>
                </a:solidFill>
                <a:latin typeface="Consolas"/>
                <a:ea typeface="Consolas"/>
                <a:cs typeface="Consolas"/>
                <a:sym typeface="Consolas"/>
              </a:rPr>
              <a:t> (&lt;&gt;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&lt;button onClick={() =&gt;{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7030A0"/>
                </a:solidFill>
                <a:latin typeface="Consolas"/>
                <a:ea typeface="Consolas"/>
                <a:cs typeface="Consolas"/>
                <a:sym typeface="Consolas"/>
              </a:rPr>
              <a:t>dispatch</a:t>
            </a:r>
            <a:r>
              <a:rPr b="1" lang="en-US" sz="2400">
                <a:solidFill>
                  <a:schemeClr val="dk1"/>
                </a:solidFill>
                <a:latin typeface="Consolas"/>
                <a:ea typeface="Consolas"/>
                <a:cs typeface="Consolas"/>
                <a:sym typeface="Consolas"/>
              </a:rPr>
              <a:t>({ type:	'incremented_age' })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Increment age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&lt;/button&gt;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&lt;p&gt;Hello! You are {state.age}.&lt;/p&gt;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&lt;/&gt;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36" name="Google Shape;336;p3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Writing the reducer function</a:t>
            </a:r>
            <a:endParaRPr/>
          </a:p>
          <a:p>
            <a:pPr indent="-228600" lvl="1" marL="685800" rtl="0" algn="l">
              <a:lnSpc>
                <a:spcPct val="100000"/>
              </a:lnSpc>
              <a:spcBef>
                <a:spcPts val="600"/>
              </a:spcBef>
              <a:spcAft>
                <a:spcPts val="0"/>
              </a:spcAft>
              <a:buClr>
                <a:schemeClr val="dk1"/>
              </a:buClr>
              <a:buSzPts val="2400"/>
              <a:buChar char="▪"/>
            </a:pPr>
            <a:r>
              <a:rPr b="1" lang="en-US"/>
              <a:t>Declare a reducer function</a:t>
            </a:r>
            <a:r>
              <a:rPr lang="en-US"/>
              <a:t>: </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228600" lvl="1" marL="685800" rtl="0" algn="l">
              <a:lnSpc>
                <a:spcPct val="100000"/>
              </a:lnSpc>
              <a:spcBef>
                <a:spcPts val="600"/>
              </a:spcBef>
              <a:spcAft>
                <a:spcPts val="0"/>
              </a:spcAft>
              <a:buClr>
                <a:schemeClr val="dk1"/>
              </a:buClr>
              <a:buSzPts val="2400"/>
              <a:buChar char="▪"/>
            </a:pPr>
            <a:r>
              <a:rPr lang="en-US"/>
              <a:t>Then you need to fill in the code that will calculate and return the next state. By convention, it is common to write it as a switch statement. For each case in the switch, calculate and return some next state.</a:t>
            </a:r>
            <a:endParaRPr/>
          </a:p>
        </p:txBody>
      </p:sp>
      <p:sp>
        <p:nvSpPr>
          <p:cNvPr id="337" name="Google Shape;337;p30"/>
          <p:cNvSpPr txBox="1"/>
          <p:nvPr/>
        </p:nvSpPr>
        <p:spPr>
          <a:xfrm>
            <a:off x="1753958" y="2828835"/>
            <a:ext cx="8682566" cy="12003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reducer</a:t>
            </a:r>
            <a:r>
              <a:rPr b="1" i="0" lang="en-US" sz="2400">
                <a:solidFill>
                  <a:srgbClr val="23272F"/>
                </a:solidFill>
                <a:latin typeface="Source Code Pro"/>
                <a:ea typeface="Source Code Pro"/>
                <a:cs typeface="Source Code Pro"/>
                <a:sym typeface="Source Code Pro"/>
              </a:rPr>
              <a:t>(state, action) {</a:t>
            </a:r>
            <a:endParaRPr/>
          </a:p>
          <a:p>
            <a:pPr indent="0" lvl="0" marL="0" marR="0" rtl="0" algn="l">
              <a:spcBef>
                <a:spcPts val="0"/>
              </a:spcBef>
              <a:spcAft>
                <a:spcPts val="0"/>
              </a:spcAft>
              <a:buNone/>
            </a:pPr>
            <a:r>
              <a:rPr b="1" i="0" lang="en-US" sz="2400">
                <a:solidFill>
                  <a:srgbClr val="23272F"/>
                </a:solidFill>
                <a:latin typeface="Source Code Pro"/>
                <a:ea typeface="Source Code Pro"/>
                <a:cs typeface="Source Code Pro"/>
                <a:sym typeface="Source Code Pro"/>
              </a:rPr>
              <a:t>	//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43" name="Google Shape;343;p3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Writing the reducer function</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344" name="Google Shape;344;p31"/>
          <p:cNvSpPr txBox="1"/>
          <p:nvPr/>
        </p:nvSpPr>
        <p:spPr>
          <a:xfrm>
            <a:off x="1676399" y="2321341"/>
            <a:ext cx="7298267" cy="360733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function reducer</a:t>
            </a:r>
            <a:r>
              <a:rPr b="1" i="0" lang="en-US" sz="2400">
                <a:solidFill>
                  <a:srgbClr val="23272F"/>
                </a:solidFill>
                <a:latin typeface="Source Code Pro"/>
                <a:ea typeface="Source Code Pro"/>
                <a:cs typeface="Source Code Pro"/>
                <a:sym typeface="Source Code Pro"/>
              </a:rPr>
              <a:t>(state, action)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r>
              <a:rPr b="1" i="0" lang="en-US" sz="2400">
                <a:solidFill>
                  <a:srgbClr val="FF0000"/>
                </a:solidFill>
                <a:latin typeface="Source Code Pro"/>
                <a:ea typeface="Source Code Pro"/>
                <a:cs typeface="Source Code Pro"/>
                <a:sym typeface="Source Code Pro"/>
              </a:rPr>
              <a:t>switch</a:t>
            </a:r>
            <a:r>
              <a:rPr b="1" i="0" lang="en-US" sz="2400">
                <a:solidFill>
                  <a:srgbClr val="23272F"/>
                </a:solidFill>
                <a:latin typeface="Source Code Pro"/>
                <a:ea typeface="Source Code Pro"/>
                <a:cs typeface="Source Code Pro"/>
                <a:sym typeface="Source Code Pro"/>
              </a:rPr>
              <a:t> (action.type)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r>
              <a:rPr b="1" i="0" lang="en-US" sz="2400">
                <a:solidFill>
                  <a:srgbClr val="FF0000"/>
                </a:solidFill>
                <a:latin typeface="Source Code Pro"/>
                <a:ea typeface="Source Code Pro"/>
                <a:cs typeface="Source Code Pro"/>
                <a:sym typeface="Source Code Pro"/>
              </a:rPr>
              <a:t>case</a:t>
            </a:r>
            <a:r>
              <a:rPr b="1" i="0" lang="en-US" sz="2400">
                <a:solidFill>
                  <a:srgbClr val="23272F"/>
                </a:solidFill>
                <a:latin typeface="Source Code Pro"/>
                <a:ea typeface="Source Code Pro"/>
                <a:cs typeface="Source Code Pro"/>
                <a:sym typeface="Source Code Pro"/>
              </a:rPr>
              <a:t> 'incremented_age':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r>
              <a:rPr b="1" i="0" lang="en-US" sz="2400">
                <a:solidFill>
                  <a:srgbClr val="FF0000"/>
                </a:solidFill>
                <a:latin typeface="Source Code Pro"/>
                <a:ea typeface="Source Code Pro"/>
                <a:cs typeface="Source Code Pro"/>
                <a:sym typeface="Source Code Pro"/>
              </a:rPr>
              <a:t>return</a:t>
            </a:r>
            <a:r>
              <a:rPr b="1" i="0" lang="en-US" sz="2400">
                <a:solidFill>
                  <a:srgbClr val="23272F"/>
                </a:solidFill>
                <a:latin typeface="Source Code Pro"/>
                <a:ea typeface="Source Code Pro"/>
                <a:cs typeface="Source Code Pro"/>
                <a:sym typeface="Source Code Pro"/>
              </a:rPr>
              <a:t>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r>
              <a:rPr b="1" i="0" lang="en-US" sz="2400">
                <a:solidFill>
                  <a:srgbClr val="0070C0"/>
                </a:solidFill>
                <a:latin typeface="Source Code Pro"/>
                <a:ea typeface="Source Code Pro"/>
                <a:cs typeface="Source Code Pro"/>
                <a:sym typeface="Source Code Pro"/>
              </a:rPr>
              <a:t>name</a:t>
            </a:r>
            <a:r>
              <a:rPr b="1" i="0" lang="en-US" sz="2400">
                <a:solidFill>
                  <a:srgbClr val="23272F"/>
                </a:solidFill>
                <a:latin typeface="Source Code Pro"/>
                <a:ea typeface="Source Code Pro"/>
                <a:cs typeface="Source Code Pro"/>
                <a:sym typeface="Source Code Pro"/>
              </a:rPr>
              <a:t>: state.name,</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r>
              <a:rPr b="1" i="0" lang="en-US" sz="2400">
                <a:solidFill>
                  <a:srgbClr val="0070C0"/>
                </a:solidFill>
                <a:latin typeface="Source Code Pro"/>
                <a:ea typeface="Source Code Pro"/>
                <a:cs typeface="Source Code Pro"/>
                <a:sym typeface="Source Code Pro"/>
              </a:rPr>
              <a:t>age</a:t>
            </a:r>
            <a:r>
              <a:rPr b="1" i="0" lang="en-US" sz="2400">
                <a:solidFill>
                  <a:srgbClr val="23272F"/>
                </a:solidFill>
                <a:latin typeface="Source Code Pro"/>
                <a:ea typeface="Source Code Pro"/>
                <a:cs typeface="Source Code Pro"/>
                <a:sym typeface="Source Code Pro"/>
              </a:rPr>
              <a:t>: state.age + 1</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51" name="Google Shape;351;p3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Writing the reducer function</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352" name="Google Shape;352;p32"/>
          <p:cNvSpPr txBox="1"/>
          <p:nvPr/>
        </p:nvSpPr>
        <p:spPr>
          <a:xfrm>
            <a:off x="1104900" y="2321341"/>
            <a:ext cx="9664699" cy="405053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50800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case </a:t>
            </a:r>
            <a:r>
              <a:rPr b="1" i="0" lang="en-US" sz="2400">
                <a:solidFill>
                  <a:schemeClr val="dk2"/>
                </a:solidFill>
                <a:latin typeface="Source Code Pro"/>
                <a:ea typeface="Source Code Pro"/>
                <a:cs typeface="Source Code Pro"/>
                <a:sym typeface="Source Code Pro"/>
              </a:rPr>
              <a:t>'changed_name': </a:t>
            </a:r>
            <a:r>
              <a:rPr b="1" i="0" lang="en-US" sz="2400">
                <a:solidFill>
                  <a:srgbClr val="FF0000"/>
                </a:solidFill>
                <a:latin typeface="Source Code Pro"/>
                <a:ea typeface="Source Code Pro"/>
                <a:cs typeface="Source Code Pro"/>
                <a:sym typeface="Source Code Pro"/>
              </a:rPr>
              <a:t>{</a:t>
            </a:r>
            <a:endParaRPr/>
          </a:p>
          <a:p>
            <a:pPr indent="0" lvl="0" marL="50800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      return {</a:t>
            </a:r>
            <a:endParaRPr/>
          </a:p>
          <a:p>
            <a:pPr indent="0" lvl="0" marL="508000" marR="0" rtl="0" algn="l">
              <a:lnSpc>
                <a:spcPct val="120000"/>
              </a:lnSpc>
              <a:spcBef>
                <a:spcPts val="0"/>
              </a:spcBef>
              <a:spcAft>
                <a:spcPts val="0"/>
              </a:spcAft>
              <a:buNone/>
            </a:pPr>
            <a:r>
              <a:rPr b="1" i="0" lang="en-US" sz="2400">
                <a:solidFill>
                  <a:srgbClr val="0070C0"/>
                </a:solidFill>
                <a:latin typeface="Source Code Pro"/>
                <a:ea typeface="Source Code Pro"/>
                <a:cs typeface="Source Code Pro"/>
                <a:sym typeface="Source Code Pro"/>
              </a:rPr>
              <a:t>        name: </a:t>
            </a:r>
            <a:r>
              <a:rPr b="1" i="0" lang="en-US" sz="2400">
                <a:solidFill>
                  <a:schemeClr val="dk2"/>
                </a:solidFill>
                <a:latin typeface="Source Code Pro"/>
                <a:ea typeface="Source Code Pro"/>
                <a:cs typeface="Source Code Pro"/>
                <a:sym typeface="Source Code Pro"/>
              </a:rPr>
              <a:t>action</a:t>
            </a:r>
            <a:r>
              <a:rPr b="1" i="0" lang="en-US" sz="2400">
                <a:solidFill>
                  <a:srgbClr val="0070C0"/>
                </a:solidFill>
                <a:latin typeface="Source Code Pro"/>
                <a:ea typeface="Source Code Pro"/>
                <a:cs typeface="Source Code Pro"/>
                <a:sym typeface="Source Code Pro"/>
              </a:rPr>
              <a:t>.nextName,</a:t>
            </a:r>
            <a:endParaRPr/>
          </a:p>
          <a:p>
            <a:pPr indent="0" lvl="0" marL="508000" marR="0" rtl="0" algn="l">
              <a:lnSpc>
                <a:spcPct val="120000"/>
              </a:lnSpc>
              <a:spcBef>
                <a:spcPts val="0"/>
              </a:spcBef>
              <a:spcAft>
                <a:spcPts val="0"/>
              </a:spcAft>
              <a:buNone/>
            </a:pPr>
            <a:r>
              <a:rPr b="1" i="0" lang="en-US" sz="2400">
                <a:solidFill>
                  <a:srgbClr val="0070C0"/>
                </a:solidFill>
                <a:latin typeface="Source Code Pro"/>
                <a:ea typeface="Source Code Pro"/>
                <a:cs typeface="Source Code Pro"/>
                <a:sym typeface="Source Code Pro"/>
              </a:rPr>
              <a:t>        age: </a:t>
            </a:r>
            <a:r>
              <a:rPr b="1" i="0" lang="en-US" sz="2400">
                <a:solidFill>
                  <a:schemeClr val="dk2"/>
                </a:solidFill>
                <a:latin typeface="Source Code Pro"/>
                <a:ea typeface="Source Code Pro"/>
                <a:cs typeface="Source Code Pro"/>
                <a:sym typeface="Source Code Pro"/>
              </a:rPr>
              <a:t>state</a:t>
            </a:r>
            <a:r>
              <a:rPr b="1" i="0" lang="en-US" sz="2400">
                <a:solidFill>
                  <a:srgbClr val="0070C0"/>
                </a:solidFill>
                <a:latin typeface="Source Code Pro"/>
                <a:ea typeface="Source Code Pro"/>
                <a:cs typeface="Source Code Pro"/>
                <a:sym typeface="Source Code Pro"/>
              </a:rPr>
              <a:t>.age</a:t>
            </a:r>
            <a:endParaRPr b="1" i="0" sz="2400">
              <a:solidFill>
                <a:srgbClr val="0070C0"/>
              </a:solidFill>
              <a:latin typeface="Source Code Pro"/>
              <a:ea typeface="Source Code Pro"/>
              <a:cs typeface="Source Code Pro"/>
              <a:sym typeface="Source Code Pro"/>
            </a:endParaRPr>
          </a:p>
          <a:p>
            <a:pPr indent="0" lvl="0" marL="508000" marR="0" rtl="0" algn="l">
              <a:lnSpc>
                <a:spcPct val="120000"/>
              </a:lnSpc>
              <a:spcBef>
                <a:spcPts val="0"/>
              </a:spcBef>
              <a:spcAft>
                <a:spcPts val="0"/>
              </a:spcAft>
              <a:buNone/>
            </a:pPr>
            <a:r>
              <a:rPr b="1" i="0" lang="en-US" sz="2400">
                <a:solidFill>
                  <a:schemeClr val="dk2"/>
                </a:solidFill>
                <a:latin typeface="Source Code Pro"/>
                <a:ea typeface="Source Code Pro"/>
                <a:cs typeface="Source Code Pro"/>
                <a:sym typeface="Source Code Pro"/>
              </a:rPr>
              <a:t>      };</a:t>
            </a:r>
            <a:endParaRPr/>
          </a:p>
          <a:p>
            <a:pPr indent="0" lvl="0" marL="508000" marR="0" rtl="0" algn="l">
              <a:lnSpc>
                <a:spcPct val="120000"/>
              </a:lnSpc>
              <a:spcBef>
                <a:spcPts val="0"/>
              </a:spcBef>
              <a:spcAft>
                <a:spcPts val="0"/>
              </a:spcAft>
              <a:buNone/>
            </a:pPr>
            <a:r>
              <a:rPr b="1" i="0" lang="en-US" sz="2400">
                <a:solidFill>
                  <a:schemeClr val="dk2"/>
                </a:solidFill>
                <a:latin typeface="Source Code Pro"/>
                <a:ea typeface="Source Code Pro"/>
                <a:cs typeface="Source Code Pro"/>
                <a:sym typeface="Source Code Pro"/>
              </a:rPr>
              <a:t>    }</a:t>
            </a:r>
            <a:endParaRPr/>
          </a:p>
          <a:p>
            <a:pPr indent="0" lvl="0" marL="508000" marR="0" rtl="0" algn="l">
              <a:lnSpc>
                <a:spcPct val="120000"/>
              </a:lnSpc>
              <a:spcBef>
                <a:spcPts val="0"/>
              </a:spcBef>
              <a:spcAft>
                <a:spcPts val="0"/>
              </a:spcAft>
              <a:buNone/>
            </a:pPr>
            <a:r>
              <a:rPr b="1" i="0" lang="en-US" sz="2400">
                <a:solidFill>
                  <a:schemeClr val="dk2"/>
                </a:solidFill>
                <a:latin typeface="Source Code Pro"/>
                <a:ea typeface="Source Code Pro"/>
                <a:cs typeface="Source Code Pro"/>
                <a:sym typeface="Source Code Pro"/>
              </a:rPr>
              <a:t>  }</a:t>
            </a:r>
            <a:endParaRPr/>
          </a:p>
          <a:p>
            <a:pPr indent="0" lvl="0" marL="50800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  throw </a:t>
            </a:r>
            <a:r>
              <a:rPr b="1" i="0" lang="en-US" sz="2400">
                <a:solidFill>
                  <a:schemeClr val="dk2"/>
                </a:solidFill>
                <a:latin typeface="Source Code Pro"/>
                <a:ea typeface="Source Code Pro"/>
                <a:cs typeface="Source Code Pro"/>
                <a:sym typeface="Source Code Pro"/>
              </a:rPr>
              <a:t>Error('Unknown action: ' + action.type);</a:t>
            </a:r>
            <a:endParaRPr/>
          </a:p>
          <a:p>
            <a:pPr indent="0" lvl="0" marL="50800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a:t>
            </a:r>
            <a:endParaRPr b="1" i="0" sz="2400">
              <a:solidFill>
                <a:srgbClr val="23272F"/>
              </a:solidFill>
              <a:latin typeface="Source Code Pro"/>
              <a:ea typeface="Source Code Pro"/>
              <a:cs typeface="Source Code Pro"/>
              <a:sym typeface="Source Code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58" name="Google Shape;358;p33"/>
          <p:cNvSpPr txBox="1"/>
          <p:nvPr>
            <p:ph idx="1" type="body"/>
          </p:nvPr>
        </p:nvSpPr>
        <p:spPr>
          <a:xfrm>
            <a:off x="1104900" y="1600200"/>
            <a:ext cx="105283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Writing the reducer function</a:t>
            </a:r>
            <a:endParaRPr/>
          </a:p>
          <a:p>
            <a:pPr indent="-228600" lvl="1" marL="685800" rtl="0" algn="l">
              <a:lnSpc>
                <a:spcPct val="100000"/>
              </a:lnSpc>
              <a:spcBef>
                <a:spcPts val="600"/>
              </a:spcBef>
              <a:spcAft>
                <a:spcPts val="0"/>
              </a:spcAft>
              <a:buClr>
                <a:schemeClr val="dk1"/>
              </a:buClr>
              <a:buSzPts val="2400"/>
              <a:buChar char="▪"/>
            </a:pPr>
            <a:r>
              <a:rPr b="1" lang="en-US"/>
              <a:t>Actions</a:t>
            </a:r>
            <a:r>
              <a:rPr lang="en-US"/>
              <a:t> can have any shape. By convention, passing objects with a type property identifying the action is common. It should include the minimal necessary information that the reducer needs to compute the next state.</a:t>
            </a:r>
            <a:endParaRPr/>
          </a:p>
        </p:txBody>
      </p:sp>
      <p:sp>
        <p:nvSpPr>
          <p:cNvPr id="359" name="Google Shape;359;p33"/>
          <p:cNvSpPr txBox="1"/>
          <p:nvPr/>
        </p:nvSpPr>
        <p:spPr>
          <a:xfrm>
            <a:off x="1316566" y="3435102"/>
            <a:ext cx="10104967" cy="31641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Form() </a:t>
            </a:r>
            <a:r>
              <a:rPr b="1" i="0" lang="en-US" sz="2400">
                <a:solidFill>
                  <a:srgbClr val="23272F"/>
                </a:solidFill>
                <a:latin typeface="Source Code Pro"/>
                <a:ea typeface="Source Code Pro"/>
                <a:cs typeface="Source Code Pro"/>
                <a:sym typeface="Source Code Pro"/>
              </a:rPr>
              <a:t>{</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a:t>
            </a:r>
            <a:r>
              <a:rPr b="1" i="0" lang="en-US" sz="2400">
                <a:solidFill>
                  <a:srgbClr val="FF0000"/>
                </a:solidFill>
                <a:latin typeface="Source Code Pro"/>
                <a:ea typeface="Source Code Pro"/>
                <a:cs typeface="Source Code Pro"/>
                <a:sym typeface="Source Code Pro"/>
              </a:rPr>
              <a:t>const</a:t>
            </a:r>
            <a:r>
              <a:rPr b="1" i="0" lang="en-US" sz="2400">
                <a:solidFill>
                  <a:srgbClr val="23272F"/>
                </a:solidFill>
                <a:latin typeface="Source Code Pro"/>
                <a:ea typeface="Source Code Pro"/>
                <a:cs typeface="Source Code Pro"/>
                <a:sym typeface="Source Code Pro"/>
              </a:rPr>
              <a:t> [state, dispatch] = useReducer(reducer, { 					</a:t>
            </a:r>
            <a:r>
              <a:rPr b="1" i="0" lang="en-US" sz="2400">
                <a:solidFill>
                  <a:srgbClr val="0070C0"/>
                </a:solidFill>
                <a:latin typeface="Source Code Pro"/>
                <a:ea typeface="Source Code Pro"/>
                <a:cs typeface="Source Code Pro"/>
                <a:sym typeface="Source Code Pro"/>
              </a:rPr>
              <a:t>name</a:t>
            </a:r>
            <a:r>
              <a:rPr b="1" i="0" lang="en-US" sz="2400">
                <a:solidFill>
                  <a:srgbClr val="23272F"/>
                </a:solidFill>
                <a:latin typeface="Source Code Pro"/>
                <a:ea typeface="Source Code Pro"/>
                <a:cs typeface="Source Code Pro"/>
                <a:sym typeface="Source Code Pro"/>
              </a:rPr>
              <a:t>: 'Taylor', </a:t>
            </a:r>
            <a:r>
              <a:rPr b="1" i="0" lang="en-US" sz="2400">
                <a:solidFill>
                  <a:srgbClr val="0070C0"/>
                </a:solidFill>
                <a:latin typeface="Source Code Pro"/>
                <a:ea typeface="Source Code Pro"/>
                <a:cs typeface="Source Code Pro"/>
                <a:sym typeface="Source Code Pro"/>
              </a:rPr>
              <a:t>age</a:t>
            </a:r>
            <a:r>
              <a:rPr b="1" i="0" lang="en-US" sz="2400">
                <a:solidFill>
                  <a:srgbClr val="23272F"/>
                </a:solidFill>
                <a:latin typeface="Source Code Pro"/>
                <a:ea typeface="Source Code Pro"/>
                <a:cs typeface="Source Code Pro"/>
                <a:sym typeface="Source Code Pro"/>
              </a:rPr>
              <a:t>: 42 </a:t>
            </a:r>
            <a:endParaRPr/>
          </a:p>
          <a:p>
            <a:pPr indent="0" lvl="0" marL="0" marR="0" rtl="0" algn="l">
              <a:lnSpc>
                <a:spcPct val="120000"/>
              </a:lnSpc>
              <a:spcBef>
                <a:spcPts val="0"/>
              </a:spcBef>
              <a:spcAft>
                <a:spcPts val="0"/>
              </a:spcAft>
              <a:buNone/>
            </a:pPr>
            <a:r>
              <a:rPr b="1" lang="en-US" sz="2400">
                <a:solidFill>
                  <a:srgbClr val="23272F"/>
                </a:solidFill>
                <a:latin typeface="Source Code Pro"/>
                <a:ea typeface="Source Code Pro"/>
                <a:cs typeface="Source Code Pro"/>
                <a:sym typeface="Source Code Pro"/>
              </a:rPr>
              <a:t>					</a:t>
            </a:r>
            <a:r>
              <a:rPr b="1" i="0" lang="en-US" sz="2400">
                <a:solidFill>
                  <a:srgbClr val="23272F"/>
                </a:solidFill>
                <a:latin typeface="Source Code Pro"/>
                <a:ea typeface="Source Code Pro"/>
                <a:cs typeface="Source Code Pro"/>
                <a:sym typeface="Source Code Pro"/>
              </a:rPr>
              <a:t>});</a:t>
            </a:r>
            <a:br>
              <a:rPr b="1" i="0" lang="en-US" sz="2400">
                <a:solidFill>
                  <a:srgbClr val="23272F"/>
                </a:solidFill>
                <a:latin typeface="Source Code Pro"/>
                <a:ea typeface="Source Code Pro"/>
                <a:cs typeface="Source Code Pro"/>
                <a:sym typeface="Source Code Pro"/>
              </a:rPr>
            </a:br>
            <a:r>
              <a:rPr b="1" i="0" lang="en-US" sz="2400">
                <a:solidFill>
                  <a:srgbClr val="FF0000"/>
                </a:solidFill>
                <a:latin typeface="Source Code Pro"/>
                <a:ea typeface="Source Code Pro"/>
                <a:cs typeface="Source Code Pro"/>
                <a:sym typeface="Source Code Pro"/>
              </a:rPr>
              <a:t>function</a:t>
            </a:r>
            <a:r>
              <a:rPr b="1" i="0" lang="en-US" sz="2400">
                <a:solidFill>
                  <a:srgbClr val="23272F"/>
                </a:solidFill>
                <a:latin typeface="Source Code Pro"/>
                <a:ea typeface="Source Code Pro"/>
                <a:cs typeface="Source Code Pro"/>
                <a:sym typeface="Source Code Pro"/>
              </a:rPr>
              <a:t> </a:t>
            </a:r>
            <a:r>
              <a:rPr b="1" i="0" lang="en-US" sz="2400">
                <a:solidFill>
                  <a:srgbClr val="7030A0"/>
                </a:solidFill>
                <a:latin typeface="Source Code Pro"/>
                <a:ea typeface="Source Code Pro"/>
                <a:cs typeface="Source Code Pro"/>
                <a:sym typeface="Source Code Pro"/>
              </a:rPr>
              <a:t>handleButtonClick() </a:t>
            </a:r>
            <a:r>
              <a:rPr b="1" i="0" lang="en-US" sz="2400">
                <a:solidFill>
                  <a:srgbClr val="23272F"/>
                </a:solidFill>
                <a:latin typeface="Source Code Pro"/>
                <a:ea typeface="Source Code Pro"/>
                <a:cs typeface="Source Code Pro"/>
                <a:sym typeface="Source Code Pro"/>
              </a:rPr>
              <a:t>{</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	dispatch({ </a:t>
            </a:r>
            <a:r>
              <a:rPr b="1" i="0" lang="en-US" sz="2400">
                <a:solidFill>
                  <a:srgbClr val="0070C0"/>
                </a:solidFill>
                <a:latin typeface="Source Code Pro"/>
                <a:ea typeface="Source Code Pro"/>
                <a:cs typeface="Source Code Pro"/>
                <a:sym typeface="Source Code Pro"/>
              </a:rPr>
              <a:t>type</a:t>
            </a:r>
            <a:r>
              <a:rPr b="1" i="0" lang="en-US" sz="2400">
                <a:solidFill>
                  <a:srgbClr val="23272F"/>
                </a:solidFill>
                <a:latin typeface="Source Code Pro"/>
                <a:ea typeface="Source Code Pro"/>
                <a:cs typeface="Source Code Pro"/>
                <a:sym typeface="Source Code Pro"/>
              </a:rPr>
              <a:t>: 'incremented_age' });</a:t>
            </a:r>
            <a:br>
              <a:rPr b="1" i="0" lang="en-US" sz="2400">
                <a:solidFill>
                  <a:srgbClr val="23272F"/>
                </a:solidFill>
                <a:latin typeface="Source Code Pro"/>
                <a:ea typeface="Source Code Pro"/>
                <a:cs typeface="Source Code Pro"/>
                <a:sym typeface="Source Code Pro"/>
              </a:rPr>
            </a:br>
            <a:r>
              <a:rPr b="1" i="0" lang="en-US" sz="2400">
                <a:solidFill>
                  <a:srgbClr val="23272F"/>
                </a:solidFill>
                <a:latin typeface="Source Code Pro"/>
                <a:ea typeface="Source Code Pro"/>
                <a:cs typeface="Source Code Pro"/>
                <a:sym typeface="Source Code Pro"/>
              </a:rPr>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Using state Hooks - useReducer </a:t>
            </a:r>
            <a:endParaRPr/>
          </a:p>
        </p:txBody>
      </p:sp>
      <p:sp>
        <p:nvSpPr>
          <p:cNvPr id="365" name="Google Shape;365;p3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Writing the reducer function</a:t>
            </a:r>
            <a:endParaRPr/>
          </a:p>
        </p:txBody>
      </p:sp>
      <p:sp>
        <p:nvSpPr>
          <p:cNvPr id="366" name="Google Shape;366;p34"/>
          <p:cNvSpPr txBox="1"/>
          <p:nvPr/>
        </p:nvSpPr>
        <p:spPr>
          <a:xfrm>
            <a:off x="1371600" y="2478881"/>
            <a:ext cx="9713981" cy="367485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2800">
                <a:solidFill>
                  <a:srgbClr val="FF0000"/>
                </a:solidFill>
                <a:latin typeface="Consolas"/>
                <a:ea typeface="Consolas"/>
                <a:cs typeface="Consolas"/>
                <a:sym typeface="Consolas"/>
              </a:rPr>
              <a:t>function</a:t>
            </a:r>
            <a:r>
              <a:rPr b="1" i="0" lang="en-US" sz="2800">
                <a:solidFill>
                  <a:srgbClr val="23272F"/>
                </a:solidFill>
                <a:latin typeface="Consolas"/>
                <a:ea typeface="Consolas"/>
                <a:cs typeface="Consolas"/>
                <a:sym typeface="Consolas"/>
              </a:rPr>
              <a:t> </a:t>
            </a:r>
            <a:r>
              <a:rPr b="1" i="0" lang="en-US" sz="2800">
                <a:solidFill>
                  <a:srgbClr val="7030A0"/>
                </a:solidFill>
                <a:latin typeface="Consolas"/>
                <a:ea typeface="Consolas"/>
                <a:cs typeface="Consolas"/>
                <a:sym typeface="Consolas"/>
              </a:rPr>
              <a:t>handleInputChange</a:t>
            </a:r>
            <a:r>
              <a:rPr b="1" i="0" lang="en-US" sz="2800">
                <a:solidFill>
                  <a:srgbClr val="23272F"/>
                </a:solidFill>
                <a:latin typeface="Consolas"/>
                <a:ea typeface="Consolas"/>
                <a:cs typeface="Consolas"/>
                <a:sym typeface="Consolas"/>
              </a:rPr>
              <a:t>(e) {</a:t>
            </a:r>
            <a:br>
              <a:rPr b="1" i="0" lang="en-US" sz="2800">
                <a:solidFill>
                  <a:srgbClr val="23272F"/>
                </a:solidFill>
                <a:latin typeface="Consolas"/>
                <a:ea typeface="Consolas"/>
                <a:cs typeface="Consolas"/>
                <a:sym typeface="Consolas"/>
              </a:rPr>
            </a:br>
            <a:r>
              <a:rPr b="1" i="0" lang="en-US" sz="2800">
                <a:solidFill>
                  <a:srgbClr val="23272F"/>
                </a:solidFill>
                <a:latin typeface="Consolas"/>
                <a:ea typeface="Consolas"/>
                <a:cs typeface="Consolas"/>
                <a:sym typeface="Consolas"/>
              </a:rPr>
              <a:t>	dispatch({</a:t>
            </a:r>
            <a:br>
              <a:rPr b="1" i="0" lang="en-US" sz="2800">
                <a:solidFill>
                  <a:srgbClr val="23272F"/>
                </a:solidFill>
                <a:latin typeface="Consolas"/>
                <a:ea typeface="Consolas"/>
                <a:cs typeface="Consolas"/>
                <a:sym typeface="Consolas"/>
              </a:rPr>
            </a:br>
            <a:r>
              <a:rPr b="1" i="0" lang="en-US" sz="2800">
                <a:solidFill>
                  <a:srgbClr val="23272F"/>
                </a:solidFill>
                <a:latin typeface="Consolas"/>
                <a:ea typeface="Consolas"/>
                <a:cs typeface="Consolas"/>
                <a:sym typeface="Consolas"/>
              </a:rPr>
              <a:t>		</a:t>
            </a:r>
            <a:r>
              <a:rPr b="1" i="0" lang="en-US" sz="2800">
                <a:solidFill>
                  <a:srgbClr val="0070C0"/>
                </a:solidFill>
                <a:latin typeface="Consolas"/>
                <a:ea typeface="Consolas"/>
                <a:cs typeface="Consolas"/>
                <a:sym typeface="Consolas"/>
              </a:rPr>
              <a:t>type</a:t>
            </a:r>
            <a:r>
              <a:rPr b="1" i="0" lang="en-US" sz="2800">
                <a:solidFill>
                  <a:srgbClr val="23272F"/>
                </a:solidFill>
                <a:latin typeface="Consolas"/>
                <a:ea typeface="Consolas"/>
                <a:cs typeface="Consolas"/>
                <a:sym typeface="Consolas"/>
              </a:rPr>
              <a:t>: 'changed_name’,</a:t>
            </a:r>
            <a:br>
              <a:rPr b="1" i="0" lang="en-US" sz="2800">
                <a:solidFill>
                  <a:srgbClr val="23272F"/>
                </a:solidFill>
                <a:latin typeface="Consolas"/>
                <a:ea typeface="Consolas"/>
                <a:cs typeface="Consolas"/>
                <a:sym typeface="Consolas"/>
              </a:rPr>
            </a:br>
            <a:r>
              <a:rPr b="1" i="0" lang="en-US" sz="2800">
                <a:solidFill>
                  <a:srgbClr val="23272F"/>
                </a:solidFill>
                <a:latin typeface="Consolas"/>
                <a:ea typeface="Consolas"/>
                <a:cs typeface="Consolas"/>
                <a:sym typeface="Consolas"/>
              </a:rPr>
              <a:t>		</a:t>
            </a:r>
            <a:r>
              <a:rPr b="1" i="0" lang="en-US" sz="2800">
                <a:solidFill>
                  <a:srgbClr val="0070C0"/>
                </a:solidFill>
                <a:latin typeface="Consolas"/>
                <a:ea typeface="Consolas"/>
                <a:cs typeface="Consolas"/>
                <a:sym typeface="Consolas"/>
              </a:rPr>
              <a:t>nextName</a:t>
            </a:r>
            <a:r>
              <a:rPr b="1" i="0" lang="en-US" sz="2800">
                <a:solidFill>
                  <a:srgbClr val="23272F"/>
                </a:solidFill>
                <a:latin typeface="Consolas"/>
                <a:ea typeface="Consolas"/>
                <a:cs typeface="Consolas"/>
                <a:sym typeface="Consolas"/>
              </a:rPr>
              <a:t>: e.</a:t>
            </a:r>
            <a:r>
              <a:rPr b="1" i="0" lang="en-US" sz="2800">
                <a:solidFill>
                  <a:srgbClr val="0070C0"/>
                </a:solidFill>
                <a:latin typeface="Consolas"/>
                <a:ea typeface="Consolas"/>
                <a:cs typeface="Consolas"/>
                <a:sym typeface="Consolas"/>
              </a:rPr>
              <a:t>target.value</a:t>
            </a:r>
            <a:br>
              <a:rPr b="1" i="0" lang="en-US" sz="2800">
                <a:solidFill>
                  <a:srgbClr val="23272F"/>
                </a:solidFill>
                <a:latin typeface="Consolas"/>
                <a:ea typeface="Consolas"/>
                <a:cs typeface="Consolas"/>
                <a:sym typeface="Consolas"/>
              </a:rPr>
            </a:br>
            <a:r>
              <a:rPr b="1" i="0" lang="en-US" sz="2800">
                <a:solidFill>
                  <a:srgbClr val="23272F"/>
                </a:solidFill>
                <a:latin typeface="Consolas"/>
                <a:ea typeface="Consolas"/>
                <a:cs typeface="Consolas"/>
                <a:sym typeface="Consolas"/>
              </a:rPr>
              <a:t>	});</a:t>
            </a:r>
            <a:br>
              <a:rPr b="1" i="0" lang="en-US" sz="2800">
                <a:solidFill>
                  <a:srgbClr val="23272F"/>
                </a:solidFill>
                <a:latin typeface="Consolas"/>
                <a:ea typeface="Consolas"/>
                <a:cs typeface="Consolas"/>
                <a:sym typeface="Consolas"/>
              </a:rPr>
            </a:br>
            <a:r>
              <a:rPr b="1" i="0" lang="en-US" sz="2800">
                <a:solidFill>
                  <a:srgbClr val="23272F"/>
                </a:solidFill>
                <a:latin typeface="Consolas"/>
                <a:ea typeface="Consolas"/>
                <a:cs typeface="Consolas"/>
                <a:sym typeface="Consolas"/>
              </a:rPr>
              <a:t>}</a:t>
            </a:r>
            <a:br>
              <a:rPr b="1" i="0" lang="en-US" sz="2800">
                <a:solidFill>
                  <a:srgbClr val="23272F"/>
                </a:solidFill>
                <a:latin typeface="Consolas"/>
                <a:ea typeface="Consolas"/>
                <a:cs typeface="Consolas"/>
                <a:sym typeface="Consolas"/>
              </a:rPr>
            </a:br>
            <a:r>
              <a:rPr b="1" i="0" lang="en-US" sz="2800">
                <a:solidFill>
                  <a:srgbClr val="23272F"/>
                </a:solidFill>
                <a:latin typeface="Consolas"/>
                <a:ea typeface="Consolas"/>
                <a:cs typeface="Consolas"/>
                <a:sym typeface="Consolas"/>
              </a:rP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sz="3600"/>
              <a:t>React's memoization</a:t>
            </a:r>
            <a:endParaRPr/>
          </a:p>
        </p:txBody>
      </p:sp>
      <p:sp>
        <p:nvSpPr>
          <p:cNvPr id="372" name="Google Shape;372;p3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Memoization</a:t>
            </a:r>
            <a:r>
              <a:rPr lang="en-US"/>
              <a:t> là một kỹ thuật tối ưu hóa, giúp tăng tốc các ứng dụng bằng cách lưu trữ kết quả của các lệnh gọi hàm (mà các hàm này được gọi là </a:t>
            </a:r>
            <a:r>
              <a:rPr b="1" lang="en-US"/>
              <a:t>expensive function</a:t>
            </a:r>
            <a:r>
              <a:rPr lang="en-US"/>
              <a:t>) và trả về kết quả được lưu trong bộ nhớ cache khi có cùng một đầu vào yêu cầu (đã được thực thi ít nhất 1 lần trước đó rồi).</a:t>
            </a:r>
            <a:endParaRPr/>
          </a:p>
          <a:p>
            <a:pPr indent="-228600" lvl="0" marL="228600" rtl="0" algn="l">
              <a:lnSpc>
                <a:spcPct val="100000"/>
              </a:lnSpc>
              <a:spcBef>
                <a:spcPts val="1800"/>
              </a:spcBef>
              <a:spcAft>
                <a:spcPts val="0"/>
              </a:spcAft>
              <a:buClr>
                <a:srgbClr val="FF0000"/>
              </a:buClr>
              <a:buSzPts val="2800"/>
              <a:buChar char="▪"/>
            </a:pPr>
            <a:r>
              <a:rPr b="1" i="1" lang="en-US">
                <a:solidFill>
                  <a:srgbClr val="FF0000"/>
                </a:solidFill>
              </a:rPr>
              <a:t>expensive function</a:t>
            </a:r>
            <a:r>
              <a:rPr lang="en-US"/>
              <a:t>: là gọi một hàm tiêu thụ khối lượng lớn của hai tài nguyên (</a:t>
            </a:r>
            <a:r>
              <a:rPr b="1" lang="en-US"/>
              <a:t>thời gian và bộ nhớ</a:t>
            </a:r>
            <a:r>
              <a:rPr lang="en-US"/>
              <a:t>) này trong khi thực hiện do tính toán nặng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sz="3600"/>
              <a:t>React's memoization</a:t>
            </a:r>
            <a:endParaRPr/>
          </a:p>
        </p:txBody>
      </p:sp>
      <p:sp>
        <p:nvSpPr>
          <p:cNvPr id="379" name="Google Shape;379;p3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momoization</a:t>
            </a:r>
            <a:r>
              <a:rPr lang="en-US"/>
              <a:t> sử dụng </a:t>
            </a:r>
            <a:r>
              <a:rPr b="1" lang="en-US"/>
              <a:t>bộ nhớ đệm </a:t>
            </a:r>
            <a:r>
              <a:rPr lang="en-US"/>
              <a:t>để lưu trữ kết quả của các lần gọi hàm, để có thể truy cập nhanh </a:t>
            </a:r>
            <a:endParaRPr/>
          </a:p>
          <a:p>
            <a:pPr indent="-228600" lvl="0" marL="228600" rtl="0" algn="l">
              <a:lnSpc>
                <a:spcPct val="100000"/>
              </a:lnSpc>
              <a:spcBef>
                <a:spcPts val="1800"/>
              </a:spcBef>
              <a:spcAft>
                <a:spcPts val="0"/>
              </a:spcAft>
              <a:buClr>
                <a:schemeClr val="dk1"/>
              </a:buClr>
              <a:buSzPts val="2800"/>
              <a:buChar char="▪"/>
            </a:pPr>
            <a:r>
              <a:rPr b="1" lang="en-US"/>
              <a:t>Bộ đệm</a:t>
            </a:r>
            <a:r>
              <a:rPr lang="en-US"/>
              <a:t> là một kho lưu trữ dữ liệu tạm thời chứa dữ liệu, để dữ liệu đó có thể được phục vụ nhanh hơn cho các yêu cầu trong tương lai.</a:t>
            </a:r>
            <a:endParaRPr/>
          </a:p>
          <a:p>
            <a:pPr indent="-228600" lvl="0" marL="228600" rtl="0" algn="l">
              <a:lnSpc>
                <a:spcPct val="100000"/>
              </a:lnSpc>
              <a:spcBef>
                <a:spcPts val="1800"/>
              </a:spcBef>
              <a:spcAft>
                <a:spcPts val="0"/>
              </a:spcAft>
              <a:buClr>
                <a:schemeClr val="dk1"/>
              </a:buClr>
              <a:buSzPts val="2800"/>
              <a:buChar char="▪"/>
            </a:pPr>
            <a:r>
              <a:rPr b="1" lang="en-US"/>
              <a:t>memoization</a:t>
            </a:r>
            <a:r>
              <a:rPr lang="en-US"/>
              <a:t> trong JavaScript được xây dựng chủ yếu trên hai khái niệm:</a:t>
            </a:r>
            <a:endParaRPr/>
          </a:p>
          <a:p>
            <a:pPr indent="-228600" lvl="1" marL="685800" rtl="0" algn="l">
              <a:lnSpc>
                <a:spcPct val="100000"/>
              </a:lnSpc>
              <a:spcBef>
                <a:spcPts val="600"/>
              </a:spcBef>
              <a:spcAft>
                <a:spcPts val="0"/>
              </a:spcAft>
              <a:buClr>
                <a:schemeClr val="dk1"/>
              </a:buClr>
              <a:buSzPts val="2400"/>
              <a:buChar char="▪"/>
            </a:pPr>
            <a:r>
              <a:rPr lang="en-US"/>
              <a:t>Closures</a:t>
            </a:r>
            <a:endParaRPr/>
          </a:p>
          <a:p>
            <a:pPr indent="-228600" lvl="1" marL="685800" rtl="0" algn="l">
              <a:lnSpc>
                <a:spcPct val="100000"/>
              </a:lnSpc>
              <a:spcBef>
                <a:spcPts val="600"/>
              </a:spcBef>
              <a:spcAft>
                <a:spcPts val="0"/>
              </a:spcAft>
              <a:buClr>
                <a:schemeClr val="dk1"/>
              </a:buClr>
              <a:buSzPts val="2400"/>
              <a:buChar char="▪"/>
            </a:pPr>
            <a:r>
              <a:rPr lang="en-US"/>
              <a:t>Higher Order Functions (returning functions from functions)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sz="3600"/>
              <a:t>React's memoization</a:t>
            </a:r>
            <a:endParaRPr/>
          </a:p>
        </p:txBody>
      </p:sp>
      <p:sp>
        <p:nvSpPr>
          <p:cNvPr id="385" name="Google Shape;385;p37"/>
          <p:cNvSpPr txBox="1"/>
          <p:nvPr>
            <p:ph idx="1" type="body"/>
          </p:nvPr>
        </p:nvSpPr>
        <p:spPr>
          <a:xfrm>
            <a:off x="1104900" y="1600199"/>
            <a:ext cx="9982200" cy="4912895"/>
          </a:xfrm>
          <a:prstGeom prst="rect">
            <a:avLst/>
          </a:prstGeom>
          <a:noFill/>
          <a:ln>
            <a:noFill/>
          </a:ln>
        </p:spPr>
        <p:txBody>
          <a:bodyPr anchorCtr="0" anchor="t" bIns="45700" lIns="0" spcFirstLastPara="1" rIns="0" wrap="square" tIns="45700">
            <a:normAutofit lnSpcReduction="10000"/>
          </a:bodyPr>
          <a:lstStyle/>
          <a:p>
            <a:pPr indent="-228600" lvl="0" marL="228600" rtl="0" algn="l">
              <a:lnSpc>
                <a:spcPct val="100000"/>
              </a:lnSpc>
              <a:spcBef>
                <a:spcPts val="0"/>
              </a:spcBef>
              <a:spcAft>
                <a:spcPts val="0"/>
              </a:spcAft>
              <a:buClr>
                <a:schemeClr val="dk1"/>
              </a:buClr>
              <a:buSzPts val="2800"/>
              <a:buChar char="▪"/>
            </a:pPr>
            <a:r>
              <a:rPr lang="en-US"/>
              <a:t>Trong</a:t>
            </a:r>
            <a:r>
              <a:rPr b="1" lang="en-US"/>
              <a:t> javascript</a:t>
            </a:r>
            <a:r>
              <a:rPr lang="en-US"/>
              <a:t> chỉ có </a:t>
            </a:r>
            <a:r>
              <a:rPr b="1" lang="en-US"/>
              <a:t>function block </a:t>
            </a:r>
            <a:r>
              <a:rPr lang="en-US"/>
              <a:t>là những gì tạo ra trong một function sẽ available ở trong function đó. </a:t>
            </a:r>
            <a:endParaRPr/>
          </a:p>
          <a:p>
            <a:pPr indent="-228600" lvl="0" marL="228600" rtl="0" algn="l">
              <a:lnSpc>
                <a:spcPct val="100000"/>
              </a:lnSpc>
              <a:spcBef>
                <a:spcPts val="1800"/>
              </a:spcBef>
              <a:spcAft>
                <a:spcPts val="0"/>
              </a:spcAft>
              <a:buClr>
                <a:schemeClr val="dk1"/>
              </a:buClr>
              <a:buSzPts val="2800"/>
              <a:buChar char="▪"/>
            </a:pPr>
            <a:r>
              <a:rPr lang="en-US"/>
              <a:t>Ví dụ:</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228600" lvl="0" marL="228600" rtl="0" algn="l">
              <a:lnSpc>
                <a:spcPct val="100000"/>
              </a:lnSpc>
              <a:spcBef>
                <a:spcPts val="1800"/>
              </a:spcBef>
              <a:spcAft>
                <a:spcPts val="0"/>
              </a:spcAft>
              <a:buClr>
                <a:schemeClr val="dk1"/>
              </a:buClr>
              <a:buSzPts val="2800"/>
              <a:buChar char="▪"/>
            </a:pPr>
            <a:r>
              <a:rPr b="1" lang="en-US"/>
              <a:t>Vấn đề: </a:t>
            </a:r>
            <a:r>
              <a:rPr lang="en-US"/>
              <a:t>tránh tính toán lại một giá trị mà đã có kết quả được lưu trong bộ nhớ cache. Trong ví dụ trên, ta đang tránh tính toán lại </a:t>
            </a:r>
            <a:r>
              <a:rPr b="1" lang="en-US"/>
              <a:t>input + 2 </a:t>
            </a:r>
            <a:endParaRPr/>
          </a:p>
        </p:txBody>
      </p:sp>
      <p:pic>
        <p:nvPicPr>
          <p:cNvPr id="386" name="Google Shape;386;p37"/>
          <p:cNvPicPr preferRelativeResize="0"/>
          <p:nvPr/>
        </p:nvPicPr>
        <p:blipFill rotWithShape="1">
          <a:blip r:embed="rId3">
            <a:alphaModFix/>
          </a:blip>
          <a:srcRect b="0" l="0" r="0" t="0"/>
          <a:stretch/>
        </p:blipFill>
        <p:spPr>
          <a:xfrm>
            <a:off x="2744922" y="2672456"/>
            <a:ext cx="5469942" cy="2218939"/>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sz="3600"/>
              <a:t>React's memoization</a:t>
            </a:r>
            <a:endParaRPr/>
          </a:p>
        </p:txBody>
      </p:sp>
      <p:sp>
        <p:nvSpPr>
          <p:cNvPr id="393" name="Google Shape;393;p38"/>
          <p:cNvSpPr txBox="1"/>
          <p:nvPr>
            <p:ph idx="1" type="body"/>
          </p:nvPr>
        </p:nvSpPr>
        <p:spPr>
          <a:xfrm>
            <a:off x="1104900" y="1600200"/>
            <a:ext cx="10236868"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React có 3 API để ghi nhớ</a:t>
            </a:r>
            <a:r>
              <a:rPr lang="en-US"/>
              <a:t>: memo,useMemo và useCallback.</a:t>
            </a:r>
            <a:endParaRPr/>
          </a:p>
          <a:p>
            <a:pPr indent="-228600" lvl="1" marL="685800" rtl="0" algn="l">
              <a:lnSpc>
                <a:spcPct val="100000"/>
              </a:lnSpc>
              <a:spcBef>
                <a:spcPts val="600"/>
              </a:spcBef>
              <a:spcAft>
                <a:spcPts val="0"/>
              </a:spcAft>
              <a:buClr>
                <a:srgbClr val="FF0000"/>
              </a:buClr>
              <a:buSzPts val="2400"/>
              <a:buChar char="▪"/>
            </a:pPr>
            <a:r>
              <a:rPr b="1" lang="en-US">
                <a:solidFill>
                  <a:srgbClr val="FF0000"/>
                </a:solidFill>
              </a:rPr>
              <a:t>memo hoặc React.memo </a:t>
            </a:r>
            <a:r>
              <a:rPr lang="en-US"/>
              <a:t>là một higher order component, giúp tăng hiệu suất bằng cách ghi nhớ kết quả, nghĩa là React sẽ bỏ qua việc render component và sử dụng lại kết quả được render cuối cùng.</a:t>
            </a:r>
            <a:endParaRPr/>
          </a:p>
          <a:p>
            <a:pPr indent="-228600" lvl="1" marL="685800" rtl="0" algn="l">
              <a:lnSpc>
                <a:spcPct val="100000"/>
              </a:lnSpc>
              <a:spcBef>
                <a:spcPts val="600"/>
              </a:spcBef>
              <a:spcAft>
                <a:spcPts val="0"/>
              </a:spcAft>
              <a:buClr>
                <a:srgbClr val="FF0000"/>
              </a:buClr>
              <a:buSzPts val="2400"/>
              <a:buChar char="▪"/>
            </a:pPr>
            <a:r>
              <a:rPr b="1" lang="en-US">
                <a:solidFill>
                  <a:srgbClr val="FF0000"/>
                </a:solidFill>
              </a:rPr>
              <a:t>useMemo</a:t>
            </a:r>
            <a:r>
              <a:rPr lang="en-US"/>
              <a:t> là một </a:t>
            </a:r>
            <a:r>
              <a:rPr b="1" lang="en-US"/>
              <a:t>hook của React</a:t>
            </a:r>
            <a:r>
              <a:rPr lang="en-US"/>
              <a:t>, giữ cho </a:t>
            </a:r>
            <a:r>
              <a:rPr i="1" lang="en-US"/>
              <a:t>một hàm không cần phải thực thi lại nếu nó không nhận được một tập hợp các tham số sử dụng trước đó</a:t>
            </a:r>
            <a:r>
              <a:rPr lang="en-US"/>
              <a:t>. Nó trả về kết quả là một function. </a:t>
            </a:r>
            <a:endParaRPr/>
          </a:p>
          <a:p>
            <a:pPr indent="-228600" lvl="1" marL="685800" rtl="0" algn="l">
              <a:lnSpc>
                <a:spcPct val="100000"/>
              </a:lnSpc>
              <a:spcBef>
                <a:spcPts val="600"/>
              </a:spcBef>
              <a:spcAft>
                <a:spcPts val="0"/>
              </a:spcAft>
              <a:buClr>
                <a:srgbClr val="FF0000"/>
              </a:buClr>
              <a:buSzPts val="2400"/>
              <a:buChar char="▪"/>
            </a:pPr>
            <a:r>
              <a:rPr b="1" lang="en-US">
                <a:solidFill>
                  <a:srgbClr val="FF0000"/>
                </a:solidFill>
              </a:rPr>
              <a:t>useCallback</a:t>
            </a:r>
            <a:r>
              <a:rPr lang="en-US"/>
              <a:t> cũng là một hook của React, giữ cho </a:t>
            </a:r>
            <a:r>
              <a:rPr i="1" lang="en-US"/>
              <a:t>một function không được tạo lại dựa vào mảng các phần phụ thuộc</a:t>
            </a:r>
            <a:r>
              <a:rPr lang="en-US"/>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sz="3600"/>
              <a:t>useMemo and useCallback</a:t>
            </a:r>
            <a:endParaRPr/>
          </a:p>
        </p:txBody>
      </p:sp>
      <p:sp>
        <p:nvSpPr>
          <p:cNvPr id="399" name="Google Shape;399;p3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Vấn đề với Function component </a:t>
            </a:r>
            <a:endParaRPr b="1">
              <a:solidFill>
                <a:srgbClr val="FF0000"/>
              </a:solidFill>
            </a:endParaRPr>
          </a:p>
          <a:p>
            <a:pPr indent="-228600" lvl="1" marL="685800" rtl="0" algn="l">
              <a:lnSpc>
                <a:spcPct val="100000"/>
              </a:lnSpc>
              <a:spcBef>
                <a:spcPts val="600"/>
              </a:spcBef>
              <a:spcAft>
                <a:spcPts val="0"/>
              </a:spcAft>
              <a:buClr>
                <a:schemeClr val="dk1"/>
              </a:buClr>
              <a:buSzPts val="2400"/>
              <a:buChar char="▪"/>
            </a:pPr>
            <a:r>
              <a:rPr b="1" lang="en-US"/>
              <a:t>Function component </a:t>
            </a:r>
            <a:r>
              <a:rPr lang="en-US"/>
              <a:t>kết hợp với các hook cho phép tái sử dụng code và linh hoạt hơn </a:t>
            </a:r>
            <a:r>
              <a:rPr b="1" lang="en-US"/>
              <a:t>Class component</a:t>
            </a:r>
            <a:r>
              <a:rPr lang="en-US"/>
              <a:t>. </a:t>
            </a:r>
            <a:endParaRPr/>
          </a:p>
          <a:p>
            <a:pPr indent="-228600" lvl="1" marL="685800" rtl="0" algn="l">
              <a:lnSpc>
                <a:spcPct val="100000"/>
              </a:lnSpc>
              <a:spcBef>
                <a:spcPts val="600"/>
              </a:spcBef>
              <a:spcAft>
                <a:spcPts val="0"/>
              </a:spcAft>
              <a:buClr>
                <a:schemeClr val="dk1"/>
              </a:buClr>
              <a:buSzPts val="2400"/>
              <a:buChar char="▪"/>
            </a:pPr>
            <a:r>
              <a:rPr lang="en-US"/>
              <a:t>Tuy nhiên một </a:t>
            </a:r>
            <a:r>
              <a:rPr b="1" lang="en-US"/>
              <a:t>function component </a:t>
            </a:r>
            <a:r>
              <a:rPr lang="en-US"/>
              <a:t>giống như một hàm </a:t>
            </a:r>
            <a:r>
              <a:rPr b="1" lang="en-US"/>
              <a:t>render() </a:t>
            </a:r>
            <a:r>
              <a:rPr lang="en-US"/>
              <a:t>trong </a:t>
            </a:r>
            <a:r>
              <a:rPr b="1" lang="en-US"/>
              <a:t>class component</a:t>
            </a:r>
            <a:r>
              <a:rPr lang="en-US"/>
              <a:t>, là chức năng sẽ render lại khi </a:t>
            </a:r>
            <a:r>
              <a:rPr b="1" lang="en-US"/>
              <a:t>state/props </a:t>
            </a:r>
            <a:r>
              <a:rPr lang="en-US"/>
              <a:t>thay đổi.</a:t>
            </a:r>
            <a:endParaRPr/>
          </a:p>
          <a:p>
            <a:pPr indent="-228600" lvl="1" marL="685800" rtl="0" algn="l">
              <a:lnSpc>
                <a:spcPct val="100000"/>
              </a:lnSpc>
              <a:spcBef>
                <a:spcPts val="600"/>
              </a:spcBef>
              <a:spcAft>
                <a:spcPts val="0"/>
              </a:spcAft>
              <a:buClr>
                <a:schemeClr val="dk1"/>
              </a:buClr>
              <a:buSzPts val="2400"/>
              <a:buChar char="▪"/>
            </a:pPr>
            <a:r>
              <a:rPr lang="en-US"/>
              <a:t>Nếu một function được </a:t>
            </a:r>
            <a:r>
              <a:rPr i="1" lang="en-US">
                <a:solidFill>
                  <a:srgbClr val="FF0000"/>
                </a:solidFill>
              </a:rPr>
              <a:t>gọi bên trong một component</a:t>
            </a:r>
            <a:r>
              <a:rPr lang="en-US"/>
              <a:t>, nó sẽ được đánh giá lại, lặp đi lặp lại sau mỗi lần render.</a:t>
            </a:r>
            <a:endParaRPr/>
          </a:p>
          <a:p>
            <a:pPr indent="-228600" lvl="1" marL="685800" rtl="0" algn="l">
              <a:lnSpc>
                <a:spcPct val="100000"/>
              </a:lnSpc>
              <a:spcBef>
                <a:spcPts val="600"/>
              </a:spcBef>
              <a:spcAft>
                <a:spcPts val="0"/>
              </a:spcAft>
              <a:buClr>
                <a:schemeClr val="dk1"/>
              </a:buClr>
              <a:buSzPts val="2400"/>
              <a:buChar char="▪"/>
            </a:pPr>
            <a:r>
              <a:rPr lang="en-US"/>
              <a:t>Nếu một function được </a:t>
            </a:r>
            <a:r>
              <a:rPr i="1" lang="en-US">
                <a:solidFill>
                  <a:srgbClr val="FF0000"/>
                </a:solidFill>
              </a:rPr>
              <a:t>tạo bên trong một component </a:t>
            </a:r>
            <a:r>
              <a:rPr lang="en-US"/>
              <a:t>(component con) thì nó sẽ được tạo lại, làm cho thành phần con render lại hoặc gọi lại những function không cần thiết.</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sz="3600"/>
              <a:t>useMemo and useCallback</a:t>
            </a:r>
            <a:endParaRPr/>
          </a:p>
        </p:txBody>
      </p:sp>
      <p:sp>
        <p:nvSpPr>
          <p:cNvPr id="405" name="Google Shape;405;p4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Giải quyết vấn đề </a:t>
            </a:r>
            <a:r>
              <a:rPr lang="en-US"/>
              <a:t>về hiệu suất của app, React cung cấp  2 hook: </a:t>
            </a:r>
            <a:r>
              <a:rPr b="1" lang="en-US"/>
              <a:t>useMemo và useCallback</a:t>
            </a:r>
            <a:endParaRPr b="1"/>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1" marL="0" rtl="0" algn="l">
              <a:spcBef>
                <a:spcPts val="0"/>
              </a:spcBef>
              <a:spcAft>
                <a:spcPts val="0"/>
              </a:spcAft>
              <a:buNone/>
            </a:pPr>
            <a:r>
              <a:rPr b="1" lang="en-US" sz="3600"/>
              <a:t>useMemo and useCallback</a:t>
            </a:r>
            <a:endParaRPr b="1" sz="2400"/>
          </a:p>
        </p:txBody>
      </p:sp>
      <p:sp>
        <p:nvSpPr>
          <p:cNvPr id="411" name="Google Shape;411;p41"/>
          <p:cNvSpPr txBox="1"/>
          <p:nvPr>
            <p:ph idx="1" type="body"/>
          </p:nvPr>
        </p:nvSpPr>
        <p:spPr>
          <a:xfrm>
            <a:off x="1104899" y="1600200"/>
            <a:ext cx="10291233"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useCallback </a:t>
            </a:r>
            <a:r>
              <a:rPr lang="en-US"/>
              <a:t>is a </a:t>
            </a:r>
            <a:r>
              <a:rPr b="1" lang="en-US"/>
              <a:t>React Hook </a:t>
            </a:r>
            <a:r>
              <a:rPr lang="en-US"/>
              <a:t>returns a memoized callback function, as caching a value so that it does not need to be recalculated.</a:t>
            </a:r>
            <a:endParaRPr/>
          </a:p>
          <a:p>
            <a:pPr indent="-228600" lvl="1" marL="685800" rtl="0" algn="l">
              <a:lnSpc>
                <a:spcPct val="100000"/>
              </a:lnSpc>
              <a:spcBef>
                <a:spcPts val="600"/>
              </a:spcBef>
              <a:spcAft>
                <a:spcPts val="0"/>
              </a:spcAft>
              <a:buClr>
                <a:schemeClr val="dk1"/>
              </a:buClr>
              <a:buSzPts val="2400"/>
              <a:buChar char="▪"/>
            </a:pPr>
            <a:r>
              <a:rPr lang="en-US"/>
              <a:t>This allows us to isolate resource intensive functions so that they will not automatically run on every render.</a:t>
            </a:r>
            <a:endParaRPr/>
          </a:p>
          <a:p>
            <a:pPr indent="-228600" lvl="1" marL="685800" rtl="0" algn="l">
              <a:lnSpc>
                <a:spcPct val="100000"/>
              </a:lnSpc>
              <a:spcBef>
                <a:spcPts val="600"/>
              </a:spcBef>
              <a:spcAft>
                <a:spcPts val="0"/>
              </a:spcAft>
              <a:buClr>
                <a:schemeClr val="dk1"/>
              </a:buClr>
              <a:buSzPts val="2400"/>
              <a:buChar char="▪"/>
            </a:pPr>
            <a:r>
              <a:rPr lang="en-US"/>
              <a:t>The </a:t>
            </a:r>
            <a:r>
              <a:rPr b="1" lang="en-US"/>
              <a:t>useCallback</a:t>
            </a:r>
            <a:r>
              <a:rPr lang="en-US"/>
              <a:t> Hook only runs when one of its dependencies update.</a:t>
            </a:r>
            <a:endParaRPr/>
          </a:p>
          <a:p>
            <a:pPr indent="-228600" lvl="1" marL="685800" rtl="0" algn="l">
              <a:lnSpc>
                <a:spcPct val="100000"/>
              </a:lnSpc>
              <a:spcBef>
                <a:spcPts val="600"/>
              </a:spcBef>
              <a:spcAft>
                <a:spcPts val="0"/>
              </a:spcAft>
              <a:buClr>
                <a:schemeClr val="dk1"/>
              </a:buClr>
              <a:buSzPts val="2400"/>
              <a:buChar char="▪"/>
            </a:pPr>
            <a:r>
              <a:rPr lang="en-US"/>
              <a:t>This can improve performance.</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useMemo and useCallback</a:t>
            </a:r>
            <a:endParaRPr/>
          </a:p>
        </p:txBody>
      </p:sp>
      <p:sp>
        <p:nvSpPr>
          <p:cNvPr id="417" name="Google Shape;417;p4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useCallback</a:t>
            </a:r>
            <a:endParaRPr b="1">
              <a:solidFill>
                <a:srgbClr val="FF0000"/>
              </a:solidFill>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Example:</a:t>
            </a:r>
            <a:endParaRPr/>
          </a:p>
        </p:txBody>
      </p:sp>
      <p:pic>
        <p:nvPicPr>
          <p:cNvPr id="418" name="Google Shape;418;p42"/>
          <p:cNvPicPr preferRelativeResize="0"/>
          <p:nvPr/>
        </p:nvPicPr>
        <p:blipFill rotWithShape="1">
          <a:blip r:embed="rId3">
            <a:alphaModFix/>
          </a:blip>
          <a:srcRect b="0" l="0" r="0" t="0"/>
          <a:stretch/>
        </p:blipFill>
        <p:spPr>
          <a:xfrm>
            <a:off x="3994800" y="1600200"/>
            <a:ext cx="6774799" cy="483664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useMemo and useCallback</a:t>
            </a:r>
            <a:endParaRPr/>
          </a:p>
        </p:txBody>
      </p:sp>
      <p:sp>
        <p:nvSpPr>
          <p:cNvPr id="424" name="Google Shape;424;p4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useCallback</a:t>
            </a:r>
            <a:endParaRPr b="1">
              <a:solidFill>
                <a:srgbClr val="FF0000"/>
              </a:solidFill>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Example:</a:t>
            </a:r>
            <a:endParaRPr/>
          </a:p>
        </p:txBody>
      </p:sp>
      <p:pic>
        <p:nvPicPr>
          <p:cNvPr id="425" name="Google Shape;425;p43"/>
          <p:cNvPicPr preferRelativeResize="0"/>
          <p:nvPr/>
        </p:nvPicPr>
        <p:blipFill rotWithShape="1">
          <a:blip r:embed="rId3">
            <a:alphaModFix/>
          </a:blip>
          <a:srcRect b="0" l="0" r="0" t="0"/>
          <a:stretch/>
        </p:blipFill>
        <p:spPr>
          <a:xfrm>
            <a:off x="827026" y="2504789"/>
            <a:ext cx="8486307" cy="4001316"/>
          </a:xfrm>
          <a:prstGeom prst="rect">
            <a:avLst/>
          </a:prstGeom>
          <a:noFill/>
          <a:ln>
            <a:noFill/>
          </a:ln>
        </p:spPr>
      </p:pic>
      <p:pic>
        <p:nvPicPr>
          <p:cNvPr id="426" name="Google Shape;426;p43"/>
          <p:cNvPicPr preferRelativeResize="0"/>
          <p:nvPr/>
        </p:nvPicPr>
        <p:blipFill rotWithShape="1">
          <a:blip r:embed="rId4">
            <a:alphaModFix/>
          </a:blip>
          <a:srcRect b="0" l="0" r="0" t="0"/>
          <a:stretch/>
        </p:blipFill>
        <p:spPr>
          <a:xfrm>
            <a:off x="8373548" y="2412656"/>
            <a:ext cx="2435317" cy="2947088"/>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useMemo and useCallback</a:t>
            </a:r>
            <a:endParaRPr/>
          </a:p>
        </p:txBody>
      </p:sp>
      <p:sp>
        <p:nvSpPr>
          <p:cNvPr id="432" name="Google Shape;432;p4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useMemo</a:t>
            </a:r>
            <a:r>
              <a:rPr lang="en-US"/>
              <a:t>: The React </a:t>
            </a:r>
            <a:r>
              <a:rPr b="1" lang="en-US"/>
              <a:t>useMemo Hook </a:t>
            </a:r>
            <a:r>
              <a:rPr lang="en-US"/>
              <a:t>returns a </a:t>
            </a:r>
            <a:r>
              <a:rPr b="1" lang="en-US"/>
              <a:t>memoized</a:t>
            </a:r>
            <a:r>
              <a:rPr lang="en-US"/>
              <a:t> </a:t>
            </a:r>
            <a:r>
              <a:rPr b="1" lang="en-US"/>
              <a:t>value, </a:t>
            </a:r>
            <a:r>
              <a:rPr lang="en-US"/>
              <a:t>as caching a value so that it does not need to be recalculated.</a:t>
            </a:r>
            <a:endParaRPr/>
          </a:p>
          <a:p>
            <a:pPr indent="-228600" lvl="1" marL="685800" rtl="0" algn="l">
              <a:lnSpc>
                <a:spcPct val="100000"/>
              </a:lnSpc>
              <a:spcBef>
                <a:spcPts val="600"/>
              </a:spcBef>
              <a:spcAft>
                <a:spcPts val="0"/>
              </a:spcAft>
              <a:buClr>
                <a:schemeClr val="dk1"/>
              </a:buClr>
              <a:buSzPts val="2400"/>
              <a:buChar char="▪"/>
            </a:pPr>
            <a:r>
              <a:rPr lang="en-US"/>
              <a:t>The useMemo Hook only runs when one of its dependencies update.</a:t>
            </a:r>
            <a:endParaRPr/>
          </a:p>
          <a:p>
            <a:pPr indent="-228600" lvl="1" marL="685800" rtl="0" algn="l">
              <a:lnSpc>
                <a:spcPct val="100000"/>
              </a:lnSpc>
              <a:spcBef>
                <a:spcPts val="600"/>
              </a:spcBef>
              <a:spcAft>
                <a:spcPts val="0"/>
              </a:spcAft>
              <a:buClr>
                <a:schemeClr val="dk1"/>
              </a:buClr>
              <a:buSzPts val="2400"/>
              <a:buChar char="▪"/>
            </a:pPr>
            <a:r>
              <a:rPr lang="en-US"/>
              <a:t>This can improve performance.</a:t>
            </a:r>
            <a:endParaRPr/>
          </a:p>
          <a:p>
            <a:pPr indent="-228600" lvl="0" marL="228600" rtl="0" algn="l">
              <a:lnSpc>
                <a:spcPct val="100000"/>
              </a:lnSpc>
              <a:spcBef>
                <a:spcPts val="1800"/>
              </a:spcBef>
              <a:spcAft>
                <a:spcPts val="0"/>
              </a:spcAft>
              <a:buClr>
                <a:schemeClr val="dk1"/>
              </a:buClr>
              <a:buSzPts val="2800"/>
              <a:buChar char="▪"/>
            </a:pPr>
            <a:r>
              <a:rPr lang="en-US"/>
              <a:t>The </a:t>
            </a:r>
            <a:r>
              <a:rPr b="1" lang="en-US"/>
              <a:t>useMemo</a:t>
            </a:r>
            <a:r>
              <a:rPr lang="en-US"/>
              <a:t> and </a:t>
            </a:r>
            <a:r>
              <a:rPr b="1" lang="en-US"/>
              <a:t>useCallback</a:t>
            </a:r>
            <a:r>
              <a:rPr lang="en-US"/>
              <a:t> Hooks are similar. The main difference is that:</a:t>
            </a:r>
            <a:endParaRPr/>
          </a:p>
          <a:p>
            <a:pPr indent="-228600" lvl="1" marL="685800" rtl="0" algn="l">
              <a:lnSpc>
                <a:spcPct val="100000"/>
              </a:lnSpc>
              <a:spcBef>
                <a:spcPts val="600"/>
              </a:spcBef>
              <a:spcAft>
                <a:spcPts val="0"/>
              </a:spcAft>
              <a:buClr>
                <a:schemeClr val="dk1"/>
              </a:buClr>
              <a:buSzPts val="2400"/>
              <a:buChar char="▪"/>
            </a:pPr>
            <a:r>
              <a:rPr b="1" lang="en-US"/>
              <a:t>useMemo</a:t>
            </a:r>
            <a:r>
              <a:rPr lang="en-US"/>
              <a:t> returns a </a:t>
            </a:r>
            <a:r>
              <a:rPr b="1" lang="en-US"/>
              <a:t>memoized value </a:t>
            </a:r>
            <a:endParaRPr/>
          </a:p>
          <a:p>
            <a:pPr indent="-228600" lvl="1" marL="685800" rtl="0" algn="l">
              <a:lnSpc>
                <a:spcPct val="100000"/>
              </a:lnSpc>
              <a:spcBef>
                <a:spcPts val="600"/>
              </a:spcBef>
              <a:spcAft>
                <a:spcPts val="0"/>
              </a:spcAft>
              <a:buClr>
                <a:schemeClr val="dk1"/>
              </a:buClr>
              <a:buSzPts val="2400"/>
              <a:buChar char="▪"/>
            </a:pPr>
            <a:r>
              <a:rPr b="1" lang="en-US"/>
              <a:t>useCallback</a:t>
            </a:r>
            <a:r>
              <a:rPr lang="en-US"/>
              <a:t> returns a </a:t>
            </a:r>
            <a:r>
              <a:rPr b="1" lang="en-US"/>
              <a:t>memoized function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useMemo and useCallback</a:t>
            </a:r>
            <a:endParaRPr/>
          </a:p>
        </p:txBody>
      </p:sp>
      <p:sp>
        <p:nvSpPr>
          <p:cNvPr id="438" name="Google Shape;438;p4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useMemo</a:t>
            </a:r>
            <a:endParaRPr/>
          </a:p>
          <a:p>
            <a:pPr indent="-228600" lvl="1" marL="685800" rtl="0" algn="l">
              <a:lnSpc>
                <a:spcPct val="100000"/>
              </a:lnSpc>
              <a:spcBef>
                <a:spcPts val="600"/>
              </a:spcBef>
              <a:spcAft>
                <a:spcPts val="0"/>
              </a:spcAft>
              <a:buClr>
                <a:schemeClr val="dk1"/>
              </a:buClr>
              <a:buSzPts val="2400"/>
              <a:buChar char="▪"/>
            </a:pPr>
            <a:r>
              <a:rPr lang="en-US"/>
              <a:t>Example</a:t>
            </a:r>
            <a:endParaRPr/>
          </a:p>
        </p:txBody>
      </p:sp>
      <p:pic>
        <p:nvPicPr>
          <p:cNvPr id="439" name="Google Shape;439;p45"/>
          <p:cNvPicPr preferRelativeResize="0"/>
          <p:nvPr/>
        </p:nvPicPr>
        <p:blipFill rotWithShape="1">
          <a:blip r:embed="rId3">
            <a:alphaModFix/>
          </a:blip>
          <a:srcRect b="0" l="0" r="0" t="0"/>
          <a:stretch/>
        </p:blipFill>
        <p:spPr>
          <a:xfrm>
            <a:off x="3205659" y="2228490"/>
            <a:ext cx="6818874" cy="411878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useMemo and useCallback</a:t>
            </a:r>
            <a:endParaRPr/>
          </a:p>
        </p:txBody>
      </p:sp>
      <p:sp>
        <p:nvSpPr>
          <p:cNvPr id="445" name="Google Shape;445;p4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useMemo</a:t>
            </a:r>
            <a:endParaRPr/>
          </a:p>
          <a:p>
            <a:pPr indent="-228600" lvl="1" marL="685800" rtl="0" algn="l">
              <a:lnSpc>
                <a:spcPct val="100000"/>
              </a:lnSpc>
              <a:spcBef>
                <a:spcPts val="600"/>
              </a:spcBef>
              <a:spcAft>
                <a:spcPts val="0"/>
              </a:spcAft>
              <a:buClr>
                <a:schemeClr val="dk1"/>
              </a:buClr>
              <a:buSzPts val="2400"/>
              <a:buChar char="▪"/>
            </a:pPr>
            <a:r>
              <a:rPr lang="en-US"/>
              <a:t>Example</a:t>
            </a:r>
            <a:endParaRPr/>
          </a:p>
        </p:txBody>
      </p:sp>
      <p:pic>
        <p:nvPicPr>
          <p:cNvPr id="446" name="Google Shape;446;p46"/>
          <p:cNvPicPr preferRelativeResize="0"/>
          <p:nvPr/>
        </p:nvPicPr>
        <p:blipFill rotWithShape="1">
          <a:blip r:embed="rId3">
            <a:alphaModFix/>
          </a:blip>
          <a:srcRect b="0" l="0" r="0" t="0"/>
          <a:stretch/>
        </p:blipFill>
        <p:spPr>
          <a:xfrm>
            <a:off x="3279796" y="1574783"/>
            <a:ext cx="6650267" cy="520701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useMemo and useCallback</a:t>
            </a:r>
            <a:endParaRPr/>
          </a:p>
        </p:txBody>
      </p:sp>
      <p:sp>
        <p:nvSpPr>
          <p:cNvPr id="452" name="Google Shape;452;p4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useMemo</a:t>
            </a:r>
            <a:endParaRPr/>
          </a:p>
          <a:p>
            <a:pPr indent="-228600" lvl="1" marL="685800" rtl="0" algn="l">
              <a:lnSpc>
                <a:spcPct val="100000"/>
              </a:lnSpc>
              <a:spcBef>
                <a:spcPts val="600"/>
              </a:spcBef>
              <a:spcAft>
                <a:spcPts val="0"/>
              </a:spcAft>
              <a:buClr>
                <a:schemeClr val="dk1"/>
              </a:buClr>
              <a:buSzPts val="2400"/>
              <a:buChar char="▪"/>
            </a:pPr>
            <a:r>
              <a:rPr lang="en-US"/>
              <a:t>Example</a:t>
            </a:r>
            <a:endParaRPr/>
          </a:p>
        </p:txBody>
      </p:sp>
      <p:pic>
        <p:nvPicPr>
          <p:cNvPr id="453" name="Google Shape;453;p47"/>
          <p:cNvPicPr preferRelativeResize="0"/>
          <p:nvPr/>
        </p:nvPicPr>
        <p:blipFill rotWithShape="1">
          <a:blip r:embed="rId3">
            <a:alphaModFix/>
          </a:blip>
          <a:srcRect b="0" l="0" r="0" t="0"/>
          <a:stretch/>
        </p:blipFill>
        <p:spPr>
          <a:xfrm>
            <a:off x="2388623" y="2832301"/>
            <a:ext cx="8978537" cy="307119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So sánh useMemo and useCallback</a:t>
            </a:r>
            <a:endParaRPr/>
          </a:p>
        </p:txBody>
      </p:sp>
      <p:sp>
        <p:nvSpPr>
          <p:cNvPr id="460" name="Google Shape;460;p4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20000"/>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useMemo</a:t>
            </a:r>
            <a:r>
              <a:rPr lang="en-US"/>
              <a:t> giữ cho một hàm không được thực thi lại nếu nó không nhận được một tập hợp các tham số đã được sử dụng trước đó. </a:t>
            </a:r>
            <a:endParaRPr/>
          </a:p>
          <a:p>
            <a:pPr indent="-228600" lvl="1" marL="685800" rtl="0" algn="l">
              <a:lnSpc>
                <a:spcPct val="100000"/>
              </a:lnSpc>
              <a:spcBef>
                <a:spcPts val="600"/>
              </a:spcBef>
              <a:spcAft>
                <a:spcPts val="0"/>
              </a:spcAft>
              <a:buClr>
                <a:schemeClr val="dk1"/>
              </a:buClr>
              <a:buSzPts val="2400"/>
              <a:buChar char="▪"/>
            </a:pPr>
            <a:r>
              <a:rPr lang="en-US"/>
              <a:t>Nó sẽ trả về kết quả của một function. </a:t>
            </a:r>
            <a:endParaRPr/>
          </a:p>
          <a:p>
            <a:pPr indent="-228600" lvl="1" marL="685800" rtl="0" algn="l">
              <a:lnSpc>
                <a:spcPct val="100000"/>
              </a:lnSpc>
              <a:spcBef>
                <a:spcPts val="600"/>
              </a:spcBef>
              <a:spcAft>
                <a:spcPts val="0"/>
              </a:spcAft>
              <a:buClr>
                <a:schemeClr val="dk1"/>
              </a:buClr>
              <a:buSzPts val="2400"/>
              <a:buChar char="▪"/>
            </a:pPr>
            <a:r>
              <a:rPr lang="en-US"/>
              <a:t>Sử dụng khi muốn ngăn một số thao tác tốn kém tài nguyên được gọi trên mỗi lần render.</a:t>
            </a:r>
            <a:endParaRPr/>
          </a:p>
          <a:p>
            <a:pPr indent="-228600" lvl="0" marL="228600" rtl="0" algn="l">
              <a:lnSpc>
                <a:spcPct val="100000"/>
              </a:lnSpc>
              <a:spcBef>
                <a:spcPts val="1800"/>
              </a:spcBef>
              <a:spcAft>
                <a:spcPts val="0"/>
              </a:spcAft>
              <a:buClr>
                <a:srgbClr val="FF0000"/>
              </a:buClr>
              <a:buSzPts val="2800"/>
              <a:buChar char="▪"/>
            </a:pPr>
            <a:r>
              <a:rPr b="1" lang="en-US">
                <a:solidFill>
                  <a:srgbClr val="FF0000"/>
                </a:solidFill>
              </a:rPr>
              <a:t>useCallback</a:t>
            </a:r>
            <a:r>
              <a:rPr lang="en-US"/>
              <a:t> giữ cho một hàm không được tạo lại lần nữa, dựa trên mảng các phần phụ thuộc. </a:t>
            </a:r>
            <a:endParaRPr/>
          </a:p>
          <a:p>
            <a:pPr indent="-228600" lvl="1" marL="685800" rtl="0" algn="l">
              <a:lnSpc>
                <a:spcPct val="100000"/>
              </a:lnSpc>
              <a:spcBef>
                <a:spcPts val="600"/>
              </a:spcBef>
              <a:spcAft>
                <a:spcPts val="0"/>
              </a:spcAft>
              <a:buClr>
                <a:schemeClr val="dk1"/>
              </a:buClr>
              <a:buSzPts val="2400"/>
              <a:buChar char="▪"/>
            </a:pPr>
            <a:r>
              <a:rPr lang="en-US"/>
              <a:t>Nó sẽ trả về chính function đó. </a:t>
            </a:r>
            <a:endParaRPr/>
          </a:p>
          <a:p>
            <a:pPr indent="-228600" lvl="1" marL="685800" rtl="0" algn="l">
              <a:lnSpc>
                <a:spcPct val="100000"/>
              </a:lnSpc>
              <a:spcBef>
                <a:spcPts val="600"/>
              </a:spcBef>
              <a:spcAft>
                <a:spcPts val="0"/>
              </a:spcAft>
              <a:buClr>
                <a:schemeClr val="dk1"/>
              </a:buClr>
              <a:buSzPts val="2400"/>
              <a:buChar char="▪"/>
            </a:pPr>
            <a:r>
              <a:rPr lang="en-US"/>
              <a:t>Sử dụng nó khi mà muốn truyền function vào component con và chặn không cho một hàm nào đó tiêu thời gian, tài nguyên phải tạo lại.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2024-10-17T15:22:21Z</dcterms:created>
  <dc:creator>License For You And Lifetime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