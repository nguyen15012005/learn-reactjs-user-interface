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handoutMasterIdLst>
    <p:handoutMasterId r:id="rId33"/>
  </p:handoutMasterIdLst>
  <p:sldIdLst>
    <p:sldId id="256" r:id="rId5"/>
    <p:sldId id="272" r:id="rId6"/>
    <p:sldId id="269" r:id="rId7"/>
    <p:sldId id="271" r:id="rId8"/>
    <p:sldId id="270" r:id="rId9"/>
    <p:sldId id="273" r:id="rId10"/>
    <p:sldId id="275" r:id="rId11"/>
    <p:sldId id="274" r:id="rId12"/>
    <p:sldId id="265" r:id="rId13"/>
    <p:sldId id="277" r:id="rId14"/>
    <p:sldId id="278" r:id="rId15"/>
    <p:sldId id="279" r:id="rId16"/>
    <p:sldId id="280" r:id="rId17"/>
    <p:sldId id="281" r:id="rId18"/>
    <p:sldId id="276" r:id="rId19"/>
    <p:sldId id="282" r:id="rId20"/>
    <p:sldId id="283" r:id="rId21"/>
    <p:sldId id="267" r:id="rId22"/>
    <p:sldId id="284" r:id="rId23"/>
    <p:sldId id="285" r:id="rId24"/>
    <p:sldId id="286" r:id="rId25"/>
    <p:sldId id="287" r:id="rId26"/>
    <p:sldId id="288" r:id="rId27"/>
    <p:sldId id="289" r:id="rId28"/>
    <p:sldId id="290" r:id="rId29"/>
    <p:sldId id="266" r:id="rId30"/>
    <p:sldId id="26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74503" autoAdjust="0"/>
  </p:normalViewPr>
  <p:slideViewPr>
    <p:cSldViewPr snapToGrid="0" showGuides="1">
      <p:cViewPr varScale="1">
        <p:scale>
          <a:sx n="51" d="100"/>
          <a:sy n="51" d="100"/>
        </p:scale>
        <p:origin x="1416" y="78"/>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22/Dec/2024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22/Dec/2024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Bạn có thể nghĩ về API giống như một người phục vụ nhà hàng. Bạn không vào bếp để chuẩn bị bữa ăn khi dùng bữa tại nhà hàng. Thay vào đó, bạn thông báo cho người phục vụ về sở thích của mình và họ sẽ chuyển đơn hàng của bạn đến nhóm bếp. Nhóm bếp chuẩn bị đồ ăn và trả lại cho người phục vụ, sau đó người này sẽ mang đến bàn của bạn.</a:t>
            </a:r>
          </a:p>
          <a:p>
            <a:endParaRPr lang="vi-VN" dirty="0"/>
          </a:p>
          <a:p>
            <a:r>
              <a:rPr lang="vi-VN" dirty="0"/>
              <a:t>API hoạt động như một người phục vụ cho các ứng dụng phần mềm. Đây là một tập hợp các quy tắc cho phép một chương trình yêu cầu chương trình khác cung cấp thứ mà nó cần. API đóng vai trò là cầu nối để các ứng dụng phần mềm giao tiếp và tương tác.</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a:t>
            </a:fld>
            <a:endParaRPr lang="en-US"/>
          </a:p>
        </p:txBody>
      </p:sp>
    </p:spTree>
    <p:extLst>
      <p:ext uri="{BB962C8B-B14F-4D97-AF65-F5344CB8AC3E}">
        <p14:creationId xmlns:p14="http://schemas.microsoft.com/office/powerpoint/2010/main" val="1130023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B72A3-F70F-559D-9717-7304BC9BF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7AF29-D050-1029-77DC-E45E787B37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FE421-3F19-B6EF-9D3B-DB66D965C941}"/>
              </a:ext>
            </a:extLst>
          </p:cNvPr>
          <p:cNvSpPr>
            <a:spLocks noGrp="1"/>
          </p:cNvSpPr>
          <p:nvPr>
            <p:ph type="body" idx="1"/>
          </p:nvPr>
        </p:nvSpPr>
        <p:spPr/>
        <p:txBody>
          <a:bodyPr/>
          <a:lstStyle/>
          <a:p>
            <a:r>
              <a:rPr lang="vi-VN" dirty="0"/>
              <a:t>Các ứng dụng web cần API để lấy dữ liệu từ nhiều nguồn khác nhau, như cơ sở dữ liệu hoặc trang web.</a:t>
            </a:r>
          </a:p>
          <a:p>
            <a:r>
              <a:rPr lang="vi-VN" dirty="0"/>
              <a:t>API là tùy chọn có thể mở rộng để quản lý khối lượng dữ liệu hoặc yêu cầu lớn.</a:t>
            </a:r>
          </a:p>
          <a:p>
            <a:r>
              <a:rPr lang="vi-VN" dirty="0"/>
              <a:t>Các nhà phát triển sử dụng API để tận dụng các tính năng và dịch vụ hiện có. Điều này giúp họ không phải phát minh lại bánh xe.</a:t>
            </a:r>
          </a:p>
          <a:p>
            <a:r>
              <a:rPr lang="vi-VN" dirty="0"/>
              <a:t>Họ giữ mọi thứ an toàn bằng cách đảm bảo rằng chỉ những cá nhân hoặc chương trình được ủy quyền mới có thể sử dụng chúng.</a:t>
            </a:r>
          </a:p>
          <a:p>
            <a:r>
              <a:rPr lang="vi-VN" dirty="0"/>
              <a:t>API giúp trang web hoặc ứng dụng di động trở nên thú vị hơn khi sử dụng bằng cách tích hợp dữ liệu.</a:t>
            </a:r>
            <a:endParaRPr lang="en-US" dirty="0"/>
          </a:p>
        </p:txBody>
      </p:sp>
      <p:sp>
        <p:nvSpPr>
          <p:cNvPr id="4" name="Slide Number Placeholder 3">
            <a:extLst>
              <a:ext uri="{FF2B5EF4-FFF2-40B4-BE49-F238E27FC236}">
                <a16:creationId xmlns:a16="http://schemas.microsoft.com/office/drawing/2014/main" id="{376CFD44-B895-F635-6ACF-293E52231611}"/>
              </a:ext>
            </a:extLst>
          </p:cNvPr>
          <p:cNvSpPr>
            <a:spLocks noGrp="1"/>
          </p:cNvSpPr>
          <p:nvPr>
            <p:ph type="sldNum" sz="quarter" idx="5"/>
          </p:nvPr>
        </p:nvSpPr>
        <p:spPr/>
        <p:txBody>
          <a:bodyPr/>
          <a:lstStyle/>
          <a:p>
            <a:fld id="{0A3C37BE-C303-496D-B5CD-85F2937540FC}" type="slidenum">
              <a:rPr lang="en-US" smtClean="0"/>
              <a:t>4</a:t>
            </a:fld>
            <a:endParaRPr lang="en-US"/>
          </a:p>
        </p:txBody>
      </p:sp>
    </p:spTree>
    <p:extLst>
      <p:ext uri="{BB962C8B-B14F-4D97-AF65-F5344CB8AC3E}">
        <p14:creationId xmlns:p14="http://schemas.microsoft.com/office/powerpoint/2010/main" val="25066158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US" dirty="0"/>
              <a:t>PUT: This method is used to update a record or data value at a designated endpoint. You're making changes to existing information.</a:t>
            </a:r>
          </a:p>
          <a:p>
            <a:pPr lvl="2"/>
            <a:r>
              <a:rPr lang="en-US" dirty="0"/>
              <a:t>DELETE: This method erases data from a specific endpoint. It's like discarding unnecessary things.</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6</a:t>
            </a:fld>
            <a:endParaRPr lang="en-US"/>
          </a:p>
        </p:txBody>
      </p:sp>
    </p:spTree>
    <p:extLst>
      <p:ext uri="{BB962C8B-B14F-4D97-AF65-F5344CB8AC3E}">
        <p14:creationId xmlns:p14="http://schemas.microsoft.com/office/powerpoint/2010/main" val="2765861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specific scenario, we are only interested in the photos. We render them in the browser by displaying them in the main file of the application, or root. The main file could be </a:t>
            </a:r>
            <a:r>
              <a:rPr lang="en-US" dirty="0" err="1"/>
              <a:t>App.jsx</a:t>
            </a:r>
            <a:r>
              <a:rPr lang="en-US" dirty="0"/>
              <a:t> or Index.js.</a:t>
            </a:r>
          </a:p>
          <a:p>
            <a:r>
              <a:rPr lang="en-US" dirty="0"/>
              <a:t>Trong </a:t>
            </a:r>
            <a:r>
              <a:rPr lang="en-US" dirty="0" err="1"/>
              <a:t>kịch</a:t>
            </a:r>
            <a:r>
              <a:rPr lang="en-US" dirty="0"/>
              <a:t> </a:t>
            </a:r>
            <a:r>
              <a:rPr lang="en-US" dirty="0" err="1"/>
              <a:t>bản</a:t>
            </a:r>
            <a:r>
              <a:rPr lang="en-US" dirty="0"/>
              <a:t> </a:t>
            </a:r>
            <a:r>
              <a:rPr lang="en-US" dirty="0" err="1"/>
              <a:t>cụ</a:t>
            </a:r>
            <a:r>
              <a:rPr lang="en-US" dirty="0"/>
              <a:t> </a:t>
            </a:r>
            <a:r>
              <a:rPr lang="en-US" dirty="0" err="1"/>
              <a:t>thể</a:t>
            </a:r>
            <a:r>
              <a:rPr lang="en-US" dirty="0"/>
              <a:t> </a:t>
            </a:r>
            <a:r>
              <a:rPr lang="en-US" dirty="0" err="1"/>
              <a:t>của</a:t>
            </a:r>
            <a:r>
              <a:rPr lang="en-US" dirty="0"/>
              <a:t> </a:t>
            </a:r>
            <a:r>
              <a:rPr lang="en-US" dirty="0" err="1"/>
              <a:t>chúng</a:t>
            </a:r>
            <a:r>
              <a:rPr lang="en-US" dirty="0"/>
              <a:t> </a:t>
            </a:r>
            <a:r>
              <a:rPr lang="en-US" dirty="0" err="1"/>
              <a:t>tôi</a:t>
            </a:r>
            <a:r>
              <a:rPr lang="en-US" dirty="0"/>
              <a:t>, </a:t>
            </a:r>
            <a:r>
              <a:rPr lang="en-US" dirty="0" err="1"/>
              <a:t>chúng</a:t>
            </a:r>
            <a:r>
              <a:rPr lang="en-US" dirty="0"/>
              <a:t> </a:t>
            </a:r>
            <a:r>
              <a:rPr lang="en-US" dirty="0" err="1"/>
              <a:t>tôi</a:t>
            </a:r>
            <a:r>
              <a:rPr lang="en-US" dirty="0"/>
              <a:t> </a:t>
            </a:r>
            <a:r>
              <a:rPr lang="en-US" dirty="0" err="1"/>
              <a:t>chỉ</a:t>
            </a:r>
            <a:r>
              <a:rPr lang="en-US" dirty="0"/>
              <a:t> </a:t>
            </a:r>
            <a:r>
              <a:rPr lang="en-US" dirty="0" err="1"/>
              <a:t>quan</a:t>
            </a:r>
            <a:r>
              <a:rPr lang="en-US" dirty="0"/>
              <a:t> </a:t>
            </a:r>
            <a:r>
              <a:rPr lang="en-US" dirty="0" err="1"/>
              <a:t>tâm</a:t>
            </a:r>
            <a:r>
              <a:rPr lang="en-US" dirty="0"/>
              <a:t> </a:t>
            </a:r>
            <a:r>
              <a:rPr lang="en-US" dirty="0" err="1"/>
              <a:t>đến</a:t>
            </a:r>
            <a:r>
              <a:rPr lang="en-US" dirty="0"/>
              <a:t> </a:t>
            </a:r>
            <a:r>
              <a:rPr lang="en-US" dirty="0" err="1"/>
              <a:t>ảnh</a:t>
            </a:r>
            <a:r>
              <a:rPr lang="en-US" dirty="0"/>
              <a:t>. </a:t>
            </a:r>
            <a:r>
              <a:rPr lang="en-US" dirty="0" err="1"/>
              <a:t>Chúng</a:t>
            </a:r>
            <a:r>
              <a:rPr lang="en-US" dirty="0"/>
              <a:t> </a:t>
            </a:r>
            <a:r>
              <a:rPr lang="en-US" dirty="0" err="1"/>
              <a:t>tôi</a:t>
            </a:r>
            <a:r>
              <a:rPr lang="en-US" dirty="0"/>
              <a:t> </a:t>
            </a:r>
            <a:r>
              <a:rPr lang="en-US" dirty="0" err="1"/>
              <a:t>hiển</a:t>
            </a:r>
            <a:r>
              <a:rPr lang="en-US" dirty="0"/>
              <a:t> </a:t>
            </a:r>
            <a:r>
              <a:rPr lang="en-US" dirty="0" err="1"/>
              <a:t>thị</a:t>
            </a:r>
            <a:r>
              <a:rPr lang="en-US" dirty="0"/>
              <a:t> </a:t>
            </a:r>
            <a:r>
              <a:rPr lang="en-US" dirty="0" err="1"/>
              <a:t>chúng</a:t>
            </a:r>
            <a:r>
              <a:rPr lang="en-US" dirty="0"/>
              <a:t> </a:t>
            </a:r>
            <a:r>
              <a:rPr lang="en-US" dirty="0" err="1"/>
              <a:t>trong</a:t>
            </a:r>
            <a:r>
              <a:rPr lang="en-US" dirty="0"/>
              <a:t> </a:t>
            </a:r>
            <a:r>
              <a:rPr lang="en-US" dirty="0" err="1"/>
              <a:t>trình</a:t>
            </a:r>
            <a:r>
              <a:rPr lang="en-US" dirty="0"/>
              <a:t> </a:t>
            </a:r>
            <a:r>
              <a:rPr lang="en-US" dirty="0" err="1"/>
              <a:t>duyệt</a:t>
            </a:r>
            <a:r>
              <a:rPr lang="en-US" dirty="0"/>
              <a:t> </a:t>
            </a:r>
            <a:r>
              <a:rPr lang="en-US" dirty="0" err="1"/>
              <a:t>bằng</a:t>
            </a:r>
            <a:r>
              <a:rPr lang="en-US" dirty="0"/>
              <a:t> </a:t>
            </a:r>
            <a:r>
              <a:rPr lang="en-US" dirty="0" err="1"/>
              <a:t>cách</a:t>
            </a:r>
            <a:r>
              <a:rPr lang="en-US" dirty="0"/>
              <a:t> </a:t>
            </a:r>
            <a:r>
              <a:rPr lang="en-US" dirty="0" err="1"/>
              <a:t>hiển</a:t>
            </a:r>
            <a:r>
              <a:rPr lang="en-US" dirty="0"/>
              <a:t> </a:t>
            </a:r>
            <a:r>
              <a:rPr lang="en-US" dirty="0" err="1"/>
              <a:t>thị</a:t>
            </a:r>
            <a:r>
              <a:rPr lang="en-US" dirty="0"/>
              <a:t> </a:t>
            </a:r>
            <a:r>
              <a:rPr lang="en-US" dirty="0" err="1"/>
              <a:t>chúng</a:t>
            </a:r>
            <a:r>
              <a:rPr lang="en-US" dirty="0"/>
              <a:t> </a:t>
            </a:r>
            <a:r>
              <a:rPr lang="en-US" dirty="0" err="1"/>
              <a:t>trong</a:t>
            </a:r>
            <a:r>
              <a:rPr lang="en-US" dirty="0"/>
              <a:t> </a:t>
            </a:r>
            <a:r>
              <a:rPr lang="en-US" dirty="0" err="1"/>
              <a:t>tệp</a:t>
            </a:r>
            <a:r>
              <a:rPr lang="en-US" dirty="0"/>
              <a:t> </a:t>
            </a:r>
            <a:r>
              <a:rPr lang="en-US" dirty="0" err="1"/>
              <a:t>chính</a:t>
            </a:r>
            <a:r>
              <a:rPr lang="en-US" dirty="0"/>
              <a:t> </a:t>
            </a:r>
            <a:r>
              <a:rPr lang="en-US" dirty="0" err="1"/>
              <a:t>của</a:t>
            </a:r>
            <a:r>
              <a:rPr lang="en-US" dirty="0"/>
              <a:t> </a:t>
            </a:r>
            <a:r>
              <a:rPr lang="en-US" dirty="0" err="1"/>
              <a:t>ứng</a:t>
            </a:r>
            <a:r>
              <a:rPr lang="en-US" dirty="0"/>
              <a:t> </a:t>
            </a:r>
            <a:r>
              <a:rPr lang="en-US" dirty="0" err="1"/>
              <a:t>dụng</a:t>
            </a:r>
            <a:r>
              <a:rPr lang="en-US" dirty="0"/>
              <a:t> </a:t>
            </a:r>
            <a:r>
              <a:rPr lang="en-US" dirty="0" err="1"/>
              <a:t>hoặc</a:t>
            </a:r>
            <a:r>
              <a:rPr lang="en-US" dirty="0"/>
              <a:t> </a:t>
            </a:r>
            <a:r>
              <a:rPr lang="en-US" dirty="0" err="1"/>
              <a:t>gốc</a:t>
            </a:r>
            <a:r>
              <a:rPr lang="en-US" dirty="0"/>
              <a:t>. </a:t>
            </a:r>
            <a:r>
              <a:rPr lang="en-US" dirty="0" err="1"/>
              <a:t>Tệp</a:t>
            </a:r>
            <a:r>
              <a:rPr lang="en-US" dirty="0"/>
              <a:t> </a:t>
            </a:r>
            <a:r>
              <a:rPr lang="en-US" dirty="0" err="1"/>
              <a:t>chính</a:t>
            </a:r>
            <a:r>
              <a:rPr lang="en-US" dirty="0"/>
              <a:t> </a:t>
            </a:r>
            <a:r>
              <a:rPr lang="en-US" dirty="0" err="1"/>
              <a:t>có</a:t>
            </a:r>
            <a:r>
              <a:rPr lang="en-US" dirty="0"/>
              <a:t> </a:t>
            </a:r>
            <a:r>
              <a:rPr lang="en-US" dirty="0" err="1"/>
              <a:t>thể</a:t>
            </a:r>
            <a:r>
              <a:rPr lang="en-US" dirty="0"/>
              <a:t> </a:t>
            </a:r>
            <a:r>
              <a:rPr lang="en-US" dirty="0" err="1"/>
              <a:t>là</a:t>
            </a:r>
            <a:r>
              <a:rPr lang="en-US" dirty="0"/>
              <a:t> </a:t>
            </a:r>
            <a:r>
              <a:rPr lang="en-US" dirty="0" err="1"/>
              <a:t>App.jsx</a:t>
            </a:r>
            <a:r>
              <a:rPr lang="en-US" dirty="0"/>
              <a:t> </a:t>
            </a:r>
            <a:r>
              <a:rPr lang="en-US" dirty="0" err="1"/>
              <a:t>hoặc</a:t>
            </a:r>
            <a:r>
              <a:rPr lang="en-US" dirty="0"/>
              <a:t> Index.js.</a:t>
            </a:r>
          </a:p>
        </p:txBody>
      </p:sp>
      <p:sp>
        <p:nvSpPr>
          <p:cNvPr id="4" name="Slide Number Placeholder 3"/>
          <p:cNvSpPr>
            <a:spLocks noGrp="1"/>
          </p:cNvSpPr>
          <p:nvPr>
            <p:ph type="sldNum" sz="quarter" idx="5"/>
          </p:nvPr>
        </p:nvSpPr>
        <p:spPr/>
        <p:txBody>
          <a:bodyPr/>
          <a:lstStyle/>
          <a:p>
            <a:fld id="{0A3C37BE-C303-496D-B5CD-85F2937540FC}" type="slidenum">
              <a:rPr lang="en-US" smtClean="0"/>
              <a:t>11</a:t>
            </a:fld>
            <a:endParaRPr lang="en-US"/>
          </a:p>
        </p:txBody>
      </p:sp>
    </p:spTree>
    <p:extLst>
      <p:ext uri="{BB962C8B-B14F-4D97-AF65-F5344CB8AC3E}">
        <p14:creationId xmlns:p14="http://schemas.microsoft.com/office/powerpoint/2010/main" val="2483965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Hook useQuery được định nghĩa với hai tham số quan trọng ở dạng đối tượng. Các tham số này là queryFn và queryKey.</a:t>
            </a:r>
          </a:p>
          <a:p>
            <a:r>
              <a:rPr lang="vi-VN" dirty="0"/>
              <a:t>queryFn xử lý việc truy xuất dữ liệu từ điểm cuối.</a:t>
            </a:r>
          </a:p>
          <a:p>
            <a:r>
              <a:rPr lang="vi-VN" dirty="0"/>
              <a:t>queryKey đóng vai trò là mã định danh duy nhất cho dữ liệu thu được.</a:t>
            </a:r>
            <a:endParaRPr lang="en-US" dirty="0"/>
          </a:p>
          <a:p>
            <a:r>
              <a:rPr lang="vi-VN" dirty="0"/>
              <a:t>Như đã đề cập trước đó, React Query đơn giản hóa và quản lý trạng thái tải và lỗi. Bạn không cần hook useState() riêng.</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15</a:t>
            </a:fld>
            <a:endParaRPr lang="en-US"/>
          </a:p>
        </p:txBody>
      </p:sp>
    </p:spTree>
    <p:extLst>
      <p:ext uri="{BB962C8B-B14F-4D97-AF65-F5344CB8AC3E}">
        <p14:creationId xmlns:p14="http://schemas.microsoft.com/office/powerpoint/2010/main" val="18707808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Axios là gói thư viện thứ ba mà chúng ta có thể thêm vào chương trình của mình để lấy thông tin từ API. Vì Axios được sử dụng trong cả trình duyệt web và JavaScript phía máy chủ nên nó hữu ích cho nhiều tác vụ.</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18</a:t>
            </a:fld>
            <a:endParaRPr lang="en-US"/>
          </a:p>
        </p:txBody>
      </p:sp>
    </p:spTree>
    <p:extLst>
      <p:ext uri="{BB962C8B-B14F-4D97-AF65-F5344CB8AC3E}">
        <p14:creationId xmlns:p14="http://schemas.microsoft.com/office/powerpoint/2010/main" val="1880487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19</a:t>
            </a:fld>
            <a:endParaRPr lang="en-US"/>
          </a:p>
        </p:txBody>
      </p:sp>
    </p:spTree>
    <p:extLst>
      <p:ext uri="{BB962C8B-B14F-4D97-AF65-F5344CB8AC3E}">
        <p14:creationId xmlns:p14="http://schemas.microsoft.com/office/powerpoint/2010/main" val="1092254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Một hook tùy chỉnh trong React là một hàm JavaScript. Nó có thể tái sử dụng và tận dụng các hook tích hợp của React. Mục đích là đóng gói và chia sẻ logic trên nhiều thành phần. Điều này thúc đẩy tính mô-đun và khả năng bảo trì của mã.</a:t>
            </a:r>
          </a:p>
          <a:p>
            <a:endParaRPr lang="vi-VN" dirty="0"/>
          </a:p>
          <a:p>
            <a:r>
              <a:rPr lang="vi-VN" dirty="0"/>
              <a:t>Một hook tùy chỉnh cho phép chúng ta tái sử dụng logic tìm nạp trong nhiều thành phần khác nhau của ứng dụng.</a:t>
            </a:r>
          </a:p>
          <a:p>
            <a:endParaRPr lang="vi-VN" dirty="0"/>
          </a:p>
          <a:p>
            <a:r>
              <a:rPr lang="vi-VN" dirty="0"/>
              <a:t>Trong React, các hook tùy chỉnh thường được đặt tên theo một quy ước, chẳng hạn như useFetch. Thông thường, bất kỳ hook tùy chỉnh nào cũng tuân theo một mẫu đặt tên bắt đầu bằng từ khóa use.</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22</a:t>
            </a:fld>
            <a:endParaRPr lang="en-US"/>
          </a:p>
        </p:txBody>
      </p:sp>
    </p:spTree>
    <p:extLst>
      <p:ext uri="{BB962C8B-B14F-4D97-AF65-F5344CB8AC3E}">
        <p14:creationId xmlns:p14="http://schemas.microsoft.com/office/powerpoint/2010/main" val="409613507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22/Dec/2024</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22/Dec/2024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22/Dec/2024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22/Dec/2024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22/Dec/2024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22/Dec/2024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22/Dec/2024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22/Dec/2024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22/Dec/2024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22/Dec/2024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22/Dec/2024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38A3-49C8-3939-5514-DFD2197B09C6}"/>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321ED9C-3F93-0473-3127-832B687404A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5189B-B69D-2360-30B6-5EAF8AC927B2}"/>
              </a:ext>
            </a:extLst>
          </p:cNvPr>
          <p:cNvSpPr>
            <a:spLocks noGrp="1"/>
          </p:cNvSpPr>
          <p:nvPr>
            <p:ph type="dt" sz="half" idx="10"/>
          </p:nvPr>
        </p:nvSpPr>
        <p:spPr/>
        <p:txBody>
          <a:bodyPr/>
          <a:lstStyle/>
          <a:p>
            <a:fld id="{E1A63BDD-BD48-499A-A2D9-DFA08F8444CC}" type="datetimeFigureOut">
              <a:rPr lang="en-US" smtClean="0"/>
              <a:t>22/Dec/2024</a:t>
            </a:fld>
            <a:endParaRPr lang="en-US"/>
          </a:p>
        </p:txBody>
      </p:sp>
      <p:sp>
        <p:nvSpPr>
          <p:cNvPr id="5" name="Footer Placeholder 4">
            <a:extLst>
              <a:ext uri="{FF2B5EF4-FFF2-40B4-BE49-F238E27FC236}">
                <a16:creationId xmlns:a16="http://schemas.microsoft.com/office/drawing/2014/main" id="{B407A681-DF48-FF54-3802-2680C559B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E3943-6181-007B-EE2D-020A388CAD8C}"/>
              </a:ext>
            </a:extLst>
          </p:cNvPr>
          <p:cNvSpPr>
            <a:spLocks noGrp="1"/>
          </p:cNvSpPr>
          <p:nvPr>
            <p:ph type="sldNum" sz="quarter" idx="12"/>
          </p:nvPr>
        </p:nvSpPr>
        <p:spPr/>
        <p:txBody>
          <a:bodyPr/>
          <a:lstStyle/>
          <a:p>
            <a:fld id="{C6629478-052B-42EB-8DB9-04044E8495EC}" type="slidenum">
              <a:rPr lang="en-US" smtClean="0"/>
              <a:t>‹#›</a:t>
            </a:fld>
            <a:endParaRPr lang="en-US"/>
          </a:p>
        </p:txBody>
      </p:sp>
    </p:spTree>
    <p:extLst>
      <p:ext uri="{BB962C8B-B14F-4D97-AF65-F5344CB8AC3E}">
        <p14:creationId xmlns:p14="http://schemas.microsoft.com/office/powerpoint/2010/main" val="266372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22/Dec/2024</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8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6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tmp"/></Relationships>
</file>

<file path=ppt/slides/_rels/slide2.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104900" y="4511784"/>
            <a:ext cx="5734050" cy="955565"/>
          </a:xfrm>
        </p:spPr>
        <p:txBody>
          <a:bodyPr/>
          <a:lstStyle/>
          <a:p>
            <a:r>
              <a:rPr lang="en-US" dirty="0" err="1"/>
              <a:t>Giảng</a:t>
            </a:r>
            <a:r>
              <a:rPr lang="en-US" dirty="0"/>
              <a:t> </a:t>
            </a:r>
            <a:r>
              <a:rPr lang="en-US" dirty="0" err="1"/>
              <a:t>viên</a:t>
            </a:r>
            <a:r>
              <a:rPr lang="en-US" dirty="0"/>
              <a:t>: </a:t>
            </a:r>
            <a:r>
              <a:rPr lang="en-US" dirty="0" err="1"/>
              <a:t>Từ</a:t>
            </a:r>
            <a:r>
              <a:rPr lang="en-US" dirty="0"/>
              <a:t> </a:t>
            </a:r>
            <a:r>
              <a:rPr lang="en-US" dirty="0" err="1"/>
              <a:t>Thị</a:t>
            </a:r>
            <a:r>
              <a:rPr lang="en-US" dirty="0"/>
              <a:t> Xuân </a:t>
            </a:r>
            <a:r>
              <a:rPr lang="en-US" dirty="0" err="1"/>
              <a:t>Hiền</a:t>
            </a:r>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p:blipFill>
        <p:spPr>
          <a:xfrm>
            <a:off x="6981063" y="1310656"/>
            <a:ext cx="5210937" cy="4208604"/>
          </a:xfrm>
        </p:spPr>
      </p:pic>
      <p:grpSp>
        <p:nvGrpSpPr>
          <p:cNvPr id="15" name="Group 14">
            <a:extLst>
              <a:ext uri="{FF2B5EF4-FFF2-40B4-BE49-F238E27FC236}">
                <a16:creationId xmlns:a16="http://schemas.microsoft.com/office/drawing/2014/main" id="{4D51ED84-5E96-E622-252E-09B155E63681}"/>
              </a:ext>
            </a:extLst>
          </p:cNvPr>
          <p:cNvGrpSpPr/>
          <p:nvPr/>
        </p:nvGrpSpPr>
        <p:grpSpPr>
          <a:xfrm>
            <a:off x="1354906" y="2927692"/>
            <a:ext cx="10313929" cy="923330"/>
            <a:chOff x="1026756" y="2709329"/>
            <a:chExt cx="5229981" cy="923330"/>
          </a:xfrm>
          <a:effectLst>
            <a:reflection blurRad="6350" stA="52000" endA="300" endPos="35000" dir="5400000" sy="-100000" algn="bl" rotWithShape="0"/>
          </a:effectLst>
        </p:grpSpPr>
        <p:pic>
          <p:nvPicPr>
            <p:cNvPr id="13" name="Picture 12">
              <a:extLst>
                <a:ext uri="{FF2B5EF4-FFF2-40B4-BE49-F238E27FC236}">
                  <a16:creationId xmlns:a16="http://schemas.microsoft.com/office/drawing/2014/main" id="{52914BAE-8E30-A092-0C7D-8302CE2CB145}"/>
                </a:ext>
              </a:extLst>
            </p:cNvPr>
            <p:cNvPicPr>
              <a:picLocks noChangeAspect="1"/>
            </p:cNvPicPr>
            <p:nvPr/>
          </p:nvPicPr>
          <p:blipFill>
            <a:blip r:embed="rId4">
              <a:extLst>
                <a:ext uri="{28A0092B-C50C-407E-A947-70E740481C1C}">
                  <a14:useLocalDpi xmlns:a14="http://schemas.microsoft.com/office/drawing/2010/main" val="0"/>
                </a:ext>
              </a:extLst>
            </a:blip>
            <a:srcRect l="21349" r="19027" b="24624"/>
            <a:stretch/>
          </p:blipFill>
          <p:spPr>
            <a:xfrm>
              <a:off x="1026756" y="2712616"/>
              <a:ext cx="530964" cy="920043"/>
            </a:xfrm>
            <a:prstGeom prst="rect">
              <a:avLst/>
            </a:prstGeom>
          </p:spPr>
        </p:pic>
        <p:sp>
          <p:nvSpPr>
            <p:cNvPr id="14" name="Rectangle 13">
              <a:extLst>
                <a:ext uri="{FF2B5EF4-FFF2-40B4-BE49-F238E27FC236}">
                  <a16:creationId xmlns:a16="http://schemas.microsoft.com/office/drawing/2014/main" id="{D4251CA6-DC4D-3BE8-EB98-667D80B71479}"/>
                </a:ext>
              </a:extLst>
            </p:cNvPr>
            <p:cNvSpPr/>
            <p:nvPr/>
          </p:nvSpPr>
          <p:spPr>
            <a:xfrm>
              <a:off x="1557720" y="2709329"/>
              <a:ext cx="4699017" cy="923330"/>
            </a:xfrm>
            <a:prstGeom prst="rect">
              <a:avLst/>
            </a:prstGeom>
            <a:solidFill>
              <a:schemeClr val="tx2"/>
            </a:solidFill>
          </p:spPr>
          <p:txBody>
            <a:bodyPr wrap="square" lIns="91440" tIns="45720" rIns="91440" bIns="45720">
              <a:spAutoFit/>
            </a:bodyPr>
            <a:lstStyle/>
            <a:p>
              <a:pPr algn="ctr"/>
              <a:r>
                <a:rPr lang="en-US" sz="54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Arial Black" panose="020B0A04020102020204" pitchFamily="34" charset="0"/>
                </a:rPr>
                <a:t>Working with API Data</a:t>
              </a:r>
            </a:p>
          </p:txBody>
        </p:sp>
      </p:grpSp>
    </p:spTree>
    <p:extLst>
      <p:ext uri="{BB962C8B-B14F-4D97-AF65-F5344CB8AC3E}">
        <p14:creationId xmlns:p14="http://schemas.microsoft.com/office/powerpoint/2010/main" val="1652133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6DDCB-3474-4DFA-F9CA-9F150CEE47AC}"/>
              </a:ext>
            </a:extLst>
          </p:cNvPr>
          <p:cNvSpPr>
            <a:spLocks noGrp="1"/>
          </p:cNvSpPr>
          <p:nvPr>
            <p:ph type="title"/>
          </p:nvPr>
        </p:nvSpPr>
        <p:spPr/>
        <p:txBody>
          <a:bodyPr/>
          <a:lstStyle/>
          <a:p>
            <a:r>
              <a:rPr lang="en-US" dirty="0"/>
              <a:t>Working with API</a:t>
            </a:r>
          </a:p>
        </p:txBody>
      </p:sp>
      <p:pic>
        <p:nvPicPr>
          <p:cNvPr id="6" name="Picture 5">
            <a:extLst>
              <a:ext uri="{FF2B5EF4-FFF2-40B4-BE49-F238E27FC236}">
                <a16:creationId xmlns:a16="http://schemas.microsoft.com/office/drawing/2014/main" id="{38D77277-04A0-7D8F-CB07-AD8AAEF2A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8875" y="1290735"/>
            <a:ext cx="7694249" cy="42765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13780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697E8-73C1-DCC1-AC10-A54C9C563811}"/>
              </a:ext>
            </a:extLst>
          </p:cNvPr>
          <p:cNvSpPr>
            <a:spLocks noGrp="1"/>
          </p:cNvSpPr>
          <p:nvPr>
            <p:ph type="title"/>
          </p:nvPr>
        </p:nvSpPr>
        <p:spPr/>
        <p:txBody>
          <a:bodyPr/>
          <a:lstStyle/>
          <a:p>
            <a:r>
              <a:rPr lang="en-US" dirty="0"/>
              <a:t>Working with API</a:t>
            </a:r>
          </a:p>
        </p:txBody>
      </p:sp>
      <p:sp>
        <p:nvSpPr>
          <p:cNvPr id="3" name="Text Placeholder 2">
            <a:extLst>
              <a:ext uri="{FF2B5EF4-FFF2-40B4-BE49-F238E27FC236}">
                <a16:creationId xmlns:a16="http://schemas.microsoft.com/office/drawing/2014/main" id="{CA7474F1-366E-7446-3C8A-D10088E617A7}"/>
              </a:ext>
            </a:extLst>
          </p:cNvPr>
          <p:cNvSpPr>
            <a:spLocks noGrp="1"/>
          </p:cNvSpPr>
          <p:nvPr>
            <p:ph type="body" idx="1"/>
          </p:nvPr>
        </p:nvSpPr>
        <p:spPr/>
        <p:txBody>
          <a:bodyPr/>
          <a:lstStyle/>
          <a:p>
            <a:r>
              <a:rPr lang="en-US" b="1" dirty="0">
                <a:solidFill>
                  <a:srgbClr val="FF0000"/>
                </a:solidFill>
              </a:rPr>
              <a:t>What is an API?</a:t>
            </a:r>
          </a:p>
          <a:p>
            <a:pPr lvl="1"/>
            <a:r>
              <a:rPr lang="en-US" dirty="0"/>
              <a:t>API stands for </a:t>
            </a:r>
            <a:r>
              <a:rPr lang="en-US" b="1" dirty="0"/>
              <a:t>A</a:t>
            </a:r>
            <a:r>
              <a:rPr lang="en-US" dirty="0"/>
              <a:t>pplication </a:t>
            </a:r>
            <a:r>
              <a:rPr lang="en-US" b="1" dirty="0"/>
              <a:t>P</a:t>
            </a:r>
            <a:r>
              <a:rPr lang="en-US" dirty="0"/>
              <a:t>rogramming </a:t>
            </a:r>
            <a:r>
              <a:rPr lang="en-US" b="1" dirty="0"/>
              <a:t>I</a:t>
            </a:r>
            <a:r>
              <a:rPr lang="en-US" dirty="0"/>
              <a:t>nterface. It enables the exchange of information and functionality between different systems, such as between a website and a server or between different software applications.</a:t>
            </a:r>
          </a:p>
          <a:p>
            <a:pPr lvl="1"/>
            <a:r>
              <a:rPr lang="en-US" b="0" i="0" dirty="0">
                <a:solidFill>
                  <a:srgbClr val="0A0A23"/>
                </a:solidFill>
                <a:effectLst/>
                <a:latin typeface="Lato" panose="020F0502020204030203" pitchFamily="34" charset="0"/>
              </a:rPr>
              <a:t>An API functions as a waiter for software applications. It is a set of rules that lets one program ask another for something it needs. It serves as a bridge for software apps to communicate and interact</a:t>
            </a:r>
            <a:endParaRPr lang="en-US" dirty="0"/>
          </a:p>
        </p:txBody>
      </p:sp>
    </p:spTree>
    <p:extLst>
      <p:ext uri="{BB962C8B-B14F-4D97-AF65-F5344CB8AC3E}">
        <p14:creationId xmlns:p14="http://schemas.microsoft.com/office/powerpoint/2010/main" val="3707533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1C1EA-DA1A-AC72-CACC-DA76F316D2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E55CC0-7A8C-3189-D3E7-807323225F4A}"/>
              </a:ext>
            </a:extLst>
          </p:cNvPr>
          <p:cNvSpPr>
            <a:spLocks noGrp="1"/>
          </p:cNvSpPr>
          <p:nvPr>
            <p:ph type="title"/>
          </p:nvPr>
        </p:nvSpPr>
        <p:spPr/>
        <p:txBody>
          <a:bodyPr/>
          <a:lstStyle/>
          <a:p>
            <a:r>
              <a:rPr lang="en-US" dirty="0"/>
              <a:t>Working with API</a:t>
            </a:r>
          </a:p>
        </p:txBody>
      </p:sp>
      <p:sp>
        <p:nvSpPr>
          <p:cNvPr id="3" name="Text Placeholder 2">
            <a:extLst>
              <a:ext uri="{FF2B5EF4-FFF2-40B4-BE49-F238E27FC236}">
                <a16:creationId xmlns:a16="http://schemas.microsoft.com/office/drawing/2014/main" id="{A60388C3-CEFD-1581-0DD5-8C17236FBCB5}"/>
              </a:ext>
            </a:extLst>
          </p:cNvPr>
          <p:cNvSpPr>
            <a:spLocks noGrp="1"/>
          </p:cNvSpPr>
          <p:nvPr>
            <p:ph type="body" idx="1"/>
          </p:nvPr>
        </p:nvSpPr>
        <p:spPr>
          <a:xfrm>
            <a:off x="1104900" y="1600200"/>
            <a:ext cx="10248900" cy="4800600"/>
          </a:xfrm>
        </p:spPr>
        <p:txBody>
          <a:bodyPr/>
          <a:lstStyle/>
          <a:p>
            <a:r>
              <a:rPr lang="en-US" b="1" dirty="0">
                <a:solidFill>
                  <a:srgbClr val="FF0000"/>
                </a:solidFill>
              </a:rPr>
              <a:t>The Role of APIs in Web Development</a:t>
            </a:r>
          </a:p>
          <a:p>
            <a:pPr lvl="1"/>
            <a:r>
              <a:rPr lang="en-US" dirty="0"/>
              <a:t>Web applications need APIs to get data from various sources, like databases or websites.</a:t>
            </a:r>
          </a:p>
          <a:p>
            <a:pPr lvl="1"/>
            <a:r>
              <a:rPr lang="en-US" dirty="0"/>
              <a:t>APIs are a scalable option for managing high data or request volumes.</a:t>
            </a:r>
          </a:p>
          <a:p>
            <a:pPr lvl="1"/>
            <a:r>
              <a:rPr lang="en-US" dirty="0"/>
              <a:t>Developers use APIs to leverage existing features and services. This saves them from reinventing the wheel.</a:t>
            </a:r>
          </a:p>
          <a:p>
            <a:pPr lvl="1"/>
            <a:r>
              <a:rPr lang="en-US" dirty="0"/>
              <a:t>They keep things safe by ensuring that only authorized individuals or programs can use them.</a:t>
            </a:r>
          </a:p>
          <a:p>
            <a:pPr lvl="1"/>
            <a:r>
              <a:rPr lang="en-US" dirty="0"/>
              <a:t>An API makes a website or mobile app more enjoyable to use by integrating data.</a:t>
            </a:r>
          </a:p>
          <a:p>
            <a:pPr lvl="1"/>
            <a:endParaRPr lang="en-US" dirty="0"/>
          </a:p>
        </p:txBody>
      </p:sp>
    </p:spTree>
    <p:extLst>
      <p:ext uri="{BB962C8B-B14F-4D97-AF65-F5344CB8AC3E}">
        <p14:creationId xmlns:p14="http://schemas.microsoft.com/office/powerpoint/2010/main" val="11025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21B4B-9CCF-E686-DA8F-1B914A4E062E}"/>
              </a:ext>
            </a:extLst>
          </p:cNvPr>
          <p:cNvSpPr>
            <a:spLocks noGrp="1"/>
          </p:cNvSpPr>
          <p:nvPr>
            <p:ph type="title"/>
          </p:nvPr>
        </p:nvSpPr>
        <p:spPr/>
        <p:txBody>
          <a:bodyPr/>
          <a:lstStyle/>
          <a:p>
            <a:r>
              <a:rPr lang="en-US" dirty="0"/>
              <a:t>Working with API</a:t>
            </a:r>
          </a:p>
        </p:txBody>
      </p:sp>
      <p:sp>
        <p:nvSpPr>
          <p:cNvPr id="3" name="Text Placeholder 2">
            <a:extLst>
              <a:ext uri="{FF2B5EF4-FFF2-40B4-BE49-F238E27FC236}">
                <a16:creationId xmlns:a16="http://schemas.microsoft.com/office/drawing/2014/main" id="{F58C90EF-4F1A-106C-5A53-B4BF772D0348}"/>
              </a:ext>
            </a:extLst>
          </p:cNvPr>
          <p:cNvSpPr>
            <a:spLocks noGrp="1"/>
          </p:cNvSpPr>
          <p:nvPr>
            <p:ph type="body" idx="1"/>
          </p:nvPr>
        </p:nvSpPr>
        <p:spPr/>
        <p:txBody>
          <a:bodyPr>
            <a:normAutofit/>
          </a:bodyPr>
          <a:lstStyle/>
          <a:p>
            <a:r>
              <a:rPr lang="en-US" b="1" dirty="0">
                <a:solidFill>
                  <a:srgbClr val="FF0000"/>
                </a:solidFill>
              </a:rPr>
              <a:t>Hypertext Transfer Protocol (HTTP) request</a:t>
            </a:r>
          </a:p>
          <a:p>
            <a:pPr lvl="1"/>
            <a:r>
              <a:rPr lang="en-US" dirty="0"/>
              <a:t>When a web browser or a mobile app sends a message to a server, it's known as an HTTP request. A HTTP request involves asking the server for specific data or an action and getting a response. The </a:t>
            </a:r>
            <a:r>
              <a:rPr lang="en-US" i="1" dirty="0"/>
              <a:t>server responds by interacting with web pages and services</a:t>
            </a:r>
            <a:r>
              <a:rPr lang="en-US" dirty="0"/>
              <a:t>.</a:t>
            </a:r>
          </a:p>
          <a:p>
            <a:pPr lvl="1"/>
            <a:r>
              <a:rPr lang="en-US" b="1" i="1" dirty="0"/>
              <a:t>Using APIs </a:t>
            </a:r>
            <a:r>
              <a:rPr lang="en-US" i="1" dirty="0"/>
              <a:t>in software developmen</a:t>
            </a:r>
            <a:r>
              <a:rPr lang="en-US" dirty="0"/>
              <a:t>t makes things more flexible and efficient. It also enhances security and enables different software systems to work well together.</a:t>
            </a:r>
          </a:p>
        </p:txBody>
      </p:sp>
    </p:spTree>
    <p:extLst>
      <p:ext uri="{BB962C8B-B14F-4D97-AF65-F5344CB8AC3E}">
        <p14:creationId xmlns:p14="http://schemas.microsoft.com/office/powerpoint/2010/main" val="85381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5516A1-D133-7413-628E-C74FCF415D5A}"/>
              </a:ext>
            </a:extLst>
          </p:cNvPr>
          <p:cNvSpPr>
            <a:spLocks noGrp="1"/>
          </p:cNvSpPr>
          <p:nvPr>
            <p:ph type="title"/>
          </p:nvPr>
        </p:nvSpPr>
        <p:spPr/>
        <p:txBody>
          <a:bodyPr/>
          <a:lstStyle/>
          <a:p>
            <a:r>
              <a:rPr lang="en-US" dirty="0"/>
              <a:t>Working with API</a:t>
            </a:r>
          </a:p>
        </p:txBody>
      </p:sp>
      <p:sp>
        <p:nvSpPr>
          <p:cNvPr id="3" name="Text Placeholder 2">
            <a:extLst>
              <a:ext uri="{FF2B5EF4-FFF2-40B4-BE49-F238E27FC236}">
                <a16:creationId xmlns:a16="http://schemas.microsoft.com/office/drawing/2014/main" id="{C308C436-EB96-1BFD-F29A-6397E0721A2A}"/>
              </a:ext>
            </a:extLst>
          </p:cNvPr>
          <p:cNvSpPr>
            <a:spLocks noGrp="1"/>
          </p:cNvSpPr>
          <p:nvPr>
            <p:ph type="body" idx="1"/>
          </p:nvPr>
        </p:nvSpPr>
        <p:spPr>
          <a:xfrm>
            <a:off x="1104900" y="1600200"/>
            <a:ext cx="9982200" cy="5181600"/>
          </a:xfrm>
        </p:spPr>
        <p:txBody>
          <a:bodyPr>
            <a:normAutofit/>
          </a:bodyPr>
          <a:lstStyle/>
          <a:p>
            <a:r>
              <a:rPr lang="en-US" b="1" dirty="0">
                <a:solidFill>
                  <a:srgbClr val="FF0000"/>
                </a:solidFill>
              </a:rPr>
              <a:t>Types of HTTP Requests</a:t>
            </a:r>
          </a:p>
          <a:p>
            <a:pPr lvl="1"/>
            <a:r>
              <a:rPr lang="en-US" dirty="0"/>
              <a:t>We use various HTTP request methods, such as get, post, put, and delete, to get and store data in our database. But the most common requests made are the get and post requests.</a:t>
            </a:r>
          </a:p>
          <a:p>
            <a:pPr lvl="1"/>
            <a:r>
              <a:rPr lang="en-US" dirty="0"/>
              <a:t>Let's discuss the meaning of these </a:t>
            </a:r>
            <a:r>
              <a:rPr lang="en-US" b="1" dirty="0"/>
              <a:t>HTTP request </a:t>
            </a:r>
            <a:r>
              <a:rPr lang="en-US" dirty="0"/>
              <a:t>methods:</a:t>
            </a:r>
          </a:p>
          <a:p>
            <a:pPr lvl="2"/>
            <a:r>
              <a:rPr lang="en-US" sz="2400" b="1" dirty="0"/>
              <a:t>GET</a:t>
            </a:r>
            <a:r>
              <a:rPr lang="en-US" sz="2400" dirty="0"/>
              <a:t>: This method retrieves data from a specific endpoint. Think of it as asking for information.</a:t>
            </a:r>
          </a:p>
          <a:p>
            <a:pPr lvl="2"/>
            <a:r>
              <a:rPr lang="en-US" sz="2400" b="1" dirty="0"/>
              <a:t>POST</a:t>
            </a:r>
            <a:r>
              <a:rPr lang="en-US" sz="2400" dirty="0"/>
              <a:t>: This method sends data to a specific endpoint. For example, you can send a message or submit a form. The information will be added to the database.</a:t>
            </a:r>
          </a:p>
        </p:txBody>
      </p:sp>
    </p:spTree>
    <p:extLst>
      <p:ext uri="{BB962C8B-B14F-4D97-AF65-F5344CB8AC3E}">
        <p14:creationId xmlns:p14="http://schemas.microsoft.com/office/powerpoint/2010/main" val="6165423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EFD8A-5801-6C13-A5CE-BC30D5EACF60}"/>
              </a:ext>
            </a:extLst>
          </p:cNvPr>
          <p:cNvSpPr>
            <a:spLocks noGrp="1"/>
          </p:cNvSpPr>
          <p:nvPr>
            <p:ph type="title"/>
          </p:nvPr>
        </p:nvSpPr>
        <p:spPr/>
        <p:txBody>
          <a:bodyPr/>
          <a:lstStyle/>
          <a:p>
            <a:r>
              <a:rPr lang="en-US" b="1" i="0" dirty="0">
                <a:effectLst/>
              </a:rPr>
              <a:t>Fetch Data in React</a:t>
            </a:r>
            <a:endParaRPr lang="en-US" dirty="0"/>
          </a:p>
        </p:txBody>
      </p:sp>
      <p:sp>
        <p:nvSpPr>
          <p:cNvPr id="3" name="Text Placeholder 2">
            <a:extLst>
              <a:ext uri="{FF2B5EF4-FFF2-40B4-BE49-F238E27FC236}">
                <a16:creationId xmlns:a16="http://schemas.microsoft.com/office/drawing/2014/main" id="{184D7ED9-82D6-3448-AA0C-8C557091DA02}"/>
              </a:ext>
            </a:extLst>
          </p:cNvPr>
          <p:cNvSpPr>
            <a:spLocks noGrp="1"/>
          </p:cNvSpPr>
          <p:nvPr>
            <p:ph type="body" idx="1"/>
          </p:nvPr>
        </p:nvSpPr>
        <p:spPr/>
        <p:txBody>
          <a:bodyPr/>
          <a:lstStyle/>
          <a:p>
            <a:r>
              <a:rPr lang="en-US" b="1" dirty="0">
                <a:solidFill>
                  <a:srgbClr val="FF0000"/>
                </a:solidFill>
              </a:rPr>
              <a:t>Different ways to Fetch data from API in React</a:t>
            </a:r>
          </a:p>
          <a:p>
            <a:pPr lvl="1"/>
            <a:r>
              <a:rPr lang="en-US" b="1" dirty="0"/>
              <a:t>Using JavaScript Fetch</a:t>
            </a:r>
            <a:r>
              <a:rPr lang="en-US" dirty="0"/>
              <a:t>: To fetch data in react we can use JavaScript built in fetch method it allows to send </a:t>
            </a:r>
            <a:r>
              <a:rPr lang="en-US" b="1" dirty="0"/>
              <a:t>http request </a:t>
            </a:r>
            <a:r>
              <a:rPr lang="en-US" dirty="0"/>
              <a:t>to the </a:t>
            </a:r>
            <a:r>
              <a:rPr lang="en-US" sz="2800" dirty="0"/>
              <a:t>API</a:t>
            </a:r>
            <a:r>
              <a:rPr lang="en-US" dirty="0"/>
              <a:t> and get the data in form of promise.</a:t>
            </a:r>
          </a:p>
          <a:p>
            <a:pPr lvl="1"/>
            <a:r>
              <a:rPr lang="en-US" b="1" dirty="0"/>
              <a:t>Using Axios</a:t>
            </a:r>
            <a:r>
              <a:rPr lang="en-US" dirty="0"/>
              <a:t>: It is a promise based </a:t>
            </a:r>
            <a:r>
              <a:rPr lang="en-US" b="1" dirty="0" err="1"/>
              <a:t>javascript</a:t>
            </a:r>
            <a:r>
              <a:rPr lang="en-US" b="1" dirty="0"/>
              <a:t> library </a:t>
            </a:r>
            <a:r>
              <a:rPr lang="en-US" dirty="0"/>
              <a:t>used to make different </a:t>
            </a:r>
            <a:r>
              <a:rPr lang="en-US" b="1" dirty="0"/>
              <a:t>http requests </a:t>
            </a:r>
            <a:r>
              <a:rPr lang="en-US" dirty="0"/>
              <a:t>with simple chaining syntax. It make the data fetching and response process easy and efficient.</a:t>
            </a:r>
          </a:p>
        </p:txBody>
      </p:sp>
    </p:spTree>
    <p:extLst>
      <p:ext uri="{BB962C8B-B14F-4D97-AF65-F5344CB8AC3E}">
        <p14:creationId xmlns:p14="http://schemas.microsoft.com/office/powerpoint/2010/main" val="2234521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2C5A1-72B8-B4D2-6DDE-953737F7C4C3}"/>
              </a:ext>
            </a:extLst>
          </p:cNvPr>
          <p:cNvSpPr>
            <a:spLocks noGrp="1"/>
          </p:cNvSpPr>
          <p:nvPr>
            <p:ph type="title"/>
          </p:nvPr>
        </p:nvSpPr>
        <p:spPr/>
        <p:txBody>
          <a:bodyPr/>
          <a:lstStyle/>
          <a:p>
            <a:r>
              <a:rPr lang="en-US" b="1" i="0" dirty="0">
                <a:effectLst/>
              </a:rPr>
              <a:t>Fetch Data in React</a:t>
            </a:r>
            <a:endParaRPr lang="en-US" dirty="0"/>
          </a:p>
        </p:txBody>
      </p:sp>
      <p:sp>
        <p:nvSpPr>
          <p:cNvPr id="3" name="Text Placeholder 2">
            <a:extLst>
              <a:ext uri="{FF2B5EF4-FFF2-40B4-BE49-F238E27FC236}">
                <a16:creationId xmlns:a16="http://schemas.microsoft.com/office/drawing/2014/main" id="{55AF8A4B-1CFF-DFFF-DBDE-F2C05C7C7689}"/>
              </a:ext>
            </a:extLst>
          </p:cNvPr>
          <p:cNvSpPr>
            <a:spLocks noGrp="1"/>
          </p:cNvSpPr>
          <p:nvPr>
            <p:ph type="body" idx="1"/>
          </p:nvPr>
        </p:nvSpPr>
        <p:spPr/>
        <p:txBody>
          <a:bodyPr/>
          <a:lstStyle/>
          <a:p>
            <a:r>
              <a:rPr lang="en-US" b="1" dirty="0">
                <a:solidFill>
                  <a:srgbClr val="FF0000"/>
                </a:solidFill>
              </a:rPr>
              <a:t>Steps to create the React Application</a:t>
            </a:r>
            <a:r>
              <a:rPr lang="en-US" b="1" dirty="0"/>
              <a:t>: </a:t>
            </a:r>
          </a:p>
          <a:p>
            <a:pPr lvl="1"/>
            <a:r>
              <a:rPr lang="en-US" b="1" dirty="0"/>
              <a:t>Step1: Create React Project</a:t>
            </a:r>
          </a:p>
          <a:p>
            <a:pPr lvl="1"/>
            <a:endParaRPr lang="en-US" b="1" dirty="0"/>
          </a:p>
          <a:p>
            <a:pPr lvl="1"/>
            <a:endParaRPr lang="en-US" b="1" dirty="0"/>
          </a:p>
          <a:p>
            <a:pPr lvl="1"/>
            <a:r>
              <a:rPr lang="en-US" b="1" dirty="0"/>
              <a:t>Step2:  Change your directory</a:t>
            </a:r>
          </a:p>
          <a:p>
            <a:pPr lvl="1"/>
            <a:endParaRPr lang="en-US" b="1" dirty="0"/>
          </a:p>
          <a:p>
            <a:pPr lvl="1"/>
            <a:endParaRPr lang="en-US" b="1" dirty="0"/>
          </a:p>
          <a:p>
            <a:pPr lvl="1"/>
            <a:r>
              <a:rPr lang="en-US" b="1" dirty="0"/>
              <a:t>Step3: </a:t>
            </a:r>
            <a:r>
              <a:rPr lang="en-US" dirty="0"/>
              <a:t>Write code in </a:t>
            </a:r>
            <a:r>
              <a:rPr lang="en-US" b="1" dirty="0"/>
              <a:t>App.js </a:t>
            </a:r>
            <a:r>
              <a:rPr lang="en-US" dirty="0"/>
              <a:t>to fetch data from API and we are using the fetch function</a:t>
            </a:r>
          </a:p>
          <a:p>
            <a:endParaRPr lang="en-US" dirty="0"/>
          </a:p>
          <a:p>
            <a:endParaRPr lang="en-US" dirty="0"/>
          </a:p>
          <a:p>
            <a:endParaRPr lang="en-US" dirty="0"/>
          </a:p>
        </p:txBody>
      </p:sp>
      <p:sp>
        <p:nvSpPr>
          <p:cNvPr id="6" name="TextBox 5">
            <a:extLst>
              <a:ext uri="{FF2B5EF4-FFF2-40B4-BE49-F238E27FC236}">
                <a16:creationId xmlns:a16="http://schemas.microsoft.com/office/drawing/2014/main" id="{BB5F1007-C31B-799E-7EDF-B1AF2A311A4F}"/>
              </a:ext>
            </a:extLst>
          </p:cNvPr>
          <p:cNvSpPr txBox="1"/>
          <p:nvPr/>
        </p:nvSpPr>
        <p:spPr>
          <a:xfrm>
            <a:off x="1913766" y="2748290"/>
            <a:ext cx="8362950" cy="523220"/>
          </a:xfrm>
          <a:prstGeom prst="rect">
            <a:avLst/>
          </a:prstGeom>
          <a:noFill/>
          <a:ln>
            <a:solidFill>
              <a:schemeClr val="accent1"/>
            </a:solidFill>
          </a:ln>
        </p:spPr>
        <p:txBody>
          <a:bodyPr wrap="square">
            <a:spAutoFit/>
          </a:bodyPr>
          <a:lstStyle/>
          <a:p>
            <a:pPr algn="ctr"/>
            <a:r>
              <a:rPr lang="en-US" sz="2800" dirty="0" err="1"/>
              <a:t>npx</a:t>
            </a:r>
            <a:r>
              <a:rPr lang="en-US" sz="2800" dirty="0"/>
              <a:t> create-react-app ./ or </a:t>
            </a:r>
            <a:r>
              <a:rPr lang="en-US" sz="2800" dirty="0" err="1"/>
              <a:t>npx</a:t>
            </a:r>
            <a:r>
              <a:rPr lang="en-US" sz="2800" dirty="0"/>
              <a:t> </a:t>
            </a:r>
            <a:r>
              <a:rPr lang="en-US" sz="2800" b="1" dirty="0" err="1"/>
              <a:t>create-vite@latest</a:t>
            </a:r>
            <a:r>
              <a:rPr lang="en-US" sz="2800" b="1" dirty="0"/>
              <a:t> </a:t>
            </a:r>
            <a:r>
              <a:rPr lang="en-US" sz="2800" dirty="0"/>
              <a:t>./</a:t>
            </a:r>
          </a:p>
        </p:txBody>
      </p:sp>
      <p:sp>
        <p:nvSpPr>
          <p:cNvPr id="4" name="Rectangle 1">
            <a:extLst>
              <a:ext uri="{FF2B5EF4-FFF2-40B4-BE49-F238E27FC236}">
                <a16:creationId xmlns:a16="http://schemas.microsoft.com/office/drawing/2014/main" id="{DB8580AB-FC17-1175-162D-D4C1BD874984}"/>
              </a:ext>
            </a:extLst>
          </p:cNvPr>
          <p:cNvSpPr>
            <a:spLocks noChangeArrowheads="1"/>
          </p:cNvSpPr>
          <p:nvPr/>
        </p:nvSpPr>
        <p:spPr bwMode="auto">
          <a:xfrm>
            <a:off x="1913766" y="4201227"/>
            <a:ext cx="5391150" cy="520627"/>
          </a:xfrm>
          <a:prstGeom prst="rect">
            <a:avLst/>
          </a:prstGeom>
          <a:noFill/>
          <a:ln>
            <a:solidFill>
              <a:schemeClr val="accent1"/>
            </a:solidFill>
          </a:ln>
          <a:effec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chemeClr val="tx1"/>
                </a:solidFill>
                <a:effectLst/>
                <a:latin typeface="Consolas" panose="020B0609020204030204" pitchFamily="49" charset="0"/>
              </a:rPr>
              <a:t>cd myreactapp</a:t>
            </a:r>
            <a:r>
              <a:rPr kumimoji="0" lang="en-US" altLang="en-US" sz="2400" b="1" i="0" u="none" strike="noStrike" cap="none" normalizeH="0" baseline="0">
                <a:ln>
                  <a:noFill/>
                </a:ln>
                <a:solidFill>
                  <a:schemeClr val="tx1"/>
                </a:solidFill>
                <a:effectLst/>
                <a:latin typeface="Consolas" panose="020B0609020204030204" pitchFamily="49" charset="0"/>
              </a:rPr>
              <a:t> </a:t>
            </a:r>
            <a:endParaRPr kumimoji="0" lang="en-US" altLang="en-US" sz="4000" b="1" i="0" u="none" strike="noStrike" cap="none" normalizeH="0" baseline="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21010597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67D48-F840-7B01-31D0-0B09C8B89C42}"/>
              </a:ext>
            </a:extLst>
          </p:cNvPr>
          <p:cNvSpPr>
            <a:spLocks noGrp="1"/>
          </p:cNvSpPr>
          <p:nvPr>
            <p:ph type="title"/>
          </p:nvPr>
        </p:nvSpPr>
        <p:spPr/>
        <p:txBody>
          <a:bodyPr/>
          <a:lstStyle/>
          <a:p>
            <a:pPr algn="l" fontAlgn="base"/>
            <a:r>
              <a:rPr lang="en-US" b="1" i="0" dirty="0">
                <a:effectLst/>
              </a:rPr>
              <a:t>Using JavaScript fetch() method</a:t>
            </a:r>
          </a:p>
        </p:txBody>
      </p:sp>
      <p:sp>
        <p:nvSpPr>
          <p:cNvPr id="3" name="Text Placeholder 2">
            <a:extLst>
              <a:ext uri="{FF2B5EF4-FFF2-40B4-BE49-F238E27FC236}">
                <a16:creationId xmlns:a16="http://schemas.microsoft.com/office/drawing/2014/main" id="{CB9B1EC5-70B0-C9BE-5A71-76CE1E2D9C34}"/>
              </a:ext>
            </a:extLst>
          </p:cNvPr>
          <p:cNvSpPr>
            <a:spLocks noGrp="1"/>
          </p:cNvSpPr>
          <p:nvPr>
            <p:ph type="body" idx="1"/>
          </p:nvPr>
        </p:nvSpPr>
        <p:spPr>
          <a:xfrm>
            <a:off x="1104900" y="1600200"/>
            <a:ext cx="10267950" cy="4572000"/>
          </a:xfrm>
        </p:spPr>
        <p:txBody>
          <a:bodyPr>
            <a:normAutofit/>
          </a:bodyPr>
          <a:lstStyle/>
          <a:p>
            <a:r>
              <a:rPr lang="en-US" b="1" dirty="0">
                <a:solidFill>
                  <a:srgbClr val="FF0000"/>
                </a:solidFill>
              </a:rPr>
              <a:t>The fetch() method </a:t>
            </a:r>
            <a:r>
              <a:rPr lang="en-US" dirty="0"/>
              <a:t>is well-known for retrieving data from APIs. It is recognized as the simplest and most used approach.</a:t>
            </a:r>
          </a:p>
          <a:p>
            <a:r>
              <a:rPr lang="en-US" b="1" dirty="0"/>
              <a:t>How to use fetch() to get data</a:t>
            </a:r>
          </a:p>
          <a:p>
            <a:pPr lvl="1"/>
            <a:r>
              <a:rPr lang="en-US" dirty="0"/>
              <a:t>In your application, create a file.</a:t>
            </a:r>
          </a:p>
          <a:p>
            <a:pPr lvl="1"/>
            <a:r>
              <a:rPr lang="en-US" dirty="0"/>
              <a:t>Then import </a:t>
            </a:r>
            <a:r>
              <a:rPr lang="en-US" dirty="0" err="1"/>
              <a:t>useState</a:t>
            </a:r>
            <a:r>
              <a:rPr lang="en-US" dirty="0"/>
              <a:t>() for state management in React.</a:t>
            </a:r>
          </a:p>
          <a:p>
            <a:pPr lvl="1"/>
            <a:r>
              <a:rPr lang="en-US" dirty="0"/>
              <a:t>Next, import [</a:t>
            </a:r>
            <a:r>
              <a:rPr lang="en-US" dirty="0" err="1"/>
              <a:t>useEffect</a:t>
            </a:r>
            <a:r>
              <a:rPr lang="en-US" dirty="0"/>
              <a:t>], as it will make the data from the API render.</a:t>
            </a:r>
          </a:p>
        </p:txBody>
      </p:sp>
    </p:spTree>
    <p:extLst>
      <p:ext uri="{BB962C8B-B14F-4D97-AF65-F5344CB8AC3E}">
        <p14:creationId xmlns:p14="http://schemas.microsoft.com/office/powerpoint/2010/main" val="3376521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ADCD4-DD3F-ACD5-8D9E-049371144303}"/>
              </a:ext>
            </a:extLst>
          </p:cNvPr>
          <p:cNvSpPr>
            <a:spLocks noGrp="1"/>
          </p:cNvSpPr>
          <p:nvPr>
            <p:ph type="title"/>
          </p:nvPr>
        </p:nvSpPr>
        <p:spPr/>
        <p:txBody>
          <a:bodyPr/>
          <a:lstStyle/>
          <a:p>
            <a:r>
              <a:rPr lang="en-US" b="1" i="0" dirty="0">
                <a:effectLst/>
              </a:rPr>
              <a:t>Using JavaScript fetch() method</a:t>
            </a:r>
            <a:endParaRPr lang="en-US" dirty="0"/>
          </a:p>
        </p:txBody>
      </p:sp>
      <p:sp>
        <p:nvSpPr>
          <p:cNvPr id="3" name="Text Placeholder 2">
            <a:extLst>
              <a:ext uri="{FF2B5EF4-FFF2-40B4-BE49-F238E27FC236}">
                <a16:creationId xmlns:a16="http://schemas.microsoft.com/office/drawing/2014/main" id="{7B07159B-C753-DEB7-5AF9-A08FF858BC1D}"/>
              </a:ext>
            </a:extLst>
          </p:cNvPr>
          <p:cNvSpPr>
            <a:spLocks noGrp="1"/>
          </p:cNvSpPr>
          <p:nvPr>
            <p:ph type="body" idx="1"/>
          </p:nvPr>
        </p:nvSpPr>
        <p:spPr/>
        <p:txBody>
          <a:bodyPr/>
          <a:lstStyle/>
          <a:p>
            <a:r>
              <a:rPr lang="en-US" b="1" dirty="0" err="1"/>
              <a:t>Fetch.jsx</a:t>
            </a:r>
            <a:endParaRPr lang="en-US" b="1" dirty="0"/>
          </a:p>
        </p:txBody>
      </p:sp>
      <p:pic>
        <p:nvPicPr>
          <p:cNvPr id="5" name="Picture 4">
            <a:extLst>
              <a:ext uri="{FF2B5EF4-FFF2-40B4-BE49-F238E27FC236}">
                <a16:creationId xmlns:a16="http://schemas.microsoft.com/office/drawing/2014/main" id="{05E6F2E7-A450-5351-61F9-18B175F89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8540" y="1600200"/>
            <a:ext cx="7087010" cy="492409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55347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92999-7C73-D137-3F8D-40BB052E16B0}"/>
              </a:ext>
            </a:extLst>
          </p:cNvPr>
          <p:cNvSpPr>
            <a:spLocks noGrp="1"/>
          </p:cNvSpPr>
          <p:nvPr>
            <p:ph type="title"/>
          </p:nvPr>
        </p:nvSpPr>
        <p:spPr/>
        <p:txBody>
          <a:bodyPr/>
          <a:lstStyle/>
          <a:p>
            <a:r>
              <a:rPr lang="en-US" b="1" i="0" dirty="0">
                <a:effectLst/>
              </a:rPr>
              <a:t>Using JavaScript fetch() method</a:t>
            </a:r>
            <a:endParaRPr lang="en-US" dirty="0"/>
          </a:p>
        </p:txBody>
      </p:sp>
      <p:sp>
        <p:nvSpPr>
          <p:cNvPr id="3" name="Text Placeholder 2">
            <a:extLst>
              <a:ext uri="{FF2B5EF4-FFF2-40B4-BE49-F238E27FC236}">
                <a16:creationId xmlns:a16="http://schemas.microsoft.com/office/drawing/2014/main" id="{2B2811AA-E216-30E8-06DC-CCDFE7BBBF89}"/>
              </a:ext>
            </a:extLst>
          </p:cNvPr>
          <p:cNvSpPr>
            <a:spLocks noGrp="1"/>
          </p:cNvSpPr>
          <p:nvPr>
            <p:ph type="body" idx="1"/>
          </p:nvPr>
        </p:nvSpPr>
        <p:spPr/>
        <p:txBody>
          <a:bodyPr/>
          <a:lstStyle/>
          <a:p>
            <a:r>
              <a:rPr lang="en-US" b="1" dirty="0" err="1"/>
              <a:t>Fetch.jsx</a:t>
            </a:r>
            <a:endParaRPr lang="en-US" b="1" dirty="0"/>
          </a:p>
          <a:p>
            <a:pPr lvl="1"/>
            <a:r>
              <a:rPr lang="en-US" dirty="0"/>
              <a:t>Inside </a:t>
            </a:r>
            <a:r>
              <a:rPr lang="en-US" b="1" dirty="0" err="1"/>
              <a:t>useEffect</a:t>
            </a:r>
            <a:r>
              <a:rPr lang="en-US" b="1" dirty="0"/>
              <a:t>(), </a:t>
            </a:r>
            <a:r>
              <a:rPr lang="en-US" dirty="0"/>
              <a:t>we fetch our data by sending a request with the API key. </a:t>
            </a:r>
          </a:p>
          <a:p>
            <a:pPr lvl="1"/>
            <a:r>
              <a:rPr lang="en-US" dirty="0"/>
              <a:t>The response comes back in </a:t>
            </a:r>
            <a:r>
              <a:rPr lang="en-US" b="1" dirty="0"/>
              <a:t>JSON</a:t>
            </a:r>
            <a:r>
              <a:rPr lang="en-US" dirty="0"/>
              <a:t> (JavaScript Object Notation).</a:t>
            </a:r>
          </a:p>
          <a:p>
            <a:pPr lvl="1"/>
            <a:r>
              <a:rPr lang="en-US" dirty="0"/>
              <a:t>In the return statement, we process the received photos by utilizing a </a:t>
            </a:r>
            <a:r>
              <a:rPr lang="en-US" b="1" dirty="0"/>
              <a:t>map() function </a:t>
            </a:r>
            <a:r>
              <a:rPr lang="en-US" dirty="0"/>
              <a:t>to iterate through each item.</a:t>
            </a:r>
          </a:p>
        </p:txBody>
      </p:sp>
    </p:spTree>
    <p:extLst>
      <p:ext uri="{BB962C8B-B14F-4D97-AF65-F5344CB8AC3E}">
        <p14:creationId xmlns:p14="http://schemas.microsoft.com/office/powerpoint/2010/main" val="776140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0C17A-D2FB-BE35-A607-2EABA9CF5E9F}"/>
              </a:ext>
            </a:extLst>
          </p:cNvPr>
          <p:cNvSpPr>
            <a:spLocks noGrp="1"/>
          </p:cNvSpPr>
          <p:nvPr>
            <p:ph type="title"/>
          </p:nvPr>
        </p:nvSpPr>
        <p:spPr/>
        <p:txBody>
          <a:bodyPr/>
          <a:lstStyle/>
          <a:p>
            <a:r>
              <a:rPr lang="en-US" b="1" i="0" dirty="0">
                <a:effectLst/>
              </a:rPr>
              <a:t>Use the React Query library</a:t>
            </a:r>
            <a:endParaRPr lang="en-US" dirty="0"/>
          </a:p>
        </p:txBody>
      </p:sp>
      <p:sp>
        <p:nvSpPr>
          <p:cNvPr id="3" name="Text Placeholder 2">
            <a:extLst>
              <a:ext uri="{FF2B5EF4-FFF2-40B4-BE49-F238E27FC236}">
                <a16:creationId xmlns:a16="http://schemas.microsoft.com/office/drawing/2014/main" id="{A6EF82B7-5ACE-343C-1BDF-D5D79202FE2A}"/>
              </a:ext>
            </a:extLst>
          </p:cNvPr>
          <p:cNvSpPr>
            <a:spLocks noGrp="1"/>
          </p:cNvSpPr>
          <p:nvPr>
            <p:ph type="body" idx="1"/>
          </p:nvPr>
        </p:nvSpPr>
        <p:spPr>
          <a:xfrm>
            <a:off x="1104900" y="1600200"/>
            <a:ext cx="10401300" cy="4572000"/>
          </a:xfrm>
        </p:spPr>
        <p:txBody>
          <a:bodyPr/>
          <a:lstStyle/>
          <a:p>
            <a:r>
              <a:rPr lang="en-US" b="1" dirty="0">
                <a:solidFill>
                  <a:srgbClr val="FF0000"/>
                </a:solidFill>
              </a:rPr>
              <a:t>React Query:</a:t>
            </a:r>
            <a:r>
              <a:rPr lang="en-US" dirty="0"/>
              <a:t> also known as </a:t>
            </a:r>
            <a:r>
              <a:rPr lang="en-US" b="1" dirty="0" err="1"/>
              <a:t>TanStack</a:t>
            </a:r>
            <a:r>
              <a:rPr lang="en-US" b="1" dirty="0"/>
              <a:t> Query</a:t>
            </a:r>
            <a:r>
              <a:rPr lang="en-US" dirty="0"/>
              <a:t>, is useful for managing data in React applications.</a:t>
            </a:r>
          </a:p>
          <a:p>
            <a:pPr lvl="1"/>
            <a:r>
              <a:rPr lang="en-US" dirty="0"/>
              <a:t>Using React Query is easy and makes handling data in your app feel almost automatic. For instance, fetching, caching, synchronizing, and updating server states in your applications.</a:t>
            </a:r>
          </a:p>
          <a:p>
            <a:r>
              <a:rPr lang="en-US" b="1" dirty="0"/>
              <a:t>How to use React Query to get data</a:t>
            </a:r>
          </a:p>
          <a:p>
            <a:pPr lvl="1"/>
            <a:r>
              <a:rPr lang="en-US" dirty="0"/>
              <a:t>To begin, use this command to install the React-Query library (</a:t>
            </a:r>
            <a:r>
              <a:rPr lang="en-US" dirty="0" err="1"/>
              <a:t>TanStack</a:t>
            </a:r>
            <a:r>
              <a:rPr lang="en-US" dirty="0"/>
              <a:t> Query) into your application:</a:t>
            </a:r>
          </a:p>
        </p:txBody>
      </p:sp>
      <p:sp>
        <p:nvSpPr>
          <p:cNvPr id="6" name="Rectangle 1">
            <a:extLst>
              <a:ext uri="{FF2B5EF4-FFF2-40B4-BE49-F238E27FC236}">
                <a16:creationId xmlns:a16="http://schemas.microsoft.com/office/drawing/2014/main" id="{7A5A0246-2007-B8DA-17A6-052AD2A16844}"/>
              </a:ext>
            </a:extLst>
          </p:cNvPr>
          <p:cNvSpPr>
            <a:spLocks noChangeArrowheads="1"/>
          </p:cNvSpPr>
          <p:nvPr/>
        </p:nvSpPr>
        <p:spPr bwMode="auto">
          <a:xfrm>
            <a:off x="2894841" y="5257800"/>
            <a:ext cx="6400800"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rgbClr val="000000"/>
                </a:solidFill>
                <a:effectLst/>
                <a:latin typeface="Consolas" panose="020B0609020204030204" pitchFamily="49" charset="0"/>
              </a:rPr>
              <a:t>npm i @tanstack</a:t>
            </a:r>
            <a:r>
              <a:rPr kumimoji="0" lang="en-US" altLang="en-US" sz="2800" b="1" i="0" u="none" strike="noStrike" cap="none" normalizeH="0" baseline="0">
                <a:ln>
                  <a:noFill/>
                </a:ln>
                <a:solidFill>
                  <a:srgbClr val="9A6E3A"/>
                </a:solidFill>
                <a:effectLst/>
                <a:latin typeface="Consolas" panose="020B0609020204030204" pitchFamily="49" charset="0"/>
              </a:rPr>
              <a:t>/</a:t>
            </a:r>
            <a:r>
              <a:rPr kumimoji="0" lang="en-US" altLang="en-US" sz="2800" b="1" i="0" u="none" strike="noStrike" cap="none" normalizeH="0" baseline="0">
                <a:ln>
                  <a:noFill/>
                </a:ln>
                <a:solidFill>
                  <a:srgbClr val="000000"/>
                </a:solidFill>
                <a:effectLst/>
                <a:latin typeface="Consolas" panose="020B0609020204030204" pitchFamily="49" charset="0"/>
              </a:rPr>
              <a:t>react</a:t>
            </a:r>
            <a:r>
              <a:rPr kumimoji="0" lang="en-US" altLang="en-US" sz="2800" b="1" i="0" u="none" strike="noStrike" cap="none" normalizeH="0" baseline="0">
                <a:ln>
                  <a:noFill/>
                </a:ln>
                <a:solidFill>
                  <a:srgbClr val="9A6E3A"/>
                </a:solidFill>
                <a:effectLst/>
                <a:latin typeface="Consolas" panose="020B0609020204030204" pitchFamily="49" charset="0"/>
              </a:rPr>
              <a:t>-</a:t>
            </a:r>
            <a:r>
              <a:rPr kumimoji="0" lang="en-US" altLang="en-US" sz="2800" b="1" i="0" u="none" strike="noStrike" cap="none" normalizeH="0" baseline="0">
                <a:ln>
                  <a:noFill/>
                </a:ln>
                <a:solidFill>
                  <a:srgbClr val="000000"/>
                </a:solidFill>
                <a:effectLst/>
                <a:latin typeface="Consolas" panose="020B0609020204030204" pitchFamily="49" charset="0"/>
              </a:rPr>
              <a:t>query</a:t>
            </a:r>
            <a:r>
              <a:rPr kumimoji="0" lang="en-US" altLang="en-US" sz="3600" b="1" i="0" u="none" strike="noStrike" cap="none" normalizeH="0" baseline="0">
                <a:ln>
                  <a:noFill/>
                </a:ln>
                <a:solidFill>
                  <a:schemeClr val="tx1"/>
                </a:solidFill>
                <a:effectLst/>
                <a:latin typeface="Consolas" panose="020B0609020204030204" pitchFamily="49" charset="0"/>
              </a:rPr>
              <a:t> </a:t>
            </a:r>
            <a:endParaRPr kumimoji="0" lang="en-US" altLang="en-US" sz="5400" b="1" i="0" u="none" strike="noStrike" cap="none" normalizeH="0" baseline="0">
              <a:ln>
                <a:noFill/>
              </a:ln>
              <a:solidFill>
                <a:schemeClr val="tx1"/>
              </a:solidFill>
              <a:effectLst/>
              <a:latin typeface="Consolas" panose="020B0609020204030204" pitchFamily="49" charset="0"/>
            </a:endParaRPr>
          </a:p>
        </p:txBody>
      </p:sp>
    </p:spTree>
    <p:extLst>
      <p:ext uri="{BB962C8B-B14F-4D97-AF65-F5344CB8AC3E}">
        <p14:creationId xmlns:p14="http://schemas.microsoft.com/office/powerpoint/2010/main" val="3902523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39A17-01D1-FE4F-8C2C-F6A2138F64DF}"/>
              </a:ext>
            </a:extLst>
          </p:cNvPr>
          <p:cNvSpPr>
            <a:spLocks noGrp="1"/>
          </p:cNvSpPr>
          <p:nvPr>
            <p:ph type="title"/>
          </p:nvPr>
        </p:nvSpPr>
        <p:spPr/>
        <p:txBody>
          <a:bodyPr/>
          <a:lstStyle/>
          <a:p>
            <a:r>
              <a:rPr lang="en-US" b="1" i="0" dirty="0">
                <a:effectLst/>
              </a:rPr>
              <a:t>Use the React Query library</a:t>
            </a:r>
            <a:endParaRPr lang="en-US" dirty="0"/>
          </a:p>
        </p:txBody>
      </p:sp>
      <p:sp>
        <p:nvSpPr>
          <p:cNvPr id="3" name="Text Placeholder 2">
            <a:extLst>
              <a:ext uri="{FF2B5EF4-FFF2-40B4-BE49-F238E27FC236}">
                <a16:creationId xmlns:a16="http://schemas.microsoft.com/office/drawing/2014/main" id="{88D7C735-4C5E-D17A-EBD9-03DB7838D5A6}"/>
              </a:ext>
            </a:extLst>
          </p:cNvPr>
          <p:cNvSpPr>
            <a:spLocks noGrp="1"/>
          </p:cNvSpPr>
          <p:nvPr>
            <p:ph type="body" idx="1"/>
          </p:nvPr>
        </p:nvSpPr>
        <p:spPr>
          <a:xfrm>
            <a:off x="1104900" y="1600200"/>
            <a:ext cx="10325100" cy="4572000"/>
          </a:xfrm>
        </p:spPr>
        <p:txBody>
          <a:bodyPr/>
          <a:lstStyle/>
          <a:p>
            <a:r>
              <a:rPr lang="en-US" b="1" dirty="0">
                <a:solidFill>
                  <a:srgbClr val="FF0000"/>
                </a:solidFill>
              </a:rPr>
              <a:t>React Query:</a:t>
            </a:r>
            <a:r>
              <a:rPr lang="en-US" dirty="0"/>
              <a:t> </a:t>
            </a:r>
          </a:p>
          <a:p>
            <a:pPr lvl="1"/>
            <a:r>
              <a:rPr lang="en-US" dirty="0"/>
              <a:t>To make things work, use </a:t>
            </a:r>
            <a:r>
              <a:rPr lang="en-US" dirty="0" err="1"/>
              <a:t>QueryClientProvider</a:t>
            </a:r>
            <a:r>
              <a:rPr lang="en-US" dirty="0"/>
              <a:t> from @tanstack/react-query.</a:t>
            </a:r>
          </a:p>
          <a:p>
            <a:pPr lvl="1"/>
            <a:r>
              <a:rPr lang="en-US" dirty="0"/>
              <a:t>Wrap your application, which is the </a:t>
            </a:r>
            <a:r>
              <a:rPr lang="en-US" b="1" dirty="0" err="1"/>
              <a:t>Main.jsx</a:t>
            </a:r>
            <a:r>
              <a:rPr lang="en-US" b="1" dirty="0"/>
              <a:t> </a:t>
            </a:r>
            <a:r>
              <a:rPr lang="en-US" dirty="0"/>
              <a:t>component, with it and pass </a:t>
            </a:r>
            <a:r>
              <a:rPr lang="en-US" dirty="0" err="1"/>
              <a:t>queryClient</a:t>
            </a:r>
            <a:r>
              <a:rPr lang="en-US" dirty="0"/>
              <a:t> as a prop. It comes automatically from the initialized </a:t>
            </a:r>
            <a:r>
              <a:rPr lang="en-US" dirty="0" err="1"/>
              <a:t>QueryClient</a:t>
            </a:r>
            <a:r>
              <a:rPr lang="en-US" dirty="0"/>
              <a:t>.</a:t>
            </a:r>
          </a:p>
        </p:txBody>
      </p:sp>
    </p:spTree>
    <p:extLst>
      <p:ext uri="{BB962C8B-B14F-4D97-AF65-F5344CB8AC3E}">
        <p14:creationId xmlns:p14="http://schemas.microsoft.com/office/powerpoint/2010/main" val="2144278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7DCA0-BC78-039D-315D-EA551CE915C4}"/>
              </a:ext>
            </a:extLst>
          </p:cNvPr>
          <p:cNvSpPr>
            <a:spLocks noGrp="1"/>
          </p:cNvSpPr>
          <p:nvPr>
            <p:ph type="title"/>
          </p:nvPr>
        </p:nvSpPr>
        <p:spPr/>
        <p:txBody>
          <a:bodyPr/>
          <a:lstStyle/>
          <a:p>
            <a:r>
              <a:rPr lang="en-US" b="1" i="0" dirty="0">
                <a:effectLst/>
              </a:rPr>
              <a:t>Use the React Query library</a:t>
            </a:r>
            <a:endParaRPr lang="en-US" dirty="0"/>
          </a:p>
        </p:txBody>
      </p:sp>
      <p:sp>
        <p:nvSpPr>
          <p:cNvPr id="3" name="Text Placeholder 2">
            <a:extLst>
              <a:ext uri="{FF2B5EF4-FFF2-40B4-BE49-F238E27FC236}">
                <a16:creationId xmlns:a16="http://schemas.microsoft.com/office/drawing/2014/main" id="{BED5F6D0-FB4C-2202-C631-99C8AAE32397}"/>
              </a:ext>
            </a:extLst>
          </p:cNvPr>
          <p:cNvSpPr>
            <a:spLocks noGrp="1"/>
          </p:cNvSpPr>
          <p:nvPr>
            <p:ph type="body" idx="1"/>
          </p:nvPr>
        </p:nvSpPr>
        <p:spPr/>
        <p:txBody>
          <a:bodyPr/>
          <a:lstStyle/>
          <a:p>
            <a:r>
              <a:rPr lang="en-US" dirty="0"/>
              <a:t>Here is how the </a:t>
            </a:r>
            <a:r>
              <a:rPr lang="en-US" b="1" dirty="0" err="1"/>
              <a:t>Main.jsx</a:t>
            </a:r>
            <a:r>
              <a:rPr lang="en-US" b="1" dirty="0"/>
              <a:t> </a:t>
            </a:r>
            <a:r>
              <a:rPr lang="en-US" dirty="0"/>
              <a:t>file </a:t>
            </a:r>
          </a:p>
        </p:txBody>
      </p:sp>
      <p:pic>
        <p:nvPicPr>
          <p:cNvPr id="5" name="Picture 4">
            <a:extLst>
              <a:ext uri="{FF2B5EF4-FFF2-40B4-BE49-F238E27FC236}">
                <a16:creationId xmlns:a16="http://schemas.microsoft.com/office/drawing/2014/main" id="{60FC684E-F4BA-044D-A325-894C461B3A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1311" y="2331844"/>
            <a:ext cx="8607860" cy="426739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457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18AC2-0BAE-FC6B-0955-03A1847557B9}"/>
              </a:ext>
            </a:extLst>
          </p:cNvPr>
          <p:cNvSpPr>
            <a:spLocks noGrp="1"/>
          </p:cNvSpPr>
          <p:nvPr>
            <p:ph type="title"/>
          </p:nvPr>
        </p:nvSpPr>
        <p:spPr/>
        <p:txBody>
          <a:bodyPr/>
          <a:lstStyle/>
          <a:p>
            <a:r>
              <a:rPr lang="en-US" b="1" i="0" dirty="0">
                <a:effectLst/>
              </a:rPr>
              <a:t>Use the React Query library</a:t>
            </a:r>
            <a:endParaRPr lang="en-US" dirty="0"/>
          </a:p>
        </p:txBody>
      </p:sp>
      <p:sp>
        <p:nvSpPr>
          <p:cNvPr id="3" name="Text Placeholder 2">
            <a:extLst>
              <a:ext uri="{FF2B5EF4-FFF2-40B4-BE49-F238E27FC236}">
                <a16:creationId xmlns:a16="http://schemas.microsoft.com/office/drawing/2014/main" id="{45AAC682-30C9-835F-EB6D-F21D87D335B4}"/>
              </a:ext>
            </a:extLst>
          </p:cNvPr>
          <p:cNvSpPr>
            <a:spLocks noGrp="1"/>
          </p:cNvSpPr>
          <p:nvPr>
            <p:ph type="body" idx="1"/>
          </p:nvPr>
        </p:nvSpPr>
        <p:spPr/>
        <p:txBody>
          <a:bodyPr/>
          <a:lstStyle/>
          <a:p>
            <a:r>
              <a:rPr lang="en-US" b="1" dirty="0">
                <a:solidFill>
                  <a:srgbClr val="FF0000"/>
                </a:solidFill>
              </a:rPr>
              <a:t>Fetch the data:</a:t>
            </a:r>
          </a:p>
          <a:p>
            <a:pPr lvl="1"/>
            <a:r>
              <a:rPr lang="en-US" dirty="0"/>
              <a:t>In your application, create a file.</a:t>
            </a:r>
          </a:p>
          <a:p>
            <a:pPr lvl="1"/>
            <a:r>
              <a:rPr lang="en-US" dirty="0"/>
              <a:t>Import the hook from </a:t>
            </a:r>
            <a:r>
              <a:rPr lang="en-US" b="1" dirty="0"/>
              <a:t>@tanstack/react-query </a:t>
            </a:r>
            <a:r>
              <a:rPr lang="en-US" dirty="0"/>
              <a:t>at the top of your file:</a:t>
            </a:r>
          </a:p>
          <a:p>
            <a:pPr lvl="1"/>
            <a:endParaRPr lang="en-US" dirty="0"/>
          </a:p>
          <a:p>
            <a:pPr lvl="1"/>
            <a:endParaRPr lang="en-US" dirty="0"/>
          </a:p>
          <a:p>
            <a:pPr lvl="1"/>
            <a:r>
              <a:rPr lang="en-US" dirty="0"/>
              <a:t>The </a:t>
            </a:r>
            <a:r>
              <a:rPr lang="en-US" b="1" dirty="0" err="1"/>
              <a:t>useQuery</a:t>
            </a:r>
            <a:r>
              <a:rPr lang="en-US" dirty="0"/>
              <a:t> hook is defined with two crucial parameters in object form. These parameters are </a:t>
            </a:r>
            <a:r>
              <a:rPr lang="en-US" b="1" dirty="0" err="1"/>
              <a:t>queryFn</a:t>
            </a:r>
            <a:r>
              <a:rPr lang="en-US" dirty="0"/>
              <a:t> and </a:t>
            </a:r>
            <a:r>
              <a:rPr lang="en-US" b="1" dirty="0" err="1"/>
              <a:t>queryKey</a:t>
            </a:r>
            <a:r>
              <a:rPr lang="en-US" dirty="0"/>
              <a:t>.</a:t>
            </a:r>
          </a:p>
          <a:p>
            <a:pPr lvl="1"/>
            <a:r>
              <a:rPr lang="en-US" b="1" dirty="0" err="1"/>
              <a:t>queryFn</a:t>
            </a:r>
            <a:r>
              <a:rPr lang="en-US" dirty="0"/>
              <a:t> handles fetching data from the endpoint.</a:t>
            </a:r>
          </a:p>
          <a:p>
            <a:pPr lvl="1"/>
            <a:r>
              <a:rPr lang="en-US" b="1" dirty="0" err="1"/>
              <a:t>queryKey</a:t>
            </a:r>
            <a:r>
              <a:rPr lang="en-US" dirty="0"/>
              <a:t> serves as the unique identifier for the data obtained.</a:t>
            </a:r>
          </a:p>
        </p:txBody>
      </p:sp>
      <p:sp>
        <p:nvSpPr>
          <p:cNvPr id="4" name="Rectangle 1">
            <a:extLst>
              <a:ext uri="{FF2B5EF4-FFF2-40B4-BE49-F238E27FC236}">
                <a16:creationId xmlns:a16="http://schemas.microsoft.com/office/drawing/2014/main" id="{D9AD47C5-7822-FAD5-0CCB-D1E165341675}"/>
              </a:ext>
            </a:extLst>
          </p:cNvPr>
          <p:cNvSpPr>
            <a:spLocks noChangeArrowheads="1"/>
          </p:cNvSpPr>
          <p:nvPr/>
        </p:nvSpPr>
        <p:spPr bwMode="auto">
          <a:xfrm>
            <a:off x="1847091" y="3152001"/>
            <a:ext cx="8496300"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rgbClr val="0077AA"/>
                </a:solidFill>
                <a:effectLst/>
                <a:latin typeface="inherit"/>
              </a:rPr>
              <a:t>import</a:t>
            </a:r>
            <a:r>
              <a:rPr kumimoji="0" lang="en-US" altLang="en-US" sz="2800" b="1" i="0" u="none" strike="noStrike" cap="none" normalizeH="0" baseline="0">
                <a:ln>
                  <a:noFill/>
                </a:ln>
                <a:solidFill>
                  <a:srgbClr val="000000"/>
                </a:solidFill>
                <a:effectLst/>
                <a:latin typeface="Consolas" panose="020B0609020204030204" pitchFamily="49" charset="0"/>
              </a:rPr>
              <a:t> </a:t>
            </a:r>
            <a:r>
              <a:rPr kumimoji="0" lang="en-US" altLang="en-US" sz="2800" b="1" i="0" u="none" strike="noStrike" cap="none" normalizeH="0" baseline="0">
                <a:ln>
                  <a:noFill/>
                </a:ln>
                <a:solidFill>
                  <a:srgbClr val="999999"/>
                </a:solidFill>
                <a:effectLst/>
                <a:latin typeface="inherit"/>
              </a:rPr>
              <a:t>{</a:t>
            </a:r>
            <a:r>
              <a:rPr kumimoji="0" lang="en-US" altLang="en-US" sz="2800" b="1" i="0" u="none" strike="noStrike" cap="none" normalizeH="0" baseline="0">
                <a:ln>
                  <a:noFill/>
                </a:ln>
                <a:solidFill>
                  <a:srgbClr val="000000"/>
                </a:solidFill>
                <a:effectLst/>
                <a:latin typeface="Consolas" panose="020B0609020204030204" pitchFamily="49" charset="0"/>
              </a:rPr>
              <a:t> useQuery </a:t>
            </a:r>
            <a:r>
              <a:rPr kumimoji="0" lang="en-US" altLang="en-US" sz="2800" b="1" i="0" u="none" strike="noStrike" cap="none" normalizeH="0" baseline="0">
                <a:ln>
                  <a:noFill/>
                </a:ln>
                <a:solidFill>
                  <a:srgbClr val="999999"/>
                </a:solidFill>
                <a:effectLst/>
                <a:latin typeface="inherit"/>
              </a:rPr>
              <a:t>}</a:t>
            </a:r>
            <a:r>
              <a:rPr kumimoji="0" lang="en-US" altLang="en-US" sz="2800" b="1" i="0" u="none" strike="noStrike" cap="none" normalizeH="0" baseline="0">
                <a:ln>
                  <a:noFill/>
                </a:ln>
                <a:solidFill>
                  <a:srgbClr val="000000"/>
                </a:solidFill>
                <a:effectLst/>
                <a:latin typeface="Consolas" panose="020B0609020204030204" pitchFamily="49" charset="0"/>
              </a:rPr>
              <a:t> </a:t>
            </a:r>
            <a:r>
              <a:rPr kumimoji="0" lang="en-US" altLang="en-US" sz="2800" b="1" i="0" u="none" strike="noStrike" cap="none" normalizeH="0" baseline="0">
                <a:ln>
                  <a:noFill/>
                </a:ln>
                <a:solidFill>
                  <a:srgbClr val="0077AA"/>
                </a:solidFill>
                <a:effectLst/>
                <a:latin typeface="inherit"/>
              </a:rPr>
              <a:t>from</a:t>
            </a:r>
            <a:r>
              <a:rPr kumimoji="0" lang="en-US" altLang="en-US" sz="2800" b="1" i="0" u="none" strike="noStrike" cap="none" normalizeH="0" baseline="0">
                <a:ln>
                  <a:noFill/>
                </a:ln>
                <a:solidFill>
                  <a:srgbClr val="000000"/>
                </a:solidFill>
                <a:effectLst/>
                <a:latin typeface="Consolas" panose="020B0609020204030204" pitchFamily="49" charset="0"/>
              </a:rPr>
              <a:t> </a:t>
            </a:r>
            <a:r>
              <a:rPr kumimoji="0" lang="en-US" altLang="en-US" sz="2800" b="1" i="0" u="none" strike="noStrike" cap="none" normalizeH="0" baseline="0">
                <a:ln>
                  <a:noFill/>
                </a:ln>
                <a:solidFill>
                  <a:srgbClr val="669900"/>
                </a:solidFill>
                <a:effectLst/>
                <a:latin typeface="inherit"/>
              </a:rPr>
              <a:t>'@tanstack/react-query'</a:t>
            </a:r>
            <a:r>
              <a:rPr kumimoji="0" lang="en-US" altLang="en-US" sz="2800" b="1" i="0" u="none" strike="noStrike" cap="none" normalizeH="0" baseline="0">
                <a:ln>
                  <a:noFill/>
                </a:ln>
                <a:solidFill>
                  <a:srgbClr val="999999"/>
                </a:solidFill>
                <a:effectLst/>
                <a:latin typeface="inherit"/>
              </a:rPr>
              <a:t>;</a:t>
            </a:r>
            <a:r>
              <a:rPr kumimoji="0" lang="en-US" altLang="en-US" sz="3600" b="1" i="0" u="none" strike="noStrike" cap="none" normalizeH="0" baseline="0">
                <a:ln>
                  <a:noFill/>
                </a:ln>
                <a:solidFill>
                  <a:schemeClr val="tx1"/>
                </a:solidFill>
                <a:effectLst/>
              </a:rPr>
              <a:t> </a:t>
            </a:r>
            <a:endParaRPr kumimoji="0" lang="en-US" altLang="en-US" sz="5400" b="1"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92606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8EB0E5-677A-339E-F3BE-633AF35C5F20}"/>
              </a:ext>
            </a:extLst>
          </p:cNvPr>
          <p:cNvSpPr>
            <a:spLocks noGrp="1"/>
          </p:cNvSpPr>
          <p:nvPr>
            <p:ph type="title"/>
          </p:nvPr>
        </p:nvSpPr>
        <p:spPr/>
        <p:txBody>
          <a:bodyPr/>
          <a:lstStyle/>
          <a:p>
            <a:r>
              <a:rPr lang="en-US" b="1" i="0" dirty="0">
                <a:effectLst/>
              </a:rPr>
              <a:t>Use the React Query library</a:t>
            </a:r>
            <a:endParaRPr lang="en-US" dirty="0"/>
          </a:p>
        </p:txBody>
      </p:sp>
      <p:pic>
        <p:nvPicPr>
          <p:cNvPr id="5" name="Picture 4">
            <a:extLst>
              <a:ext uri="{FF2B5EF4-FFF2-40B4-BE49-F238E27FC236}">
                <a16:creationId xmlns:a16="http://schemas.microsoft.com/office/drawing/2014/main" id="{68496E0D-43AF-7CFF-EE6D-933B0FEDC5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5635" y="1504764"/>
            <a:ext cx="10120729" cy="453408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76280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50BF6-32B0-03F2-3CA3-249C6FF18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834358-867E-6A43-2239-C315674A8A88}"/>
              </a:ext>
            </a:extLst>
          </p:cNvPr>
          <p:cNvSpPr>
            <a:spLocks noGrp="1"/>
          </p:cNvSpPr>
          <p:nvPr>
            <p:ph type="title"/>
          </p:nvPr>
        </p:nvSpPr>
        <p:spPr/>
        <p:txBody>
          <a:bodyPr/>
          <a:lstStyle/>
          <a:p>
            <a:r>
              <a:rPr lang="en-US" b="1" i="0" dirty="0">
                <a:effectLst/>
              </a:rPr>
              <a:t>Use the React Query library</a:t>
            </a:r>
            <a:endParaRPr lang="en-US" dirty="0"/>
          </a:p>
        </p:txBody>
      </p:sp>
      <p:pic>
        <p:nvPicPr>
          <p:cNvPr id="5" name="Picture 4">
            <a:extLst>
              <a:ext uri="{FF2B5EF4-FFF2-40B4-BE49-F238E27FC236}">
                <a16:creationId xmlns:a16="http://schemas.microsoft.com/office/drawing/2014/main" id="{8F79DB4E-A074-96C3-1B75-B795AA6273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7450" y="1590458"/>
            <a:ext cx="7277100" cy="487132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5446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F720C-BC69-96FF-DE23-705ED5334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E7E6CE-58A2-4121-CCE2-B97AE9D546A8}"/>
              </a:ext>
            </a:extLst>
          </p:cNvPr>
          <p:cNvSpPr>
            <a:spLocks noGrp="1"/>
          </p:cNvSpPr>
          <p:nvPr>
            <p:ph type="title"/>
          </p:nvPr>
        </p:nvSpPr>
        <p:spPr/>
        <p:txBody>
          <a:bodyPr/>
          <a:lstStyle/>
          <a:p>
            <a:r>
              <a:rPr lang="en-US" dirty="0"/>
              <a:t> Use the Axios Library</a:t>
            </a:r>
          </a:p>
        </p:txBody>
      </p:sp>
      <p:sp>
        <p:nvSpPr>
          <p:cNvPr id="3" name="Text Placeholder 2">
            <a:extLst>
              <a:ext uri="{FF2B5EF4-FFF2-40B4-BE49-F238E27FC236}">
                <a16:creationId xmlns:a16="http://schemas.microsoft.com/office/drawing/2014/main" id="{B2C1D0B1-C794-51C4-7F02-A2E6E3EF7079}"/>
              </a:ext>
            </a:extLst>
          </p:cNvPr>
          <p:cNvSpPr>
            <a:spLocks noGrp="1"/>
          </p:cNvSpPr>
          <p:nvPr>
            <p:ph type="body" idx="1"/>
          </p:nvPr>
        </p:nvSpPr>
        <p:spPr/>
        <p:txBody>
          <a:bodyPr>
            <a:normAutofit/>
          </a:bodyPr>
          <a:lstStyle/>
          <a:p>
            <a:r>
              <a:rPr lang="en-US" b="1" dirty="0">
                <a:solidFill>
                  <a:srgbClr val="FF0000"/>
                </a:solidFill>
              </a:rPr>
              <a:t>Axios</a:t>
            </a:r>
            <a:r>
              <a:rPr lang="en-US" dirty="0"/>
              <a:t> is a third library package that we can add to our program to retrieve information from an API. </a:t>
            </a:r>
          </a:p>
          <a:p>
            <a:pPr lvl="1"/>
            <a:r>
              <a:rPr lang="en-US" dirty="0"/>
              <a:t>Because Axios is used in both web browsers and server-side JavaScript, it is useful for a wide range of tasks.</a:t>
            </a:r>
          </a:p>
          <a:p>
            <a:r>
              <a:rPr lang="en-US" b="1" dirty="0">
                <a:solidFill>
                  <a:srgbClr val="FF0000"/>
                </a:solidFill>
              </a:rPr>
              <a:t>Advantages of the Axios Library</a:t>
            </a:r>
          </a:p>
          <a:p>
            <a:pPr lvl="1"/>
            <a:r>
              <a:rPr lang="en-US" dirty="0"/>
              <a:t>Axios is simple and easy to understand. It's a clear and straightforward way to get data from an API.</a:t>
            </a:r>
          </a:p>
          <a:p>
            <a:pPr lvl="1"/>
            <a:r>
              <a:rPr lang="en-US" dirty="0"/>
              <a:t>It's designed to work well in most of the newer web browsers.</a:t>
            </a:r>
          </a:p>
          <a:p>
            <a:pPr lvl="1"/>
            <a:r>
              <a:rPr lang="en-US" dirty="0"/>
              <a:t>You don't have to add anything extra to your code to use Axios. It's ready to go as part of JavaScript.</a:t>
            </a:r>
          </a:p>
        </p:txBody>
      </p:sp>
    </p:spTree>
    <p:extLst>
      <p:ext uri="{BB962C8B-B14F-4D97-AF65-F5344CB8AC3E}">
        <p14:creationId xmlns:p14="http://schemas.microsoft.com/office/powerpoint/2010/main" val="222416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174E1-7E70-C6A7-D385-BA09FB83722B}"/>
              </a:ext>
            </a:extLst>
          </p:cNvPr>
          <p:cNvSpPr>
            <a:spLocks noGrp="1"/>
          </p:cNvSpPr>
          <p:nvPr>
            <p:ph type="title"/>
          </p:nvPr>
        </p:nvSpPr>
        <p:spPr/>
        <p:txBody>
          <a:bodyPr/>
          <a:lstStyle/>
          <a:p>
            <a:r>
              <a:rPr lang="en-US" dirty="0"/>
              <a:t>Use the Axios Library</a:t>
            </a:r>
          </a:p>
        </p:txBody>
      </p:sp>
      <p:sp>
        <p:nvSpPr>
          <p:cNvPr id="3" name="Text Placeholder 2">
            <a:extLst>
              <a:ext uri="{FF2B5EF4-FFF2-40B4-BE49-F238E27FC236}">
                <a16:creationId xmlns:a16="http://schemas.microsoft.com/office/drawing/2014/main" id="{1F83BAF6-85AA-4D6C-74F9-5236F362A60A}"/>
              </a:ext>
            </a:extLst>
          </p:cNvPr>
          <p:cNvSpPr>
            <a:spLocks noGrp="1"/>
          </p:cNvSpPr>
          <p:nvPr>
            <p:ph type="body" idx="1"/>
          </p:nvPr>
        </p:nvSpPr>
        <p:spPr/>
        <p:txBody>
          <a:bodyPr/>
          <a:lstStyle/>
          <a:p>
            <a:r>
              <a:rPr lang="en-US" b="1" dirty="0">
                <a:solidFill>
                  <a:srgbClr val="FF0000"/>
                </a:solidFill>
              </a:rPr>
              <a:t>How to use Axios Library to get data</a:t>
            </a:r>
          </a:p>
          <a:p>
            <a:pPr lvl="1"/>
            <a:r>
              <a:rPr lang="en-US" dirty="0"/>
              <a:t>In your application, create a file.</a:t>
            </a:r>
          </a:p>
          <a:p>
            <a:pPr lvl="1"/>
            <a:r>
              <a:rPr lang="en-US" dirty="0"/>
              <a:t>Install the package Axios into your application like this</a:t>
            </a:r>
          </a:p>
          <a:p>
            <a:pPr lvl="1"/>
            <a:endParaRPr lang="en-US" dirty="0"/>
          </a:p>
          <a:p>
            <a:pPr lvl="1"/>
            <a:endParaRPr lang="en-US" dirty="0"/>
          </a:p>
          <a:p>
            <a:pPr lvl="1"/>
            <a:r>
              <a:rPr lang="en-US" dirty="0"/>
              <a:t>Import Axios library into your application.</a:t>
            </a:r>
          </a:p>
          <a:p>
            <a:pPr lvl="1"/>
            <a:r>
              <a:rPr lang="en-US" dirty="0"/>
              <a:t>Import </a:t>
            </a:r>
            <a:r>
              <a:rPr lang="en-US" dirty="0" err="1"/>
              <a:t>useState</a:t>
            </a:r>
            <a:r>
              <a:rPr lang="en-US" dirty="0"/>
              <a:t>(), which enables state management in React.</a:t>
            </a:r>
          </a:p>
          <a:p>
            <a:pPr lvl="1"/>
            <a:r>
              <a:rPr lang="en-US" dirty="0"/>
              <a:t>Then import [</a:t>
            </a:r>
            <a:r>
              <a:rPr lang="en-US" dirty="0" err="1"/>
              <a:t>useEffect</a:t>
            </a:r>
            <a:r>
              <a:rPr lang="en-US" dirty="0"/>
              <a:t>] which facilitates the rendering of data from the API.</a:t>
            </a:r>
          </a:p>
        </p:txBody>
      </p:sp>
      <p:sp>
        <p:nvSpPr>
          <p:cNvPr id="4" name="Rectangle 1">
            <a:extLst>
              <a:ext uri="{FF2B5EF4-FFF2-40B4-BE49-F238E27FC236}">
                <a16:creationId xmlns:a16="http://schemas.microsoft.com/office/drawing/2014/main" id="{0E5F642A-9A34-79EB-CC3F-26FC07ED46BC}"/>
              </a:ext>
            </a:extLst>
          </p:cNvPr>
          <p:cNvSpPr>
            <a:spLocks noChangeArrowheads="1"/>
          </p:cNvSpPr>
          <p:nvPr/>
        </p:nvSpPr>
        <p:spPr bwMode="auto">
          <a:xfrm>
            <a:off x="3704466" y="3121223"/>
            <a:ext cx="4781550" cy="61555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rgbClr val="000000"/>
                </a:solidFill>
                <a:effectLst/>
                <a:latin typeface="Consolas" panose="020B0609020204030204" pitchFamily="49" charset="0"/>
              </a:rPr>
              <a:t> </a:t>
            </a:r>
            <a:r>
              <a:rPr kumimoji="0" lang="en-US" altLang="en-US" sz="3200" b="1" i="0" u="none" strike="noStrike" cap="none" normalizeH="0" baseline="0" dirty="0" err="1">
                <a:ln>
                  <a:noFill/>
                </a:ln>
                <a:solidFill>
                  <a:srgbClr val="000000"/>
                </a:solidFill>
                <a:effectLst/>
                <a:latin typeface="Consolas" panose="020B0609020204030204" pitchFamily="49" charset="0"/>
              </a:rPr>
              <a:t>npm</a:t>
            </a:r>
            <a:r>
              <a:rPr kumimoji="0" lang="en-US" altLang="en-US" sz="3200" b="1" i="0" u="none" strike="noStrike" cap="none" normalizeH="0" baseline="0" dirty="0">
                <a:ln>
                  <a:noFill/>
                </a:ln>
                <a:solidFill>
                  <a:srgbClr val="000000"/>
                </a:solidFill>
                <a:effectLst/>
                <a:latin typeface="Consolas" panose="020B0609020204030204" pitchFamily="49" charset="0"/>
              </a:rPr>
              <a:t> </a:t>
            </a:r>
            <a:r>
              <a:rPr kumimoji="0" lang="en-US" altLang="en-US" sz="3200" b="1" i="0" u="none" strike="noStrike" cap="none" normalizeH="0" baseline="0" dirty="0" err="1">
                <a:ln>
                  <a:noFill/>
                </a:ln>
                <a:solidFill>
                  <a:srgbClr val="000000"/>
                </a:solidFill>
                <a:effectLst/>
                <a:latin typeface="Consolas" panose="020B0609020204030204" pitchFamily="49" charset="0"/>
              </a:rPr>
              <a:t>i</a:t>
            </a:r>
            <a:r>
              <a:rPr kumimoji="0" lang="en-US" altLang="en-US" sz="3200" b="1" i="0" u="none" strike="noStrike" cap="none" normalizeH="0" baseline="0" dirty="0">
                <a:ln>
                  <a:noFill/>
                </a:ln>
                <a:solidFill>
                  <a:srgbClr val="000000"/>
                </a:solidFill>
                <a:effectLst/>
                <a:latin typeface="Consolas" panose="020B0609020204030204" pitchFamily="49" charset="0"/>
              </a:rPr>
              <a:t> </a:t>
            </a:r>
            <a:r>
              <a:rPr kumimoji="0" lang="en-US" altLang="en-US" sz="3200" b="1" i="0" u="none" strike="noStrike" cap="none" normalizeH="0" baseline="0" dirty="0" err="1">
                <a:ln>
                  <a:noFill/>
                </a:ln>
                <a:solidFill>
                  <a:srgbClr val="000000"/>
                </a:solidFill>
                <a:effectLst/>
                <a:latin typeface="Consolas" panose="020B0609020204030204" pitchFamily="49" charset="0"/>
              </a:rPr>
              <a:t>axios</a:t>
            </a:r>
            <a:r>
              <a:rPr kumimoji="0" lang="en-US" altLang="en-US" sz="4000" b="1" i="0" u="none" strike="noStrike" cap="none" normalizeH="0" baseline="0" dirty="0">
                <a:ln>
                  <a:noFill/>
                </a:ln>
                <a:solidFill>
                  <a:schemeClr val="tx1"/>
                </a:solidFill>
                <a:effectLst/>
              </a:rPr>
              <a:t> </a:t>
            </a:r>
            <a:endParaRPr kumimoji="0" lang="en-US" altLang="en-US" sz="6000" b="1"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51385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DA690-25E2-D850-C670-12FC4A5B8625}"/>
              </a:ext>
            </a:extLst>
          </p:cNvPr>
          <p:cNvSpPr>
            <a:spLocks noGrp="1"/>
          </p:cNvSpPr>
          <p:nvPr>
            <p:ph type="title"/>
          </p:nvPr>
        </p:nvSpPr>
        <p:spPr/>
        <p:txBody>
          <a:bodyPr/>
          <a:lstStyle/>
          <a:p>
            <a:r>
              <a:rPr lang="en-US" dirty="0"/>
              <a:t>Use the Axios Library</a:t>
            </a:r>
          </a:p>
        </p:txBody>
      </p:sp>
      <p:sp>
        <p:nvSpPr>
          <p:cNvPr id="3" name="Text Placeholder 2">
            <a:extLst>
              <a:ext uri="{FF2B5EF4-FFF2-40B4-BE49-F238E27FC236}">
                <a16:creationId xmlns:a16="http://schemas.microsoft.com/office/drawing/2014/main" id="{97E50A55-9FEA-DA6E-5A3C-509229A2EED3}"/>
              </a:ext>
            </a:extLst>
          </p:cNvPr>
          <p:cNvSpPr>
            <a:spLocks noGrp="1"/>
          </p:cNvSpPr>
          <p:nvPr>
            <p:ph type="body" idx="1"/>
          </p:nvPr>
        </p:nvSpPr>
        <p:spPr/>
        <p:txBody>
          <a:bodyPr/>
          <a:lstStyle/>
          <a:p>
            <a:r>
              <a:rPr lang="en-US" b="1" dirty="0" err="1"/>
              <a:t>Axios.jsx</a:t>
            </a:r>
            <a:endParaRPr lang="en-US" b="1" dirty="0"/>
          </a:p>
          <a:p>
            <a:endParaRPr lang="en-US" dirty="0"/>
          </a:p>
        </p:txBody>
      </p:sp>
      <p:pic>
        <p:nvPicPr>
          <p:cNvPr id="5" name="Picture 4">
            <a:extLst>
              <a:ext uri="{FF2B5EF4-FFF2-40B4-BE49-F238E27FC236}">
                <a16:creationId xmlns:a16="http://schemas.microsoft.com/office/drawing/2014/main" id="{C9BFC4C7-DEE7-4736-BA7B-A09AB91C4B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3111" y="2286000"/>
            <a:ext cx="8964260" cy="43132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48298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1932E-4862-BC51-5C1D-EE129EA51393}"/>
              </a:ext>
            </a:extLst>
          </p:cNvPr>
          <p:cNvSpPr>
            <a:spLocks noGrp="1"/>
          </p:cNvSpPr>
          <p:nvPr>
            <p:ph type="title"/>
          </p:nvPr>
        </p:nvSpPr>
        <p:spPr/>
        <p:txBody>
          <a:bodyPr/>
          <a:lstStyle/>
          <a:p>
            <a:r>
              <a:rPr lang="en-US" dirty="0"/>
              <a:t>Use the Axios Library</a:t>
            </a:r>
          </a:p>
        </p:txBody>
      </p:sp>
      <p:sp>
        <p:nvSpPr>
          <p:cNvPr id="3" name="Text Placeholder 2">
            <a:extLst>
              <a:ext uri="{FF2B5EF4-FFF2-40B4-BE49-F238E27FC236}">
                <a16:creationId xmlns:a16="http://schemas.microsoft.com/office/drawing/2014/main" id="{88D47CC3-08DD-AED4-2CA3-69B4C60CC3A1}"/>
              </a:ext>
            </a:extLst>
          </p:cNvPr>
          <p:cNvSpPr>
            <a:spLocks noGrp="1"/>
          </p:cNvSpPr>
          <p:nvPr>
            <p:ph type="body" idx="1"/>
          </p:nvPr>
        </p:nvSpPr>
        <p:spPr>
          <a:xfrm>
            <a:off x="1104900" y="1600200"/>
            <a:ext cx="10248900" cy="4572000"/>
          </a:xfrm>
        </p:spPr>
        <p:txBody>
          <a:bodyPr>
            <a:normAutofit/>
          </a:bodyPr>
          <a:lstStyle/>
          <a:p>
            <a:r>
              <a:rPr lang="en-US" b="1" dirty="0" err="1"/>
              <a:t>Axios.jsx</a:t>
            </a:r>
            <a:endParaRPr lang="en-US" b="1" dirty="0"/>
          </a:p>
          <a:p>
            <a:pPr lvl="1"/>
            <a:r>
              <a:rPr lang="en-US" dirty="0"/>
              <a:t>Inside </a:t>
            </a:r>
            <a:r>
              <a:rPr lang="en-US" b="1" dirty="0" err="1"/>
              <a:t>useEffect</a:t>
            </a:r>
            <a:r>
              <a:rPr lang="en-US" b="1" dirty="0"/>
              <a:t>() </a:t>
            </a:r>
            <a:r>
              <a:rPr lang="en-US" dirty="0"/>
              <a:t>we fetch our data by sending a request with the </a:t>
            </a:r>
            <a:r>
              <a:rPr lang="en-US" b="1" dirty="0"/>
              <a:t>API key. </a:t>
            </a:r>
            <a:r>
              <a:rPr lang="en-US" dirty="0"/>
              <a:t>The response comes back in JSON (JavaScript Object Notation).</a:t>
            </a:r>
          </a:p>
          <a:p>
            <a:pPr lvl="1"/>
            <a:r>
              <a:rPr lang="en-US" dirty="0"/>
              <a:t>We use a </a:t>
            </a:r>
            <a:r>
              <a:rPr lang="en-US" b="1" dirty="0"/>
              <a:t>map() </a:t>
            </a:r>
            <a:r>
              <a:rPr lang="en-US" dirty="0"/>
              <a:t>function in the return </a:t>
            </a:r>
            <a:r>
              <a:rPr lang="en-US" b="1" dirty="0"/>
              <a:t>statement</a:t>
            </a:r>
            <a:r>
              <a:rPr lang="en-US" dirty="0"/>
              <a:t>. The </a:t>
            </a:r>
            <a:r>
              <a:rPr lang="en-US" b="1" dirty="0"/>
              <a:t>map() </a:t>
            </a:r>
            <a:r>
              <a:rPr lang="en-US" dirty="0"/>
              <a:t>function helps us process the meals. It iterates through each piece of information.</a:t>
            </a:r>
          </a:p>
          <a:p>
            <a:pPr lvl="1"/>
            <a:r>
              <a:rPr lang="en-US" dirty="0"/>
              <a:t>In our specific scenario, we are only interested in the images of each meal.</a:t>
            </a:r>
          </a:p>
          <a:p>
            <a:pPr lvl="1"/>
            <a:r>
              <a:rPr lang="en-US" dirty="0"/>
              <a:t>To display them in the browser, we render them in the root of the application, which could be </a:t>
            </a:r>
            <a:r>
              <a:rPr lang="en-US" b="1" dirty="0" err="1"/>
              <a:t>App.jsx</a:t>
            </a:r>
            <a:r>
              <a:rPr lang="en-US" b="1" dirty="0"/>
              <a:t> </a:t>
            </a:r>
            <a:r>
              <a:rPr lang="en-US" dirty="0"/>
              <a:t>or </a:t>
            </a:r>
            <a:r>
              <a:rPr lang="en-US" b="1" dirty="0"/>
              <a:t>Index.js.</a:t>
            </a:r>
          </a:p>
          <a:p>
            <a:endParaRPr lang="en-US" dirty="0"/>
          </a:p>
        </p:txBody>
      </p:sp>
    </p:spTree>
    <p:extLst>
      <p:ext uri="{BB962C8B-B14F-4D97-AF65-F5344CB8AC3E}">
        <p14:creationId xmlns:p14="http://schemas.microsoft.com/office/powerpoint/2010/main" val="32359202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25605-BE86-C9BB-8E8E-DB6CDCCDCEDC}"/>
              </a:ext>
            </a:extLst>
          </p:cNvPr>
          <p:cNvSpPr>
            <a:spLocks noGrp="1"/>
          </p:cNvSpPr>
          <p:nvPr>
            <p:ph type="title"/>
          </p:nvPr>
        </p:nvSpPr>
        <p:spPr>
          <a:xfrm>
            <a:off x="1104900" y="76200"/>
            <a:ext cx="10553700" cy="1096962"/>
          </a:xfrm>
        </p:spPr>
        <p:txBody>
          <a:bodyPr>
            <a:normAutofit/>
          </a:bodyPr>
          <a:lstStyle/>
          <a:p>
            <a:r>
              <a:rPr lang="en-US" sz="3200" dirty="0"/>
              <a:t>Use the </a:t>
            </a:r>
            <a:r>
              <a:rPr lang="en-US" sz="3200" dirty="0" err="1"/>
              <a:t>useFetch</a:t>
            </a:r>
            <a:r>
              <a:rPr lang="en-US" sz="3200" dirty="0"/>
              <a:t> custom hook from react-fetch-hook</a:t>
            </a:r>
          </a:p>
        </p:txBody>
      </p:sp>
      <p:sp>
        <p:nvSpPr>
          <p:cNvPr id="3" name="Text Placeholder 2">
            <a:extLst>
              <a:ext uri="{FF2B5EF4-FFF2-40B4-BE49-F238E27FC236}">
                <a16:creationId xmlns:a16="http://schemas.microsoft.com/office/drawing/2014/main" id="{35232456-6323-FEA2-E549-31F62B159514}"/>
              </a:ext>
            </a:extLst>
          </p:cNvPr>
          <p:cNvSpPr>
            <a:spLocks noGrp="1"/>
          </p:cNvSpPr>
          <p:nvPr>
            <p:ph type="body" idx="1"/>
          </p:nvPr>
        </p:nvSpPr>
        <p:spPr>
          <a:xfrm>
            <a:off x="1104900" y="1600200"/>
            <a:ext cx="10210800" cy="4914900"/>
          </a:xfrm>
        </p:spPr>
        <p:txBody>
          <a:bodyPr>
            <a:normAutofit lnSpcReduction="10000"/>
          </a:bodyPr>
          <a:lstStyle/>
          <a:p>
            <a:r>
              <a:rPr lang="en-US" b="1" dirty="0">
                <a:solidFill>
                  <a:srgbClr val="FF0000"/>
                </a:solidFill>
              </a:rPr>
              <a:t>A custom hook </a:t>
            </a:r>
            <a:r>
              <a:rPr lang="en-US" dirty="0"/>
              <a:t>in React is a JavaScript function. It is reusable and leverages </a:t>
            </a:r>
            <a:r>
              <a:rPr lang="en-US" b="1" dirty="0" err="1"/>
              <a:t>React's</a:t>
            </a:r>
            <a:r>
              <a:rPr lang="en-US" b="1" dirty="0"/>
              <a:t> built-in hooks</a:t>
            </a:r>
            <a:r>
              <a:rPr lang="en-US" dirty="0"/>
              <a:t>. </a:t>
            </a:r>
          </a:p>
          <a:p>
            <a:pPr lvl="1"/>
            <a:r>
              <a:rPr lang="en-US" dirty="0"/>
              <a:t>The purpose is to encapsulate and share logic across multiple components. </a:t>
            </a:r>
          </a:p>
          <a:p>
            <a:pPr lvl="1"/>
            <a:r>
              <a:rPr lang="en-US" dirty="0"/>
              <a:t>A custom hook allows us to reuse the fetching logic in various components of our app.</a:t>
            </a:r>
          </a:p>
          <a:p>
            <a:r>
              <a:rPr lang="en-US" b="1" dirty="0"/>
              <a:t>Advantages of a custom hook</a:t>
            </a:r>
          </a:p>
          <a:p>
            <a:pPr lvl="1"/>
            <a:r>
              <a:rPr lang="en-US" dirty="0"/>
              <a:t>make the reusability of logic across multiple components easy.</a:t>
            </a:r>
          </a:p>
          <a:p>
            <a:pPr lvl="1"/>
            <a:r>
              <a:rPr lang="en-US" dirty="0"/>
              <a:t>make the code readable, concise, and maintainable by abstracting complex logic.</a:t>
            </a:r>
          </a:p>
          <a:p>
            <a:pPr lvl="1"/>
            <a:r>
              <a:rPr lang="en-US" b="0" i="0" dirty="0">
                <a:solidFill>
                  <a:srgbClr val="0A0A23"/>
                </a:solidFill>
                <a:effectLst/>
                <a:latin typeface="Lato" panose="020F0502020204030203" pitchFamily="34" charset="0"/>
              </a:rPr>
              <a:t>allow you to test code independently, allow you to build bigger features with less code.</a:t>
            </a:r>
            <a:endParaRPr lang="en-US" dirty="0"/>
          </a:p>
        </p:txBody>
      </p:sp>
    </p:spTree>
    <p:extLst>
      <p:ext uri="{BB962C8B-B14F-4D97-AF65-F5344CB8AC3E}">
        <p14:creationId xmlns:p14="http://schemas.microsoft.com/office/powerpoint/2010/main" val="2124400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A6448-7BA1-A9F5-DFCA-6F1EEEEDC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45877-BBB5-C430-0E69-EE5156B2ED01}"/>
              </a:ext>
            </a:extLst>
          </p:cNvPr>
          <p:cNvSpPr>
            <a:spLocks noGrp="1"/>
          </p:cNvSpPr>
          <p:nvPr>
            <p:ph type="title"/>
          </p:nvPr>
        </p:nvSpPr>
        <p:spPr>
          <a:xfrm>
            <a:off x="1104900" y="76200"/>
            <a:ext cx="10363200" cy="1096962"/>
          </a:xfrm>
        </p:spPr>
        <p:txBody>
          <a:bodyPr>
            <a:normAutofit/>
          </a:bodyPr>
          <a:lstStyle/>
          <a:p>
            <a:r>
              <a:rPr lang="en-US" sz="3200" dirty="0"/>
              <a:t>Use the </a:t>
            </a:r>
            <a:r>
              <a:rPr lang="en-US" sz="3200" dirty="0" err="1"/>
              <a:t>useFetch</a:t>
            </a:r>
            <a:r>
              <a:rPr lang="en-US" sz="3200" dirty="0"/>
              <a:t> custom hook from react-fetch-hook</a:t>
            </a:r>
          </a:p>
        </p:txBody>
      </p:sp>
      <p:sp>
        <p:nvSpPr>
          <p:cNvPr id="3" name="Text Placeholder 2">
            <a:extLst>
              <a:ext uri="{FF2B5EF4-FFF2-40B4-BE49-F238E27FC236}">
                <a16:creationId xmlns:a16="http://schemas.microsoft.com/office/drawing/2014/main" id="{20BA0EAB-918A-90B7-6770-A373862093A7}"/>
              </a:ext>
            </a:extLst>
          </p:cNvPr>
          <p:cNvSpPr>
            <a:spLocks noGrp="1"/>
          </p:cNvSpPr>
          <p:nvPr>
            <p:ph type="body" idx="1"/>
          </p:nvPr>
        </p:nvSpPr>
        <p:spPr/>
        <p:txBody>
          <a:bodyPr/>
          <a:lstStyle/>
          <a:p>
            <a:r>
              <a:rPr lang="en-US" b="1" dirty="0">
                <a:solidFill>
                  <a:srgbClr val="FF0000"/>
                </a:solidFill>
              </a:rPr>
              <a:t>How to get data using a custom hook</a:t>
            </a:r>
          </a:p>
          <a:p>
            <a:pPr lvl="1"/>
            <a:r>
              <a:rPr lang="en-US" dirty="0"/>
              <a:t>Open the terminal in your application.</a:t>
            </a:r>
          </a:p>
          <a:p>
            <a:pPr lvl="1"/>
            <a:r>
              <a:rPr lang="en-US" dirty="0"/>
              <a:t>Type this command to install the required package.</a:t>
            </a:r>
          </a:p>
          <a:p>
            <a:pPr lvl="1"/>
            <a:endParaRPr lang="en-US" dirty="0"/>
          </a:p>
          <a:p>
            <a:pPr lvl="1"/>
            <a:endParaRPr lang="en-US" dirty="0"/>
          </a:p>
          <a:p>
            <a:pPr lvl="1"/>
            <a:r>
              <a:rPr lang="en-US" dirty="0"/>
              <a:t>Once the installation is complete, navigate to the start of your application's file. Add the following line to import the </a:t>
            </a:r>
            <a:r>
              <a:rPr lang="en-US" b="1" dirty="0" err="1"/>
              <a:t>useFetch</a:t>
            </a:r>
            <a:r>
              <a:rPr lang="en-US" b="1" dirty="0"/>
              <a:t> hook</a:t>
            </a:r>
            <a:r>
              <a:rPr lang="en-US" dirty="0"/>
              <a:t>:</a:t>
            </a:r>
          </a:p>
        </p:txBody>
      </p:sp>
      <p:sp>
        <p:nvSpPr>
          <p:cNvPr id="4" name="Rectangle 1">
            <a:extLst>
              <a:ext uri="{FF2B5EF4-FFF2-40B4-BE49-F238E27FC236}">
                <a16:creationId xmlns:a16="http://schemas.microsoft.com/office/drawing/2014/main" id="{D857F7C0-C17E-08E5-FC51-ECC492F5D4BF}"/>
              </a:ext>
            </a:extLst>
          </p:cNvPr>
          <p:cNvSpPr>
            <a:spLocks noChangeArrowheads="1"/>
          </p:cNvSpPr>
          <p:nvPr/>
        </p:nvSpPr>
        <p:spPr bwMode="auto">
          <a:xfrm>
            <a:off x="2590800" y="3067365"/>
            <a:ext cx="7010400"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00"/>
                </a:solidFill>
                <a:effectLst/>
                <a:latin typeface="Consolas" panose="020B0609020204030204" pitchFamily="49" charset="0"/>
              </a:rPr>
              <a:t> </a:t>
            </a:r>
            <a:r>
              <a:rPr kumimoji="0" lang="en-US" altLang="en-US" sz="2800" b="1" i="0" u="none" strike="noStrike" cap="none" normalizeH="0" baseline="0" dirty="0" err="1">
                <a:ln>
                  <a:noFill/>
                </a:ln>
                <a:solidFill>
                  <a:srgbClr val="000000"/>
                </a:solidFill>
                <a:effectLst/>
                <a:latin typeface="Consolas" panose="020B0609020204030204" pitchFamily="49" charset="0"/>
              </a:rPr>
              <a:t>npm</a:t>
            </a:r>
            <a:r>
              <a:rPr kumimoji="0" lang="en-US" altLang="en-US" sz="2800" b="1" i="0" u="none" strike="noStrike" cap="none" normalizeH="0" baseline="0" dirty="0">
                <a:ln>
                  <a:noFill/>
                </a:ln>
                <a:solidFill>
                  <a:srgbClr val="000000"/>
                </a:solidFill>
                <a:effectLst/>
                <a:latin typeface="Consolas" panose="020B0609020204030204" pitchFamily="49" charset="0"/>
              </a:rPr>
              <a:t> install react</a:t>
            </a:r>
            <a:r>
              <a:rPr kumimoji="0" lang="en-US" altLang="en-US" sz="2800" b="1" i="0" u="none" strike="noStrike" cap="none" normalizeH="0" baseline="0" dirty="0">
                <a:ln>
                  <a:noFill/>
                </a:ln>
                <a:solidFill>
                  <a:srgbClr val="9A6E3A"/>
                </a:solidFill>
                <a:effectLst/>
                <a:latin typeface="inherit"/>
              </a:rPr>
              <a:t>-</a:t>
            </a:r>
            <a:r>
              <a:rPr kumimoji="0" lang="en-US" altLang="en-US" sz="2800" b="1" i="0" u="none" strike="noStrike" cap="none" normalizeH="0" baseline="0" dirty="0">
                <a:ln>
                  <a:noFill/>
                </a:ln>
                <a:solidFill>
                  <a:srgbClr val="000000"/>
                </a:solidFill>
                <a:effectLst/>
                <a:latin typeface="Consolas" panose="020B0609020204030204" pitchFamily="49" charset="0"/>
              </a:rPr>
              <a:t>fetch</a:t>
            </a:r>
            <a:r>
              <a:rPr kumimoji="0" lang="en-US" altLang="en-US" sz="2800" b="1" i="0" u="none" strike="noStrike" cap="none" normalizeH="0" baseline="0" dirty="0">
                <a:ln>
                  <a:noFill/>
                </a:ln>
                <a:solidFill>
                  <a:srgbClr val="9A6E3A"/>
                </a:solidFill>
                <a:effectLst/>
                <a:latin typeface="inherit"/>
              </a:rPr>
              <a:t>-</a:t>
            </a:r>
            <a:r>
              <a:rPr kumimoji="0" lang="en-US" altLang="en-US" sz="2800" b="1" i="0" u="none" strike="noStrike" cap="none" normalizeH="0" baseline="0" dirty="0">
                <a:ln>
                  <a:noFill/>
                </a:ln>
                <a:solidFill>
                  <a:srgbClr val="000000"/>
                </a:solidFill>
                <a:effectLst/>
                <a:latin typeface="Consolas" panose="020B0609020204030204" pitchFamily="49" charset="0"/>
              </a:rPr>
              <a:t>hook</a:t>
            </a:r>
            <a:r>
              <a:rPr kumimoji="0" lang="en-US" altLang="en-US" sz="3600" b="1" i="0" u="none" strike="noStrike" cap="none" normalizeH="0" baseline="0" dirty="0">
                <a:ln>
                  <a:noFill/>
                </a:ln>
                <a:solidFill>
                  <a:schemeClr val="tx1"/>
                </a:solidFill>
                <a:effectLst/>
              </a:rPr>
              <a:t> </a:t>
            </a:r>
            <a:endParaRPr kumimoji="0" lang="en-US" altLang="en-US" sz="5400" b="1"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CF047A7C-753B-14AB-9DD9-BFE004909D46}"/>
              </a:ext>
            </a:extLst>
          </p:cNvPr>
          <p:cNvSpPr>
            <a:spLocks noChangeArrowheads="1"/>
          </p:cNvSpPr>
          <p:nvPr/>
        </p:nvSpPr>
        <p:spPr bwMode="auto">
          <a:xfrm>
            <a:off x="2590800" y="4811529"/>
            <a:ext cx="7010400" cy="55399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rgbClr val="0077AA"/>
                </a:solidFill>
                <a:effectLst/>
                <a:latin typeface="inherit"/>
              </a:rPr>
              <a:t>import</a:t>
            </a:r>
            <a:r>
              <a:rPr kumimoji="0" lang="en-US" altLang="en-US" sz="2800" b="1" i="0" u="none" strike="noStrike" cap="none" normalizeH="0" baseline="0">
                <a:ln>
                  <a:noFill/>
                </a:ln>
                <a:solidFill>
                  <a:srgbClr val="000000"/>
                </a:solidFill>
                <a:effectLst/>
                <a:latin typeface="Consolas" panose="020B0609020204030204" pitchFamily="49" charset="0"/>
              </a:rPr>
              <a:t> useFetch </a:t>
            </a:r>
            <a:r>
              <a:rPr kumimoji="0" lang="en-US" altLang="en-US" sz="2800" b="1" i="0" u="none" strike="noStrike" cap="none" normalizeH="0" baseline="0">
                <a:ln>
                  <a:noFill/>
                </a:ln>
                <a:solidFill>
                  <a:srgbClr val="0077AA"/>
                </a:solidFill>
                <a:effectLst/>
                <a:latin typeface="inherit"/>
              </a:rPr>
              <a:t>from</a:t>
            </a:r>
            <a:r>
              <a:rPr kumimoji="0" lang="en-US" altLang="en-US" sz="2800" b="1" i="0" u="none" strike="noStrike" cap="none" normalizeH="0" baseline="0">
                <a:ln>
                  <a:noFill/>
                </a:ln>
                <a:solidFill>
                  <a:srgbClr val="000000"/>
                </a:solidFill>
                <a:effectLst/>
                <a:latin typeface="Consolas" panose="020B0609020204030204" pitchFamily="49" charset="0"/>
              </a:rPr>
              <a:t> </a:t>
            </a:r>
            <a:r>
              <a:rPr kumimoji="0" lang="en-US" altLang="en-US" sz="2800" b="1" i="0" u="none" strike="noStrike" cap="none" normalizeH="0" baseline="0">
                <a:ln>
                  <a:noFill/>
                </a:ln>
                <a:solidFill>
                  <a:srgbClr val="669900"/>
                </a:solidFill>
                <a:effectLst/>
                <a:latin typeface="inherit"/>
              </a:rPr>
              <a:t>"react-fetch-hook"</a:t>
            </a:r>
            <a:r>
              <a:rPr kumimoji="0" lang="en-US" altLang="en-US" sz="2800" b="1" i="0" u="none" strike="noStrike" cap="none" normalizeH="0" baseline="0">
                <a:ln>
                  <a:noFill/>
                </a:ln>
                <a:solidFill>
                  <a:srgbClr val="999999"/>
                </a:solidFill>
                <a:effectLst/>
                <a:latin typeface="inherit"/>
              </a:rPr>
              <a:t>;</a:t>
            </a:r>
            <a:r>
              <a:rPr kumimoji="0" lang="en-US" altLang="en-US" sz="3600" b="1" i="0" u="none" strike="noStrike" cap="none" normalizeH="0" baseline="0">
                <a:ln>
                  <a:noFill/>
                </a:ln>
                <a:solidFill>
                  <a:schemeClr val="tx1"/>
                </a:solidFill>
                <a:effectLst/>
              </a:rPr>
              <a:t> </a:t>
            </a:r>
            <a:endParaRPr kumimoji="0" lang="en-US" altLang="en-US" sz="5400" b="1"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83056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B97B7-2FF7-3050-4712-CB27751D2881}"/>
              </a:ext>
            </a:extLst>
          </p:cNvPr>
          <p:cNvSpPr>
            <a:spLocks noGrp="1"/>
          </p:cNvSpPr>
          <p:nvPr>
            <p:ph type="title"/>
          </p:nvPr>
        </p:nvSpPr>
        <p:spPr>
          <a:xfrm>
            <a:off x="1104900" y="76200"/>
            <a:ext cx="10496550" cy="1096962"/>
          </a:xfrm>
        </p:spPr>
        <p:txBody>
          <a:bodyPr>
            <a:normAutofit/>
          </a:bodyPr>
          <a:lstStyle/>
          <a:p>
            <a:r>
              <a:rPr lang="en-US" sz="3200" dirty="0"/>
              <a:t>Use the </a:t>
            </a:r>
            <a:r>
              <a:rPr lang="en-US" sz="3200" dirty="0" err="1"/>
              <a:t>useFetch</a:t>
            </a:r>
            <a:r>
              <a:rPr lang="en-US" sz="3200" dirty="0"/>
              <a:t> custom hook from react-fetch-hook</a:t>
            </a:r>
          </a:p>
        </p:txBody>
      </p:sp>
      <p:sp>
        <p:nvSpPr>
          <p:cNvPr id="3" name="Text Placeholder 2">
            <a:extLst>
              <a:ext uri="{FF2B5EF4-FFF2-40B4-BE49-F238E27FC236}">
                <a16:creationId xmlns:a16="http://schemas.microsoft.com/office/drawing/2014/main" id="{639320D3-249D-D8E0-B9CB-A3FB0C85C11B}"/>
              </a:ext>
            </a:extLst>
          </p:cNvPr>
          <p:cNvSpPr>
            <a:spLocks noGrp="1"/>
          </p:cNvSpPr>
          <p:nvPr>
            <p:ph type="body" idx="1"/>
          </p:nvPr>
        </p:nvSpPr>
        <p:spPr/>
        <p:txBody>
          <a:bodyPr>
            <a:normAutofit/>
          </a:bodyPr>
          <a:lstStyle/>
          <a:p>
            <a:r>
              <a:rPr lang="en-US" b="1" dirty="0">
                <a:solidFill>
                  <a:srgbClr val="FF0000"/>
                </a:solidFill>
              </a:rPr>
              <a:t>How to get data using a custom hook</a:t>
            </a:r>
          </a:p>
          <a:p>
            <a:pPr lvl="1"/>
            <a:r>
              <a:rPr lang="en-US" dirty="0"/>
              <a:t>Create variables to keep track of errors, loading states, and data by using </a:t>
            </a:r>
            <a:r>
              <a:rPr lang="en-US" dirty="0" err="1"/>
              <a:t>destructuring</a:t>
            </a:r>
            <a:r>
              <a:rPr lang="en-US" dirty="0"/>
              <a:t>.</a:t>
            </a:r>
          </a:p>
          <a:p>
            <a:pPr lvl="1"/>
            <a:r>
              <a:rPr lang="en-US" dirty="0"/>
              <a:t>In your application, </a:t>
            </a:r>
            <a:r>
              <a:rPr lang="en-US" b="1" dirty="0"/>
              <a:t>make API </a:t>
            </a:r>
            <a:r>
              <a:rPr lang="en-US" dirty="0"/>
              <a:t>calls using the </a:t>
            </a:r>
            <a:r>
              <a:rPr lang="en-US" b="1" dirty="0" err="1"/>
              <a:t>useFetch</a:t>
            </a:r>
            <a:r>
              <a:rPr lang="en-US" b="1" dirty="0"/>
              <a:t> hook</a:t>
            </a:r>
            <a:r>
              <a:rPr lang="en-US" dirty="0"/>
              <a:t>. Update the variables.</a:t>
            </a:r>
          </a:p>
        </p:txBody>
      </p:sp>
    </p:spTree>
    <p:extLst>
      <p:ext uri="{BB962C8B-B14F-4D97-AF65-F5344CB8AC3E}">
        <p14:creationId xmlns:p14="http://schemas.microsoft.com/office/powerpoint/2010/main" val="448505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29615-B170-460D-2920-DD7E6D3F50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5D05E-840F-C524-3C85-FD69AA271F6C}"/>
              </a:ext>
            </a:extLst>
          </p:cNvPr>
          <p:cNvSpPr>
            <a:spLocks noGrp="1"/>
          </p:cNvSpPr>
          <p:nvPr>
            <p:ph type="title"/>
          </p:nvPr>
        </p:nvSpPr>
        <p:spPr>
          <a:xfrm>
            <a:off x="1104900" y="76200"/>
            <a:ext cx="10496550" cy="1096962"/>
          </a:xfrm>
        </p:spPr>
        <p:txBody>
          <a:bodyPr>
            <a:normAutofit/>
          </a:bodyPr>
          <a:lstStyle/>
          <a:p>
            <a:r>
              <a:rPr lang="en-US" sz="3200" dirty="0"/>
              <a:t>Use the </a:t>
            </a:r>
            <a:r>
              <a:rPr lang="en-US" sz="3200" dirty="0" err="1"/>
              <a:t>useFetch</a:t>
            </a:r>
            <a:r>
              <a:rPr lang="en-US" sz="3200" dirty="0"/>
              <a:t> custom hook from react-fetch-hook</a:t>
            </a:r>
          </a:p>
        </p:txBody>
      </p:sp>
      <p:sp>
        <p:nvSpPr>
          <p:cNvPr id="3" name="Text Placeholder 2">
            <a:extLst>
              <a:ext uri="{FF2B5EF4-FFF2-40B4-BE49-F238E27FC236}">
                <a16:creationId xmlns:a16="http://schemas.microsoft.com/office/drawing/2014/main" id="{6F1D3B84-E047-04C9-26E5-F919E9AB55F9}"/>
              </a:ext>
            </a:extLst>
          </p:cNvPr>
          <p:cNvSpPr>
            <a:spLocks noGrp="1"/>
          </p:cNvSpPr>
          <p:nvPr>
            <p:ph type="body" idx="1"/>
          </p:nvPr>
        </p:nvSpPr>
        <p:spPr/>
        <p:txBody>
          <a:bodyPr/>
          <a:lstStyle/>
          <a:p>
            <a:r>
              <a:rPr lang="en-US" b="1" dirty="0">
                <a:solidFill>
                  <a:srgbClr val="FF0000"/>
                </a:solidFill>
              </a:rPr>
              <a:t>How to get data using a custom hook</a:t>
            </a:r>
          </a:p>
          <a:p>
            <a:r>
              <a:rPr lang="en-US" dirty="0"/>
              <a:t>Example: </a:t>
            </a:r>
          </a:p>
        </p:txBody>
      </p:sp>
      <p:pic>
        <p:nvPicPr>
          <p:cNvPr id="5" name="Picture 4">
            <a:extLst>
              <a:ext uri="{FF2B5EF4-FFF2-40B4-BE49-F238E27FC236}">
                <a16:creationId xmlns:a16="http://schemas.microsoft.com/office/drawing/2014/main" id="{6B550F3E-3A39-5F6B-9BA9-A8BF4F3008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2218" y="2350495"/>
            <a:ext cx="8001532" cy="424874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75456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291BF-CE6F-9476-5CE0-5BACC4E96185}"/>
              </a:ext>
            </a:extLst>
          </p:cNvPr>
          <p:cNvSpPr>
            <a:spLocks noGrp="1"/>
          </p:cNvSpPr>
          <p:nvPr>
            <p:ph type="title"/>
          </p:nvPr>
        </p:nvSpPr>
        <p:spPr/>
        <p:txBody>
          <a:bodyPr/>
          <a:lstStyle/>
          <a:p>
            <a:r>
              <a:rPr lang="en-US" dirty="0"/>
              <a:t>Displaying Data</a:t>
            </a:r>
          </a:p>
        </p:txBody>
      </p:sp>
      <p:sp>
        <p:nvSpPr>
          <p:cNvPr id="3" name="Text Placeholder 2">
            <a:extLst>
              <a:ext uri="{FF2B5EF4-FFF2-40B4-BE49-F238E27FC236}">
                <a16:creationId xmlns:a16="http://schemas.microsoft.com/office/drawing/2014/main" id="{DB055974-F9ED-BD8A-08AE-2B707221E64E}"/>
              </a:ext>
            </a:extLst>
          </p:cNvPr>
          <p:cNvSpPr>
            <a:spLocks noGrp="1"/>
          </p:cNvSpPr>
          <p:nvPr>
            <p:ph type="body" idx="1"/>
          </p:nvPr>
        </p:nvSpPr>
        <p:spPr/>
        <p:txBody>
          <a:bodyPr/>
          <a:lstStyle/>
          <a:p>
            <a:r>
              <a:rPr lang="en-US" b="1" dirty="0">
                <a:solidFill>
                  <a:srgbClr val="FF0000"/>
                </a:solidFill>
              </a:rPr>
              <a:t>Mapping and Rendering Data</a:t>
            </a:r>
          </a:p>
          <a:p>
            <a:endParaRPr lang="en-US" dirty="0"/>
          </a:p>
          <a:p>
            <a:endParaRPr lang="en-US" dirty="0"/>
          </a:p>
        </p:txBody>
      </p:sp>
    </p:spTree>
    <p:extLst>
      <p:ext uri="{BB962C8B-B14F-4D97-AF65-F5344CB8AC3E}">
        <p14:creationId xmlns:p14="http://schemas.microsoft.com/office/powerpoint/2010/main" val="2326681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444FE-DBCF-3BF1-BE97-1D0A1DFE8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2FB03-74CD-1FD8-A06E-8441BB8CFF36}"/>
              </a:ext>
            </a:extLst>
          </p:cNvPr>
          <p:cNvSpPr>
            <a:spLocks noGrp="1"/>
          </p:cNvSpPr>
          <p:nvPr>
            <p:ph type="title"/>
          </p:nvPr>
        </p:nvSpPr>
        <p:spPr/>
        <p:txBody>
          <a:bodyPr/>
          <a:lstStyle/>
          <a:p>
            <a:r>
              <a:rPr lang="en-US" dirty="0"/>
              <a:t>Displaying Data</a:t>
            </a:r>
          </a:p>
        </p:txBody>
      </p:sp>
      <p:sp>
        <p:nvSpPr>
          <p:cNvPr id="3" name="Text Placeholder 2">
            <a:extLst>
              <a:ext uri="{FF2B5EF4-FFF2-40B4-BE49-F238E27FC236}">
                <a16:creationId xmlns:a16="http://schemas.microsoft.com/office/drawing/2014/main" id="{CE1C4CC7-AC43-19B3-9496-FC504CF70CCE}"/>
              </a:ext>
            </a:extLst>
          </p:cNvPr>
          <p:cNvSpPr>
            <a:spLocks noGrp="1"/>
          </p:cNvSpPr>
          <p:nvPr>
            <p:ph type="body" idx="1"/>
          </p:nvPr>
        </p:nvSpPr>
        <p:spPr/>
        <p:txBody>
          <a:bodyPr/>
          <a:lstStyle/>
          <a:p>
            <a:r>
              <a:rPr lang="en-US" dirty="0"/>
              <a:t>Pagination</a:t>
            </a:r>
          </a:p>
          <a:p>
            <a:endParaRPr lang="en-US" dirty="0"/>
          </a:p>
        </p:txBody>
      </p:sp>
    </p:spTree>
    <p:extLst>
      <p:ext uri="{BB962C8B-B14F-4D97-AF65-F5344CB8AC3E}">
        <p14:creationId xmlns:p14="http://schemas.microsoft.com/office/powerpoint/2010/main" val="3168799646"/>
      </p:ext>
    </p:extLst>
  </p:cSld>
  <p:clrMapOvr>
    <a:masterClrMapping/>
  </p:clrMapOvr>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Custom 6">
      <a:majorFont>
        <a:latin typeface="Arial (Heading)"/>
        <a:ea typeface=""/>
        <a:cs typeface=""/>
      </a:majorFont>
      <a:minorFont>
        <a:latin typeface="Arial"/>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3448</TotalTime>
  <Words>2125</Words>
  <Application>Microsoft Office PowerPoint</Application>
  <PresentationFormat>Widescreen</PresentationFormat>
  <Paragraphs>163</Paragraphs>
  <Slides>27</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Arial (Heading)</vt:lpstr>
      <vt:lpstr>Arial Black</vt:lpstr>
      <vt:lpstr>Consolas</vt:lpstr>
      <vt:lpstr>Euphemia</vt:lpstr>
      <vt:lpstr>inherit</vt:lpstr>
      <vt:lpstr>Lato</vt:lpstr>
      <vt:lpstr>Wingdings</vt:lpstr>
      <vt:lpstr>Academic Literature 16x9</vt:lpstr>
      <vt:lpstr>PowerPoint Presentation</vt:lpstr>
      <vt:lpstr>Working with API</vt:lpstr>
      <vt:lpstr>Working with API</vt:lpstr>
      <vt:lpstr>Working with API</vt:lpstr>
      <vt:lpstr>Working with API</vt:lpstr>
      <vt:lpstr>Working with API</vt:lpstr>
      <vt:lpstr>Fetch Data in React</vt:lpstr>
      <vt:lpstr>Fetch Data in React</vt:lpstr>
      <vt:lpstr>Using JavaScript fetch() method</vt:lpstr>
      <vt:lpstr>Using JavaScript fetch() method</vt:lpstr>
      <vt:lpstr>Using JavaScript fetch() method</vt:lpstr>
      <vt:lpstr>Use the React Query library</vt:lpstr>
      <vt:lpstr>Use the React Query library</vt:lpstr>
      <vt:lpstr>Use the React Query library</vt:lpstr>
      <vt:lpstr>Use the React Query library</vt:lpstr>
      <vt:lpstr>Use the React Query library</vt:lpstr>
      <vt:lpstr>Use the React Query library</vt:lpstr>
      <vt:lpstr> Use the Axios Library</vt:lpstr>
      <vt:lpstr>Use the Axios Library</vt:lpstr>
      <vt:lpstr>Use the Axios Library</vt:lpstr>
      <vt:lpstr>Use the Axios Library</vt:lpstr>
      <vt:lpstr>Use the useFetch custom hook from react-fetch-hook</vt:lpstr>
      <vt:lpstr>Use the useFetch custom hook from react-fetch-hook</vt:lpstr>
      <vt:lpstr>Use the useFetch custom hook from react-fetch-hook</vt:lpstr>
      <vt:lpstr>Use the useFetch custom hook from react-fetch-hook</vt:lpstr>
      <vt:lpstr>Displaying Data</vt:lpstr>
      <vt:lpstr>Displaying Data</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License For You And Lifetime</dc:creator>
  <cp:lastModifiedBy>Xuan Hien</cp:lastModifiedBy>
  <cp:revision>25</cp:revision>
  <dcterms:created xsi:type="dcterms:W3CDTF">2024-10-17T15:22:21Z</dcterms:created>
  <dcterms:modified xsi:type="dcterms:W3CDTF">2024-12-21T18:57:49Z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