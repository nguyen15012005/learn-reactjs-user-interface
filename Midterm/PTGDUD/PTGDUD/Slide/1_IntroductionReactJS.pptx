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Lst>
  <p:sldSz cy="6858000" cx="12192000"/>
  <p:notesSz cx="6858000" cy="9144000"/>
  <p:embeddedFontLst>
    <p:embeddedFont>
      <p:font typeface="Nunito"/>
      <p:regular r:id="rId75"/>
      <p:bold r:id="rId76"/>
      <p:italic r:id="rId77"/>
      <p:boldItalic r:id="rId78"/>
    </p:embeddedFont>
    <p:embeddedFont>
      <p:font typeface="Arial Black"/>
      <p:regular r:id="rId79"/>
    </p:embeddedFont>
    <p:embeddedFont>
      <p:font typeface="Open Sans"/>
      <p:regular r:id="rId80"/>
      <p:bold r:id="rId81"/>
      <p:italic r:id="rId82"/>
      <p:boldItalic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84" roundtripDataSignature="AMtx7mj6Q9aIt8kwOwA4h7AwsWUno2YK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FCE8B8-2298-4237-8CC4-835AD0581C78}">
  <a:tblStyle styleId="{A9FCE8B8-2298-4237-8CC4-835AD0581C78}" styleName="Table_0">
    <a:wholeTbl>
      <a:tcTxStyle b="off" i="off">
        <a:font>
          <a:latin typeface="Arial"/>
          <a:ea typeface="Arial"/>
          <a:cs typeface="Arial"/>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customschemas.google.com/relationships/presentationmetadata" Target="metadata"/><Relationship Id="rId83" Type="http://schemas.openxmlformats.org/officeDocument/2006/relationships/font" Target="fonts/OpenSans-boldItalic.fnt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OpenSans-regular.fntdata"/><Relationship Id="rId82" Type="http://schemas.openxmlformats.org/officeDocument/2006/relationships/font" Target="fonts/OpenSans-italic.fntdata"/><Relationship Id="rId81" Type="http://schemas.openxmlformats.org/officeDocument/2006/relationships/font" Target="fonts/Open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font" Target="fonts/Nunito-regular.fntdata"/><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font" Target="fonts/Nunito-italic.fntdata"/><Relationship Id="rId32" Type="http://schemas.openxmlformats.org/officeDocument/2006/relationships/slide" Target="slides/slide26.xml"/><Relationship Id="rId76" Type="http://schemas.openxmlformats.org/officeDocument/2006/relationships/font" Target="fonts/Nunito-bold.fntdata"/><Relationship Id="rId35" Type="http://schemas.openxmlformats.org/officeDocument/2006/relationships/slide" Target="slides/slide29.xml"/><Relationship Id="rId79" Type="http://schemas.openxmlformats.org/officeDocument/2006/relationships/font" Target="fonts/ArialBlack-regular.fntdata"/><Relationship Id="rId34" Type="http://schemas.openxmlformats.org/officeDocument/2006/relationships/slide" Target="slides/slide28.xml"/><Relationship Id="rId78" Type="http://schemas.openxmlformats.org/officeDocument/2006/relationships/font" Target="fonts/Nunito-boldItalic.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1" lang="en-US">
                <a:latin typeface="Arial"/>
                <a:ea typeface="Arial"/>
                <a:cs typeface="Arial"/>
                <a:sym typeface="Arial"/>
              </a:rPr>
              <a:t>NOTE:</a:t>
            </a:r>
            <a:endParaRPr/>
          </a:p>
          <a:p>
            <a:pPr indent="0" lvl="0" marL="0" rtl="0" algn="l">
              <a:spcBef>
                <a:spcPts val="0"/>
              </a:spcBef>
              <a:spcAft>
                <a:spcPts val="0"/>
              </a:spcAft>
              <a:buNone/>
            </a:pPr>
            <a:r>
              <a:rPr i="1" lang="en-US">
                <a:latin typeface="Arial"/>
                <a:ea typeface="Arial"/>
                <a:cs typeface="Arial"/>
                <a:sym typeface="Arial"/>
              </a:rPr>
              <a:t>To change the  image on this slide, select the picture and delete it. Then click the Pictures icon in the placeholder to insert your own image.</a:t>
            </a:r>
            <a:endParaRPr/>
          </a:p>
        </p:txBody>
      </p:sp>
      <p:sp>
        <p:nvSpPr>
          <p:cNvPr id="124" name="Google Shape;12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Virtual DOM: Giảm thiểu thao tác DOM trực tiếp để cập nhật nhanh hơn.</a:t>
            </a:r>
            <a:endParaRPr/>
          </a:p>
          <a:p>
            <a:pPr indent="0" lvl="0" marL="0" rtl="0" algn="l">
              <a:spcBef>
                <a:spcPts val="0"/>
              </a:spcBef>
              <a:spcAft>
                <a:spcPts val="0"/>
              </a:spcAft>
              <a:buNone/>
            </a:pPr>
            <a:r>
              <a:rPr lang="en-US"/>
              <a:t>JSX (JavaScript XML): Tiện ích mở rộng cú pháp trông giống HTML và tích hợp liền mạch với JavaScript, giúp mã dễ đọc và có cấu trúc hơn.</a:t>
            </a:r>
            <a:endParaRPr/>
          </a:p>
          <a:p>
            <a:pPr indent="0" lvl="0" marL="0" rtl="0" algn="l">
              <a:spcBef>
                <a:spcPts val="0"/>
              </a:spcBef>
              <a:spcAft>
                <a:spcPts val="0"/>
              </a:spcAft>
              <a:buNone/>
            </a:pPr>
            <a:r>
              <a:rPr lang="en-US"/>
              <a:t>Kiến trúc dựa trên thành phần: Khuyến khích tạo các thành phần nhỏ, có thể tái sử dụng, có thể được kết hợp thành UI phức tạp.</a:t>
            </a:r>
            <a:endParaRPr/>
          </a:p>
          <a:p>
            <a:pPr indent="0" lvl="0" marL="0" rtl="0" algn="l">
              <a:spcBef>
                <a:spcPts val="0"/>
              </a:spcBef>
              <a:spcAft>
                <a:spcPts val="0"/>
              </a:spcAft>
              <a:buNone/>
            </a:pPr>
            <a:r>
              <a:rPr lang="en-US"/>
              <a:t>Luồng dữ liệu đơn hướng: Dữ liệu chảy từ thành phần cha sang thành phần con, giúp quản lý dữ liệu có thể dự đoán được và dễ gỡ lỗi hơn.</a:t>
            </a:r>
            <a:endParaRPr/>
          </a:p>
        </p:txBody>
      </p:sp>
      <p:sp>
        <p:nvSpPr>
          <p:cNvPr id="147" name="Google Shape;14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Node.js rất cần thiết vì nó chạy mã JavaScript bên ngoài trình duyệt, trong khi NPM giúp quản lý các gói cần thiết cho các dự án của bạn</a:t>
            </a:r>
            <a:endParaRPr/>
          </a:p>
        </p:txBody>
      </p:sp>
      <p:sp>
        <p:nvSpPr>
          <p:cNvPr id="173" name="Google Shape;17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2" marL="914400" rtl="0" algn="l">
              <a:spcBef>
                <a:spcPts val="0"/>
              </a:spcBef>
              <a:spcAft>
                <a:spcPts val="0"/>
              </a:spcAft>
              <a:buNone/>
            </a:pPr>
            <a:r>
              <a:rPr b="1" lang="en-US" sz="1200"/>
              <a:t>Node.js </a:t>
            </a:r>
            <a:r>
              <a:rPr lang="en-US" sz="1200"/>
              <a:t>is a runtime that allows you to run JavaScript code.</a:t>
            </a:r>
            <a:endParaRPr/>
          </a:p>
          <a:p>
            <a:pPr indent="0" lvl="2" marL="914400" rtl="0" algn="l">
              <a:spcBef>
                <a:spcPts val="0"/>
              </a:spcBef>
              <a:spcAft>
                <a:spcPts val="0"/>
              </a:spcAft>
              <a:buNone/>
            </a:pPr>
            <a:r>
              <a:rPr b="1" lang="en-US" sz="1200"/>
              <a:t>npm</a:t>
            </a:r>
            <a:r>
              <a:rPr lang="en-US" sz="1200"/>
              <a:t> is the package manager for </a:t>
            </a:r>
            <a:r>
              <a:rPr b="1" lang="en-US" sz="1200"/>
              <a:t>Node.js</a:t>
            </a:r>
            <a:r>
              <a:rPr lang="en-US" sz="1200"/>
              <a:t>, which helps install and manage libraries.</a:t>
            </a:r>
            <a:endParaRPr/>
          </a:p>
          <a:p>
            <a:pPr indent="0" lvl="0" marL="0" rtl="0" algn="l">
              <a:spcBef>
                <a:spcPts val="0"/>
              </a:spcBef>
              <a:spcAft>
                <a:spcPts val="0"/>
              </a:spcAft>
              <a:buNone/>
            </a:pPr>
            <a:r>
              <a:t/>
            </a:r>
            <a:endParaRPr/>
          </a:p>
        </p:txBody>
      </p:sp>
      <p:sp>
        <p:nvSpPr>
          <p:cNvPr id="180" name="Google Shape;18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JSX (JavaScript XML)</a:t>
            </a:r>
            <a:endParaRPr/>
          </a:p>
          <a:p>
            <a:pPr indent="0" lvl="0" marL="0" rtl="0" algn="l">
              <a:spcBef>
                <a:spcPts val="0"/>
              </a:spcBef>
              <a:spcAft>
                <a:spcPts val="0"/>
              </a:spcAft>
              <a:buNone/>
            </a:pPr>
            <a:r>
              <a:rPr lang="en-US"/>
              <a:t>React sử dụng JSX, là phần mở rộng cú pháp cho JavaScript. Nó trông giống HTML nhưng có thể bao gồm các biểu thức JavaScript. JSX được biên dịch thành JavaScript thông thường khi chạy.</a:t>
            </a:r>
            <a:endParaRPr/>
          </a:p>
          <a:p>
            <a:pPr indent="0" lvl="0" marL="0" rtl="0" algn="l">
              <a:spcBef>
                <a:spcPts val="0"/>
              </a:spcBef>
              <a:spcAft>
                <a:spcPts val="0"/>
              </a:spcAft>
              <a:buNone/>
            </a:pPr>
            <a:r>
              <a:rPr lang="en-US"/>
              <a:t>JSX cho phép các nhà phát triển xác định cấu trúc UI trực tiếp trong thành phần, giúp dễ hình dung bố cục của UI trong mã hơn.</a:t>
            </a:r>
            <a:endParaRPr/>
          </a:p>
        </p:txBody>
      </p:sp>
      <p:sp>
        <p:nvSpPr>
          <p:cNvPr id="278" name="Google Shape;278;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a:t>When creating a React component, the component's name MUST start with an upper case letter.</a:t>
            </a:r>
            <a:endParaRPr/>
          </a:p>
          <a:p>
            <a:pPr indent="0" lvl="0" marL="0" marR="0" rtl="0" algn="l">
              <a:lnSpc>
                <a:spcPct val="100000"/>
              </a:lnSpc>
              <a:spcBef>
                <a:spcPts val="0"/>
              </a:spcBef>
              <a:spcAft>
                <a:spcPts val="0"/>
              </a:spcAft>
              <a:buClr>
                <a:srgbClr val="1B1B1B"/>
              </a:buClr>
              <a:buSzPts val="1200"/>
              <a:buFont typeface="Open Sans"/>
              <a:buNone/>
            </a:pPr>
            <a:r>
              <a:rPr b="1" i="0" lang="en-US">
                <a:solidFill>
                  <a:srgbClr val="1B1B1B"/>
                </a:solidFill>
                <a:latin typeface="Open Sans"/>
                <a:ea typeface="Open Sans"/>
                <a:cs typeface="Open Sans"/>
                <a:sym typeface="Open Sans"/>
              </a:rPr>
              <a:t>Các Class components là những class ES6.</a:t>
            </a:r>
            <a:r>
              <a:rPr b="0" i="0" lang="en-US">
                <a:solidFill>
                  <a:srgbClr val="1B1B1B"/>
                </a:solidFill>
                <a:latin typeface="Open Sans"/>
                <a:ea typeface="Open Sans"/>
                <a:cs typeface="Open Sans"/>
                <a:sym typeface="Open Sans"/>
              </a:rPr>
              <a:t> Chúng phức tạp hơn functional components ở chỗ nó còn có: phương thức khởi tạo, life-cycle, hàm render() và quản lý state (data).</a:t>
            </a:r>
            <a:endParaRPr b="0" i="0">
              <a:solidFill>
                <a:srgbClr val="1B1B1B"/>
              </a:solidFill>
              <a:latin typeface="Open Sans"/>
              <a:ea typeface="Open Sans"/>
              <a:cs typeface="Open Sans"/>
              <a:sym typeface="Open Sans"/>
            </a:endParaRPr>
          </a:p>
          <a:p>
            <a:pPr indent="0" lvl="0" marL="0" rtl="0" algn="l">
              <a:spcBef>
                <a:spcPts val="0"/>
              </a:spcBef>
              <a:spcAft>
                <a:spcPts val="0"/>
              </a:spcAft>
              <a:buNone/>
            </a:pPr>
            <a:r>
              <a:rPr b="0" i="0" lang="en-US">
                <a:solidFill>
                  <a:srgbClr val="1B1B1B"/>
                </a:solidFill>
                <a:latin typeface="Open Sans"/>
                <a:ea typeface="Open Sans"/>
                <a:cs typeface="Open Sans"/>
                <a:sym typeface="Open Sans"/>
              </a:rPr>
              <a:t>Vì vậy, một React class component là:</a:t>
            </a:r>
            <a:endParaRPr/>
          </a:p>
          <a:p>
            <a:pPr indent="-76200" lvl="0" marL="0" rtl="0" algn="l">
              <a:spcBef>
                <a:spcPts val="0"/>
              </a:spcBef>
              <a:spcAft>
                <a:spcPts val="0"/>
              </a:spcAft>
              <a:buClr>
                <a:srgbClr val="1B1B1B"/>
              </a:buClr>
              <a:buSzPts val="1200"/>
              <a:buFont typeface="Arial"/>
              <a:buChar char="•"/>
            </a:pPr>
            <a:r>
              <a:rPr b="0" i="0" lang="en-US">
                <a:solidFill>
                  <a:srgbClr val="1B1B1B"/>
                </a:solidFill>
                <a:latin typeface="Open Sans"/>
                <a:ea typeface="Open Sans"/>
                <a:cs typeface="Open Sans"/>
                <a:sym typeface="Open Sans"/>
              </a:rPr>
              <a:t>là một class ES6, nó sẽ là một component khi nó "kế thừa" React </a:t>
            </a:r>
            <a:r>
              <a:rPr b="1" i="0" lang="en-US">
                <a:solidFill>
                  <a:srgbClr val="1B1B1B"/>
                </a:solidFill>
                <a:latin typeface="Open Sans"/>
                <a:ea typeface="Open Sans"/>
                <a:cs typeface="Open Sans"/>
                <a:sym typeface="Open Sans"/>
              </a:rPr>
              <a:t>component</a:t>
            </a:r>
            <a:r>
              <a:rPr b="0" i="0" lang="en-US">
                <a:solidFill>
                  <a:srgbClr val="1B1B1B"/>
                </a:solidFill>
                <a:latin typeface="Open Sans"/>
                <a:ea typeface="Open Sans"/>
                <a:cs typeface="Open Sans"/>
                <a:sym typeface="Open Sans"/>
              </a:rPr>
              <a:t>.</a:t>
            </a:r>
            <a:endParaRPr/>
          </a:p>
          <a:p>
            <a:pPr indent="-76200" lvl="0" marL="0" rtl="0" algn="l">
              <a:spcBef>
                <a:spcPts val="0"/>
              </a:spcBef>
              <a:spcAft>
                <a:spcPts val="0"/>
              </a:spcAft>
              <a:buClr>
                <a:srgbClr val="1B1B1B"/>
              </a:buClr>
              <a:buSzPts val="1200"/>
              <a:buFont typeface="Arial"/>
              <a:buChar char="•"/>
            </a:pPr>
            <a:r>
              <a:rPr b="0" i="0" lang="en-US">
                <a:solidFill>
                  <a:srgbClr val="1B1B1B"/>
                </a:solidFill>
                <a:latin typeface="Open Sans"/>
                <a:ea typeface="Open Sans"/>
                <a:cs typeface="Open Sans"/>
                <a:sym typeface="Open Sans"/>
              </a:rPr>
              <a:t>có thể nhận </a:t>
            </a:r>
            <a:r>
              <a:rPr b="1" i="0" lang="en-US">
                <a:solidFill>
                  <a:srgbClr val="1B1B1B"/>
                </a:solidFill>
                <a:latin typeface="Open Sans"/>
                <a:ea typeface="Open Sans"/>
                <a:cs typeface="Open Sans"/>
                <a:sym typeface="Open Sans"/>
              </a:rPr>
              <a:t>props</a:t>
            </a:r>
            <a:r>
              <a:rPr b="0" i="0" lang="en-US">
                <a:solidFill>
                  <a:srgbClr val="1B1B1B"/>
                </a:solidFill>
                <a:latin typeface="Open Sans"/>
                <a:ea typeface="Open Sans"/>
                <a:cs typeface="Open Sans"/>
                <a:sym typeface="Open Sans"/>
              </a:rPr>
              <a:t> (trong hàm khởi tạo) nếu cần.</a:t>
            </a:r>
            <a:endParaRPr/>
          </a:p>
          <a:p>
            <a:pPr indent="-76200" lvl="0" marL="0" rtl="0" algn="l">
              <a:spcBef>
                <a:spcPts val="0"/>
              </a:spcBef>
              <a:spcAft>
                <a:spcPts val="0"/>
              </a:spcAft>
              <a:buClr>
                <a:srgbClr val="1B1B1B"/>
              </a:buClr>
              <a:buSzPts val="1200"/>
              <a:buFont typeface="Arial"/>
              <a:buChar char="•"/>
            </a:pPr>
            <a:r>
              <a:rPr b="0" i="0" lang="en-US">
                <a:solidFill>
                  <a:srgbClr val="1B1B1B"/>
                </a:solidFill>
                <a:latin typeface="Open Sans"/>
                <a:ea typeface="Open Sans"/>
                <a:cs typeface="Open Sans"/>
                <a:sym typeface="Open Sans"/>
              </a:rPr>
              <a:t>có thể maintain data của nó với </a:t>
            </a:r>
            <a:r>
              <a:rPr b="1" i="0" lang="en-US">
                <a:solidFill>
                  <a:srgbClr val="1B1B1B"/>
                </a:solidFill>
                <a:latin typeface="Open Sans"/>
                <a:ea typeface="Open Sans"/>
                <a:cs typeface="Open Sans"/>
                <a:sym typeface="Open Sans"/>
              </a:rPr>
              <a:t>state</a:t>
            </a:r>
            <a:endParaRPr b="0" i="0">
              <a:solidFill>
                <a:srgbClr val="1B1B1B"/>
              </a:solidFill>
              <a:latin typeface="Open Sans"/>
              <a:ea typeface="Open Sans"/>
              <a:cs typeface="Open Sans"/>
              <a:sym typeface="Open Sans"/>
            </a:endParaRPr>
          </a:p>
          <a:p>
            <a:pPr indent="-76200" lvl="0" marL="0" rtl="0" algn="l">
              <a:spcBef>
                <a:spcPts val="0"/>
              </a:spcBef>
              <a:spcAft>
                <a:spcPts val="0"/>
              </a:spcAft>
              <a:buClr>
                <a:srgbClr val="1B1B1B"/>
              </a:buClr>
              <a:buSzPts val="1200"/>
              <a:buFont typeface="Arial"/>
              <a:buChar char="•"/>
            </a:pPr>
            <a:r>
              <a:rPr b="0" i="0" lang="en-US">
                <a:solidFill>
                  <a:srgbClr val="1B1B1B"/>
                </a:solidFill>
                <a:latin typeface="Open Sans"/>
                <a:ea typeface="Open Sans"/>
                <a:cs typeface="Open Sans"/>
                <a:sym typeface="Open Sans"/>
              </a:rPr>
              <a:t>phải có 1 method </a:t>
            </a:r>
            <a:r>
              <a:rPr b="1" i="0" lang="en-US">
                <a:solidFill>
                  <a:srgbClr val="1B1B1B"/>
                </a:solidFill>
                <a:latin typeface="Open Sans"/>
                <a:ea typeface="Open Sans"/>
                <a:cs typeface="Open Sans"/>
                <a:sym typeface="Open Sans"/>
              </a:rPr>
              <a:t>render()</a:t>
            </a:r>
            <a:r>
              <a:rPr b="0" i="0" lang="en-US">
                <a:solidFill>
                  <a:srgbClr val="1B1B1B"/>
                </a:solidFill>
                <a:latin typeface="Open Sans"/>
                <a:ea typeface="Open Sans"/>
                <a:cs typeface="Open Sans"/>
                <a:sym typeface="Open Sans"/>
              </a:rPr>
              <a:t> trả về 1 React element (JSX), or null</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rtl="0" algn="l">
              <a:spcBef>
                <a:spcPts val="0"/>
              </a:spcBef>
              <a:spcAft>
                <a:spcPts val="0"/>
              </a:spcAft>
              <a:buNone/>
            </a:pPr>
            <a:r>
              <a:t/>
            </a:r>
            <a:endParaRPr/>
          </a:p>
        </p:txBody>
      </p:sp>
      <p:sp>
        <p:nvSpPr>
          <p:cNvPr id="393" name="Google Shape;393;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a:solidFill>
                  <a:srgbClr val="1B1B1B"/>
                </a:solidFill>
                <a:latin typeface="Open Sans"/>
                <a:ea typeface="Open Sans"/>
                <a:cs typeface="Open Sans"/>
                <a:sym typeface="Open Sans"/>
              </a:rPr>
              <a:t>1 functional component là một hàm Javascript (hoặc ES6) trả về 1 phần tử/1 element React.</a:t>
            </a:r>
            <a:r>
              <a:rPr b="0" i="0" lang="en-US">
                <a:solidFill>
                  <a:srgbClr val="1B1B1B"/>
                </a:solidFill>
                <a:latin typeface="Open Sans"/>
                <a:ea typeface="Open Sans"/>
                <a:cs typeface="Open Sans"/>
                <a:sym typeface="Open Sans"/>
              </a:rPr>
              <a:t> Theo official docs của React, </a:t>
            </a:r>
            <a:endParaRPr/>
          </a:p>
          <a:p>
            <a:pPr indent="0" lvl="0" marL="0" rtl="0" algn="l">
              <a:spcBef>
                <a:spcPts val="0"/>
              </a:spcBef>
              <a:spcAft>
                <a:spcPts val="0"/>
              </a:spcAft>
              <a:buNone/>
            </a:pPr>
            <a:r>
              <a:rPr b="1" i="0" lang="en-US">
                <a:solidFill>
                  <a:srgbClr val="686868"/>
                </a:solidFill>
                <a:latin typeface="Open Sans"/>
                <a:ea typeface="Open Sans"/>
                <a:cs typeface="Open Sans"/>
                <a:sym typeface="Open Sans"/>
              </a:rPr>
              <a:t>Functional components cũng được nói với một cái tên là stateless components</a:t>
            </a:r>
            <a:r>
              <a:rPr b="0" i="0" lang="en-US">
                <a:solidFill>
                  <a:srgbClr val="686868"/>
                </a:solidFill>
                <a:latin typeface="Open Sans"/>
                <a:ea typeface="Open Sans"/>
                <a:cs typeface="Open Sans"/>
                <a:sym typeface="Open Sans"/>
              </a:rPr>
              <a:t> bởi vì chúng ta không thể làm nhiều thứ phức tạp như quản lý React State (data) hoặc phương thức life-cycle trong functional components.</a:t>
            </a:r>
            <a:endParaRPr b="0" i="0">
              <a:solidFill>
                <a:srgbClr val="1B1B1B"/>
              </a:solidFill>
              <a:latin typeface="Open Sans"/>
              <a:ea typeface="Open Sans"/>
              <a:cs typeface="Open Sans"/>
              <a:sym typeface="Open Sans"/>
            </a:endParaRPr>
          </a:p>
          <a:p>
            <a:pPr indent="0" lvl="0" marL="0" rtl="0" algn="l">
              <a:spcBef>
                <a:spcPts val="0"/>
              </a:spcBef>
              <a:spcAft>
                <a:spcPts val="0"/>
              </a:spcAft>
              <a:buNone/>
            </a:pPr>
            <a:r>
              <a:rPr b="0" i="0" lang="en-US">
                <a:solidFill>
                  <a:srgbClr val="1B1B1B"/>
                </a:solidFill>
                <a:latin typeface="Open Sans"/>
                <a:ea typeface="Open Sans"/>
                <a:cs typeface="Open Sans"/>
                <a:sym typeface="Open Sans"/>
              </a:rPr>
              <a:t>Vậy 1 </a:t>
            </a:r>
            <a:r>
              <a:rPr b="1" i="0" lang="en-US">
                <a:solidFill>
                  <a:srgbClr val="1B1B1B"/>
                </a:solidFill>
                <a:latin typeface="Open Sans"/>
                <a:ea typeface="Open Sans"/>
                <a:cs typeface="Open Sans"/>
                <a:sym typeface="Open Sans"/>
              </a:rPr>
              <a:t>React Functional Component là</a:t>
            </a:r>
            <a:r>
              <a:rPr b="0" i="0" lang="en-US">
                <a:solidFill>
                  <a:srgbClr val="1B1B1B"/>
                </a:solidFill>
                <a:latin typeface="Open Sans"/>
                <a:ea typeface="Open Sans"/>
                <a:cs typeface="Open Sans"/>
                <a:sym typeface="Open Sans"/>
              </a:rPr>
              <a:t>:</a:t>
            </a:r>
            <a:endParaRPr/>
          </a:p>
          <a:p>
            <a:pPr indent="-76200" lvl="0" marL="0" rtl="0" algn="l">
              <a:spcBef>
                <a:spcPts val="0"/>
              </a:spcBef>
              <a:spcAft>
                <a:spcPts val="0"/>
              </a:spcAft>
              <a:buClr>
                <a:srgbClr val="1B1B1B"/>
              </a:buClr>
              <a:buSzPts val="1200"/>
              <a:buFont typeface="Arial"/>
              <a:buChar char="•"/>
            </a:pPr>
            <a:r>
              <a:rPr b="0" i="0" lang="en-US">
                <a:solidFill>
                  <a:srgbClr val="1B1B1B"/>
                </a:solidFill>
                <a:latin typeface="Open Sans"/>
                <a:ea typeface="Open Sans"/>
                <a:cs typeface="Open Sans"/>
                <a:sym typeface="Open Sans"/>
              </a:rPr>
              <a:t>một function </a:t>
            </a:r>
            <a:r>
              <a:rPr b="1" i="0" lang="en-US">
                <a:solidFill>
                  <a:srgbClr val="1B1B1B"/>
                </a:solidFill>
                <a:latin typeface="Open Sans"/>
                <a:ea typeface="Open Sans"/>
                <a:cs typeface="Open Sans"/>
                <a:sym typeface="Open Sans"/>
              </a:rPr>
              <a:t>Javascript / ES6</a:t>
            </a:r>
            <a:r>
              <a:rPr b="0" i="0" lang="en-US">
                <a:solidFill>
                  <a:srgbClr val="1B1B1B"/>
                </a:solidFill>
                <a:latin typeface="Open Sans"/>
                <a:ea typeface="Open Sans"/>
                <a:cs typeface="Open Sans"/>
                <a:sym typeface="Open Sans"/>
              </a:rPr>
              <a:t> function</a:t>
            </a:r>
            <a:endParaRPr/>
          </a:p>
          <a:p>
            <a:pPr indent="-76200" lvl="0" marL="0" rtl="0" algn="l">
              <a:spcBef>
                <a:spcPts val="0"/>
              </a:spcBef>
              <a:spcAft>
                <a:spcPts val="0"/>
              </a:spcAft>
              <a:buClr>
                <a:srgbClr val="1B1B1B"/>
              </a:buClr>
              <a:buSzPts val="1200"/>
              <a:buFont typeface="Arial"/>
              <a:buChar char="•"/>
            </a:pPr>
            <a:r>
              <a:rPr b="0" i="0" lang="en-US">
                <a:solidFill>
                  <a:srgbClr val="1B1B1B"/>
                </a:solidFill>
                <a:latin typeface="Open Sans"/>
                <a:ea typeface="Open Sans"/>
                <a:cs typeface="Open Sans"/>
                <a:sym typeface="Open Sans"/>
              </a:rPr>
              <a:t>phải trả về 1 </a:t>
            </a:r>
            <a:r>
              <a:rPr b="1" i="0" lang="en-US">
                <a:solidFill>
                  <a:srgbClr val="1B1B1B"/>
                </a:solidFill>
                <a:latin typeface="Open Sans"/>
                <a:ea typeface="Open Sans"/>
                <a:cs typeface="Open Sans"/>
                <a:sym typeface="Open Sans"/>
              </a:rPr>
              <a:t>React element</a:t>
            </a:r>
            <a:endParaRPr b="0" i="0">
              <a:solidFill>
                <a:srgbClr val="1B1B1B"/>
              </a:solidFill>
              <a:latin typeface="Open Sans"/>
              <a:ea typeface="Open Sans"/>
              <a:cs typeface="Open Sans"/>
              <a:sym typeface="Open Sans"/>
            </a:endParaRPr>
          </a:p>
          <a:p>
            <a:pPr indent="-76200" lvl="0" marL="0" rtl="0" algn="l">
              <a:spcBef>
                <a:spcPts val="0"/>
              </a:spcBef>
              <a:spcAft>
                <a:spcPts val="0"/>
              </a:spcAft>
              <a:buClr>
                <a:srgbClr val="1B1B1B"/>
              </a:buClr>
              <a:buSzPts val="1200"/>
              <a:buFont typeface="Arial"/>
              <a:buChar char="•"/>
            </a:pPr>
            <a:r>
              <a:rPr b="0" i="0" lang="en-US">
                <a:solidFill>
                  <a:srgbClr val="1B1B1B"/>
                </a:solidFill>
                <a:latin typeface="Open Sans"/>
                <a:ea typeface="Open Sans"/>
                <a:cs typeface="Open Sans"/>
                <a:sym typeface="Open Sans"/>
              </a:rPr>
              <a:t>nhận </a:t>
            </a:r>
            <a:r>
              <a:rPr b="1" i="0" lang="en-US">
                <a:solidFill>
                  <a:srgbClr val="1B1B1B"/>
                </a:solidFill>
                <a:latin typeface="Open Sans"/>
                <a:ea typeface="Open Sans"/>
                <a:cs typeface="Open Sans"/>
                <a:sym typeface="Open Sans"/>
              </a:rPr>
              <a:t>props</a:t>
            </a:r>
            <a:r>
              <a:rPr b="0" i="0" lang="en-US">
                <a:solidFill>
                  <a:srgbClr val="1B1B1B"/>
                </a:solidFill>
                <a:latin typeface="Open Sans"/>
                <a:ea typeface="Open Sans"/>
                <a:cs typeface="Open Sans"/>
                <a:sym typeface="Open Sans"/>
              </a:rPr>
              <a:t> làm tham số nếu cần</a:t>
            </a:r>
            <a:endParaRPr b="0" i="0">
              <a:solidFill>
                <a:srgbClr val="1B1B1B"/>
              </a:solidFill>
              <a:latin typeface="Open Sans"/>
              <a:ea typeface="Open Sans"/>
              <a:cs typeface="Open Sans"/>
              <a:sym typeface="Open Sans"/>
            </a:endParaRPr>
          </a:p>
          <a:p>
            <a:pPr indent="0" lvl="0" marL="0" rtl="0" algn="l">
              <a:spcBef>
                <a:spcPts val="0"/>
              </a:spcBef>
              <a:spcAft>
                <a:spcPts val="0"/>
              </a:spcAft>
              <a:buNone/>
            </a:pPr>
            <a:r>
              <a:t/>
            </a:r>
            <a:endParaRPr/>
          </a:p>
        </p:txBody>
      </p:sp>
      <p:sp>
        <p:nvSpPr>
          <p:cNvPr id="401" name="Google Shape;401;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 name="Google Shape;532;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6" name="Google Shape;546;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4" name="Google Shape;574;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Picture" showMasterSp="0">
  <p:cSld name="Title Slide with Picture">
    <p:spTree>
      <p:nvGrpSpPr>
        <p:cNvPr id="18" name="Shape 18"/>
        <p:cNvGrpSpPr/>
        <p:nvPr/>
      </p:nvGrpSpPr>
      <p:grpSpPr>
        <a:xfrm>
          <a:off x="0" y="0"/>
          <a:ext cx="0" cy="0"/>
          <a:chOff x="0" y="0"/>
          <a:chExt cx="0" cy="0"/>
        </a:xfrm>
      </p:grpSpPr>
      <p:sp>
        <p:nvSpPr>
          <p:cNvPr id="19" name="Google Shape;19;p70"/>
          <p:cNvSpPr txBox="1"/>
          <p:nvPr>
            <p:ph type="ctrTitle"/>
          </p:nvPr>
        </p:nvSpPr>
        <p:spPr>
          <a:xfrm>
            <a:off x="1104900" y="2292094"/>
            <a:ext cx="5734050" cy="2219691"/>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4400"/>
              <a:buFont typeface="Arial"/>
              <a:buNone/>
              <a:defRPr sz="4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70"/>
          <p:cNvSpPr txBox="1"/>
          <p:nvPr>
            <p:ph idx="1" type="subTitle"/>
          </p:nvPr>
        </p:nvSpPr>
        <p:spPr>
          <a:xfrm>
            <a:off x="1104900" y="4511784"/>
            <a:ext cx="5734050" cy="955565"/>
          </a:xfrm>
          <a:prstGeom prst="rect">
            <a:avLst/>
          </a:prstGeom>
          <a:noFill/>
          <a:ln>
            <a:noFill/>
          </a:ln>
        </p:spPr>
        <p:txBody>
          <a:bodyPr anchorCtr="0" anchor="t" bIns="45700" lIns="0" spcFirstLastPara="1" rIns="0" wrap="square" tIns="45700">
            <a:normAutofit/>
          </a:bodyPr>
          <a:lstStyle>
            <a:lvl1pPr lvl="0" algn="l">
              <a:lnSpc>
                <a:spcPct val="100000"/>
              </a:lnSpc>
              <a:spcBef>
                <a:spcPts val="0"/>
              </a:spcBef>
              <a:spcAft>
                <a:spcPts val="0"/>
              </a:spcAft>
              <a:buClr>
                <a:schemeClr val="dk1"/>
              </a:buClr>
              <a:buSzPts val="1800"/>
              <a:buNone/>
              <a:defRPr sz="1800"/>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descr="An empty placeholder to add an image. Click on the placeholder and select the image that you wish to add." id="21" name="Google Shape;21;p70"/>
          <p:cNvSpPr/>
          <p:nvPr>
            <p:ph idx="2" type="pic"/>
          </p:nvPr>
        </p:nvSpPr>
        <p:spPr>
          <a:xfrm>
            <a:off x="6981063" y="1310656"/>
            <a:ext cx="5210937" cy="4208604"/>
          </a:xfrm>
          <a:prstGeom prst="rect">
            <a:avLst/>
          </a:prstGeom>
          <a:solidFill>
            <a:srgbClr val="DED9D6"/>
          </a:solidFill>
          <a:ln>
            <a:noFill/>
          </a:ln>
        </p:spPr>
      </p:sp>
      <p:sp>
        <p:nvSpPr>
          <p:cNvPr id="22" name="Google Shape;22;p70"/>
          <p:cNvSpPr/>
          <p:nvPr/>
        </p:nvSpPr>
        <p:spPr>
          <a:xfrm>
            <a:off x="0" y="0"/>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23" name="Google Shape;23;p70"/>
          <p:cNvGrpSpPr/>
          <p:nvPr/>
        </p:nvGrpSpPr>
        <p:grpSpPr>
          <a:xfrm>
            <a:off x="0" y="1143000"/>
            <a:ext cx="12192000" cy="63125"/>
            <a:chOff x="507492" y="1501519"/>
            <a:chExt cx="8129016" cy="63125"/>
          </a:xfrm>
        </p:grpSpPr>
        <p:cxnSp>
          <p:nvCxnSpPr>
            <p:cNvPr id="24" name="Google Shape;24;p70"/>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25" name="Google Shape;25;p70"/>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pic>
        <p:nvPicPr>
          <p:cNvPr id="26" name="Google Shape;26;p70"/>
          <p:cNvPicPr preferRelativeResize="0"/>
          <p:nvPr/>
        </p:nvPicPr>
        <p:blipFill rotWithShape="1">
          <a:blip r:embed="rId2">
            <a:alphaModFix/>
          </a:blip>
          <a:srcRect b="0" l="0" r="0" t="0"/>
          <a:stretch/>
        </p:blipFill>
        <p:spPr>
          <a:xfrm>
            <a:off x="1325880" y="0"/>
            <a:ext cx="1747524" cy="2292094"/>
          </a:xfrm>
          <a:prstGeom prst="rect">
            <a:avLst/>
          </a:prstGeom>
          <a:noFill/>
          <a:ln>
            <a:noFill/>
          </a:ln>
        </p:spPr>
      </p:pic>
      <p:grpSp>
        <p:nvGrpSpPr>
          <p:cNvPr id="27" name="Google Shape;27;p70"/>
          <p:cNvGrpSpPr/>
          <p:nvPr/>
        </p:nvGrpSpPr>
        <p:grpSpPr>
          <a:xfrm rot="10800000">
            <a:off x="0" y="5645510"/>
            <a:ext cx="12192000" cy="63125"/>
            <a:chOff x="507492" y="1501519"/>
            <a:chExt cx="8129016" cy="63125"/>
          </a:xfrm>
        </p:grpSpPr>
        <p:cxnSp>
          <p:nvCxnSpPr>
            <p:cNvPr id="28" name="Google Shape;28;p70"/>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29" name="Google Shape;29;p70"/>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sp>
        <p:nvSpPr>
          <p:cNvPr id="30" name="Google Shape;30;p70"/>
          <p:cNvSpPr/>
          <p:nvPr/>
        </p:nvSpPr>
        <p:spPr>
          <a:xfrm>
            <a:off x="0" y="5778124"/>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1" name="Shape 31"/>
        <p:cNvGrpSpPr/>
        <p:nvPr/>
      </p:nvGrpSpPr>
      <p:grpSpPr>
        <a:xfrm>
          <a:off x="0" y="0"/>
          <a:ext cx="0" cy="0"/>
          <a:chOff x="0" y="0"/>
          <a:chExt cx="0" cy="0"/>
        </a:xfrm>
      </p:grpSpPr>
      <p:grpSp>
        <p:nvGrpSpPr>
          <p:cNvPr id="32" name="Google Shape;32;p71"/>
          <p:cNvGrpSpPr/>
          <p:nvPr/>
        </p:nvGrpSpPr>
        <p:grpSpPr>
          <a:xfrm>
            <a:off x="0" y="2514600"/>
            <a:ext cx="12192000" cy="3194035"/>
            <a:chOff x="647402" y="2514600"/>
            <a:chExt cx="10838688" cy="3194035"/>
          </a:xfrm>
        </p:grpSpPr>
        <p:grpSp>
          <p:nvGrpSpPr>
            <p:cNvPr id="33" name="Google Shape;33;p71"/>
            <p:cNvGrpSpPr/>
            <p:nvPr/>
          </p:nvGrpSpPr>
          <p:grpSpPr>
            <a:xfrm>
              <a:off x="647402" y="2514600"/>
              <a:ext cx="10838688" cy="63125"/>
              <a:chOff x="507492" y="1501519"/>
              <a:chExt cx="8129016" cy="63125"/>
            </a:xfrm>
          </p:grpSpPr>
          <p:cxnSp>
            <p:nvCxnSpPr>
              <p:cNvPr id="34" name="Google Shape;34;p71"/>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35" name="Google Shape;35;p71"/>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sp>
          <p:nvSpPr>
            <p:cNvPr id="36" name="Google Shape;36;p71"/>
            <p:cNvSpPr/>
            <p:nvPr/>
          </p:nvSpPr>
          <p:spPr>
            <a:xfrm>
              <a:off x="647402" y="2640850"/>
              <a:ext cx="10838688" cy="294153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7" name="Google Shape;37;p71"/>
            <p:cNvGrpSpPr/>
            <p:nvPr/>
          </p:nvGrpSpPr>
          <p:grpSpPr>
            <a:xfrm rot="10800000">
              <a:off x="647402" y="5645510"/>
              <a:ext cx="10838688" cy="63125"/>
              <a:chOff x="507492" y="1501519"/>
              <a:chExt cx="8129016" cy="63125"/>
            </a:xfrm>
          </p:grpSpPr>
          <p:cxnSp>
            <p:nvCxnSpPr>
              <p:cNvPr id="38" name="Google Shape;38;p71"/>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39" name="Google Shape;39;p71"/>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grpSp>
      <p:pic>
        <p:nvPicPr>
          <p:cNvPr id="40" name="Google Shape;40;p71"/>
          <p:cNvPicPr preferRelativeResize="0"/>
          <p:nvPr/>
        </p:nvPicPr>
        <p:blipFill rotWithShape="1">
          <a:blip r:embed="rId2">
            <a:alphaModFix/>
          </a:blip>
          <a:srcRect b="0" l="0" r="0" t="0"/>
          <a:stretch/>
        </p:blipFill>
        <p:spPr>
          <a:xfrm>
            <a:off x="1325880" y="0"/>
            <a:ext cx="1783188" cy="2971806"/>
          </a:xfrm>
          <a:prstGeom prst="rect">
            <a:avLst/>
          </a:prstGeom>
          <a:noFill/>
          <a:ln>
            <a:noFill/>
          </a:ln>
        </p:spPr>
      </p:pic>
      <p:sp>
        <p:nvSpPr>
          <p:cNvPr id="41" name="Google Shape;41;p71"/>
          <p:cNvSpPr txBox="1"/>
          <p:nvPr>
            <p:ph type="title"/>
          </p:nvPr>
        </p:nvSpPr>
        <p:spPr>
          <a:xfrm>
            <a:off x="1104899" y="2971806"/>
            <a:ext cx="10071099" cy="1684150"/>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lt1"/>
              </a:buClr>
              <a:buSzPts val="4400"/>
              <a:buFont typeface="Arial"/>
              <a:buNone/>
              <a:defRPr sz="4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1"/>
          <p:cNvSpPr txBox="1"/>
          <p:nvPr>
            <p:ph idx="1" type="body"/>
          </p:nvPr>
        </p:nvSpPr>
        <p:spPr>
          <a:xfrm>
            <a:off x="1104899" y="4655956"/>
            <a:ext cx="10071099" cy="509750"/>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0"/>
              </a:spcBef>
              <a:spcAft>
                <a:spcPts val="0"/>
              </a:spcAft>
              <a:buClr>
                <a:schemeClr val="lt1"/>
              </a:buClr>
              <a:buSzPts val="1600"/>
              <a:buNone/>
              <a:defRPr sz="1600">
                <a:solidFill>
                  <a:schemeClr val="lt1"/>
                </a:solidFill>
              </a:defRPr>
            </a:lvl1pPr>
            <a:lvl2pPr indent="-228600" lvl="1" marL="914400" algn="l">
              <a:lnSpc>
                <a:spcPct val="100000"/>
              </a:lnSpc>
              <a:spcBef>
                <a:spcPts val="600"/>
              </a:spcBef>
              <a:spcAft>
                <a:spcPts val="0"/>
              </a:spcAft>
              <a:buClr>
                <a:srgbClr val="969391"/>
              </a:buClr>
              <a:buSzPts val="2000"/>
              <a:buNone/>
              <a:defRPr sz="2000">
                <a:solidFill>
                  <a:srgbClr val="969391"/>
                </a:solidFill>
              </a:defRPr>
            </a:lvl2pPr>
            <a:lvl3pPr indent="-228600" lvl="2" marL="1371600" algn="l">
              <a:lnSpc>
                <a:spcPct val="100000"/>
              </a:lnSpc>
              <a:spcBef>
                <a:spcPts val="600"/>
              </a:spcBef>
              <a:spcAft>
                <a:spcPts val="0"/>
              </a:spcAft>
              <a:buClr>
                <a:srgbClr val="969391"/>
              </a:buClr>
              <a:buSzPts val="1800"/>
              <a:buNone/>
              <a:defRPr sz="1800">
                <a:solidFill>
                  <a:srgbClr val="969391"/>
                </a:solidFill>
              </a:defRPr>
            </a:lvl3pPr>
            <a:lvl4pPr indent="-228600" lvl="3" marL="1828800" algn="l">
              <a:lnSpc>
                <a:spcPct val="100000"/>
              </a:lnSpc>
              <a:spcBef>
                <a:spcPts val="600"/>
              </a:spcBef>
              <a:spcAft>
                <a:spcPts val="0"/>
              </a:spcAft>
              <a:buClr>
                <a:srgbClr val="969391"/>
              </a:buClr>
              <a:buSzPts val="1600"/>
              <a:buNone/>
              <a:defRPr sz="1600">
                <a:solidFill>
                  <a:srgbClr val="969391"/>
                </a:solidFill>
              </a:defRPr>
            </a:lvl4pPr>
            <a:lvl5pPr indent="-228600" lvl="4" marL="2286000" algn="l">
              <a:lnSpc>
                <a:spcPct val="100000"/>
              </a:lnSpc>
              <a:spcBef>
                <a:spcPts val="600"/>
              </a:spcBef>
              <a:spcAft>
                <a:spcPts val="0"/>
              </a:spcAft>
              <a:buClr>
                <a:srgbClr val="969391"/>
              </a:buClr>
              <a:buSzPts val="1600"/>
              <a:buNone/>
              <a:defRPr sz="1600">
                <a:solidFill>
                  <a:srgbClr val="969391"/>
                </a:solidFill>
              </a:defRPr>
            </a:lvl5pPr>
            <a:lvl6pPr indent="-228600" lvl="5" marL="2743200" algn="l">
              <a:lnSpc>
                <a:spcPct val="90000"/>
              </a:lnSpc>
              <a:spcBef>
                <a:spcPts val="500"/>
              </a:spcBef>
              <a:spcAft>
                <a:spcPts val="0"/>
              </a:spcAft>
              <a:buClr>
                <a:srgbClr val="969391"/>
              </a:buClr>
              <a:buSzPts val="1600"/>
              <a:buNone/>
              <a:defRPr sz="1600">
                <a:solidFill>
                  <a:srgbClr val="969391"/>
                </a:solidFill>
              </a:defRPr>
            </a:lvl6pPr>
            <a:lvl7pPr indent="-228600" lvl="6" marL="3200400" algn="l">
              <a:lnSpc>
                <a:spcPct val="90000"/>
              </a:lnSpc>
              <a:spcBef>
                <a:spcPts val="500"/>
              </a:spcBef>
              <a:spcAft>
                <a:spcPts val="0"/>
              </a:spcAft>
              <a:buClr>
                <a:srgbClr val="969391"/>
              </a:buClr>
              <a:buSzPts val="1600"/>
              <a:buNone/>
              <a:defRPr sz="1600">
                <a:solidFill>
                  <a:srgbClr val="969391"/>
                </a:solidFill>
              </a:defRPr>
            </a:lvl7pPr>
            <a:lvl8pPr indent="-228600" lvl="7" marL="3657600" algn="l">
              <a:lnSpc>
                <a:spcPct val="90000"/>
              </a:lnSpc>
              <a:spcBef>
                <a:spcPts val="500"/>
              </a:spcBef>
              <a:spcAft>
                <a:spcPts val="0"/>
              </a:spcAft>
              <a:buClr>
                <a:srgbClr val="969391"/>
              </a:buClr>
              <a:buSzPts val="1600"/>
              <a:buNone/>
              <a:defRPr sz="1600">
                <a:solidFill>
                  <a:srgbClr val="969391"/>
                </a:solidFill>
              </a:defRPr>
            </a:lvl8pPr>
            <a:lvl9pPr indent="-228600" lvl="8" marL="4114800" algn="l">
              <a:lnSpc>
                <a:spcPct val="90000"/>
              </a:lnSpc>
              <a:spcBef>
                <a:spcPts val="500"/>
              </a:spcBef>
              <a:spcAft>
                <a:spcPts val="0"/>
              </a:spcAft>
              <a:buClr>
                <a:srgbClr val="969391"/>
              </a:buClr>
              <a:buSzPts val="1600"/>
              <a:buNone/>
              <a:defRPr sz="1600">
                <a:solidFill>
                  <a:srgbClr val="969391"/>
                </a:solidFill>
              </a:defRPr>
            </a:lvl9pPr>
          </a:lstStyle>
          <a:p/>
        </p:txBody>
      </p:sp>
      <p:sp>
        <p:nvSpPr>
          <p:cNvPr id="43" name="Google Shape;43;p71"/>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1"/>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71"/>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46" name="Shape 46"/>
        <p:cNvGrpSpPr/>
        <p:nvPr/>
      </p:nvGrpSpPr>
      <p:grpSpPr>
        <a:xfrm>
          <a:off x="0" y="0"/>
          <a:ext cx="0" cy="0"/>
          <a:chOff x="0" y="0"/>
          <a:chExt cx="0" cy="0"/>
        </a:xfrm>
      </p:grpSpPr>
      <p:sp>
        <p:nvSpPr>
          <p:cNvPr id="47" name="Google Shape;47;p7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7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72"/>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2"/>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2"/>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2" name="Shape 52"/>
        <p:cNvGrpSpPr/>
        <p:nvPr/>
      </p:nvGrpSpPr>
      <p:grpSpPr>
        <a:xfrm>
          <a:off x="0" y="0"/>
          <a:ext cx="0" cy="0"/>
          <a:chOff x="0" y="0"/>
          <a:chExt cx="0" cy="0"/>
        </a:xfrm>
      </p:grpSpPr>
      <p:sp>
        <p:nvSpPr>
          <p:cNvPr id="53" name="Google Shape;53;p73"/>
          <p:cNvSpPr/>
          <p:nvPr/>
        </p:nvSpPr>
        <p:spPr>
          <a:xfrm>
            <a:off x="0" y="0"/>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4" name="Google Shape;54;p73"/>
          <p:cNvPicPr preferRelativeResize="0"/>
          <p:nvPr/>
        </p:nvPicPr>
        <p:blipFill rotWithShape="1">
          <a:blip r:embed="rId2">
            <a:alphaModFix/>
          </a:blip>
          <a:srcRect b="0" l="0" r="0" t="0"/>
          <a:stretch/>
        </p:blipFill>
        <p:spPr>
          <a:xfrm>
            <a:off x="1324445" y="0"/>
            <a:ext cx="1747524" cy="2292094"/>
          </a:xfrm>
          <a:prstGeom prst="rect">
            <a:avLst/>
          </a:prstGeom>
          <a:noFill/>
          <a:ln>
            <a:noFill/>
          </a:ln>
        </p:spPr>
      </p:pic>
      <p:sp>
        <p:nvSpPr>
          <p:cNvPr id="55" name="Google Shape;55;p73"/>
          <p:cNvSpPr txBox="1"/>
          <p:nvPr>
            <p:ph type="ctrTitle"/>
          </p:nvPr>
        </p:nvSpPr>
        <p:spPr>
          <a:xfrm>
            <a:off x="1104900" y="2292094"/>
            <a:ext cx="10096500" cy="2219691"/>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4400"/>
              <a:buFont typeface="Arial"/>
              <a:buNone/>
              <a:defRPr sz="4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73"/>
          <p:cNvSpPr txBox="1"/>
          <p:nvPr>
            <p:ph idx="1" type="subTitle"/>
          </p:nvPr>
        </p:nvSpPr>
        <p:spPr>
          <a:xfrm>
            <a:off x="1104898" y="4511784"/>
            <a:ext cx="10096501" cy="955565"/>
          </a:xfrm>
          <a:prstGeom prst="rect">
            <a:avLst/>
          </a:prstGeom>
          <a:noFill/>
          <a:ln>
            <a:noFill/>
          </a:ln>
        </p:spPr>
        <p:txBody>
          <a:bodyPr anchorCtr="0" anchor="t" bIns="45700" lIns="0" spcFirstLastPara="1" rIns="0" wrap="square" tIns="45700">
            <a:normAutofit/>
          </a:bodyPr>
          <a:lstStyle>
            <a:lvl1pPr lvl="0" algn="l">
              <a:lnSpc>
                <a:spcPct val="100000"/>
              </a:lnSpc>
              <a:spcBef>
                <a:spcPts val="0"/>
              </a:spcBef>
              <a:spcAft>
                <a:spcPts val="0"/>
              </a:spcAft>
              <a:buClr>
                <a:schemeClr val="dk1"/>
              </a:buClr>
              <a:buSzPts val="1800"/>
              <a:buNone/>
              <a:defRPr sz="1800"/>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7" name="Google Shape;57;p73"/>
          <p:cNvSpPr/>
          <p:nvPr/>
        </p:nvSpPr>
        <p:spPr>
          <a:xfrm>
            <a:off x="0" y="5778124"/>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 name="Google Shape;58;p73"/>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solidFill>
                  <a:srgbClr val="DED9D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3"/>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solidFill>
                  <a:srgbClr val="DED9D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3"/>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sz="1200">
                <a:solidFill>
                  <a:srgbClr val="DED9D6"/>
                </a:solidFill>
                <a:latin typeface="Arial"/>
                <a:ea typeface="Arial"/>
                <a:cs typeface="Arial"/>
                <a:sym typeface="Arial"/>
              </a:defRPr>
            </a:lvl1pPr>
            <a:lvl2pPr indent="0" lvl="1" marL="0" algn="r">
              <a:spcBef>
                <a:spcPts val="0"/>
              </a:spcBef>
              <a:buNone/>
              <a:defRPr sz="1200">
                <a:solidFill>
                  <a:srgbClr val="DED9D6"/>
                </a:solidFill>
                <a:latin typeface="Arial"/>
                <a:ea typeface="Arial"/>
                <a:cs typeface="Arial"/>
                <a:sym typeface="Arial"/>
              </a:defRPr>
            </a:lvl2pPr>
            <a:lvl3pPr indent="0" lvl="2" marL="0" algn="r">
              <a:spcBef>
                <a:spcPts val="0"/>
              </a:spcBef>
              <a:buNone/>
              <a:defRPr sz="1200">
                <a:solidFill>
                  <a:srgbClr val="DED9D6"/>
                </a:solidFill>
                <a:latin typeface="Arial"/>
                <a:ea typeface="Arial"/>
                <a:cs typeface="Arial"/>
                <a:sym typeface="Arial"/>
              </a:defRPr>
            </a:lvl3pPr>
            <a:lvl4pPr indent="0" lvl="3" marL="0" algn="r">
              <a:spcBef>
                <a:spcPts val="0"/>
              </a:spcBef>
              <a:buNone/>
              <a:defRPr sz="1200">
                <a:solidFill>
                  <a:srgbClr val="DED9D6"/>
                </a:solidFill>
                <a:latin typeface="Arial"/>
                <a:ea typeface="Arial"/>
                <a:cs typeface="Arial"/>
                <a:sym typeface="Arial"/>
              </a:defRPr>
            </a:lvl4pPr>
            <a:lvl5pPr indent="0" lvl="4" marL="0" algn="r">
              <a:spcBef>
                <a:spcPts val="0"/>
              </a:spcBef>
              <a:buNone/>
              <a:defRPr sz="1200">
                <a:solidFill>
                  <a:srgbClr val="DED9D6"/>
                </a:solidFill>
                <a:latin typeface="Arial"/>
                <a:ea typeface="Arial"/>
                <a:cs typeface="Arial"/>
                <a:sym typeface="Arial"/>
              </a:defRPr>
            </a:lvl5pPr>
            <a:lvl6pPr indent="0" lvl="5" marL="0" algn="r">
              <a:spcBef>
                <a:spcPts val="0"/>
              </a:spcBef>
              <a:buNone/>
              <a:defRPr sz="1200">
                <a:solidFill>
                  <a:srgbClr val="DED9D6"/>
                </a:solidFill>
                <a:latin typeface="Arial"/>
                <a:ea typeface="Arial"/>
                <a:cs typeface="Arial"/>
                <a:sym typeface="Arial"/>
              </a:defRPr>
            </a:lvl6pPr>
            <a:lvl7pPr indent="0" lvl="6" marL="0" algn="r">
              <a:spcBef>
                <a:spcPts val="0"/>
              </a:spcBef>
              <a:buNone/>
              <a:defRPr sz="1200">
                <a:solidFill>
                  <a:srgbClr val="DED9D6"/>
                </a:solidFill>
                <a:latin typeface="Arial"/>
                <a:ea typeface="Arial"/>
                <a:cs typeface="Arial"/>
                <a:sym typeface="Arial"/>
              </a:defRPr>
            </a:lvl7pPr>
            <a:lvl8pPr indent="0" lvl="7" marL="0" algn="r">
              <a:spcBef>
                <a:spcPts val="0"/>
              </a:spcBef>
              <a:buNone/>
              <a:defRPr sz="1200">
                <a:solidFill>
                  <a:srgbClr val="DED9D6"/>
                </a:solidFill>
                <a:latin typeface="Arial"/>
                <a:ea typeface="Arial"/>
                <a:cs typeface="Arial"/>
                <a:sym typeface="Arial"/>
              </a:defRPr>
            </a:lvl8pPr>
            <a:lvl9pPr indent="0" lvl="8" marL="0" algn="r">
              <a:spcBef>
                <a:spcPts val="0"/>
              </a:spcBef>
              <a:buNone/>
              <a:defRPr sz="1200">
                <a:solidFill>
                  <a:srgbClr val="DED9D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1" name="Shape 61"/>
        <p:cNvGrpSpPr/>
        <p:nvPr/>
      </p:nvGrpSpPr>
      <p:grpSpPr>
        <a:xfrm>
          <a:off x="0" y="0"/>
          <a:ext cx="0" cy="0"/>
          <a:chOff x="0" y="0"/>
          <a:chExt cx="0" cy="0"/>
        </a:xfrm>
      </p:grpSpPr>
      <p:sp>
        <p:nvSpPr>
          <p:cNvPr id="62" name="Google Shape;62;p7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7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74"/>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74"/>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74"/>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7" name="Shape 67"/>
        <p:cNvGrpSpPr/>
        <p:nvPr/>
      </p:nvGrpSpPr>
      <p:grpSpPr>
        <a:xfrm>
          <a:off x="0" y="0"/>
          <a:ext cx="0" cy="0"/>
          <a:chOff x="0" y="0"/>
          <a:chExt cx="0" cy="0"/>
        </a:xfrm>
      </p:grpSpPr>
      <p:sp>
        <p:nvSpPr>
          <p:cNvPr id="68" name="Google Shape;68;p7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75"/>
          <p:cNvSpPr txBox="1"/>
          <p:nvPr>
            <p:ph idx="1" type="body"/>
          </p:nvPr>
        </p:nvSpPr>
        <p:spPr>
          <a:xfrm>
            <a:off x="1104900" y="1600200"/>
            <a:ext cx="4914900" cy="4571999"/>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55600" lvl="4" marL="2286000" algn="l">
              <a:lnSpc>
                <a:spcPct val="100000"/>
              </a:lnSpc>
              <a:spcBef>
                <a:spcPts val="600"/>
              </a:spcBef>
              <a:spcAft>
                <a:spcPts val="0"/>
              </a:spcAft>
              <a:buClr>
                <a:schemeClr val="dk1"/>
              </a:buClr>
              <a:buSzPts val="20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500"/>
              </a:spcBef>
              <a:spcAft>
                <a:spcPts val="0"/>
              </a:spcAft>
              <a:buClr>
                <a:schemeClr val="dk1"/>
              </a:buClr>
              <a:buSzPts val="1400"/>
              <a:buChar char="▪"/>
              <a:defRPr/>
            </a:lvl7pPr>
            <a:lvl8pPr indent="-317500" lvl="7" marL="3657600" algn="l">
              <a:lnSpc>
                <a:spcPct val="90000"/>
              </a:lnSpc>
              <a:spcBef>
                <a:spcPts val="500"/>
              </a:spcBef>
              <a:spcAft>
                <a:spcPts val="0"/>
              </a:spcAft>
              <a:buClr>
                <a:schemeClr val="dk1"/>
              </a:buClr>
              <a:buSzPts val="1400"/>
              <a:buChar char="▪"/>
              <a:defRPr/>
            </a:lvl8pPr>
            <a:lvl9pPr indent="-317500" lvl="8" marL="4114800" algn="l">
              <a:lnSpc>
                <a:spcPct val="90000"/>
              </a:lnSpc>
              <a:spcBef>
                <a:spcPts val="500"/>
              </a:spcBef>
              <a:spcAft>
                <a:spcPts val="0"/>
              </a:spcAft>
              <a:buClr>
                <a:schemeClr val="dk1"/>
              </a:buClr>
              <a:buSzPts val="1400"/>
              <a:buChar char="▪"/>
              <a:defRPr/>
            </a:lvl9pPr>
          </a:lstStyle>
          <a:p/>
        </p:txBody>
      </p:sp>
      <p:sp>
        <p:nvSpPr>
          <p:cNvPr id="70" name="Google Shape;70;p75"/>
          <p:cNvSpPr txBox="1"/>
          <p:nvPr>
            <p:ph idx="2" type="body"/>
          </p:nvPr>
        </p:nvSpPr>
        <p:spPr>
          <a:xfrm>
            <a:off x="6172200" y="1600200"/>
            <a:ext cx="4914900" cy="4571999"/>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55600" lvl="4" marL="2286000" algn="l">
              <a:lnSpc>
                <a:spcPct val="100000"/>
              </a:lnSpc>
              <a:spcBef>
                <a:spcPts val="600"/>
              </a:spcBef>
              <a:spcAft>
                <a:spcPts val="0"/>
              </a:spcAft>
              <a:buClr>
                <a:schemeClr val="dk1"/>
              </a:buClr>
              <a:buSzPts val="20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500"/>
              </a:spcBef>
              <a:spcAft>
                <a:spcPts val="0"/>
              </a:spcAft>
              <a:buClr>
                <a:schemeClr val="dk1"/>
              </a:buClr>
              <a:buSzPts val="1400"/>
              <a:buChar char="▪"/>
              <a:defRPr/>
            </a:lvl7pPr>
            <a:lvl8pPr indent="-317500" lvl="7" marL="3657600" algn="l">
              <a:lnSpc>
                <a:spcPct val="90000"/>
              </a:lnSpc>
              <a:spcBef>
                <a:spcPts val="500"/>
              </a:spcBef>
              <a:spcAft>
                <a:spcPts val="0"/>
              </a:spcAft>
              <a:buClr>
                <a:schemeClr val="dk1"/>
              </a:buClr>
              <a:buSzPts val="14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75"/>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75"/>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75"/>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4" name="Shape 74"/>
        <p:cNvGrpSpPr/>
        <p:nvPr/>
      </p:nvGrpSpPr>
      <p:grpSpPr>
        <a:xfrm>
          <a:off x="0" y="0"/>
          <a:ext cx="0" cy="0"/>
          <a:chOff x="0" y="0"/>
          <a:chExt cx="0" cy="0"/>
        </a:xfrm>
      </p:grpSpPr>
      <p:sp>
        <p:nvSpPr>
          <p:cNvPr id="75" name="Google Shape;75;p7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76"/>
          <p:cNvSpPr txBox="1"/>
          <p:nvPr>
            <p:ph idx="1" type="body"/>
          </p:nvPr>
        </p:nvSpPr>
        <p:spPr>
          <a:xfrm>
            <a:off x="1104900" y="1600200"/>
            <a:ext cx="4919472" cy="823912"/>
          </a:xfrm>
          <a:prstGeom prst="rect">
            <a:avLst/>
          </a:prstGeom>
          <a:noFill/>
          <a:ln>
            <a:noFill/>
          </a:ln>
        </p:spPr>
        <p:txBody>
          <a:bodyPr anchorCtr="0" anchor="b" bIns="45700" lIns="0" spcFirstLastPara="1" rIns="0" wrap="square" tIns="45700">
            <a:normAutofit/>
          </a:bodyPr>
          <a:lstStyle>
            <a:lvl1pPr indent="-228600" lvl="0" marL="457200" algn="l">
              <a:lnSpc>
                <a:spcPct val="100000"/>
              </a:lnSpc>
              <a:spcBef>
                <a:spcPts val="0"/>
              </a:spcBef>
              <a:spcAft>
                <a:spcPts val="0"/>
              </a:spcAft>
              <a:buClr>
                <a:schemeClr val="dk1"/>
              </a:buClr>
              <a:buSzPts val="2400"/>
              <a:buNone/>
              <a:defRPr b="1" sz="2400"/>
            </a:lvl1pPr>
            <a:lvl2pPr indent="-228600" lvl="1" marL="914400" algn="l">
              <a:lnSpc>
                <a:spcPct val="100000"/>
              </a:lnSpc>
              <a:spcBef>
                <a:spcPts val="600"/>
              </a:spcBef>
              <a:spcAft>
                <a:spcPts val="0"/>
              </a:spcAft>
              <a:buClr>
                <a:schemeClr val="dk1"/>
              </a:buClr>
              <a:buSzPts val="2000"/>
              <a:buNone/>
              <a:defRPr b="1" sz="2000"/>
            </a:lvl2pPr>
            <a:lvl3pPr indent="-228600" lvl="2" marL="1371600" algn="l">
              <a:lnSpc>
                <a:spcPct val="100000"/>
              </a:lnSpc>
              <a:spcBef>
                <a:spcPts val="600"/>
              </a:spcBef>
              <a:spcAft>
                <a:spcPts val="0"/>
              </a:spcAft>
              <a:buClr>
                <a:schemeClr val="dk1"/>
              </a:buClr>
              <a:buSzPts val="1800"/>
              <a:buNone/>
              <a:defRPr b="1" sz="1800"/>
            </a:lvl3pPr>
            <a:lvl4pPr indent="-228600" lvl="3" marL="1828800" algn="l">
              <a:lnSpc>
                <a:spcPct val="100000"/>
              </a:lnSpc>
              <a:spcBef>
                <a:spcPts val="600"/>
              </a:spcBef>
              <a:spcAft>
                <a:spcPts val="0"/>
              </a:spcAft>
              <a:buClr>
                <a:schemeClr val="dk1"/>
              </a:buClr>
              <a:buSzPts val="1600"/>
              <a:buNone/>
              <a:defRPr b="1" sz="1600"/>
            </a:lvl4pPr>
            <a:lvl5pPr indent="-228600" lvl="4" marL="2286000" algn="l">
              <a:lnSpc>
                <a:spcPct val="100000"/>
              </a:lnSpc>
              <a:spcBef>
                <a:spcPts val="6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7" name="Google Shape;77;p76"/>
          <p:cNvSpPr txBox="1"/>
          <p:nvPr>
            <p:ph idx="2" type="body"/>
          </p:nvPr>
        </p:nvSpPr>
        <p:spPr>
          <a:xfrm>
            <a:off x="1104900" y="2424112"/>
            <a:ext cx="4919472" cy="3748088"/>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76"/>
          <p:cNvSpPr txBox="1"/>
          <p:nvPr>
            <p:ph idx="3" type="body"/>
          </p:nvPr>
        </p:nvSpPr>
        <p:spPr>
          <a:xfrm>
            <a:off x="6166110" y="1600200"/>
            <a:ext cx="4919472" cy="823912"/>
          </a:xfrm>
          <a:prstGeom prst="rect">
            <a:avLst/>
          </a:prstGeom>
          <a:noFill/>
          <a:ln>
            <a:noFill/>
          </a:ln>
        </p:spPr>
        <p:txBody>
          <a:bodyPr anchorCtr="0" anchor="b" bIns="45700" lIns="0" spcFirstLastPara="1" rIns="0" wrap="square" tIns="45700">
            <a:normAutofit/>
          </a:bodyPr>
          <a:lstStyle>
            <a:lvl1pPr indent="-228600" lvl="0" marL="457200" algn="l">
              <a:lnSpc>
                <a:spcPct val="100000"/>
              </a:lnSpc>
              <a:spcBef>
                <a:spcPts val="0"/>
              </a:spcBef>
              <a:spcAft>
                <a:spcPts val="0"/>
              </a:spcAft>
              <a:buClr>
                <a:schemeClr val="dk1"/>
              </a:buClr>
              <a:buSzPts val="2400"/>
              <a:buNone/>
              <a:defRPr b="1" sz="2400"/>
            </a:lvl1pPr>
            <a:lvl2pPr indent="-228600" lvl="1" marL="914400" algn="l">
              <a:lnSpc>
                <a:spcPct val="100000"/>
              </a:lnSpc>
              <a:spcBef>
                <a:spcPts val="600"/>
              </a:spcBef>
              <a:spcAft>
                <a:spcPts val="0"/>
              </a:spcAft>
              <a:buClr>
                <a:schemeClr val="dk1"/>
              </a:buClr>
              <a:buSzPts val="2000"/>
              <a:buNone/>
              <a:defRPr b="1" sz="2000"/>
            </a:lvl2pPr>
            <a:lvl3pPr indent="-228600" lvl="2" marL="1371600" algn="l">
              <a:lnSpc>
                <a:spcPct val="100000"/>
              </a:lnSpc>
              <a:spcBef>
                <a:spcPts val="600"/>
              </a:spcBef>
              <a:spcAft>
                <a:spcPts val="0"/>
              </a:spcAft>
              <a:buClr>
                <a:schemeClr val="dk1"/>
              </a:buClr>
              <a:buSzPts val="1800"/>
              <a:buNone/>
              <a:defRPr b="1" sz="1800"/>
            </a:lvl3pPr>
            <a:lvl4pPr indent="-228600" lvl="3" marL="1828800" algn="l">
              <a:lnSpc>
                <a:spcPct val="100000"/>
              </a:lnSpc>
              <a:spcBef>
                <a:spcPts val="600"/>
              </a:spcBef>
              <a:spcAft>
                <a:spcPts val="0"/>
              </a:spcAft>
              <a:buClr>
                <a:schemeClr val="dk1"/>
              </a:buClr>
              <a:buSzPts val="1600"/>
              <a:buNone/>
              <a:defRPr b="1" sz="1600"/>
            </a:lvl4pPr>
            <a:lvl5pPr indent="-228600" lvl="4" marL="2286000" algn="l">
              <a:lnSpc>
                <a:spcPct val="100000"/>
              </a:lnSpc>
              <a:spcBef>
                <a:spcPts val="6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9" name="Google Shape;79;p76"/>
          <p:cNvSpPr txBox="1"/>
          <p:nvPr>
            <p:ph idx="4" type="body"/>
          </p:nvPr>
        </p:nvSpPr>
        <p:spPr>
          <a:xfrm>
            <a:off x="6166110" y="2424112"/>
            <a:ext cx="4919472" cy="3748088"/>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76"/>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76"/>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6"/>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sp>
        <p:nvSpPr>
          <p:cNvPr id="84" name="Google Shape;84;p7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77"/>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77"/>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77"/>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88" name="Shape 88"/>
        <p:cNvGrpSpPr/>
        <p:nvPr/>
      </p:nvGrpSpPr>
      <p:grpSpPr>
        <a:xfrm>
          <a:off x="0" y="0"/>
          <a:ext cx="0" cy="0"/>
          <a:chOff x="0" y="0"/>
          <a:chExt cx="0" cy="0"/>
        </a:xfrm>
      </p:grpSpPr>
      <p:sp>
        <p:nvSpPr>
          <p:cNvPr id="89" name="Google Shape;89;p78"/>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78"/>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78"/>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2" name="Shape 92"/>
        <p:cNvGrpSpPr/>
        <p:nvPr/>
      </p:nvGrpSpPr>
      <p:grpSpPr>
        <a:xfrm>
          <a:off x="0" y="0"/>
          <a:ext cx="0" cy="0"/>
          <a:chOff x="0" y="0"/>
          <a:chExt cx="0" cy="0"/>
        </a:xfrm>
      </p:grpSpPr>
      <p:sp>
        <p:nvSpPr>
          <p:cNvPr id="93" name="Google Shape;93;p7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79"/>
          <p:cNvSpPr txBox="1"/>
          <p:nvPr>
            <p:ph idx="1" type="body"/>
          </p:nvPr>
        </p:nvSpPr>
        <p:spPr>
          <a:xfrm>
            <a:off x="1104900" y="1600200"/>
            <a:ext cx="4384548" cy="4572000"/>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Clr>
                <a:schemeClr val="dk1"/>
              </a:buClr>
              <a:buSzPts val="1800"/>
              <a:buNone/>
              <a:defRPr sz="1800"/>
            </a:lvl1pPr>
            <a:lvl2pPr indent="-228600" lvl="1" marL="914400" algn="l">
              <a:lnSpc>
                <a:spcPct val="100000"/>
              </a:lnSpc>
              <a:spcBef>
                <a:spcPts val="600"/>
              </a:spcBef>
              <a:spcAft>
                <a:spcPts val="0"/>
              </a:spcAft>
              <a:buClr>
                <a:schemeClr val="dk1"/>
              </a:buClr>
              <a:buSzPts val="1400"/>
              <a:buNone/>
              <a:defRPr sz="1400"/>
            </a:lvl2pPr>
            <a:lvl3pPr indent="-228600" lvl="2" marL="1371600" algn="l">
              <a:lnSpc>
                <a:spcPct val="100000"/>
              </a:lnSpc>
              <a:spcBef>
                <a:spcPts val="600"/>
              </a:spcBef>
              <a:spcAft>
                <a:spcPts val="0"/>
              </a:spcAft>
              <a:buClr>
                <a:schemeClr val="dk1"/>
              </a:buClr>
              <a:buSzPts val="1200"/>
              <a:buNone/>
              <a:defRPr sz="1200"/>
            </a:lvl3pPr>
            <a:lvl4pPr indent="-228600" lvl="3" marL="1828800" algn="l">
              <a:lnSpc>
                <a:spcPct val="100000"/>
              </a:lnSpc>
              <a:spcBef>
                <a:spcPts val="600"/>
              </a:spcBef>
              <a:spcAft>
                <a:spcPts val="0"/>
              </a:spcAft>
              <a:buClr>
                <a:schemeClr val="dk1"/>
              </a:buClr>
              <a:buSzPts val="1000"/>
              <a:buNone/>
              <a:defRPr sz="1000"/>
            </a:lvl4pPr>
            <a:lvl5pPr indent="-228600" lvl="4" marL="2286000" algn="l">
              <a:lnSpc>
                <a:spcPct val="100000"/>
              </a:lnSpc>
              <a:spcBef>
                <a:spcPts val="6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5" name="Google Shape;95;p79"/>
          <p:cNvSpPr txBox="1"/>
          <p:nvPr>
            <p:ph idx="2" type="body"/>
          </p:nvPr>
        </p:nvSpPr>
        <p:spPr>
          <a:xfrm>
            <a:off x="5641848" y="1600199"/>
            <a:ext cx="5445252" cy="4572001"/>
          </a:xfrm>
          <a:prstGeom prst="rect">
            <a:avLst/>
          </a:prstGeom>
          <a:noFill/>
          <a:ln>
            <a:noFill/>
          </a:ln>
        </p:spPr>
        <p:txBody>
          <a:bodyPr anchorCtr="0" anchor="t" bIns="45700" lIns="0" spcFirstLastPara="1" rIns="0" wrap="square" tIns="45700">
            <a:normAutofit/>
          </a:bodyPr>
          <a:lstStyle>
            <a:lvl1pPr indent="-355600" lvl="0" marL="457200" algn="l">
              <a:lnSpc>
                <a:spcPct val="100000"/>
              </a:lnSpc>
              <a:spcBef>
                <a:spcPts val="1800"/>
              </a:spcBef>
              <a:spcAft>
                <a:spcPts val="0"/>
              </a:spcAft>
              <a:buClr>
                <a:schemeClr val="dk1"/>
              </a:buClr>
              <a:buSzPts val="2000"/>
              <a:buChar char="▪"/>
              <a:defRPr sz="2000"/>
            </a:lvl1pPr>
            <a:lvl2pPr indent="-330200" lvl="1" marL="914400" algn="l">
              <a:lnSpc>
                <a:spcPct val="100000"/>
              </a:lnSpc>
              <a:spcBef>
                <a:spcPts val="600"/>
              </a:spcBef>
              <a:spcAft>
                <a:spcPts val="0"/>
              </a:spcAft>
              <a:buClr>
                <a:schemeClr val="dk1"/>
              </a:buClr>
              <a:buSzPts val="1600"/>
              <a:buChar char="▪"/>
              <a:defRPr sz="1600"/>
            </a:lvl2pPr>
            <a:lvl3pPr indent="-330200" lvl="2" marL="1371600" algn="l">
              <a:lnSpc>
                <a:spcPct val="100000"/>
              </a:lnSpc>
              <a:spcBef>
                <a:spcPts val="600"/>
              </a:spcBef>
              <a:spcAft>
                <a:spcPts val="0"/>
              </a:spcAft>
              <a:buClr>
                <a:schemeClr val="dk1"/>
              </a:buClr>
              <a:buSzPts val="1600"/>
              <a:buChar char="▪"/>
              <a:defRPr sz="1600"/>
            </a:lvl3pPr>
            <a:lvl4pPr indent="-317500" lvl="3" marL="1828800" algn="l">
              <a:lnSpc>
                <a:spcPct val="100000"/>
              </a:lnSpc>
              <a:spcBef>
                <a:spcPts val="600"/>
              </a:spcBef>
              <a:spcAft>
                <a:spcPts val="0"/>
              </a:spcAft>
              <a:buClr>
                <a:schemeClr val="dk1"/>
              </a:buClr>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500"/>
              </a:spcBef>
              <a:spcAft>
                <a:spcPts val="0"/>
              </a:spcAft>
              <a:buClr>
                <a:schemeClr val="dk1"/>
              </a:buClr>
              <a:buSzPts val="1400"/>
              <a:buChar char="▪"/>
              <a:defRPr sz="1400"/>
            </a:lvl7pPr>
            <a:lvl8pPr indent="-317500" lvl="7" marL="3657600" algn="l">
              <a:lnSpc>
                <a:spcPct val="90000"/>
              </a:lnSpc>
              <a:spcBef>
                <a:spcPts val="500"/>
              </a:spcBef>
              <a:spcAft>
                <a:spcPts val="0"/>
              </a:spcAft>
              <a:buClr>
                <a:schemeClr val="dk1"/>
              </a:buClr>
              <a:buSzPts val="1400"/>
              <a:buChar char="▪"/>
              <a:defRPr sz="1400"/>
            </a:lvl8pPr>
            <a:lvl9pPr indent="-317500" lvl="8" marL="4114800" algn="l">
              <a:lnSpc>
                <a:spcPct val="90000"/>
              </a:lnSpc>
              <a:spcBef>
                <a:spcPts val="500"/>
              </a:spcBef>
              <a:spcAft>
                <a:spcPts val="0"/>
              </a:spcAft>
              <a:buClr>
                <a:schemeClr val="dk1"/>
              </a:buClr>
              <a:buSzPts val="1400"/>
              <a:buChar char="▪"/>
              <a:defRPr sz="1400"/>
            </a:lvl9pPr>
          </a:lstStyle>
          <a:p/>
        </p:txBody>
      </p:sp>
      <p:sp>
        <p:nvSpPr>
          <p:cNvPr id="96" name="Google Shape;96;p79"/>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79"/>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79"/>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9" name="Shape 99"/>
        <p:cNvGrpSpPr/>
        <p:nvPr/>
      </p:nvGrpSpPr>
      <p:grpSpPr>
        <a:xfrm>
          <a:off x="0" y="0"/>
          <a:ext cx="0" cy="0"/>
          <a:chOff x="0" y="0"/>
          <a:chExt cx="0" cy="0"/>
        </a:xfrm>
      </p:grpSpPr>
      <p:sp>
        <p:nvSpPr>
          <p:cNvPr id="100" name="Google Shape;100;p8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80"/>
          <p:cNvSpPr txBox="1"/>
          <p:nvPr>
            <p:ph idx="1" type="body"/>
          </p:nvPr>
        </p:nvSpPr>
        <p:spPr>
          <a:xfrm>
            <a:off x="1104900" y="1600200"/>
            <a:ext cx="3396996" cy="4572000"/>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Clr>
                <a:schemeClr val="dk1"/>
              </a:buClr>
              <a:buSzPts val="1800"/>
              <a:buNone/>
              <a:defRPr sz="1800"/>
            </a:lvl1pPr>
            <a:lvl2pPr indent="-228600" lvl="1" marL="914400" algn="l">
              <a:lnSpc>
                <a:spcPct val="100000"/>
              </a:lnSpc>
              <a:spcBef>
                <a:spcPts val="600"/>
              </a:spcBef>
              <a:spcAft>
                <a:spcPts val="0"/>
              </a:spcAft>
              <a:buClr>
                <a:schemeClr val="dk1"/>
              </a:buClr>
              <a:buSzPts val="1400"/>
              <a:buNone/>
              <a:defRPr sz="1400"/>
            </a:lvl2pPr>
            <a:lvl3pPr indent="-228600" lvl="2" marL="1371600" algn="l">
              <a:lnSpc>
                <a:spcPct val="100000"/>
              </a:lnSpc>
              <a:spcBef>
                <a:spcPts val="600"/>
              </a:spcBef>
              <a:spcAft>
                <a:spcPts val="0"/>
              </a:spcAft>
              <a:buClr>
                <a:schemeClr val="dk1"/>
              </a:buClr>
              <a:buSzPts val="1200"/>
              <a:buNone/>
              <a:defRPr sz="1200"/>
            </a:lvl3pPr>
            <a:lvl4pPr indent="-228600" lvl="3" marL="1828800" algn="l">
              <a:lnSpc>
                <a:spcPct val="100000"/>
              </a:lnSpc>
              <a:spcBef>
                <a:spcPts val="600"/>
              </a:spcBef>
              <a:spcAft>
                <a:spcPts val="0"/>
              </a:spcAft>
              <a:buClr>
                <a:schemeClr val="dk1"/>
              </a:buClr>
              <a:buSzPts val="1000"/>
              <a:buNone/>
              <a:defRPr sz="1000"/>
            </a:lvl4pPr>
            <a:lvl5pPr indent="-228600" lvl="4" marL="2286000" algn="l">
              <a:lnSpc>
                <a:spcPct val="100000"/>
              </a:lnSpc>
              <a:spcBef>
                <a:spcPts val="6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descr="An empty placeholder to add an image. Click on the placeholder and select the image that you wish to add." id="102" name="Google Shape;102;p80"/>
          <p:cNvSpPr/>
          <p:nvPr>
            <p:ph idx="2" type="pic"/>
          </p:nvPr>
        </p:nvSpPr>
        <p:spPr>
          <a:xfrm>
            <a:off x="4654671" y="1600199"/>
            <a:ext cx="6430912" cy="4572001"/>
          </a:xfrm>
          <a:prstGeom prst="rect">
            <a:avLst/>
          </a:prstGeom>
          <a:noFill/>
          <a:ln>
            <a:noFill/>
          </a:ln>
        </p:spPr>
      </p:sp>
      <p:sp>
        <p:nvSpPr>
          <p:cNvPr id="103" name="Google Shape;103;p80"/>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80"/>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80"/>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6" name="Shape 106"/>
        <p:cNvGrpSpPr/>
        <p:nvPr/>
      </p:nvGrpSpPr>
      <p:grpSpPr>
        <a:xfrm>
          <a:off x="0" y="0"/>
          <a:ext cx="0" cy="0"/>
          <a:chOff x="0" y="0"/>
          <a:chExt cx="0" cy="0"/>
        </a:xfrm>
      </p:grpSpPr>
      <p:sp>
        <p:nvSpPr>
          <p:cNvPr id="107" name="Google Shape;107;p8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81"/>
          <p:cNvSpPr txBox="1"/>
          <p:nvPr>
            <p:ph idx="1" type="body"/>
          </p:nvPr>
        </p:nvSpPr>
        <p:spPr>
          <a:xfrm rot="5400000">
            <a:off x="3810000" y="-1104900"/>
            <a:ext cx="4572000" cy="9982200"/>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81"/>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81"/>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81"/>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12" name="Shape 112"/>
        <p:cNvGrpSpPr/>
        <p:nvPr/>
      </p:nvGrpSpPr>
      <p:grpSpPr>
        <a:xfrm>
          <a:off x="0" y="0"/>
          <a:ext cx="0" cy="0"/>
          <a:chOff x="0" y="0"/>
          <a:chExt cx="0" cy="0"/>
        </a:xfrm>
      </p:grpSpPr>
      <p:sp>
        <p:nvSpPr>
          <p:cNvPr id="113" name="Google Shape;113;p82"/>
          <p:cNvSpPr txBox="1"/>
          <p:nvPr>
            <p:ph type="title"/>
          </p:nvPr>
        </p:nvSpPr>
        <p:spPr>
          <a:xfrm rot="5400000">
            <a:off x="7323931" y="2413794"/>
            <a:ext cx="5811838" cy="171450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82"/>
          <p:cNvSpPr txBox="1"/>
          <p:nvPr>
            <p:ph idx="1" type="body"/>
          </p:nvPr>
        </p:nvSpPr>
        <p:spPr>
          <a:xfrm rot="5400000">
            <a:off x="2248429" y="-778404"/>
            <a:ext cx="5811838" cy="8098896"/>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82"/>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82"/>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82"/>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18" name="Google Shape;118;p82"/>
          <p:cNvGrpSpPr/>
          <p:nvPr/>
        </p:nvGrpSpPr>
        <p:grpSpPr>
          <a:xfrm rot="5400000">
            <a:off x="6514047" y="3228843"/>
            <a:ext cx="5632704" cy="84403"/>
            <a:chOff x="1073150" y="1219201"/>
            <a:chExt cx="10058400" cy="63125"/>
          </a:xfrm>
        </p:grpSpPr>
        <p:cxnSp>
          <p:nvCxnSpPr>
            <p:cNvPr id="119" name="Google Shape;119;p82"/>
            <p:cNvCxnSpPr/>
            <p:nvPr/>
          </p:nvCxnSpPr>
          <p:spPr>
            <a:xfrm rot="10800000">
              <a:off x="1073150" y="1219201"/>
              <a:ext cx="10058400" cy="0"/>
            </a:xfrm>
            <a:prstGeom prst="straightConnector1">
              <a:avLst/>
            </a:prstGeom>
            <a:noFill/>
            <a:ln cap="flat" cmpd="sng" w="38100">
              <a:solidFill>
                <a:schemeClr val="dk1"/>
              </a:solidFill>
              <a:prstDash val="solid"/>
              <a:miter lim="800000"/>
              <a:headEnd len="sm" w="sm" type="none"/>
              <a:tailEnd len="sm" w="sm" type="none"/>
            </a:ln>
          </p:spPr>
        </p:cxnSp>
        <p:cxnSp>
          <p:nvCxnSpPr>
            <p:cNvPr id="120" name="Google Shape;120;p82"/>
            <p:cNvCxnSpPr/>
            <p:nvPr/>
          </p:nvCxnSpPr>
          <p:spPr>
            <a:xfrm rot="10800000">
              <a:off x="1073150" y="1282326"/>
              <a:ext cx="10058400" cy="0"/>
            </a:xfrm>
            <a:prstGeom prst="straightConnector1">
              <a:avLst/>
            </a:prstGeom>
            <a:noFill/>
            <a:ln cap="flat" cmpd="sng" w="12700">
              <a:solidFill>
                <a:schemeClr val="dk1"/>
              </a:solidFill>
              <a:prstDash val="solid"/>
              <a:miter lim="800000"/>
              <a:headEnd len="sm" w="sm" type="none"/>
              <a:tailEnd len="sm" w="sm" type="none"/>
            </a:ln>
          </p:spPr>
        </p:cxn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marR="0" rtl="0" algn="l">
              <a:lnSpc>
                <a:spcPct val="9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69"/>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lvl1pPr indent="-406400" lvl="0" marL="457200" marR="0" rtl="0" algn="l">
              <a:lnSpc>
                <a:spcPct val="100000"/>
              </a:lnSpc>
              <a:spcBef>
                <a:spcPts val="1800"/>
              </a:spcBef>
              <a:spcAft>
                <a:spcPts val="0"/>
              </a:spcAft>
              <a:buClr>
                <a:schemeClr val="dk1"/>
              </a:buClr>
              <a:buSzPts val="2800"/>
              <a:buFont typeface="Noto Sans Symbols"/>
              <a:buChar char="▪"/>
              <a:defRPr b="0" i="0" sz="2800" u="none" cap="none" strike="noStrike">
                <a:solidFill>
                  <a:schemeClr val="dk1"/>
                </a:solidFill>
                <a:latin typeface="Arial"/>
                <a:ea typeface="Arial"/>
                <a:cs typeface="Arial"/>
                <a:sym typeface="Arial"/>
              </a:defRPr>
            </a:lvl1pPr>
            <a:lvl2pPr indent="-381000" lvl="1" marL="914400" marR="0" rtl="0" algn="l">
              <a:lnSpc>
                <a:spcPct val="100000"/>
              </a:lnSpc>
              <a:spcBef>
                <a:spcPts val="60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2pPr>
            <a:lvl3pPr indent="-355600" lvl="2" marL="1371600" marR="0" rtl="0" algn="l">
              <a:lnSpc>
                <a:spcPct val="100000"/>
              </a:lnSpc>
              <a:spcBef>
                <a:spcPts val="6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3pPr>
            <a:lvl4pPr indent="-355600" lvl="3" marL="1828800" marR="0" rtl="0" algn="l">
              <a:lnSpc>
                <a:spcPct val="100000"/>
              </a:lnSpc>
              <a:spcBef>
                <a:spcPts val="6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6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5pPr>
            <a:lvl6pPr indent="-317500" lvl="5" marL="27432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12" name="Google Shape;12;p69"/>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marR="0" rtl="0" algn="l">
              <a:spcBef>
                <a:spcPts val="0"/>
              </a:spcBef>
              <a:spcAft>
                <a:spcPts val="0"/>
              </a:spcAft>
              <a:buSzPts val="1400"/>
              <a:buNone/>
              <a:defRPr b="0" i="0" sz="1200" u="none" cap="none" strike="noStrike">
                <a:solidFill>
                  <a:srgbClr val="3C363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69"/>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marR="0" rtl="0" algn="ctr">
              <a:spcBef>
                <a:spcPts val="0"/>
              </a:spcBef>
              <a:spcAft>
                <a:spcPts val="0"/>
              </a:spcAft>
              <a:buSzPts val="1400"/>
              <a:buNone/>
              <a:defRPr b="0" i="0" sz="1200" u="none" cap="none" strike="noStrike">
                <a:solidFill>
                  <a:srgbClr val="3C363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69"/>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marR="0" rtl="0" algn="r">
              <a:spcBef>
                <a:spcPts val="0"/>
              </a:spcBef>
              <a:buNone/>
              <a:defRPr b="0" i="0" sz="1200" u="none" cap="none" strike="noStrike">
                <a:solidFill>
                  <a:srgbClr val="3C3632"/>
                </a:solidFill>
                <a:latin typeface="Arial"/>
                <a:ea typeface="Arial"/>
                <a:cs typeface="Arial"/>
                <a:sym typeface="Arial"/>
              </a:defRPr>
            </a:lvl1pPr>
            <a:lvl2pPr indent="0" lvl="1" marL="0" marR="0" rtl="0" algn="r">
              <a:spcBef>
                <a:spcPts val="0"/>
              </a:spcBef>
              <a:buNone/>
              <a:defRPr b="0" i="0" sz="1200" u="none" cap="none" strike="noStrike">
                <a:solidFill>
                  <a:srgbClr val="3C3632"/>
                </a:solidFill>
                <a:latin typeface="Arial"/>
                <a:ea typeface="Arial"/>
                <a:cs typeface="Arial"/>
                <a:sym typeface="Arial"/>
              </a:defRPr>
            </a:lvl2pPr>
            <a:lvl3pPr indent="0" lvl="2" marL="0" marR="0" rtl="0" algn="r">
              <a:spcBef>
                <a:spcPts val="0"/>
              </a:spcBef>
              <a:buNone/>
              <a:defRPr b="0" i="0" sz="1200" u="none" cap="none" strike="noStrike">
                <a:solidFill>
                  <a:srgbClr val="3C3632"/>
                </a:solidFill>
                <a:latin typeface="Arial"/>
                <a:ea typeface="Arial"/>
                <a:cs typeface="Arial"/>
                <a:sym typeface="Arial"/>
              </a:defRPr>
            </a:lvl3pPr>
            <a:lvl4pPr indent="0" lvl="3" marL="0" marR="0" rtl="0" algn="r">
              <a:spcBef>
                <a:spcPts val="0"/>
              </a:spcBef>
              <a:buNone/>
              <a:defRPr b="0" i="0" sz="1200" u="none" cap="none" strike="noStrike">
                <a:solidFill>
                  <a:srgbClr val="3C3632"/>
                </a:solidFill>
                <a:latin typeface="Arial"/>
                <a:ea typeface="Arial"/>
                <a:cs typeface="Arial"/>
                <a:sym typeface="Arial"/>
              </a:defRPr>
            </a:lvl4pPr>
            <a:lvl5pPr indent="0" lvl="4" marL="0" marR="0" rtl="0" algn="r">
              <a:spcBef>
                <a:spcPts val="0"/>
              </a:spcBef>
              <a:buNone/>
              <a:defRPr b="0" i="0" sz="1200" u="none" cap="none" strike="noStrike">
                <a:solidFill>
                  <a:srgbClr val="3C3632"/>
                </a:solidFill>
                <a:latin typeface="Arial"/>
                <a:ea typeface="Arial"/>
                <a:cs typeface="Arial"/>
                <a:sym typeface="Arial"/>
              </a:defRPr>
            </a:lvl5pPr>
            <a:lvl6pPr indent="0" lvl="5" marL="0" marR="0" rtl="0" algn="r">
              <a:spcBef>
                <a:spcPts val="0"/>
              </a:spcBef>
              <a:buNone/>
              <a:defRPr b="0" i="0" sz="1200" u="none" cap="none" strike="noStrike">
                <a:solidFill>
                  <a:srgbClr val="3C3632"/>
                </a:solidFill>
                <a:latin typeface="Arial"/>
                <a:ea typeface="Arial"/>
                <a:cs typeface="Arial"/>
                <a:sym typeface="Arial"/>
              </a:defRPr>
            </a:lvl6pPr>
            <a:lvl7pPr indent="0" lvl="6" marL="0" marR="0" rtl="0" algn="r">
              <a:spcBef>
                <a:spcPts val="0"/>
              </a:spcBef>
              <a:buNone/>
              <a:defRPr b="0" i="0" sz="1200" u="none" cap="none" strike="noStrike">
                <a:solidFill>
                  <a:srgbClr val="3C3632"/>
                </a:solidFill>
                <a:latin typeface="Arial"/>
                <a:ea typeface="Arial"/>
                <a:cs typeface="Arial"/>
                <a:sym typeface="Arial"/>
              </a:defRPr>
            </a:lvl7pPr>
            <a:lvl8pPr indent="0" lvl="7" marL="0" marR="0" rtl="0" algn="r">
              <a:spcBef>
                <a:spcPts val="0"/>
              </a:spcBef>
              <a:buNone/>
              <a:defRPr b="0" i="0" sz="1200" u="none" cap="none" strike="noStrike">
                <a:solidFill>
                  <a:srgbClr val="3C3632"/>
                </a:solidFill>
                <a:latin typeface="Arial"/>
                <a:ea typeface="Arial"/>
                <a:cs typeface="Arial"/>
                <a:sym typeface="Arial"/>
              </a:defRPr>
            </a:lvl8pPr>
            <a:lvl9pPr indent="0" lvl="8" marL="0" marR="0" rtl="0" algn="r">
              <a:spcBef>
                <a:spcPts val="0"/>
              </a:spcBef>
              <a:buNone/>
              <a:defRPr b="0" i="0" sz="12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15" name="Google Shape;15;p69"/>
          <p:cNvGrpSpPr/>
          <p:nvPr/>
        </p:nvGrpSpPr>
        <p:grpSpPr>
          <a:xfrm>
            <a:off x="1103376" y="1219201"/>
            <a:ext cx="9985248" cy="84403"/>
            <a:chOff x="1073150" y="1219201"/>
            <a:chExt cx="10058400" cy="63125"/>
          </a:xfrm>
        </p:grpSpPr>
        <p:cxnSp>
          <p:nvCxnSpPr>
            <p:cNvPr id="16" name="Google Shape;16;p69"/>
            <p:cNvCxnSpPr/>
            <p:nvPr/>
          </p:nvCxnSpPr>
          <p:spPr>
            <a:xfrm rot="10800000">
              <a:off x="1073150" y="1219201"/>
              <a:ext cx="10058400" cy="0"/>
            </a:xfrm>
            <a:prstGeom prst="straightConnector1">
              <a:avLst/>
            </a:prstGeom>
            <a:noFill/>
            <a:ln cap="flat" cmpd="sng" w="38100">
              <a:solidFill>
                <a:schemeClr val="dk1"/>
              </a:solidFill>
              <a:prstDash val="solid"/>
              <a:miter lim="800000"/>
              <a:headEnd len="sm" w="sm" type="none"/>
              <a:tailEnd len="sm" w="sm" type="none"/>
            </a:ln>
          </p:spPr>
        </p:cxnSp>
        <p:cxnSp>
          <p:nvCxnSpPr>
            <p:cNvPr id="17" name="Google Shape;17;p69"/>
            <p:cNvCxnSpPr/>
            <p:nvPr/>
          </p:nvCxnSpPr>
          <p:spPr>
            <a:xfrm rot="10800000">
              <a:off x="1073150" y="1282326"/>
              <a:ext cx="10058400" cy="0"/>
            </a:xfrm>
            <a:prstGeom prst="straightConnector1">
              <a:avLst/>
            </a:prstGeom>
            <a:noFill/>
            <a:ln cap="flat" cmpd="sng" w="12700">
              <a:solidFill>
                <a:schemeClr val="dk1"/>
              </a:solidFill>
              <a:prstDash val="solid"/>
              <a:miter lim="800000"/>
              <a:headEnd len="sm" w="sm" type="none"/>
              <a:tailEnd len="sm" w="sm" type="none"/>
            </a:ln>
          </p:spPr>
        </p:cxn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localhost:300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4.png"/><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6.png"/><Relationship Id="rId4" Type="http://schemas.openxmlformats.org/officeDocument/2006/relationships/image" Target="../media/image1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5.png"/><Relationship Id="rId4" Type="http://schemas.openxmlformats.org/officeDocument/2006/relationships/image" Target="../media/image2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2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2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2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2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13.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
          <p:cNvSpPr txBox="1"/>
          <p:nvPr>
            <p:ph idx="1" type="subTitle"/>
          </p:nvPr>
        </p:nvSpPr>
        <p:spPr>
          <a:xfrm>
            <a:off x="1104900" y="4511784"/>
            <a:ext cx="5734050" cy="95556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dk1"/>
              </a:buClr>
              <a:buSzPts val="1800"/>
              <a:buNone/>
            </a:pPr>
            <a:r>
              <a:rPr lang="en-US"/>
              <a:t>Giảng viên: Từ Thị Xuân Hiền</a:t>
            </a:r>
            <a:endParaRPr/>
          </a:p>
        </p:txBody>
      </p:sp>
      <p:pic>
        <p:nvPicPr>
          <p:cNvPr descr="Open book on table, blurred shelves of books in background" id="127" name="Google Shape;127;p1"/>
          <p:cNvPicPr preferRelativeResize="0"/>
          <p:nvPr>
            <p:ph idx="2" type="pic"/>
          </p:nvPr>
        </p:nvPicPr>
        <p:blipFill rotWithShape="1">
          <a:blip r:embed="rId3">
            <a:alphaModFix/>
          </a:blip>
          <a:srcRect b="0" l="8895" r="8895" t="0"/>
          <a:stretch/>
        </p:blipFill>
        <p:spPr>
          <a:xfrm>
            <a:off x="6838950" y="1324698"/>
            <a:ext cx="5210937" cy="4208604"/>
          </a:xfrm>
          <a:prstGeom prst="rect">
            <a:avLst/>
          </a:prstGeom>
          <a:solidFill>
            <a:srgbClr val="DED9D6"/>
          </a:solidFill>
          <a:ln>
            <a:noFill/>
          </a:ln>
        </p:spPr>
      </p:pic>
      <p:grpSp>
        <p:nvGrpSpPr>
          <p:cNvPr id="128" name="Google Shape;128;p1"/>
          <p:cNvGrpSpPr/>
          <p:nvPr/>
        </p:nvGrpSpPr>
        <p:grpSpPr>
          <a:xfrm>
            <a:off x="1049126" y="2961459"/>
            <a:ext cx="10685676" cy="1158240"/>
            <a:chOff x="871701" y="2743096"/>
            <a:chExt cx="5479484" cy="1158240"/>
          </a:xfrm>
        </p:grpSpPr>
        <p:pic>
          <p:nvPicPr>
            <p:cNvPr id="129" name="Google Shape;129;p1"/>
            <p:cNvPicPr preferRelativeResize="0"/>
            <p:nvPr/>
          </p:nvPicPr>
          <p:blipFill rotWithShape="1">
            <a:blip r:embed="rId4">
              <a:alphaModFix/>
            </a:blip>
            <a:srcRect b="24623" l="21349" r="19027" t="0"/>
            <a:stretch/>
          </p:blipFill>
          <p:spPr>
            <a:xfrm>
              <a:off x="871701" y="2743096"/>
              <a:ext cx="855611" cy="1158240"/>
            </a:xfrm>
            <a:prstGeom prst="rect">
              <a:avLst/>
            </a:prstGeom>
            <a:noFill/>
            <a:ln>
              <a:noFill/>
            </a:ln>
          </p:spPr>
        </p:pic>
        <p:sp>
          <p:nvSpPr>
            <p:cNvPr id="130" name="Google Shape;130;p1"/>
            <p:cNvSpPr/>
            <p:nvPr/>
          </p:nvSpPr>
          <p:spPr>
            <a:xfrm>
              <a:off x="1727313" y="2743096"/>
              <a:ext cx="4623872" cy="1154162"/>
            </a:xfrm>
            <a:prstGeom prst="rect">
              <a:avLst/>
            </a:prstGeom>
            <a:solidFill>
              <a:schemeClr val="dk2"/>
            </a:solidFill>
            <a:ln>
              <a:noFill/>
            </a:ln>
            <a:effectLst>
              <a:reflection blurRad="0" dir="0" dist="0" endA="300" endPos="35000" kx="0" rotWithShape="0" algn="bl" stA="52000" stPos="0" sy="-100000" ky="0"/>
            </a:effectLst>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6900" u="none" cap="none" strike="noStrike">
                  <a:solidFill>
                    <a:srgbClr val="FEFEFE"/>
                  </a:solidFill>
                  <a:latin typeface="Arial Black"/>
                  <a:ea typeface="Arial Black"/>
                  <a:cs typeface="Arial Black"/>
                  <a:sym typeface="Arial Black"/>
                </a:rPr>
                <a:t>What is React JS?</a:t>
              </a:r>
              <a:endParaRPr/>
            </a:p>
          </p:txBody>
        </p:sp>
      </p:grpSp>
      <p:sp>
        <p:nvSpPr>
          <p:cNvPr id="131" name="Google Shape;131;p1"/>
          <p:cNvSpPr txBox="1"/>
          <p:nvPr/>
        </p:nvSpPr>
        <p:spPr>
          <a:xfrm>
            <a:off x="3337560" y="2149797"/>
            <a:ext cx="431292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800" u="none" cap="none" strike="noStrike">
                <a:solidFill>
                  <a:srgbClr val="000000"/>
                </a:solidFill>
                <a:latin typeface="Arial Black"/>
                <a:ea typeface="Arial Black"/>
                <a:cs typeface="Arial Black"/>
                <a:sym typeface="Arial Black"/>
              </a:rPr>
              <a:t>Chapter 1</a:t>
            </a:r>
            <a:endParaRPr sz="480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
          <p:cNvSpPr txBox="1"/>
          <p:nvPr>
            <p:ph type="title"/>
          </p:nvPr>
        </p:nvSpPr>
        <p:spPr>
          <a:xfrm>
            <a:off x="1104899" y="2971806"/>
            <a:ext cx="10071099" cy="1684150"/>
          </a:xfrm>
          <a:prstGeom prst="rect">
            <a:avLst/>
          </a:prstGeom>
          <a:noFill/>
          <a:ln>
            <a:noFill/>
          </a:ln>
        </p:spPr>
        <p:txBody>
          <a:bodyPr anchorCtr="0" anchor="ctr" bIns="45700" lIns="0" spcFirstLastPara="1" rIns="0" wrap="square" tIns="45700">
            <a:normAutofit/>
          </a:bodyPr>
          <a:lstStyle/>
          <a:p>
            <a:pPr indent="0" lvl="0" marL="0" rtl="0" algn="l">
              <a:lnSpc>
                <a:spcPct val="90000"/>
              </a:lnSpc>
              <a:spcBef>
                <a:spcPts val="0"/>
              </a:spcBef>
              <a:spcAft>
                <a:spcPts val="0"/>
              </a:spcAft>
              <a:buClr>
                <a:schemeClr val="lt1"/>
              </a:buClr>
              <a:buSzPts val="4400"/>
              <a:buFont typeface="Arial"/>
              <a:buNone/>
            </a:pPr>
            <a:r>
              <a:rPr lang="en-US"/>
              <a:t>1.1 INTRODUCTION TO REACT JS</a:t>
            </a:r>
            <a:endParaRPr/>
          </a:p>
        </p:txBody>
      </p:sp>
      <p:sp>
        <p:nvSpPr>
          <p:cNvPr id="137" name="Google Shape;137;p2"/>
          <p:cNvSpPr txBox="1"/>
          <p:nvPr>
            <p:ph idx="1" type="body"/>
          </p:nvPr>
        </p:nvSpPr>
        <p:spPr>
          <a:xfrm>
            <a:off x="1104899" y="4655956"/>
            <a:ext cx="10071099" cy="50975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lt1"/>
              </a:buClr>
              <a:buSzPts val="16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2"/>
              </a:buClr>
              <a:buSzPts val="3600"/>
              <a:buFont typeface="Arial"/>
              <a:buNone/>
            </a:pPr>
            <a:r>
              <a:rPr b="1" lang="en-US">
                <a:solidFill>
                  <a:schemeClr val="dk2"/>
                </a:solidFill>
              </a:rPr>
              <a:t>What is React JS?</a:t>
            </a:r>
            <a:endParaRPr>
              <a:solidFill>
                <a:schemeClr val="dk2"/>
              </a:solidFill>
            </a:endParaRPr>
          </a:p>
        </p:txBody>
      </p:sp>
      <p:sp>
        <p:nvSpPr>
          <p:cNvPr id="143" name="Google Shape;143;p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100000"/>
              </a:lnSpc>
              <a:spcBef>
                <a:spcPts val="0"/>
              </a:spcBef>
              <a:spcAft>
                <a:spcPts val="0"/>
              </a:spcAft>
              <a:buClr>
                <a:schemeClr val="dk1"/>
              </a:buClr>
              <a:buSzPts val="2800"/>
              <a:buChar char="▪"/>
            </a:pPr>
            <a:r>
              <a:rPr lang="en-US"/>
              <a:t>React is a free and open-source front-end JavaScript library for building user interfaces (UIs) on the web. </a:t>
            </a:r>
            <a:endParaRPr/>
          </a:p>
          <a:p>
            <a:pPr indent="-228600" lvl="0" marL="228600" rtl="0" algn="just">
              <a:lnSpc>
                <a:spcPct val="100000"/>
              </a:lnSpc>
              <a:spcBef>
                <a:spcPts val="1800"/>
              </a:spcBef>
              <a:spcAft>
                <a:spcPts val="0"/>
              </a:spcAft>
              <a:buClr>
                <a:schemeClr val="dk1"/>
              </a:buClr>
              <a:buSzPts val="2800"/>
              <a:buChar char="▪"/>
            </a:pPr>
            <a:r>
              <a:rPr lang="en-US"/>
              <a:t>React is a declarative, component-based library that allows developers to build reusable UI components and It follows the Virtual DOM (Document Object Model) approach, which optimizes rendering performance by minimizing DOM updates. </a:t>
            </a:r>
            <a:endParaRPr/>
          </a:p>
          <a:p>
            <a:pPr indent="-228600" lvl="0" marL="228600" rtl="0" algn="l">
              <a:lnSpc>
                <a:spcPct val="100000"/>
              </a:lnSpc>
              <a:spcBef>
                <a:spcPts val="1800"/>
              </a:spcBef>
              <a:spcAft>
                <a:spcPts val="0"/>
              </a:spcAft>
              <a:buClr>
                <a:schemeClr val="dk1"/>
              </a:buClr>
              <a:buSzPts val="2800"/>
              <a:buChar char="▪"/>
            </a:pPr>
            <a:r>
              <a:rPr lang="en-US"/>
              <a:t>React is fast and works well with other tools and libraries.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2"/>
              </a:buClr>
              <a:buSzPts val="3600"/>
              <a:buFont typeface="Arial"/>
              <a:buNone/>
            </a:pPr>
            <a:r>
              <a:rPr b="1" lang="en-US">
                <a:solidFill>
                  <a:schemeClr val="dk2"/>
                </a:solidFill>
              </a:rPr>
              <a:t>Key Features</a:t>
            </a:r>
            <a:endParaRPr>
              <a:solidFill>
                <a:schemeClr val="dk2"/>
              </a:solidFill>
            </a:endParaRPr>
          </a:p>
        </p:txBody>
      </p:sp>
      <p:sp>
        <p:nvSpPr>
          <p:cNvPr id="150" name="Google Shape;150;p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fontScale="92500" lnSpcReduction="20000"/>
          </a:bodyPr>
          <a:lstStyle/>
          <a:p>
            <a:pPr indent="-228600" lvl="0" marL="228600" rtl="0" algn="just">
              <a:lnSpc>
                <a:spcPct val="100000"/>
              </a:lnSpc>
              <a:spcBef>
                <a:spcPts val="0"/>
              </a:spcBef>
              <a:spcAft>
                <a:spcPts val="0"/>
              </a:spcAft>
              <a:buClr>
                <a:schemeClr val="dk1"/>
              </a:buClr>
              <a:buSzPct val="100000"/>
              <a:buChar char="▪"/>
            </a:pPr>
            <a:r>
              <a:rPr b="1" lang="en-US"/>
              <a:t>Virtual DOM</a:t>
            </a:r>
            <a:r>
              <a:rPr lang="en-US"/>
              <a:t>: Minimizes direct DOM manipulation for faster updates.</a:t>
            </a:r>
            <a:endParaRPr/>
          </a:p>
          <a:p>
            <a:pPr indent="-228600" lvl="0" marL="228600" rtl="0" algn="just">
              <a:lnSpc>
                <a:spcPct val="100000"/>
              </a:lnSpc>
              <a:spcBef>
                <a:spcPts val="1800"/>
              </a:spcBef>
              <a:spcAft>
                <a:spcPts val="0"/>
              </a:spcAft>
              <a:buClr>
                <a:schemeClr val="dk1"/>
              </a:buClr>
              <a:buSzPct val="100000"/>
              <a:buChar char="▪"/>
            </a:pPr>
            <a:r>
              <a:rPr b="1" lang="en-US"/>
              <a:t>JSX (JavaScript XML): </a:t>
            </a:r>
            <a:r>
              <a:rPr lang="en-US"/>
              <a:t>Syntax extension that looks like HTML and integrates seamlessly with JavaScript, making code more readable and structured.</a:t>
            </a:r>
            <a:endParaRPr/>
          </a:p>
          <a:p>
            <a:pPr indent="-228600" lvl="0" marL="228600" rtl="0" algn="just">
              <a:lnSpc>
                <a:spcPct val="100000"/>
              </a:lnSpc>
              <a:spcBef>
                <a:spcPts val="1800"/>
              </a:spcBef>
              <a:spcAft>
                <a:spcPts val="0"/>
              </a:spcAft>
              <a:buClr>
                <a:schemeClr val="dk1"/>
              </a:buClr>
              <a:buSzPct val="100000"/>
              <a:buChar char="▪"/>
            </a:pPr>
            <a:r>
              <a:rPr b="1" lang="en-US"/>
              <a:t>Component-Based Architecture</a:t>
            </a:r>
            <a:r>
              <a:rPr lang="en-US"/>
              <a:t>: Encourages the creation of small, reusable components that can be composed into complex UIs.</a:t>
            </a:r>
            <a:endParaRPr/>
          </a:p>
          <a:p>
            <a:pPr indent="-228600" lvl="0" marL="228600" rtl="0" algn="just">
              <a:lnSpc>
                <a:spcPct val="100000"/>
              </a:lnSpc>
              <a:spcBef>
                <a:spcPts val="1800"/>
              </a:spcBef>
              <a:spcAft>
                <a:spcPts val="0"/>
              </a:spcAft>
              <a:buClr>
                <a:schemeClr val="dk1"/>
              </a:buClr>
              <a:buSzPct val="100000"/>
              <a:buChar char="▪"/>
            </a:pPr>
            <a:r>
              <a:rPr b="1" lang="en-US"/>
              <a:t>Unidirectional Data Flow: </a:t>
            </a:r>
            <a:r>
              <a:rPr lang="en-US"/>
              <a:t>Data flows from parent to child components, making data management predictable and easier to debug.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2"/>
              </a:buClr>
              <a:buSzPts val="3600"/>
              <a:buFont typeface="Arial"/>
              <a:buNone/>
            </a:pPr>
            <a:r>
              <a:rPr b="1" lang="en-US">
                <a:solidFill>
                  <a:schemeClr val="dk2"/>
                </a:solidFill>
              </a:rPr>
              <a:t>Fundamental Concepts</a:t>
            </a:r>
            <a:endParaRPr>
              <a:solidFill>
                <a:schemeClr val="dk2"/>
              </a:solidFill>
            </a:endParaRPr>
          </a:p>
        </p:txBody>
      </p:sp>
      <p:sp>
        <p:nvSpPr>
          <p:cNvPr id="156" name="Google Shape;156;p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fontScale="92500" lnSpcReduction="20000"/>
          </a:bodyPr>
          <a:lstStyle/>
          <a:p>
            <a:pPr indent="-228600" lvl="0" marL="228600" rtl="0" algn="just">
              <a:lnSpc>
                <a:spcPct val="100000"/>
              </a:lnSpc>
              <a:spcBef>
                <a:spcPts val="0"/>
              </a:spcBef>
              <a:spcAft>
                <a:spcPts val="0"/>
              </a:spcAft>
              <a:buClr>
                <a:schemeClr val="dk1"/>
              </a:buClr>
              <a:buSzPct val="100000"/>
              <a:buChar char="▪"/>
            </a:pPr>
            <a:r>
              <a:rPr b="1" lang="en-US"/>
              <a:t>Components</a:t>
            </a:r>
            <a:r>
              <a:rPr lang="en-US"/>
              <a:t>: Building blocks of a React application, can be functional or class-based.</a:t>
            </a:r>
            <a:endParaRPr/>
          </a:p>
          <a:p>
            <a:pPr indent="-228600" lvl="0" marL="228600" rtl="0" algn="just">
              <a:lnSpc>
                <a:spcPct val="100000"/>
              </a:lnSpc>
              <a:spcBef>
                <a:spcPts val="1800"/>
              </a:spcBef>
              <a:spcAft>
                <a:spcPts val="0"/>
              </a:spcAft>
              <a:buClr>
                <a:schemeClr val="dk1"/>
              </a:buClr>
              <a:buSzPct val="100000"/>
              <a:buChar char="▪"/>
            </a:pPr>
            <a:r>
              <a:rPr b="1" lang="en-US"/>
              <a:t>State and Props</a:t>
            </a:r>
            <a:r>
              <a:rPr lang="en-US"/>
              <a:t>: State manages component data, while props are used to pass data from one component to another.</a:t>
            </a:r>
            <a:endParaRPr/>
          </a:p>
          <a:p>
            <a:pPr indent="-228600" lvl="0" marL="228600" rtl="0" algn="just">
              <a:lnSpc>
                <a:spcPct val="100000"/>
              </a:lnSpc>
              <a:spcBef>
                <a:spcPts val="1800"/>
              </a:spcBef>
              <a:spcAft>
                <a:spcPts val="0"/>
              </a:spcAft>
              <a:buClr>
                <a:schemeClr val="dk1"/>
              </a:buClr>
              <a:buSzPct val="100000"/>
              <a:buChar char="▪"/>
            </a:pPr>
            <a:r>
              <a:rPr b="1" lang="en-US"/>
              <a:t>Lifecycle Methods</a:t>
            </a:r>
            <a:r>
              <a:rPr lang="en-US"/>
              <a:t>: Class components have lifecycle methods (like componentDidMount, componentWillUnmount) that manage component behavior at different stages.</a:t>
            </a:r>
            <a:endParaRPr/>
          </a:p>
          <a:p>
            <a:pPr indent="-228600" lvl="0" marL="228600" rtl="0" algn="just">
              <a:lnSpc>
                <a:spcPct val="100000"/>
              </a:lnSpc>
              <a:spcBef>
                <a:spcPts val="1800"/>
              </a:spcBef>
              <a:spcAft>
                <a:spcPts val="0"/>
              </a:spcAft>
              <a:buClr>
                <a:schemeClr val="dk1"/>
              </a:buClr>
              <a:buSzPct val="100000"/>
              <a:buChar char="▪"/>
            </a:pPr>
            <a:r>
              <a:rPr b="1" lang="en-US"/>
              <a:t>Hooks</a:t>
            </a:r>
            <a:r>
              <a:rPr lang="en-US"/>
              <a:t>: Introduced in React 16.8, hooks (like useState, useEffect) allow functional components to manage state and side effects, making functional components more powerful.</a:t>
            </a:r>
            <a:endParaRPr/>
          </a:p>
          <a:p>
            <a:pPr indent="-87630" lvl="1" marL="685800" rtl="0" algn="l">
              <a:lnSpc>
                <a:spcPct val="100000"/>
              </a:lnSpc>
              <a:spcBef>
                <a:spcPts val="600"/>
              </a:spcBef>
              <a:spcAft>
                <a:spcPts val="0"/>
              </a:spcAft>
              <a:buClr>
                <a:schemeClr val="dk1"/>
              </a:buClr>
              <a:buSzPct val="100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2"/>
              </a:buClr>
              <a:buSzPts val="3600"/>
              <a:buFont typeface="Arial"/>
              <a:buNone/>
            </a:pPr>
            <a:r>
              <a:rPr b="1" lang="en-US">
                <a:solidFill>
                  <a:schemeClr val="dk2"/>
                </a:solidFill>
              </a:rPr>
              <a:t>React Native vs. React JS</a:t>
            </a:r>
            <a:endParaRPr>
              <a:solidFill>
                <a:schemeClr val="dk2"/>
              </a:solidFill>
            </a:endParaRPr>
          </a:p>
        </p:txBody>
      </p:sp>
      <p:sp>
        <p:nvSpPr>
          <p:cNvPr id="162" name="Google Shape;162;p6"/>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React</a:t>
            </a:r>
            <a:r>
              <a:rPr lang="en-US"/>
              <a:t> and </a:t>
            </a:r>
            <a:r>
              <a:rPr b="1" lang="en-US"/>
              <a:t>React Native </a:t>
            </a:r>
            <a:r>
              <a:rPr lang="en-US"/>
              <a:t>are developed by Facebook.</a:t>
            </a:r>
            <a:endParaRPr/>
          </a:p>
          <a:p>
            <a:pPr indent="-228600" lvl="0" marL="228600" rtl="0" algn="l">
              <a:lnSpc>
                <a:spcPct val="100000"/>
              </a:lnSpc>
              <a:spcBef>
                <a:spcPts val="1800"/>
              </a:spcBef>
              <a:spcAft>
                <a:spcPts val="0"/>
              </a:spcAft>
              <a:buClr>
                <a:schemeClr val="dk1"/>
              </a:buClr>
              <a:buSzPts val="2800"/>
              <a:buChar char="▪"/>
            </a:pPr>
            <a:r>
              <a:rPr b="1" lang="en-US"/>
              <a:t>React Native </a:t>
            </a:r>
            <a:r>
              <a:rPr lang="en-US"/>
              <a:t>is a React JS-based framework for designing mobile apps</a:t>
            </a:r>
            <a:endParaRPr/>
          </a:p>
          <a:p>
            <a:pPr indent="-76200" lvl="1" marL="685800" rtl="0" algn="l">
              <a:lnSpc>
                <a:spcPct val="100000"/>
              </a:lnSpc>
              <a:spcBef>
                <a:spcPts val="600"/>
              </a:spcBef>
              <a:spcAft>
                <a:spcPts val="0"/>
              </a:spcAft>
              <a:buClr>
                <a:schemeClr val="dk1"/>
              </a:buClr>
              <a:buSzPts val="2400"/>
              <a:buNone/>
            </a:pPr>
            <a:r>
              <a:t/>
            </a:r>
            <a:endParaRPr/>
          </a:p>
        </p:txBody>
      </p:sp>
      <p:graphicFrame>
        <p:nvGraphicFramePr>
          <p:cNvPr id="163" name="Google Shape;163;p6"/>
          <p:cNvGraphicFramePr/>
          <p:nvPr/>
        </p:nvGraphicFramePr>
        <p:xfrm>
          <a:off x="1104898" y="3429000"/>
          <a:ext cx="3000000" cy="3000000"/>
        </p:xfrm>
        <a:graphic>
          <a:graphicData uri="http://schemas.openxmlformats.org/drawingml/2006/table">
            <a:tbl>
              <a:tblPr bandRow="1" firstCol="1" firstRow="1">
                <a:noFill/>
                <a:tableStyleId>{A9FCE8B8-2298-4237-8CC4-835AD0581C78}</a:tableStyleId>
              </a:tblPr>
              <a:tblGrid>
                <a:gridCol w="4990350"/>
                <a:gridCol w="4990350"/>
              </a:tblGrid>
              <a:tr h="320500">
                <a:tc>
                  <a:txBody>
                    <a:bodyPr/>
                    <a:lstStyle/>
                    <a:p>
                      <a:pPr indent="0" lvl="0" marL="0" marR="0" rtl="0" algn="l">
                        <a:lnSpc>
                          <a:spcPct val="107000"/>
                        </a:lnSpc>
                        <a:spcBef>
                          <a:spcPts val="0"/>
                        </a:spcBef>
                        <a:spcAft>
                          <a:spcPts val="0"/>
                        </a:spcAft>
                        <a:buNone/>
                      </a:pPr>
                      <a:r>
                        <a:rPr b="1" lang="en-US" sz="2400" u="none" cap="none" strike="noStrike"/>
                        <a:t>React js</a:t>
                      </a:r>
                      <a:endParaRPr b="1" sz="24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None/>
                      </a:pPr>
                      <a:r>
                        <a:rPr b="1" lang="en-US" sz="2400" u="none" cap="none" strike="noStrike"/>
                        <a:t>React native</a:t>
                      </a:r>
                      <a:endParaRPr b="1" sz="2400" u="none" cap="none" strike="noStrike">
                        <a:latin typeface="Times New Roman"/>
                        <a:ea typeface="Times New Roman"/>
                        <a:cs typeface="Times New Roman"/>
                        <a:sym typeface="Times New Roman"/>
                      </a:endParaRPr>
                    </a:p>
                  </a:txBody>
                  <a:tcPr marT="0" marB="0" marR="68575" marL="68575"/>
                </a:tc>
              </a:tr>
              <a:tr h="1008550">
                <a:tc>
                  <a:txBody>
                    <a:bodyPr/>
                    <a:lstStyle/>
                    <a:p>
                      <a:pPr indent="0" lvl="0" marL="0" marR="0" rtl="0" algn="just">
                        <a:lnSpc>
                          <a:spcPct val="107000"/>
                        </a:lnSpc>
                        <a:spcBef>
                          <a:spcPts val="0"/>
                        </a:spcBef>
                        <a:spcAft>
                          <a:spcPts val="0"/>
                        </a:spcAft>
                        <a:buNone/>
                      </a:pPr>
                      <a:r>
                        <a:rPr lang="en-US" sz="2000" u="none" cap="none" strike="noStrike"/>
                        <a:t>React is a JavaScript library of reusable components designed to create skeletons of apps</a:t>
                      </a:r>
                      <a:endParaRPr sz="20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07000"/>
                        </a:lnSpc>
                        <a:spcBef>
                          <a:spcPts val="0"/>
                        </a:spcBef>
                        <a:spcAft>
                          <a:spcPts val="0"/>
                        </a:spcAft>
                        <a:buNone/>
                      </a:pPr>
                      <a:r>
                        <a:rPr lang="en-US" sz="2000" u="none" cap="none" strike="noStrike"/>
                        <a:t>React Native is designed to build native mobile apps with reusable components.</a:t>
                      </a:r>
                      <a:endParaRPr sz="2000" u="none" cap="none" strike="noStrike">
                        <a:latin typeface="Times New Roman"/>
                        <a:ea typeface="Times New Roman"/>
                        <a:cs typeface="Times New Roman"/>
                        <a:sym typeface="Times New Roman"/>
                      </a:endParaRPr>
                    </a:p>
                  </a:txBody>
                  <a:tcPr marT="0" marB="0" marR="68575" marL="68575"/>
                </a:tc>
              </a:tr>
              <a:tr h="831775">
                <a:tc>
                  <a:txBody>
                    <a:bodyPr/>
                    <a:lstStyle/>
                    <a:p>
                      <a:pPr indent="0" lvl="0" marL="0" marR="0" rtl="0" algn="just">
                        <a:lnSpc>
                          <a:spcPct val="107000"/>
                        </a:lnSpc>
                        <a:spcBef>
                          <a:spcPts val="0"/>
                        </a:spcBef>
                        <a:spcAft>
                          <a:spcPts val="0"/>
                        </a:spcAft>
                        <a:buNone/>
                      </a:pPr>
                      <a:r>
                        <a:rPr lang="en-US" sz="2000" u="none" cap="none" strike="noStrike"/>
                        <a:t>React is used to build the user interface for web applications</a:t>
                      </a:r>
                      <a:endParaRPr sz="20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07000"/>
                        </a:lnSpc>
                        <a:spcBef>
                          <a:spcPts val="0"/>
                        </a:spcBef>
                        <a:spcAft>
                          <a:spcPts val="0"/>
                        </a:spcAft>
                        <a:buNone/>
                      </a:pPr>
                      <a:r>
                        <a:rPr lang="en-US" sz="2000" u="none" cap="none" strike="noStrike"/>
                        <a:t>React Native is used for developing a mobile application for Android, iOS and Windows.</a:t>
                      </a:r>
                      <a:endParaRPr sz="2000" u="none" cap="none" strike="noStrike">
                        <a:latin typeface="Times New Roman"/>
                        <a:ea typeface="Times New Roman"/>
                        <a:cs typeface="Times New Roman"/>
                        <a:sym typeface="Times New Roman"/>
                      </a:endParaRPr>
                    </a:p>
                  </a:txBody>
                  <a:tcPr marT="0" marB="0" marR="68575" marL="68575"/>
                </a:tc>
              </a:tr>
              <a:tr h="831775">
                <a:tc>
                  <a:txBody>
                    <a:bodyPr/>
                    <a:lstStyle/>
                    <a:p>
                      <a:pPr indent="0" lvl="0" marL="0" marR="0" rtl="0" algn="just">
                        <a:lnSpc>
                          <a:spcPct val="107000"/>
                        </a:lnSpc>
                        <a:spcBef>
                          <a:spcPts val="0"/>
                        </a:spcBef>
                        <a:spcAft>
                          <a:spcPts val="0"/>
                        </a:spcAft>
                        <a:buNone/>
                      </a:pPr>
                      <a:r>
                        <a:rPr lang="en-US" sz="2000" u="none" cap="none" strike="noStrike"/>
                        <a:t>React utilizes HTML, CSS, and JavaScript to create interactive user interfaces</a:t>
                      </a:r>
                      <a:endParaRPr sz="20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07000"/>
                        </a:lnSpc>
                        <a:spcBef>
                          <a:spcPts val="0"/>
                        </a:spcBef>
                        <a:spcAft>
                          <a:spcPts val="0"/>
                        </a:spcAft>
                        <a:buNone/>
                      </a:pPr>
                      <a:r>
                        <a:rPr lang="en-US" sz="2000" u="none" cap="none" strike="noStrike"/>
                        <a:t>React Native utilizes APIs and native UI components to build mobile applications.</a:t>
                      </a:r>
                      <a:endParaRPr sz="2000" u="none" cap="none" strike="noStrike">
                        <a:latin typeface="Times New Roman"/>
                        <a:ea typeface="Times New Roman"/>
                        <a:cs typeface="Times New Roman"/>
                        <a:sym typeface="Times New Roman"/>
                      </a:endParaRPr>
                    </a:p>
                  </a:txBody>
                  <a:tcPr marT="0" marB="0" marR="68575" marL="6857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React Native vs. React JS</a:t>
            </a:r>
            <a:endParaRPr/>
          </a:p>
        </p:txBody>
      </p:sp>
      <p:graphicFrame>
        <p:nvGraphicFramePr>
          <p:cNvPr id="169" name="Google Shape;169;p7"/>
          <p:cNvGraphicFramePr/>
          <p:nvPr/>
        </p:nvGraphicFramePr>
        <p:xfrm>
          <a:off x="1104900" y="1600200"/>
          <a:ext cx="3000000" cy="3000000"/>
        </p:xfrm>
        <a:graphic>
          <a:graphicData uri="http://schemas.openxmlformats.org/drawingml/2006/table">
            <a:tbl>
              <a:tblPr bandRow="1" firstCol="1" firstRow="1">
                <a:noFill/>
                <a:tableStyleId>{A9FCE8B8-2298-4237-8CC4-835AD0581C78}</a:tableStyleId>
              </a:tblPr>
              <a:tblGrid>
                <a:gridCol w="4945375"/>
                <a:gridCol w="5035300"/>
              </a:tblGrid>
              <a:tr h="409150">
                <a:tc>
                  <a:txBody>
                    <a:bodyPr/>
                    <a:lstStyle/>
                    <a:p>
                      <a:pPr indent="0" lvl="0" marL="0" marR="0" rtl="0" algn="l">
                        <a:lnSpc>
                          <a:spcPct val="107000"/>
                        </a:lnSpc>
                        <a:spcBef>
                          <a:spcPts val="0"/>
                        </a:spcBef>
                        <a:spcAft>
                          <a:spcPts val="0"/>
                        </a:spcAft>
                        <a:buNone/>
                      </a:pPr>
                      <a:r>
                        <a:rPr b="1" lang="en-US" sz="2400" u="none" cap="none" strike="noStrike"/>
                        <a:t>React js</a:t>
                      </a:r>
                      <a:endParaRPr b="1" sz="24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None/>
                      </a:pPr>
                      <a:r>
                        <a:rPr b="1" lang="en-US" sz="2400" u="none" cap="none" strike="noStrike"/>
                        <a:t>React native</a:t>
                      </a:r>
                      <a:endParaRPr b="1" sz="2400" u="none" cap="none" strike="noStrike">
                        <a:latin typeface="Times New Roman"/>
                        <a:ea typeface="Times New Roman"/>
                        <a:cs typeface="Times New Roman"/>
                        <a:sym typeface="Times New Roman"/>
                      </a:endParaRPr>
                    </a:p>
                  </a:txBody>
                  <a:tcPr marT="0" marB="0" marR="68575" marL="68575"/>
                </a:tc>
              </a:tr>
              <a:tr h="927800">
                <a:tc>
                  <a:txBody>
                    <a:bodyPr/>
                    <a:lstStyle/>
                    <a:p>
                      <a:pPr indent="0" lvl="0" marL="0" marR="0" rtl="0" algn="just">
                        <a:lnSpc>
                          <a:spcPct val="107000"/>
                        </a:lnSpc>
                        <a:spcBef>
                          <a:spcPts val="0"/>
                        </a:spcBef>
                        <a:spcAft>
                          <a:spcPts val="0"/>
                        </a:spcAft>
                        <a:buNone/>
                      </a:pPr>
                      <a:r>
                        <a:rPr lang="en-US" sz="2000" u="none" cap="none" strike="noStrike"/>
                        <a:t>React.js used a virtual DOM to render browser code in React</a:t>
                      </a:r>
                      <a:endParaRPr sz="20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07000"/>
                        </a:lnSpc>
                        <a:spcBef>
                          <a:spcPts val="0"/>
                        </a:spcBef>
                        <a:spcAft>
                          <a:spcPts val="0"/>
                        </a:spcAft>
                        <a:buNone/>
                      </a:pPr>
                      <a:r>
                        <a:rPr lang="en-US" sz="2000" u="none" cap="none" strike="noStrike"/>
                        <a:t>React Native uses Native API to render components for mobile applications</a:t>
                      </a:r>
                      <a:endParaRPr sz="2000" u="none" cap="none" strike="noStrike">
                        <a:latin typeface="Times New Roman"/>
                        <a:ea typeface="Times New Roman"/>
                        <a:cs typeface="Times New Roman"/>
                        <a:sym typeface="Times New Roman"/>
                      </a:endParaRPr>
                    </a:p>
                  </a:txBody>
                  <a:tcPr marT="0" marB="0" marR="68575" marL="68575"/>
                </a:tc>
              </a:tr>
              <a:tr h="927800">
                <a:tc>
                  <a:txBody>
                    <a:bodyPr/>
                    <a:lstStyle/>
                    <a:p>
                      <a:pPr indent="0" lvl="0" marL="0" marR="0" rtl="0" algn="just">
                        <a:lnSpc>
                          <a:spcPct val="107000"/>
                        </a:lnSpc>
                        <a:spcBef>
                          <a:spcPts val="0"/>
                        </a:spcBef>
                        <a:spcAft>
                          <a:spcPts val="0"/>
                        </a:spcAft>
                        <a:buNone/>
                      </a:pPr>
                      <a:r>
                        <a:rPr lang="en-US" sz="2000" u="none" cap="none" strike="noStrike"/>
                        <a:t>React has a steep learning curve as it requires knowledge of libraries,</a:t>
                      </a:r>
                      <a:endParaRPr sz="20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07000"/>
                        </a:lnSpc>
                        <a:spcBef>
                          <a:spcPts val="0"/>
                        </a:spcBef>
                        <a:spcAft>
                          <a:spcPts val="0"/>
                        </a:spcAft>
                        <a:buNone/>
                      </a:pPr>
                      <a:r>
                        <a:rPr lang="en-US" sz="2000" u="none" cap="none" strike="noStrike"/>
                        <a:t>React Native is easier to understand with basic knowledge of React and JavaScript.</a:t>
                      </a:r>
                      <a:endParaRPr sz="2000" u="none" cap="none" strike="noStrike">
                        <a:latin typeface="Times New Roman"/>
                        <a:ea typeface="Times New Roman"/>
                        <a:cs typeface="Times New Roman"/>
                        <a:sym typeface="Times New Roman"/>
                      </a:endParaRPr>
                    </a:p>
                  </a:txBody>
                  <a:tcPr marT="0" marB="0" marR="68575" marL="68575"/>
                </a:tc>
              </a:tr>
              <a:tr h="1072825">
                <a:tc>
                  <a:txBody>
                    <a:bodyPr/>
                    <a:lstStyle/>
                    <a:p>
                      <a:pPr indent="0" lvl="0" marL="0" marR="0" rtl="0" algn="just">
                        <a:lnSpc>
                          <a:spcPct val="107000"/>
                        </a:lnSpc>
                        <a:spcBef>
                          <a:spcPts val="0"/>
                        </a:spcBef>
                        <a:spcAft>
                          <a:spcPts val="0"/>
                        </a:spcAft>
                        <a:buNone/>
                      </a:pPr>
                      <a:r>
                        <a:rPr lang="en-US" sz="2000" u="none" cap="none" strike="noStrike"/>
                        <a:t>React is an open-source JS library for building the UIs for web applications</a:t>
                      </a:r>
                      <a:endParaRPr sz="20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07000"/>
                        </a:lnSpc>
                        <a:spcBef>
                          <a:spcPts val="0"/>
                        </a:spcBef>
                        <a:spcAft>
                          <a:spcPts val="0"/>
                        </a:spcAft>
                        <a:buNone/>
                      </a:pPr>
                      <a:r>
                        <a:rPr lang="en-US" sz="2000" u="none" cap="none" strike="noStrike"/>
                        <a:t>React Native is used to build rich mobile UI from declarative components using only JavaScript.</a:t>
                      </a:r>
                      <a:endParaRPr sz="2000" u="none" cap="none" strike="noStrike">
                        <a:latin typeface="Times New Roman"/>
                        <a:ea typeface="Times New Roman"/>
                        <a:cs typeface="Times New Roman"/>
                        <a:sym typeface="Times New Roman"/>
                      </a:endParaRPr>
                    </a:p>
                  </a:txBody>
                  <a:tcPr marT="0" marB="0" marR="68575" marL="6857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Setting up a development environment </a:t>
            </a:r>
            <a:endParaRPr/>
          </a:p>
        </p:txBody>
      </p:sp>
      <p:sp>
        <p:nvSpPr>
          <p:cNvPr id="176" name="Google Shape;176;p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Requirements</a:t>
            </a:r>
            <a:r>
              <a:rPr lang="en-US">
                <a:solidFill>
                  <a:srgbClr val="FF0000"/>
                </a:solidFill>
              </a:rPr>
              <a:t>: </a:t>
            </a:r>
            <a:endParaRPr/>
          </a:p>
          <a:p>
            <a:pPr indent="-228600" lvl="1" marL="685800" rtl="0" algn="l">
              <a:lnSpc>
                <a:spcPct val="100000"/>
              </a:lnSpc>
              <a:spcBef>
                <a:spcPts val="600"/>
              </a:spcBef>
              <a:spcAft>
                <a:spcPts val="0"/>
              </a:spcAft>
              <a:buClr>
                <a:schemeClr val="dk1"/>
              </a:buClr>
              <a:buSzPts val="2400"/>
              <a:buChar char="▪"/>
            </a:pPr>
            <a:r>
              <a:rPr b="1" i="1" lang="en-US"/>
              <a:t>Editor and Terminal</a:t>
            </a:r>
            <a:r>
              <a:rPr lang="en-US"/>
              <a:t>: text editor (e.g. Sublime Text) and a command line tool (e.g. item). </a:t>
            </a:r>
            <a:r>
              <a:rPr b="1" lang="en-US"/>
              <a:t>Using an IDE</a:t>
            </a:r>
            <a:r>
              <a:rPr lang="en-US"/>
              <a:t>, for example Visual Studio Code, </a:t>
            </a:r>
            <a:r>
              <a:rPr b="1" lang="en-US"/>
              <a:t>CodeSandbox</a:t>
            </a:r>
            <a:r>
              <a:rPr lang="en-US"/>
              <a:t> is a great tool for sharing code online</a:t>
            </a:r>
            <a:endParaRPr/>
          </a:p>
          <a:p>
            <a:pPr indent="-228600" lvl="1" marL="685800" rtl="0" algn="l">
              <a:lnSpc>
                <a:spcPct val="100000"/>
              </a:lnSpc>
              <a:spcBef>
                <a:spcPts val="600"/>
              </a:spcBef>
              <a:spcAft>
                <a:spcPts val="0"/>
              </a:spcAft>
              <a:buClr>
                <a:schemeClr val="dk1"/>
              </a:buClr>
              <a:buSzPts val="2400"/>
              <a:buChar char="▪"/>
            </a:pPr>
            <a:r>
              <a:rPr b="1" i="1" lang="en-US"/>
              <a:t>Node and NPM</a:t>
            </a:r>
            <a:r>
              <a:rPr lang="en-US"/>
              <a:t>: Both are used to manage libraries (node packages) that you will need along the way. Node.js is essential as it runs JavaScript code outside browsers, while NPM helps in managing packages needed for your projects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Setting up a development environment </a:t>
            </a:r>
            <a:endParaRPr/>
          </a:p>
        </p:txBody>
      </p:sp>
      <p:sp>
        <p:nvSpPr>
          <p:cNvPr id="183" name="Google Shape;183;p9"/>
          <p:cNvSpPr txBox="1"/>
          <p:nvPr>
            <p:ph idx="1" type="body"/>
          </p:nvPr>
        </p:nvSpPr>
        <p:spPr>
          <a:xfrm>
            <a:off x="1104900" y="1600200"/>
            <a:ext cx="10126980" cy="483108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Install Node.js and npm (Node Package Manager)</a:t>
            </a:r>
            <a:endParaRPr/>
          </a:p>
          <a:p>
            <a:pPr indent="-228600" lvl="1" marL="685800" rtl="0" algn="just">
              <a:lnSpc>
                <a:spcPct val="100000"/>
              </a:lnSpc>
              <a:spcBef>
                <a:spcPts val="600"/>
              </a:spcBef>
              <a:spcAft>
                <a:spcPts val="0"/>
              </a:spcAft>
              <a:buClr>
                <a:schemeClr val="dk1"/>
              </a:buClr>
              <a:buSzPts val="2800"/>
              <a:buChar char="▪"/>
            </a:pPr>
            <a:r>
              <a:rPr lang="en-US" sz="2800"/>
              <a:t>​​Download the </a:t>
            </a:r>
            <a:r>
              <a:rPr b="1" lang="en-US" sz="2800"/>
              <a:t>Node.js </a:t>
            </a:r>
            <a:r>
              <a:rPr lang="en-US" sz="2800"/>
              <a:t>installer from the </a:t>
            </a:r>
            <a:r>
              <a:rPr b="1" lang="en-US" sz="2800"/>
              <a:t>official Node.js website</a:t>
            </a:r>
            <a:r>
              <a:rPr lang="en-US" sz="2800"/>
              <a:t>.</a:t>
            </a:r>
            <a:endParaRPr/>
          </a:p>
          <a:p>
            <a:pPr indent="-228600" lvl="1" marL="685800" rtl="0" algn="just">
              <a:lnSpc>
                <a:spcPct val="100000"/>
              </a:lnSpc>
              <a:spcBef>
                <a:spcPts val="600"/>
              </a:spcBef>
              <a:spcAft>
                <a:spcPts val="0"/>
              </a:spcAft>
              <a:buClr>
                <a:schemeClr val="dk1"/>
              </a:buClr>
              <a:buSzPts val="2800"/>
              <a:buChar char="▪"/>
            </a:pPr>
            <a:r>
              <a:rPr lang="en-US" sz="2800"/>
              <a:t>Run the installer and follow the on-screen instructions. Make sure to check the box to install </a:t>
            </a:r>
            <a:r>
              <a:rPr b="1" lang="en-US" sz="2800"/>
              <a:t>npm</a:t>
            </a:r>
            <a:r>
              <a:rPr lang="en-US" sz="2800"/>
              <a:t> during the setup process.</a:t>
            </a:r>
            <a:endParaRPr/>
          </a:p>
          <a:p>
            <a:pPr indent="-228600" lvl="1" marL="685800" rtl="0" algn="just">
              <a:lnSpc>
                <a:spcPct val="100000"/>
              </a:lnSpc>
              <a:spcBef>
                <a:spcPts val="600"/>
              </a:spcBef>
              <a:spcAft>
                <a:spcPts val="0"/>
              </a:spcAft>
              <a:buClr>
                <a:schemeClr val="dk1"/>
              </a:buClr>
              <a:buSzPts val="2800"/>
              <a:buChar char="▪"/>
            </a:pPr>
            <a:r>
              <a:rPr lang="en-US" sz="2800"/>
              <a:t>After installation, confirm the installation: Open cmd and run the following commands</a:t>
            </a:r>
            <a:endParaRPr/>
          </a:p>
        </p:txBody>
      </p:sp>
      <p:sp>
        <p:nvSpPr>
          <p:cNvPr id="184" name="Google Shape;184;p9"/>
          <p:cNvSpPr txBox="1"/>
          <p:nvPr/>
        </p:nvSpPr>
        <p:spPr>
          <a:xfrm>
            <a:off x="4163191" y="5477173"/>
            <a:ext cx="3864099" cy="954107"/>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node -v</a:t>
            </a:r>
            <a:endParaRPr/>
          </a:p>
          <a:p>
            <a:pPr indent="0" lvl="0" marL="0" marR="0" rtl="0" algn="l">
              <a:spcBef>
                <a:spcPts val="0"/>
              </a:spcBef>
              <a:spcAft>
                <a:spcPts val="0"/>
              </a:spcAft>
              <a:buNone/>
            </a:pPr>
            <a:r>
              <a:rPr b="1" lang="en-US" sz="2800">
                <a:solidFill>
                  <a:schemeClr val="dk1"/>
                </a:solidFill>
                <a:latin typeface="Arial"/>
                <a:ea typeface="Arial"/>
                <a:cs typeface="Arial"/>
                <a:sym typeface="Arial"/>
              </a:rPr>
              <a:t>npm -v</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Setting up a development environment </a:t>
            </a:r>
            <a:endParaRPr/>
          </a:p>
        </p:txBody>
      </p:sp>
      <p:sp>
        <p:nvSpPr>
          <p:cNvPr id="190" name="Google Shape;190;p10"/>
          <p:cNvSpPr txBox="1"/>
          <p:nvPr>
            <p:ph idx="1" type="body"/>
          </p:nvPr>
        </p:nvSpPr>
        <p:spPr>
          <a:xfrm>
            <a:off x="1104900" y="1600200"/>
            <a:ext cx="106299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Install Create React App</a:t>
            </a:r>
            <a:endParaRPr/>
          </a:p>
          <a:p>
            <a:pPr indent="-228600" lvl="1" marL="685800" rtl="0" algn="just">
              <a:lnSpc>
                <a:spcPct val="100000"/>
              </a:lnSpc>
              <a:spcBef>
                <a:spcPts val="600"/>
              </a:spcBef>
              <a:spcAft>
                <a:spcPts val="0"/>
              </a:spcAft>
              <a:buClr>
                <a:schemeClr val="dk1"/>
              </a:buClr>
              <a:buSzPts val="2400"/>
              <a:buFont typeface="Arial"/>
              <a:buChar char="•"/>
            </a:pPr>
            <a:r>
              <a:rPr b="1" lang="en-US"/>
              <a:t>What it does</a:t>
            </a:r>
            <a:r>
              <a:rPr lang="en-US"/>
              <a:t>: Create React App is a command-line tool that helps you create a new React project with the necessary build configurations.</a:t>
            </a:r>
            <a:endParaRPr/>
          </a:p>
          <a:p>
            <a:pPr indent="-228600" lvl="1" marL="685800" rtl="0" algn="l">
              <a:lnSpc>
                <a:spcPct val="100000"/>
              </a:lnSpc>
              <a:spcBef>
                <a:spcPts val="600"/>
              </a:spcBef>
              <a:spcAft>
                <a:spcPts val="0"/>
              </a:spcAft>
              <a:buClr>
                <a:schemeClr val="dk1"/>
              </a:buClr>
              <a:buSzPts val="2400"/>
              <a:buChar char="▪"/>
            </a:pPr>
            <a:r>
              <a:rPr b="1" lang="en-US"/>
              <a:t>Steps</a:t>
            </a:r>
            <a:r>
              <a:rPr lang="en-US"/>
              <a:t>:</a:t>
            </a:r>
            <a:endParaRPr/>
          </a:p>
          <a:p>
            <a:pPr indent="-228600" lvl="2" marL="1143000" rtl="0" algn="just">
              <a:lnSpc>
                <a:spcPct val="100000"/>
              </a:lnSpc>
              <a:spcBef>
                <a:spcPts val="600"/>
              </a:spcBef>
              <a:spcAft>
                <a:spcPts val="0"/>
              </a:spcAft>
              <a:buClr>
                <a:schemeClr val="dk1"/>
              </a:buClr>
              <a:buSzPts val="2000"/>
              <a:buChar char="▪"/>
            </a:pPr>
            <a:r>
              <a:rPr lang="en-US"/>
              <a:t>Open </a:t>
            </a:r>
            <a:r>
              <a:rPr b="1" lang="en-US"/>
              <a:t>Command Prompt </a:t>
            </a:r>
            <a:r>
              <a:rPr lang="en-US"/>
              <a:t>and run the following command to install Create React App globally</a:t>
            </a:r>
            <a:endParaRPr/>
          </a:p>
          <a:p>
            <a:pPr indent="-101600" lvl="2" marL="1143000" rtl="0" algn="l">
              <a:lnSpc>
                <a:spcPct val="100000"/>
              </a:lnSpc>
              <a:spcBef>
                <a:spcPts val="600"/>
              </a:spcBef>
              <a:spcAft>
                <a:spcPts val="0"/>
              </a:spcAft>
              <a:buClr>
                <a:schemeClr val="dk1"/>
              </a:buClr>
              <a:buSzPts val="2000"/>
              <a:buNone/>
            </a:pPr>
            <a:r>
              <a:t/>
            </a:r>
            <a:endParaRPr/>
          </a:p>
          <a:p>
            <a:pPr indent="-101600" lvl="2" marL="1143000" rtl="0" algn="l">
              <a:lnSpc>
                <a:spcPct val="100000"/>
              </a:lnSpc>
              <a:spcBef>
                <a:spcPts val="600"/>
              </a:spcBef>
              <a:spcAft>
                <a:spcPts val="0"/>
              </a:spcAft>
              <a:buClr>
                <a:schemeClr val="dk1"/>
              </a:buClr>
              <a:buSzPts val="2000"/>
              <a:buNone/>
            </a:pPr>
            <a:r>
              <a:t/>
            </a:r>
            <a:endParaRPr/>
          </a:p>
          <a:p>
            <a:pPr indent="0" lvl="0" marL="0" rtl="0" algn="l">
              <a:lnSpc>
                <a:spcPct val="100000"/>
              </a:lnSpc>
              <a:spcBef>
                <a:spcPts val="600"/>
              </a:spcBef>
              <a:spcAft>
                <a:spcPts val="0"/>
              </a:spcAft>
              <a:buNone/>
            </a:pPr>
            <a:r>
              <a:t/>
            </a:r>
            <a:endParaRPr/>
          </a:p>
        </p:txBody>
      </p:sp>
      <p:sp>
        <p:nvSpPr>
          <p:cNvPr id="191" name="Google Shape;191;p10"/>
          <p:cNvSpPr txBox="1"/>
          <p:nvPr/>
        </p:nvSpPr>
        <p:spPr>
          <a:xfrm>
            <a:off x="3047241" y="4067294"/>
            <a:ext cx="6096000" cy="46166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rPr>
              <a:t>npm create vite@latest my-app</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Setting up a development environment </a:t>
            </a:r>
            <a:endParaRPr/>
          </a:p>
        </p:txBody>
      </p:sp>
      <p:sp>
        <p:nvSpPr>
          <p:cNvPr id="197" name="Google Shape;197;p11"/>
          <p:cNvSpPr txBox="1"/>
          <p:nvPr>
            <p:ph idx="1" type="body"/>
          </p:nvPr>
        </p:nvSpPr>
        <p:spPr>
          <a:xfrm>
            <a:off x="1104900" y="1600200"/>
            <a:ext cx="10279380" cy="4739640"/>
          </a:xfrm>
          <a:prstGeom prst="rect">
            <a:avLst/>
          </a:prstGeom>
          <a:noFill/>
          <a:ln>
            <a:noFill/>
          </a:ln>
        </p:spPr>
        <p:txBody>
          <a:bodyPr anchorCtr="0" anchor="t" bIns="45700" lIns="0" spcFirstLastPara="1" rIns="0" wrap="square" tIns="45700">
            <a:normAutofit lnSpcReduction="10000"/>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Create a New React Project</a:t>
            </a:r>
            <a:endParaRPr/>
          </a:p>
          <a:p>
            <a:pPr indent="-228600" lvl="1" marL="685800" rtl="0" algn="l">
              <a:lnSpc>
                <a:spcPct val="100000"/>
              </a:lnSpc>
              <a:spcBef>
                <a:spcPts val="600"/>
              </a:spcBef>
              <a:spcAft>
                <a:spcPts val="0"/>
              </a:spcAft>
              <a:buClr>
                <a:schemeClr val="dk1"/>
              </a:buClr>
              <a:buSzPts val="2400"/>
              <a:buFont typeface="Arial"/>
              <a:buChar char="•"/>
            </a:pPr>
            <a:r>
              <a:rPr b="1" lang="en-US"/>
              <a:t>What it does</a:t>
            </a:r>
            <a:r>
              <a:rPr lang="en-US"/>
              <a:t>: Creates a new directory with the necessary setup for a React project.</a:t>
            </a:r>
            <a:endParaRPr/>
          </a:p>
          <a:p>
            <a:pPr indent="-228600" lvl="1" marL="685800" rtl="0" algn="l">
              <a:lnSpc>
                <a:spcPct val="100000"/>
              </a:lnSpc>
              <a:spcBef>
                <a:spcPts val="600"/>
              </a:spcBef>
              <a:spcAft>
                <a:spcPts val="0"/>
              </a:spcAft>
              <a:buClr>
                <a:schemeClr val="dk1"/>
              </a:buClr>
              <a:buSzPts val="2400"/>
              <a:buChar char="▪"/>
            </a:pPr>
            <a:r>
              <a:rPr b="1" lang="en-US"/>
              <a:t>Steps</a:t>
            </a:r>
            <a:r>
              <a:rPr lang="en-US"/>
              <a:t>:</a:t>
            </a:r>
            <a:endParaRPr/>
          </a:p>
          <a:p>
            <a:pPr indent="-228600" lvl="2" marL="1143000" rtl="0" algn="l">
              <a:lnSpc>
                <a:spcPct val="100000"/>
              </a:lnSpc>
              <a:spcBef>
                <a:spcPts val="600"/>
              </a:spcBef>
              <a:spcAft>
                <a:spcPts val="0"/>
              </a:spcAft>
              <a:buClr>
                <a:schemeClr val="dk1"/>
              </a:buClr>
              <a:buSzPts val="2400"/>
              <a:buFont typeface="Arial"/>
              <a:buAutoNum type="arabicPeriod"/>
            </a:pPr>
            <a:r>
              <a:rPr lang="en-US" sz="2400"/>
              <a:t>Navigate to the directory where you want to create your React app.</a:t>
            </a:r>
            <a:endParaRPr/>
          </a:p>
          <a:p>
            <a:pPr indent="-228600" lvl="2" marL="1143000" rtl="0" algn="l">
              <a:lnSpc>
                <a:spcPct val="100000"/>
              </a:lnSpc>
              <a:spcBef>
                <a:spcPts val="600"/>
              </a:spcBef>
              <a:spcAft>
                <a:spcPts val="0"/>
              </a:spcAft>
              <a:buClr>
                <a:schemeClr val="dk1"/>
              </a:buClr>
              <a:buSzPts val="2400"/>
              <a:buFont typeface="Arial"/>
              <a:buAutoNum type="arabicPeriod"/>
            </a:pPr>
            <a:r>
              <a:rPr lang="en-US" sz="2400"/>
              <a:t>Run the following command to create a new React app</a:t>
            </a:r>
            <a:endParaRPr/>
          </a:p>
          <a:p>
            <a:pPr indent="-76200" lvl="2" marL="1143000" rtl="0" algn="l">
              <a:lnSpc>
                <a:spcPct val="100000"/>
              </a:lnSpc>
              <a:spcBef>
                <a:spcPts val="600"/>
              </a:spcBef>
              <a:spcAft>
                <a:spcPts val="0"/>
              </a:spcAft>
              <a:buClr>
                <a:schemeClr val="dk1"/>
              </a:buClr>
              <a:buSzPts val="2400"/>
              <a:buFont typeface="Arial"/>
              <a:buNone/>
            </a:pPr>
            <a:r>
              <a:t/>
            </a:r>
            <a:endParaRPr sz="2400"/>
          </a:p>
          <a:p>
            <a:pPr indent="-76200" lvl="2" marL="1143000" rtl="0" algn="l">
              <a:lnSpc>
                <a:spcPct val="100000"/>
              </a:lnSpc>
              <a:spcBef>
                <a:spcPts val="600"/>
              </a:spcBef>
              <a:spcAft>
                <a:spcPts val="0"/>
              </a:spcAft>
              <a:buClr>
                <a:schemeClr val="dk1"/>
              </a:buClr>
              <a:buSzPts val="2400"/>
              <a:buFont typeface="Arial"/>
              <a:buNone/>
            </a:pPr>
            <a:r>
              <a:t/>
            </a:r>
            <a:endParaRPr sz="2400"/>
          </a:p>
          <a:p>
            <a:pPr indent="-228600" lvl="2" marL="1143000" rtl="0" algn="l">
              <a:lnSpc>
                <a:spcPct val="100000"/>
              </a:lnSpc>
              <a:spcBef>
                <a:spcPts val="600"/>
              </a:spcBef>
              <a:spcAft>
                <a:spcPts val="0"/>
              </a:spcAft>
              <a:buClr>
                <a:schemeClr val="dk1"/>
              </a:buClr>
              <a:buSzPts val="2400"/>
              <a:buChar char="▪"/>
            </a:pPr>
            <a:r>
              <a:rPr lang="en-US" sz="2400"/>
              <a:t>Replace </a:t>
            </a:r>
            <a:r>
              <a:rPr b="1" lang="en-US" sz="2400"/>
              <a:t>my-app</a:t>
            </a:r>
            <a:r>
              <a:rPr lang="en-US" sz="2400"/>
              <a:t> with your preferred project name.</a:t>
            </a:r>
            <a:endParaRPr/>
          </a:p>
          <a:p>
            <a:pPr indent="-228600" lvl="2" marL="1143000" rtl="0" algn="l">
              <a:lnSpc>
                <a:spcPct val="100000"/>
              </a:lnSpc>
              <a:spcBef>
                <a:spcPts val="600"/>
              </a:spcBef>
              <a:spcAft>
                <a:spcPts val="0"/>
              </a:spcAft>
              <a:buClr>
                <a:schemeClr val="dk1"/>
              </a:buClr>
              <a:buSzPts val="2400"/>
              <a:buChar char="▪"/>
            </a:pPr>
            <a:r>
              <a:rPr lang="en-US" sz="2400"/>
              <a:t>This will create a new folder named </a:t>
            </a:r>
            <a:r>
              <a:rPr b="1" lang="en-US" sz="2400"/>
              <a:t>my-app</a:t>
            </a:r>
            <a:r>
              <a:rPr lang="en-US" sz="2400"/>
              <a:t> and set up the project structure and dependencies.</a:t>
            </a:r>
            <a:endParaRPr/>
          </a:p>
          <a:p>
            <a:pPr indent="-76200" lvl="1" marL="685800" rtl="0" algn="l">
              <a:lnSpc>
                <a:spcPct val="100000"/>
              </a:lnSpc>
              <a:spcBef>
                <a:spcPts val="600"/>
              </a:spcBef>
              <a:spcAft>
                <a:spcPts val="0"/>
              </a:spcAft>
              <a:buClr>
                <a:schemeClr val="dk1"/>
              </a:buClr>
              <a:buSzPts val="2400"/>
              <a:buNone/>
            </a:pPr>
            <a:r>
              <a:t/>
            </a:r>
            <a:endParaRPr/>
          </a:p>
        </p:txBody>
      </p:sp>
      <p:sp>
        <p:nvSpPr>
          <p:cNvPr id="198" name="Google Shape;198;p11"/>
          <p:cNvSpPr txBox="1"/>
          <p:nvPr/>
        </p:nvSpPr>
        <p:spPr>
          <a:xfrm>
            <a:off x="3047241" y="4097774"/>
            <a:ext cx="6096000" cy="46166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npx create-react-app my-app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Setting up a development environment </a:t>
            </a:r>
            <a:endParaRPr/>
          </a:p>
        </p:txBody>
      </p:sp>
      <p:sp>
        <p:nvSpPr>
          <p:cNvPr id="204" name="Google Shape;204;p1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Navigate into the Project Folder</a:t>
            </a:r>
            <a:endParaRPr/>
          </a:p>
          <a:p>
            <a:pPr indent="-228600" lvl="1" marL="685800" rtl="0" algn="l">
              <a:lnSpc>
                <a:spcPct val="100000"/>
              </a:lnSpc>
              <a:spcBef>
                <a:spcPts val="600"/>
              </a:spcBef>
              <a:spcAft>
                <a:spcPts val="0"/>
              </a:spcAft>
              <a:buClr>
                <a:schemeClr val="dk1"/>
              </a:buClr>
              <a:buSzPts val="2400"/>
              <a:buFont typeface="Arial"/>
              <a:buChar char="•"/>
            </a:pPr>
            <a:r>
              <a:rPr b="1" lang="en-US"/>
              <a:t>What to do</a:t>
            </a:r>
            <a:r>
              <a:rPr lang="en-US"/>
              <a:t>: After the project is created, go to the project directory to begin working on your app.</a:t>
            </a:r>
            <a:endParaRPr/>
          </a:p>
          <a:p>
            <a:pPr indent="-228600" lvl="1" marL="685800" rtl="0" algn="l">
              <a:lnSpc>
                <a:spcPct val="100000"/>
              </a:lnSpc>
              <a:spcBef>
                <a:spcPts val="600"/>
              </a:spcBef>
              <a:spcAft>
                <a:spcPts val="0"/>
              </a:spcAft>
              <a:buClr>
                <a:schemeClr val="dk1"/>
              </a:buClr>
              <a:buSzPts val="2400"/>
              <a:buChar char="▪"/>
            </a:pPr>
            <a:r>
              <a:rPr b="1" lang="en-US"/>
              <a:t>Steps</a:t>
            </a:r>
            <a:r>
              <a:rPr lang="en-US"/>
              <a:t>:</a:t>
            </a:r>
            <a:endParaRPr/>
          </a:p>
          <a:p>
            <a:pPr indent="-228600" lvl="2" marL="1143000" rtl="0" algn="l">
              <a:lnSpc>
                <a:spcPct val="100000"/>
              </a:lnSpc>
              <a:spcBef>
                <a:spcPts val="600"/>
              </a:spcBef>
              <a:spcAft>
                <a:spcPts val="0"/>
              </a:spcAft>
              <a:buClr>
                <a:schemeClr val="dk1"/>
              </a:buClr>
              <a:buSzPts val="2400"/>
              <a:buFont typeface="Arial"/>
              <a:buAutoNum type="arabicPeriod"/>
            </a:pPr>
            <a:r>
              <a:rPr lang="en-US" sz="2400"/>
              <a:t>Run the following command</a:t>
            </a:r>
            <a:endParaRPr/>
          </a:p>
          <a:p>
            <a:pPr indent="-50800" lvl="0" marL="228600" rtl="0" algn="l">
              <a:lnSpc>
                <a:spcPct val="100000"/>
              </a:lnSpc>
              <a:spcBef>
                <a:spcPts val="1800"/>
              </a:spcBef>
              <a:spcAft>
                <a:spcPts val="0"/>
              </a:spcAft>
              <a:buClr>
                <a:schemeClr val="dk1"/>
              </a:buClr>
              <a:buSzPts val="2800"/>
              <a:buNone/>
            </a:pPr>
            <a:r>
              <a:t/>
            </a:r>
            <a:endParaRPr/>
          </a:p>
        </p:txBody>
      </p:sp>
      <p:sp>
        <p:nvSpPr>
          <p:cNvPr id="205" name="Google Shape;205;p12"/>
          <p:cNvSpPr txBox="1"/>
          <p:nvPr/>
        </p:nvSpPr>
        <p:spPr>
          <a:xfrm>
            <a:off x="4182621" y="3886200"/>
            <a:ext cx="3825300" cy="15699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1100"/>
              <a:buFont typeface="Arial"/>
              <a:buNone/>
            </a:pPr>
            <a:r>
              <a:rPr lang="en-US" sz="2400">
                <a:solidFill>
                  <a:schemeClr val="dk1"/>
                </a:solidFill>
              </a:rPr>
              <a:t>cd my-app</a:t>
            </a:r>
            <a:endParaRPr sz="2400">
              <a:solidFill>
                <a:schemeClr val="dk1"/>
              </a:solidFill>
            </a:endParaRPr>
          </a:p>
          <a:p>
            <a:pPr indent="0" lvl="0" marL="0" rtl="0" algn="l">
              <a:spcBef>
                <a:spcPts val="0"/>
              </a:spcBef>
              <a:spcAft>
                <a:spcPts val="0"/>
              </a:spcAft>
              <a:buClr>
                <a:schemeClr val="dk2"/>
              </a:buClr>
              <a:buSzPts val="1100"/>
              <a:buFont typeface="Arial"/>
              <a:buNone/>
            </a:pPr>
            <a:r>
              <a:rPr lang="en-US" sz="2400">
                <a:solidFill>
                  <a:schemeClr val="dk1"/>
                </a:solidFill>
              </a:rPr>
              <a:t>npm install</a:t>
            </a:r>
            <a:endParaRPr sz="2400">
              <a:solidFill>
                <a:schemeClr val="dk1"/>
              </a:solidFill>
            </a:endParaRPr>
          </a:p>
          <a:p>
            <a:pPr indent="0" lvl="0" marL="0" rtl="0" algn="l">
              <a:spcBef>
                <a:spcPts val="0"/>
              </a:spcBef>
              <a:spcAft>
                <a:spcPts val="0"/>
              </a:spcAft>
              <a:buClr>
                <a:schemeClr val="dk2"/>
              </a:buClr>
              <a:buSzPts val="1100"/>
              <a:buFont typeface="Arial"/>
              <a:buNone/>
            </a:pPr>
            <a:r>
              <a:rPr lang="en-US" sz="2400">
                <a:solidFill>
                  <a:schemeClr val="dk1"/>
                </a:solidFill>
              </a:rPr>
              <a:t>npm run dev</a:t>
            </a:r>
            <a:endParaRPr sz="2400">
              <a:solidFill>
                <a:schemeClr val="dk1"/>
              </a:solidFill>
            </a:endParaRPr>
          </a:p>
          <a:p>
            <a:pPr indent="0" lvl="0" marL="0" marR="0" rtl="0" algn="l">
              <a:spcBef>
                <a:spcPts val="0"/>
              </a:spcBef>
              <a:spcAft>
                <a:spcPts val="0"/>
              </a:spcAft>
              <a:buNone/>
            </a:pPr>
            <a:r>
              <a:t/>
            </a:r>
            <a:endParaRPr sz="24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Setting up a development environment </a:t>
            </a:r>
            <a:endParaRPr/>
          </a:p>
        </p:txBody>
      </p:sp>
      <p:sp>
        <p:nvSpPr>
          <p:cNvPr id="211" name="Google Shape;211;p1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lnSpcReduction="20000"/>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Start the Development Server</a:t>
            </a:r>
            <a:endParaRPr/>
          </a:p>
          <a:p>
            <a:pPr indent="-228600" lvl="1" marL="685800" rtl="0" algn="l">
              <a:lnSpc>
                <a:spcPct val="100000"/>
              </a:lnSpc>
              <a:spcBef>
                <a:spcPts val="600"/>
              </a:spcBef>
              <a:spcAft>
                <a:spcPts val="0"/>
              </a:spcAft>
              <a:buClr>
                <a:schemeClr val="dk1"/>
              </a:buClr>
              <a:buSzPts val="2400"/>
              <a:buChar char="▪"/>
            </a:pPr>
            <a:r>
              <a:rPr b="1" lang="en-US"/>
              <a:t>What it does</a:t>
            </a:r>
            <a:r>
              <a:rPr lang="en-US"/>
              <a:t>: Runs the development server and opens the app in your browser at </a:t>
            </a:r>
            <a:r>
              <a:rPr lang="en-US" u="sng">
                <a:solidFill>
                  <a:schemeClr val="hlink"/>
                </a:solidFill>
                <a:hlinkClick r:id="rId3"/>
              </a:rPr>
              <a:t>http://localhost:5173/</a:t>
            </a:r>
            <a:r>
              <a:rPr lang="en-US"/>
              <a:t>.</a:t>
            </a:r>
            <a:endParaRPr/>
          </a:p>
          <a:p>
            <a:pPr indent="-228600" lvl="1" marL="685800" rtl="0" algn="l">
              <a:lnSpc>
                <a:spcPct val="100000"/>
              </a:lnSpc>
              <a:spcBef>
                <a:spcPts val="600"/>
              </a:spcBef>
              <a:spcAft>
                <a:spcPts val="0"/>
              </a:spcAft>
              <a:buClr>
                <a:schemeClr val="dk1"/>
              </a:buClr>
              <a:buSzPts val="2400"/>
              <a:buChar char="▪"/>
            </a:pPr>
            <a:r>
              <a:rPr b="1" lang="en-US"/>
              <a:t>Steps</a:t>
            </a:r>
            <a:r>
              <a:rPr lang="en-US"/>
              <a:t>: </a:t>
            </a:r>
            <a:endParaRPr/>
          </a:p>
          <a:p>
            <a:pPr indent="-457200" lvl="2" marL="1371600" rtl="0" algn="l">
              <a:lnSpc>
                <a:spcPct val="100000"/>
              </a:lnSpc>
              <a:spcBef>
                <a:spcPts val="600"/>
              </a:spcBef>
              <a:spcAft>
                <a:spcPts val="0"/>
              </a:spcAft>
              <a:buClr>
                <a:schemeClr val="dk1"/>
              </a:buClr>
              <a:buSzPts val="2400"/>
              <a:buFont typeface="Arial"/>
              <a:buAutoNum type="arabicPeriod"/>
            </a:pPr>
            <a:r>
              <a:rPr lang="en-US" sz="2400"/>
              <a:t>Inside your project folder, run the following command</a:t>
            </a:r>
            <a:endParaRPr/>
          </a:p>
          <a:p>
            <a:pPr indent="-304800" lvl="2" marL="1371600" rtl="0" algn="l">
              <a:lnSpc>
                <a:spcPct val="100000"/>
              </a:lnSpc>
              <a:spcBef>
                <a:spcPts val="600"/>
              </a:spcBef>
              <a:spcAft>
                <a:spcPts val="0"/>
              </a:spcAft>
              <a:buClr>
                <a:schemeClr val="dk1"/>
              </a:buClr>
              <a:buSzPts val="2400"/>
              <a:buFont typeface="Arial"/>
              <a:buNone/>
            </a:pPr>
            <a:r>
              <a:t/>
            </a:r>
            <a:endParaRPr sz="2400"/>
          </a:p>
          <a:p>
            <a:pPr indent="-304800" lvl="2" marL="1371600" rtl="0" algn="l">
              <a:lnSpc>
                <a:spcPct val="100000"/>
              </a:lnSpc>
              <a:spcBef>
                <a:spcPts val="600"/>
              </a:spcBef>
              <a:spcAft>
                <a:spcPts val="0"/>
              </a:spcAft>
              <a:buClr>
                <a:schemeClr val="dk1"/>
              </a:buClr>
              <a:buSzPts val="2400"/>
              <a:buFont typeface="Arial"/>
              <a:buNone/>
            </a:pPr>
            <a:r>
              <a:t/>
            </a:r>
            <a:endParaRPr sz="2400"/>
          </a:p>
          <a:p>
            <a:pPr indent="-457200" lvl="2" marL="1371600" rtl="0" algn="l">
              <a:lnSpc>
                <a:spcPct val="100000"/>
              </a:lnSpc>
              <a:spcBef>
                <a:spcPts val="600"/>
              </a:spcBef>
              <a:spcAft>
                <a:spcPts val="0"/>
              </a:spcAft>
              <a:buClr>
                <a:schemeClr val="dk1"/>
              </a:buClr>
              <a:buSzPts val="2400"/>
              <a:buFont typeface="Arial"/>
              <a:buAutoNum type="arabicPeriod"/>
            </a:pPr>
            <a:r>
              <a:rPr lang="en-US" sz="2400"/>
              <a:t>The app will open in your default browser, and you’ll see a React page running locally</a:t>
            </a:r>
            <a:endParaRPr/>
          </a:p>
          <a:p>
            <a:pPr indent="-76200" lvl="1" marL="685800" rtl="0" algn="l">
              <a:lnSpc>
                <a:spcPct val="100000"/>
              </a:lnSpc>
              <a:spcBef>
                <a:spcPts val="600"/>
              </a:spcBef>
              <a:spcAft>
                <a:spcPts val="0"/>
              </a:spcAft>
              <a:buClr>
                <a:schemeClr val="dk1"/>
              </a:buClr>
              <a:buSzPts val="2400"/>
              <a:buNone/>
            </a:pPr>
            <a:r>
              <a:t/>
            </a:r>
            <a:endParaRPr/>
          </a:p>
          <a:p>
            <a:pPr indent="-76200" lvl="1" marL="685800" rtl="0" algn="l">
              <a:lnSpc>
                <a:spcPct val="100000"/>
              </a:lnSpc>
              <a:spcBef>
                <a:spcPts val="600"/>
              </a:spcBef>
              <a:spcAft>
                <a:spcPts val="0"/>
              </a:spcAft>
              <a:buClr>
                <a:schemeClr val="dk1"/>
              </a:buClr>
              <a:buSzPts val="2400"/>
              <a:buNone/>
            </a:pPr>
            <a:r>
              <a:t/>
            </a:r>
            <a:endParaRPr/>
          </a:p>
          <a:p>
            <a:pPr indent="-76200" lvl="1" marL="685800" rtl="0" algn="l">
              <a:lnSpc>
                <a:spcPct val="100000"/>
              </a:lnSpc>
              <a:spcBef>
                <a:spcPts val="600"/>
              </a:spcBef>
              <a:spcAft>
                <a:spcPts val="0"/>
              </a:spcAft>
              <a:buClr>
                <a:schemeClr val="dk1"/>
              </a:buClr>
              <a:buSzPts val="2400"/>
              <a:buNone/>
            </a:pPr>
            <a:r>
              <a:t/>
            </a:r>
            <a:endParaRPr/>
          </a:p>
        </p:txBody>
      </p:sp>
      <p:sp>
        <p:nvSpPr>
          <p:cNvPr id="212" name="Google Shape;212;p13"/>
          <p:cNvSpPr txBox="1"/>
          <p:nvPr/>
        </p:nvSpPr>
        <p:spPr>
          <a:xfrm>
            <a:off x="4408046" y="3592550"/>
            <a:ext cx="3063300" cy="4617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npm </a:t>
            </a:r>
            <a:r>
              <a:rPr lang="en-US" sz="2400">
                <a:solidFill>
                  <a:schemeClr val="dk1"/>
                </a:solidFill>
              </a:rPr>
              <a:t>run dev</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Setting up a development environment </a:t>
            </a:r>
            <a:endParaRPr/>
          </a:p>
        </p:txBody>
      </p:sp>
      <p:sp>
        <p:nvSpPr>
          <p:cNvPr id="218" name="Google Shape;218;p1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Project Structure Overview</a:t>
            </a:r>
            <a:endParaRPr/>
          </a:p>
          <a:p>
            <a:pPr indent="-228600" lvl="1" marL="685800" rtl="0" algn="l">
              <a:lnSpc>
                <a:spcPct val="100000"/>
              </a:lnSpc>
              <a:spcBef>
                <a:spcPts val="600"/>
              </a:spcBef>
              <a:spcAft>
                <a:spcPts val="0"/>
              </a:spcAft>
              <a:buClr>
                <a:schemeClr val="dk1"/>
              </a:buClr>
              <a:buSzPts val="2400"/>
              <a:buChar char="▪"/>
            </a:pPr>
            <a:r>
              <a:rPr b="1" lang="en-US"/>
              <a:t>What files are generated</a:t>
            </a:r>
            <a:r>
              <a:rPr lang="en-US"/>
              <a:t>: </a:t>
            </a:r>
            <a:endParaRPr/>
          </a:p>
          <a:p>
            <a:pPr indent="-228600" lvl="2" marL="1143000" rtl="0" algn="l">
              <a:lnSpc>
                <a:spcPct val="100000"/>
              </a:lnSpc>
              <a:spcBef>
                <a:spcPts val="600"/>
              </a:spcBef>
              <a:spcAft>
                <a:spcPts val="0"/>
              </a:spcAft>
              <a:buClr>
                <a:schemeClr val="dk1"/>
              </a:buClr>
              <a:buSzPts val="2400"/>
              <a:buChar char="▪"/>
            </a:pPr>
            <a:r>
              <a:rPr b="1" lang="en-US" sz="2400"/>
              <a:t>node_modules/: </a:t>
            </a:r>
            <a:r>
              <a:rPr lang="en-US" sz="2400"/>
              <a:t>Contains installed libraries.</a:t>
            </a:r>
            <a:endParaRPr/>
          </a:p>
          <a:p>
            <a:pPr indent="-228600" lvl="2" marL="1143000" rtl="0" algn="l">
              <a:lnSpc>
                <a:spcPct val="100000"/>
              </a:lnSpc>
              <a:spcBef>
                <a:spcPts val="600"/>
              </a:spcBef>
              <a:spcAft>
                <a:spcPts val="0"/>
              </a:spcAft>
              <a:buClr>
                <a:schemeClr val="dk1"/>
              </a:buClr>
              <a:buSzPts val="2400"/>
              <a:buChar char="▪"/>
            </a:pPr>
            <a:r>
              <a:rPr b="1" lang="en-US" sz="2400"/>
              <a:t>public/: </a:t>
            </a:r>
            <a:r>
              <a:rPr lang="en-US" sz="2400"/>
              <a:t>Contains static files like index.html.</a:t>
            </a:r>
            <a:endParaRPr/>
          </a:p>
          <a:p>
            <a:pPr indent="-228600" lvl="2" marL="1143000" rtl="0" algn="l">
              <a:lnSpc>
                <a:spcPct val="100000"/>
              </a:lnSpc>
              <a:spcBef>
                <a:spcPts val="600"/>
              </a:spcBef>
              <a:spcAft>
                <a:spcPts val="0"/>
              </a:spcAft>
              <a:buClr>
                <a:schemeClr val="dk1"/>
              </a:buClr>
              <a:buSzPts val="2400"/>
              <a:buChar char="▪"/>
            </a:pPr>
            <a:r>
              <a:rPr b="1" lang="en-US" sz="2400"/>
              <a:t>src/: </a:t>
            </a:r>
            <a:r>
              <a:rPr lang="en-US" sz="2400"/>
              <a:t>Contains React components and JavaScript files.</a:t>
            </a:r>
            <a:endParaRPr/>
          </a:p>
          <a:p>
            <a:pPr indent="-228600" lvl="2" marL="1143000" rtl="0" algn="l">
              <a:lnSpc>
                <a:spcPct val="100000"/>
              </a:lnSpc>
              <a:spcBef>
                <a:spcPts val="600"/>
              </a:spcBef>
              <a:spcAft>
                <a:spcPts val="0"/>
              </a:spcAft>
              <a:buClr>
                <a:schemeClr val="dk1"/>
              </a:buClr>
              <a:buSzPts val="2400"/>
              <a:buChar char="▪"/>
            </a:pPr>
            <a:r>
              <a:rPr b="1" lang="en-US" sz="2400"/>
              <a:t>package.json</a:t>
            </a:r>
            <a:r>
              <a:rPr lang="en-US" sz="2400"/>
              <a:t>: Manages project dependencies, scripts, and metadata.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Setting up a development environment </a:t>
            </a:r>
            <a:endParaRPr/>
          </a:p>
        </p:txBody>
      </p:sp>
      <p:sp>
        <p:nvSpPr>
          <p:cNvPr id="224" name="Google Shape;224;p1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Next Steps</a:t>
            </a:r>
            <a:endParaRPr/>
          </a:p>
          <a:p>
            <a:pPr indent="-228600" lvl="1" marL="685800" rtl="0" algn="l">
              <a:lnSpc>
                <a:spcPct val="100000"/>
              </a:lnSpc>
              <a:spcBef>
                <a:spcPts val="600"/>
              </a:spcBef>
              <a:spcAft>
                <a:spcPts val="0"/>
              </a:spcAft>
              <a:buClr>
                <a:schemeClr val="dk1"/>
              </a:buClr>
              <a:buSzPts val="2400"/>
              <a:buChar char="▪"/>
            </a:pPr>
            <a:r>
              <a:rPr lang="en-US"/>
              <a:t>Start editing the files in the src/ directory to build your app.</a:t>
            </a:r>
            <a:endParaRPr/>
          </a:p>
          <a:p>
            <a:pPr indent="-228600" lvl="1" marL="685800" rtl="0" algn="l">
              <a:lnSpc>
                <a:spcPct val="100000"/>
              </a:lnSpc>
              <a:spcBef>
                <a:spcPts val="600"/>
              </a:spcBef>
              <a:spcAft>
                <a:spcPts val="0"/>
              </a:spcAft>
              <a:buClr>
                <a:schemeClr val="dk1"/>
              </a:buClr>
              <a:buSzPts val="2400"/>
              <a:buChar char="▪"/>
            </a:pPr>
            <a:r>
              <a:rPr lang="en-US"/>
              <a:t>Add new components, styles, and any features needed for your React project.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Overview of React JS architecture</a:t>
            </a:r>
            <a:endParaRPr/>
          </a:p>
        </p:txBody>
      </p:sp>
      <p:sp>
        <p:nvSpPr>
          <p:cNvPr id="230" name="Google Shape;230;p16"/>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100000"/>
              </a:lnSpc>
              <a:spcBef>
                <a:spcPts val="0"/>
              </a:spcBef>
              <a:spcAft>
                <a:spcPts val="0"/>
              </a:spcAft>
              <a:buClr>
                <a:schemeClr val="dk1"/>
              </a:buClr>
              <a:buSzPts val="2800"/>
              <a:buChar char="▪"/>
            </a:pPr>
            <a:r>
              <a:rPr b="1" lang="en-US"/>
              <a:t>React</a:t>
            </a:r>
            <a:r>
              <a:rPr lang="en-US"/>
              <a:t> is like a toolbox for building websites. It's made up of different parts that help developers create </a:t>
            </a:r>
            <a:r>
              <a:rPr b="1" lang="en-US"/>
              <a:t>interactive</a:t>
            </a:r>
            <a:r>
              <a:rPr lang="en-US"/>
              <a:t> and </a:t>
            </a:r>
            <a:r>
              <a:rPr b="1" lang="en-US"/>
              <a:t>user-friendly</a:t>
            </a:r>
            <a:r>
              <a:rPr lang="en-US"/>
              <a:t> web pages. </a:t>
            </a:r>
            <a:endParaRPr/>
          </a:p>
          <a:p>
            <a:pPr indent="-228600" lvl="0" marL="228600" rtl="0" algn="just">
              <a:lnSpc>
                <a:spcPct val="100000"/>
              </a:lnSpc>
              <a:spcBef>
                <a:spcPts val="1800"/>
              </a:spcBef>
              <a:spcAft>
                <a:spcPts val="0"/>
              </a:spcAft>
              <a:buClr>
                <a:schemeClr val="dk1"/>
              </a:buClr>
              <a:buSzPts val="2800"/>
              <a:buChar char="▪"/>
            </a:pPr>
            <a:r>
              <a:rPr lang="en-US"/>
              <a:t>The way these parts are organized and work together is what we call </a:t>
            </a:r>
            <a:r>
              <a:rPr b="1" lang="en-US"/>
              <a:t>React architecture</a:t>
            </a:r>
            <a:r>
              <a:rPr lang="en-US"/>
              <a:t>.</a:t>
            </a:r>
            <a:endParaRPr/>
          </a:p>
          <a:p>
            <a:pPr indent="-228600" lvl="0" marL="228600" rtl="0" algn="just">
              <a:lnSpc>
                <a:spcPct val="100000"/>
              </a:lnSpc>
              <a:spcBef>
                <a:spcPts val="1800"/>
              </a:spcBef>
              <a:spcAft>
                <a:spcPts val="0"/>
              </a:spcAft>
              <a:buClr>
                <a:srgbClr val="FF0000"/>
              </a:buClr>
              <a:buSzPts val="2800"/>
              <a:buChar char="▪"/>
            </a:pPr>
            <a:r>
              <a:rPr b="1" lang="en-US">
                <a:solidFill>
                  <a:srgbClr val="FF0000"/>
                </a:solidFill>
              </a:rPr>
              <a:t>React architecture </a:t>
            </a:r>
            <a:r>
              <a:rPr lang="en-US"/>
              <a:t>is a collection of components responsible for building a software’s User Interface (UI). You can also see it as an organization of your codebase that helps you build your unique project.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Overview of React JS architecture</a:t>
            </a:r>
            <a:endParaRPr/>
          </a:p>
        </p:txBody>
      </p:sp>
      <p:sp>
        <p:nvSpPr>
          <p:cNvPr id="236" name="Google Shape;236;p17"/>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lnSpcReduction="10000"/>
          </a:bodyPr>
          <a:lstStyle/>
          <a:p>
            <a:pPr indent="-228600" lvl="0" marL="228600" rtl="0" algn="just">
              <a:lnSpc>
                <a:spcPct val="100000"/>
              </a:lnSpc>
              <a:spcBef>
                <a:spcPts val="0"/>
              </a:spcBef>
              <a:spcAft>
                <a:spcPts val="0"/>
              </a:spcAft>
              <a:buClr>
                <a:srgbClr val="273239"/>
              </a:buClr>
              <a:buSzPts val="2800"/>
              <a:buChar char="▪"/>
            </a:pPr>
            <a:r>
              <a:rPr b="1" i="0" lang="en-US">
                <a:solidFill>
                  <a:srgbClr val="273239"/>
                </a:solidFill>
                <a:latin typeface="Nunito"/>
                <a:ea typeface="Nunito"/>
                <a:cs typeface="Nunito"/>
                <a:sym typeface="Nunito"/>
              </a:rPr>
              <a:t>React Architecture Important in Web Development</a:t>
            </a:r>
            <a:endParaRPr/>
          </a:p>
          <a:p>
            <a:pPr indent="-228600" lvl="1" marL="685800" rtl="0" algn="just">
              <a:lnSpc>
                <a:spcPct val="100000"/>
              </a:lnSpc>
              <a:spcBef>
                <a:spcPts val="600"/>
              </a:spcBef>
              <a:spcAft>
                <a:spcPts val="0"/>
              </a:spcAft>
              <a:buClr>
                <a:schemeClr val="dk1"/>
              </a:buClr>
              <a:buSzPts val="2400"/>
              <a:buChar char="▪"/>
            </a:pPr>
            <a:r>
              <a:rPr b="1" lang="en-US"/>
              <a:t>Easy to Fix and Update</a:t>
            </a:r>
            <a:r>
              <a:rPr lang="en-US"/>
              <a:t>: With a good React architecture, it's easier to figure out what's broken and fix it. </a:t>
            </a:r>
            <a:endParaRPr/>
          </a:p>
          <a:p>
            <a:pPr indent="-228600" lvl="1" marL="685800" rtl="0" algn="just">
              <a:lnSpc>
                <a:spcPct val="100000"/>
              </a:lnSpc>
              <a:spcBef>
                <a:spcPts val="600"/>
              </a:spcBef>
              <a:spcAft>
                <a:spcPts val="0"/>
              </a:spcAft>
              <a:buClr>
                <a:schemeClr val="dk1"/>
              </a:buClr>
              <a:buSzPts val="2400"/>
              <a:buChar char="▪"/>
            </a:pPr>
            <a:r>
              <a:rPr b="1" lang="en-US"/>
              <a:t>Can Grow with the Website</a:t>
            </a:r>
            <a:r>
              <a:rPr lang="en-US"/>
              <a:t>: As websites get bigger and more complex, a solid React architecture allows them to grow smoothly.</a:t>
            </a:r>
            <a:endParaRPr/>
          </a:p>
          <a:p>
            <a:pPr indent="-228600" lvl="1" marL="685800" rtl="0" algn="just">
              <a:lnSpc>
                <a:spcPct val="100000"/>
              </a:lnSpc>
              <a:spcBef>
                <a:spcPts val="600"/>
              </a:spcBef>
              <a:spcAft>
                <a:spcPts val="0"/>
              </a:spcAft>
              <a:buClr>
                <a:schemeClr val="dk1"/>
              </a:buClr>
              <a:buSzPts val="2400"/>
              <a:buChar char="▪"/>
            </a:pPr>
            <a:r>
              <a:rPr b="1" lang="en-US"/>
              <a:t>Reuse What You Already Have</a:t>
            </a:r>
            <a:r>
              <a:rPr lang="en-US"/>
              <a:t>: React lets developers reuse components of code. </a:t>
            </a:r>
            <a:endParaRPr/>
          </a:p>
          <a:p>
            <a:pPr indent="-228600" lvl="1" marL="685800" rtl="0" algn="just">
              <a:lnSpc>
                <a:spcPct val="100000"/>
              </a:lnSpc>
              <a:spcBef>
                <a:spcPts val="600"/>
              </a:spcBef>
              <a:spcAft>
                <a:spcPts val="0"/>
              </a:spcAft>
              <a:buClr>
                <a:schemeClr val="dk1"/>
              </a:buClr>
              <a:buSzPts val="2400"/>
              <a:buChar char="▪"/>
            </a:pPr>
            <a:r>
              <a:rPr b="1" lang="en-US"/>
              <a:t>Make Websites Faster</a:t>
            </a:r>
            <a:r>
              <a:rPr lang="en-US"/>
              <a:t>: A well-organized React architecture helps websites load quickly and respond fast to user actions.</a:t>
            </a:r>
            <a:endParaRPr/>
          </a:p>
          <a:p>
            <a:pPr indent="-228600" lvl="1" marL="685800" rtl="0" algn="just">
              <a:lnSpc>
                <a:spcPct val="100000"/>
              </a:lnSpc>
              <a:spcBef>
                <a:spcPts val="600"/>
              </a:spcBef>
              <a:spcAft>
                <a:spcPts val="0"/>
              </a:spcAft>
              <a:buClr>
                <a:schemeClr val="dk1"/>
              </a:buClr>
              <a:buSzPts val="2400"/>
              <a:buChar char="▪"/>
            </a:pPr>
            <a:r>
              <a:rPr b="1" lang="en-US"/>
              <a:t>Work Together Better</a:t>
            </a:r>
            <a:r>
              <a:rPr lang="en-US"/>
              <a:t>: When developers collaborate on building a website, having a clear React architecture helps everyone understand how things fit together.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Overview of React JS architecture</a:t>
            </a:r>
            <a:endParaRPr/>
          </a:p>
        </p:txBody>
      </p:sp>
      <p:pic>
        <p:nvPicPr>
          <p:cNvPr id="242" name="Google Shape;242;p18"/>
          <p:cNvPicPr preferRelativeResize="0"/>
          <p:nvPr/>
        </p:nvPicPr>
        <p:blipFill rotWithShape="1">
          <a:blip r:embed="rId3">
            <a:alphaModFix/>
          </a:blip>
          <a:srcRect b="0" l="0" r="0" t="0"/>
          <a:stretch/>
        </p:blipFill>
        <p:spPr>
          <a:xfrm>
            <a:off x="3918474" y="1425555"/>
            <a:ext cx="4353533" cy="4829849"/>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Overview of React JS architecture</a:t>
            </a:r>
            <a:endParaRPr/>
          </a:p>
        </p:txBody>
      </p:sp>
      <p:sp>
        <p:nvSpPr>
          <p:cNvPr id="248" name="Google Shape;248;p19"/>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100000"/>
              </a:lnSpc>
              <a:spcBef>
                <a:spcPts val="0"/>
              </a:spcBef>
              <a:spcAft>
                <a:spcPts val="0"/>
              </a:spcAft>
              <a:buClr>
                <a:schemeClr val="dk1"/>
              </a:buClr>
              <a:buSzPts val="2800"/>
              <a:buChar char="▪"/>
            </a:pPr>
            <a:r>
              <a:rPr b="1" lang="en-US"/>
              <a:t>React library </a:t>
            </a:r>
            <a:r>
              <a:rPr lang="en-US"/>
              <a:t>is just UI library and it does not enforce any particular pattern to write a complex application. Developers are free to choose the design pattern of their choice. </a:t>
            </a:r>
            <a:endParaRPr/>
          </a:p>
          <a:p>
            <a:pPr indent="-228600" lvl="0" marL="228600" rtl="0" algn="just">
              <a:lnSpc>
                <a:spcPct val="100000"/>
              </a:lnSpc>
              <a:spcBef>
                <a:spcPts val="1800"/>
              </a:spcBef>
              <a:spcAft>
                <a:spcPts val="0"/>
              </a:spcAft>
              <a:buClr>
                <a:schemeClr val="dk1"/>
              </a:buClr>
              <a:buSzPts val="2800"/>
              <a:buChar char="▪"/>
            </a:pPr>
            <a:r>
              <a:rPr lang="en-US"/>
              <a:t>One of the patterns is </a:t>
            </a:r>
            <a:r>
              <a:rPr b="1" lang="en-US"/>
              <a:t>Flux</a:t>
            </a:r>
            <a:r>
              <a:rPr lang="en-US"/>
              <a:t> pattern. React library also provides lot of concepts like Higher Order component, Context, Render props, Refs etc., to write better code. </a:t>
            </a:r>
            <a:endParaRPr/>
          </a:p>
          <a:p>
            <a:pPr indent="-228600" lvl="0" marL="228600" rtl="0" algn="just">
              <a:lnSpc>
                <a:spcPct val="100000"/>
              </a:lnSpc>
              <a:spcBef>
                <a:spcPts val="1800"/>
              </a:spcBef>
              <a:spcAft>
                <a:spcPts val="0"/>
              </a:spcAft>
              <a:buClr>
                <a:schemeClr val="dk1"/>
              </a:buClr>
              <a:buSzPts val="2800"/>
              <a:buChar char="▪"/>
            </a:pPr>
            <a:r>
              <a:rPr b="1" lang="en-US"/>
              <a:t>React Hooks </a:t>
            </a:r>
            <a:r>
              <a:rPr lang="en-US"/>
              <a:t>is evolving concept to do state management in big projects.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Overview of React JS architecture</a:t>
            </a:r>
            <a:endParaRPr/>
          </a:p>
        </p:txBody>
      </p:sp>
      <p:sp>
        <p:nvSpPr>
          <p:cNvPr id="254" name="Google Shape;254;p20"/>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fontScale="92500"/>
          </a:bodyPr>
          <a:lstStyle/>
          <a:p>
            <a:pPr indent="-228600" lvl="0" marL="228600" rtl="0" algn="just">
              <a:lnSpc>
                <a:spcPct val="100000"/>
              </a:lnSpc>
              <a:spcBef>
                <a:spcPts val="0"/>
              </a:spcBef>
              <a:spcAft>
                <a:spcPts val="0"/>
              </a:spcAft>
              <a:buClr>
                <a:schemeClr val="dk1"/>
              </a:buClr>
              <a:buSzPct val="100000"/>
              <a:buChar char="▪"/>
            </a:pPr>
            <a:r>
              <a:rPr b="1" lang="en-US"/>
              <a:t>Components:</a:t>
            </a:r>
            <a:endParaRPr/>
          </a:p>
          <a:p>
            <a:pPr indent="-228600" lvl="1" marL="685800" rtl="0" algn="just">
              <a:lnSpc>
                <a:spcPct val="100000"/>
              </a:lnSpc>
              <a:spcBef>
                <a:spcPts val="600"/>
              </a:spcBef>
              <a:spcAft>
                <a:spcPts val="0"/>
              </a:spcAft>
              <a:buClr>
                <a:schemeClr val="dk1"/>
              </a:buClr>
              <a:buSzPct val="100000"/>
              <a:buChar char="▪"/>
            </a:pPr>
            <a:r>
              <a:rPr lang="en-US"/>
              <a:t>Building blocks of a React application.</a:t>
            </a:r>
            <a:endParaRPr/>
          </a:p>
          <a:p>
            <a:pPr indent="-228600" lvl="1" marL="685800" rtl="0" algn="just">
              <a:lnSpc>
                <a:spcPct val="100000"/>
              </a:lnSpc>
              <a:spcBef>
                <a:spcPts val="600"/>
              </a:spcBef>
              <a:spcAft>
                <a:spcPts val="0"/>
              </a:spcAft>
              <a:buClr>
                <a:schemeClr val="dk1"/>
              </a:buClr>
              <a:buSzPct val="100000"/>
              <a:buChar char="▪"/>
            </a:pPr>
            <a:r>
              <a:rPr lang="en-US"/>
              <a:t>Can be functional (stateless) or class-based (stateful).</a:t>
            </a:r>
            <a:endParaRPr/>
          </a:p>
          <a:p>
            <a:pPr indent="-228600" lvl="0" marL="228600" rtl="0" algn="just">
              <a:lnSpc>
                <a:spcPct val="100000"/>
              </a:lnSpc>
              <a:spcBef>
                <a:spcPts val="1800"/>
              </a:spcBef>
              <a:spcAft>
                <a:spcPts val="0"/>
              </a:spcAft>
              <a:buClr>
                <a:schemeClr val="dk1"/>
              </a:buClr>
              <a:buSzPct val="100000"/>
              <a:buChar char="▪"/>
            </a:pPr>
            <a:r>
              <a:rPr b="1" lang="en-US"/>
              <a:t>JSX:</a:t>
            </a:r>
            <a:r>
              <a:rPr lang="en-US"/>
              <a:t> Syntax for embedding HTML-like code in JavaScript.</a:t>
            </a:r>
            <a:endParaRPr/>
          </a:p>
          <a:p>
            <a:pPr indent="-228600" lvl="0" marL="228600" rtl="0" algn="just">
              <a:lnSpc>
                <a:spcPct val="100000"/>
              </a:lnSpc>
              <a:spcBef>
                <a:spcPts val="1800"/>
              </a:spcBef>
              <a:spcAft>
                <a:spcPts val="0"/>
              </a:spcAft>
              <a:buClr>
                <a:schemeClr val="dk1"/>
              </a:buClr>
              <a:buSzPct val="100000"/>
              <a:buChar char="▪"/>
            </a:pPr>
            <a:r>
              <a:rPr b="1" lang="en-US"/>
              <a:t>State and Props</a:t>
            </a:r>
            <a:r>
              <a:rPr lang="en-US"/>
              <a:t>: </a:t>
            </a:r>
            <a:endParaRPr/>
          </a:p>
          <a:p>
            <a:pPr indent="-228600" lvl="1" marL="685800" rtl="0" algn="just">
              <a:lnSpc>
                <a:spcPct val="100000"/>
              </a:lnSpc>
              <a:spcBef>
                <a:spcPts val="600"/>
              </a:spcBef>
              <a:spcAft>
                <a:spcPts val="0"/>
              </a:spcAft>
              <a:buClr>
                <a:schemeClr val="dk1"/>
              </a:buClr>
              <a:buSzPct val="100000"/>
              <a:buChar char="▪"/>
            </a:pPr>
            <a:r>
              <a:rPr lang="en-US"/>
              <a:t>Props: Data passed from parent to child components.</a:t>
            </a:r>
            <a:endParaRPr/>
          </a:p>
          <a:p>
            <a:pPr indent="-228600" lvl="1" marL="685800" rtl="0" algn="just">
              <a:lnSpc>
                <a:spcPct val="100000"/>
              </a:lnSpc>
              <a:spcBef>
                <a:spcPts val="600"/>
              </a:spcBef>
              <a:spcAft>
                <a:spcPts val="0"/>
              </a:spcAft>
              <a:buClr>
                <a:schemeClr val="dk1"/>
              </a:buClr>
              <a:buSzPct val="100000"/>
              <a:buChar char="▪"/>
            </a:pPr>
            <a:r>
              <a:rPr lang="en-US"/>
              <a:t>State: Data managed within a component.</a:t>
            </a:r>
            <a:endParaRPr/>
          </a:p>
          <a:p>
            <a:pPr indent="-228600" lvl="0" marL="228600" rtl="0" algn="just">
              <a:lnSpc>
                <a:spcPct val="100000"/>
              </a:lnSpc>
              <a:spcBef>
                <a:spcPts val="1800"/>
              </a:spcBef>
              <a:spcAft>
                <a:spcPts val="0"/>
              </a:spcAft>
              <a:buClr>
                <a:schemeClr val="dk1"/>
              </a:buClr>
              <a:buSzPct val="100000"/>
              <a:buChar char="▪"/>
            </a:pPr>
            <a:r>
              <a:rPr b="1" lang="en-US"/>
              <a:t>Virtual DOM</a:t>
            </a:r>
            <a:r>
              <a:rPr lang="en-US"/>
              <a:t>: Optimized for rendering changes.Visual: A diagram of a React app's structure with arrows showing data flow.</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Overview of React JS architecture</a:t>
            </a:r>
            <a:endParaRPr/>
          </a:p>
        </p:txBody>
      </p:sp>
      <p:sp>
        <p:nvSpPr>
          <p:cNvPr id="260" name="Google Shape;260;p21"/>
          <p:cNvSpPr txBox="1"/>
          <p:nvPr>
            <p:ph idx="1" type="body"/>
          </p:nvPr>
        </p:nvSpPr>
        <p:spPr>
          <a:xfrm>
            <a:off x="1104900" y="1600200"/>
            <a:ext cx="106974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Component-Based Architecture</a:t>
            </a:r>
            <a:endParaRPr/>
          </a:p>
          <a:p>
            <a:pPr indent="-228600" lvl="1" marL="685800" rtl="0" algn="l">
              <a:lnSpc>
                <a:spcPct val="100000"/>
              </a:lnSpc>
              <a:spcBef>
                <a:spcPts val="600"/>
              </a:spcBef>
              <a:spcAft>
                <a:spcPts val="0"/>
              </a:spcAft>
              <a:buClr>
                <a:schemeClr val="dk1"/>
              </a:buClr>
              <a:buSzPts val="2400"/>
              <a:buChar char="▪"/>
            </a:pPr>
            <a:r>
              <a:rPr b="1" lang="en-US"/>
              <a:t>Functional and Class Components</a:t>
            </a:r>
            <a:r>
              <a:rPr lang="en-US"/>
              <a:t>:</a:t>
            </a:r>
            <a:endParaRPr/>
          </a:p>
          <a:p>
            <a:pPr indent="-228600" lvl="2" marL="1143000" rtl="0" algn="l">
              <a:lnSpc>
                <a:spcPct val="100000"/>
              </a:lnSpc>
              <a:spcBef>
                <a:spcPts val="600"/>
              </a:spcBef>
              <a:spcAft>
                <a:spcPts val="0"/>
              </a:spcAft>
              <a:buClr>
                <a:schemeClr val="dk1"/>
              </a:buClr>
              <a:buSzPts val="2000"/>
              <a:buChar char="▪"/>
            </a:pPr>
            <a:r>
              <a:rPr b="1" lang="en-US"/>
              <a:t>Functional Components </a:t>
            </a:r>
            <a:r>
              <a:rPr lang="en-US"/>
              <a:t>are stateless and primarily concerned with rendering UI. </a:t>
            </a:r>
            <a:endParaRPr/>
          </a:p>
          <a:p>
            <a:pPr indent="0" lvl="3" marL="1371600" rtl="0" algn="l">
              <a:lnSpc>
                <a:spcPct val="100000"/>
              </a:lnSpc>
              <a:spcBef>
                <a:spcPts val="600"/>
              </a:spcBef>
              <a:spcAft>
                <a:spcPts val="0"/>
              </a:spcAft>
              <a:buClr>
                <a:schemeClr val="dk1"/>
              </a:buClr>
              <a:buSzPts val="2000"/>
              <a:buNone/>
            </a:pPr>
            <a:r>
              <a:rPr lang="en-US"/>
              <a:t>Example: </a:t>
            </a:r>
            <a:endParaRPr/>
          </a:p>
          <a:p>
            <a:pPr indent="-101600" lvl="2" marL="1143000" rtl="0" algn="l">
              <a:lnSpc>
                <a:spcPct val="100000"/>
              </a:lnSpc>
              <a:spcBef>
                <a:spcPts val="600"/>
              </a:spcBef>
              <a:spcAft>
                <a:spcPts val="0"/>
              </a:spcAft>
              <a:buClr>
                <a:schemeClr val="dk1"/>
              </a:buClr>
              <a:buSzPts val="2000"/>
              <a:buNone/>
            </a:pPr>
            <a:r>
              <a:t/>
            </a:r>
            <a:endParaRPr/>
          </a:p>
          <a:p>
            <a:pPr indent="-228600" lvl="2" marL="1143000" rtl="0" algn="l">
              <a:lnSpc>
                <a:spcPct val="100000"/>
              </a:lnSpc>
              <a:spcBef>
                <a:spcPts val="600"/>
              </a:spcBef>
              <a:spcAft>
                <a:spcPts val="0"/>
              </a:spcAft>
              <a:buClr>
                <a:schemeClr val="dk1"/>
              </a:buClr>
              <a:buSzPts val="2000"/>
              <a:buChar char="▪"/>
            </a:pPr>
            <a:r>
              <a:rPr b="1" lang="en-US"/>
              <a:t>Class Components </a:t>
            </a:r>
            <a:r>
              <a:rPr lang="en-US"/>
              <a:t>are stateful and can hold and manage state. They provide more features and lifecycle methods, allowing for more complex functionality</a:t>
            </a:r>
            <a:endParaRPr/>
          </a:p>
          <a:p>
            <a:pPr indent="0" lvl="3" marL="1371600" rtl="0" algn="l">
              <a:lnSpc>
                <a:spcPct val="100000"/>
              </a:lnSpc>
              <a:spcBef>
                <a:spcPts val="600"/>
              </a:spcBef>
              <a:spcAft>
                <a:spcPts val="0"/>
              </a:spcAft>
              <a:buClr>
                <a:schemeClr val="dk1"/>
              </a:buClr>
              <a:buSzPts val="2000"/>
              <a:buNone/>
            </a:pPr>
            <a:r>
              <a:rPr lang="en-US"/>
              <a:t>Example</a:t>
            </a:r>
            <a:endParaRPr/>
          </a:p>
          <a:p>
            <a:pPr indent="-101600" lvl="2" marL="1143000" rtl="0" algn="l">
              <a:lnSpc>
                <a:spcPct val="100000"/>
              </a:lnSpc>
              <a:spcBef>
                <a:spcPts val="600"/>
              </a:spcBef>
              <a:spcAft>
                <a:spcPts val="0"/>
              </a:spcAft>
              <a:buClr>
                <a:schemeClr val="dk1"/>
              </a:buClr>
              <a:buSzPts val="2000"/>
              <a:buNone/>
            </a:pPr>
            <a:r>
              <a:t/>
            </a:r>
            <a:endParaRPr/>
          </a:p>
        </p:txBody>
      </p:sp>
      <p:sp>
        <p:nvSpPr>
          <p:cNvPr id="261" name="Google Shape;261;p21"/>
          <p:cNvSpPr txBox="1"/>
          <p:nvPr/>
        </p:nvSpPr>
        <p:spPr>
          <a:xfrm>
            <a:off x="3913390" y="2919478"/>
            <a:ext cx="6096000" cy="831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a:solidFill>
                  <a:schemeClr val="dk2"/>
                </a:solidFill>
                <a:latin typeface="Arial"/>
                <a:ea typeface="Arial"/>
                <a:cs typeface="Arial"/>
                <a:sym typeface="Arial"/>
              </a:rPr>
              <a:t>const Greeting = (props) =&gt; { return &lt;h1&gt;Hello, {props.name}!&lt;/h1&gt;; };</a:t>
            </a:r>
            <a:endParaRPr sz="2400">
              <a:solidFill>
                <a:schemeClr val="dk2"/>
              </a:solidFill>
              <a:latin typeface="Arial"/>
              <a:ea typeface="Arial"/>
              <a:cs typeface="Arial"/>
              <a:sym typeface="Arial"/>
            </a:endParaRPr>
          </a:p>
        </p:txBody>
      </p:sp>
      <p:sp>
        <p:nvSpPr>
          <p:cNvPr id="262" name="Google Shape;262;p21"/>
          <p:cNvSpPr txBox="1"/>
          <p:nvPr/>
        </p:nvSpPr>
        <p:spPr>
          <a:xfrm>
            <a:off x="3483950" y="5496800"/>
            <a:ext cx="8318400" cy="831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a:solidFill>
                  <a:srgbClr val="707070"/>
                </a:solidFill>
                <a:latin typeface="Arial"/>
                <a:ea typeface="Arial"/>
                <a:cs typeface="Arial"/>
                <a:sym typeface="Arial"/>
              </a:rPr>
              <a:t>class Greeting extends React.Component { render() { return &lt;h1&gt;Hello, {this.props.name}!&lt;/h1&gt;; } }</a:t>
            </a:r>
            <a:endParaRPr sz="2400">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Overview of React JS architecture</a:t>
            </a:r>
            <a:endParaRPr/>
          </a:p>
        </p:txBody>
      </p:sp>
      <p:sp>
        <p:nvSpPr>
          <p:cNvPr id="268" name="Google Shape;268;p2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Component-Based Architecture</a:t>
            </a:r>
            <a:endParaRPr/>
          </a:p>
          <a:p>
            <a:pPr indent="-228600" lvl="1" marL="685800" rtl="0" algn="just">
              <a:lnSpc>
                <a:spcPct val="115000"/>
              </a:lnSpc>
              <a:spcBef>
                <a:spcPts val="600"/>
              </a:spcBef>
              <a:spcAft>
                <a:spcPts val="0"/>
              </a:spcAft>
              <a:buClr>
                <a:srgbClr val="C00000"/>
              </a:buClr>
              <a:buSzPts val="2400"/>
              <a:buChar char="▪"/>
            </a:pPr>
            <a:r>
              <a:rPr b="1" lang="en-US">
                <a:solidFill>
                  <a:srgbClr val="C00000"/>
                </a:solidFill>
              </a:rPr>
              <a:t>Hooks</a:t>
            </a:r>
            <a:r>
              <a:rPr lang="en-US"/>
              <a:t>: Introduced in React 16.8, hooks are functions like </a:t>
            </a:r>
            <a:r>
              <a:rPr b="1" lang="en-US"/>
              <a:t>useState, useEffect</a:t>
            </a:r>
            <a:r>
              <a:rPr lang="en-US"/>
              <a:t>, and </a:t>
            </a:r>
            <a:r>
              <a:rPr b="1" lang="en-US"/>
              <a:t>useContext</a:t>
            </a:r>
            <a:r>
              <a:rPr lang="en-US"/>
              <a:t> that allow functional components to have state and side effects, making them more powerful and capable of handling most of the functionality that was previously available only in class components.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Overview of React JS architecture</a:t>
            </a:r>
            <a:endParaRPr/>
          </a:p>
        </p:txBody>
      </p:sp>
      <p:sp>
        <p:nvSpPr>
          <p:cNvPr id="274" name="Google Shape;274;p23"/>
          <p:cNvSpPr txBox="1"/>
          <p:nvPr>
            <p:ph idx="1" type="body"/>
          </p:nvPr>
        </p:nvSpPr>
        <p:spPr>
          <a:xfrm>
            <a:off x="1104900" y="1600200"/>
            <a:ext cx="1029462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100000"/>
              </a:lnSpc>
              <a:spcBef>
                <a:spcPts val="0"/>
              </a:spcBef>
              <a:spcAft>
                <a:spcPts val="0"/>
              </a:spcAft>
              <a:buClr>
                <a:srgbClr val="FF0000"/>
              </a:buClr>
              <a:buSzPts val="2800"/>
              <a:buChar char="▪"/>
            </a:pPr>
            <a:r>
              <a:rPr b="1" lang="en-US">
                <a:solidFill>
                  <a:srgbClr val="FF0000"/>
                </a:solidFill>
              </a:rPr>
              <a:t>Virtual DOM: </a:t>
            </a:r>
            <a:r>
              <a:rPr lang="en-US"/>
              <a:t>React uses a Virtual DOM, which is a lightweight representation of the real DOM.</a:t>
            </a:r>
            <a:endParaRPr/>
          </a:p>
          <a:p>
            <a:pPr indent="-228600" lvl="1" marL="685800" rtl="0" algn="just">
              <a:lnSpc>
                <a:spcPct val="100000"/>
              </a:lnSpc>
              <a:spcBef>
                <a:spcPts val="600"/>
              </a:spcBef>
              <a:spcAft>
                <a:spcPts val="0"/>
              </a:spcAft>
              <a:buClr>
                <a:schemeClr val="dk1"/>
              </a:buClr>
              <a:buSzPts val="2400"/>
              <a:buFont typeface="Arial"/>
              <a:buChar char="•"/>
            </a:pPr>
            <a:r>
              <a:rPr b="1" lang="en-US"/>
              <a:t>Workflow</a:t>
            </a:r>
            <a:r>
              <a:rPr lang="en-US"/>
              <a:t>:</a:t>
            </a:r>
            <a:endParaRPr/>
          </a:p>
          <a:p>
            <a:pPr indent="-285750" lvl="2" marL="1200150" rtl="0" algn="just">
              <a:lnSpc>
                <a:spcPct val="100000"/>
              </a:lnSpc>
              <a:spcBef>
                <a:spcPts val="600"/>
              </a:spcBef>
              <a:spcAft>
                <a:spcPts val="0"/>
              </a:spcAft>
              <a:buClr>
                <a:schemeClr val="dk1"/>
              </a:buClr>
              <a:buSzPts val="2400"/>
              <a:buFont typeface="Arial"/>
              <a:buChar char="•"/>
            </a:pPr>
            <a:r>
              <a:rPr lang="en-US" sz="2400"/>
              <a:t>React creates a Virtual DOM tree whenever the state or props change.</a:t>
            </a:r>
            <a:endParaRPr/>
          </a:p>
          <a:p>
            <a:pPr indent="-285750" lvl="2" marL="1200150" rtl="0" algn="just">
              <a:lnSpc>
                <a:spcPct val="100000"/>
              </a:lnSpc>
              <a:spcBef>
                <a:spcPts val="600"/>
              </a:spcBef>
              <a:spcAft>
                <a:spcPts val="0"/>
              </a:spcAft>
              <a:buClr>
                <a:schemeClr val="dk1"/>
              </a:buClr>
              <a:buSzPts val="2400"/>
              <a:buFont typeface="Arial"/>
              <a:buChar char="•"/>
            </a:pPr>
            <a:r>
              <a:rPr lang="en-US" sz="2400"/>
              <a:t>It calculates the differences (diffing) between the new and old Virtual DOM trees.</a:t>
            </a:r>
            <a:endParaRPr/>
          </a:p>
          <a:p>
            <a:pPr indent="-285750" lvl="2" marL="1200150" rtl="0" algn="just">
              <a:lnSpc>
                <a:spcPct val="100000"/>
              </a:lnSpc>
              <a:spcBef>
                <a:spcPts val="600"/>
              </a:spcBef>
              <a:spcAft>
                <a:spcPts val="0"/>
              </a:spcAft>
              <a:buClr>
                <a:schemeClr val="dk1"/>
              </a:buClr>
              <a:buSzPts val="2400"/>
              <a:buFont typeface="Arial"/>
              <a:buChar char="•"/>
            </a:pPr>
            <a:r>
              <a:rPr lang="en-US" sz="2400"/>
              <a:t>Efficiently updates the actual DOM only with the changes</a:t>
            </a:r>
            <a:r>
              <a:rPr lang="en-US"/>
              <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Overview of React JS architecture</a:t>
            </a:r>
            <a:endParaRPr/>
          </a:p>
        </p:txBody>
      </p:sp>
      <p:sp>
        <p:nvSpPr>
          <p:cNvPr id="281" name="Google Shape;281;p2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100000"/>
              </a:lnSpc>
              <a:spcBef>
                <a:spcPts val="0"/>
              </a:spcBef>
              <a:spcAft>
                <a:spcPts val="0"/>
              </a:spcAft>
              <a:buClr>
                <a:srgbClr val="FF0000"/>
              </a:buClr>
              <a:buSzPts val="2800"/>
              <a:buChar char="▪"/>
            </a:pPr>
            <a:r>
              <a:rPr b="1" lang="en-US">
                <a:solidFill>
                  <a:srgbClr val="FF0000"/>
                </a:solidFill>
              </a:rPr>
              <a:t>JSX (JavaScript XML)</a:t>
            </a:r>
            <a:endParaRPr/>
          </a:p>
          <a:p>
            <a:pPr indent="-228600" lvl="1" marL="685800" rtl="0" algn="just">
              <a:lnSpc>
                <a:spcPct val="100000"/>
              </a:lnSpc>
              <a:spcBef>
                <a:spcPts val="600"/>
              </a:spcBef>
              <a:spcAft>
                <a:spcPts val="0"/>
              </a:spcAft>
              <a:buClr>
                <a:schemeClr val="dk1"/>
              </a:buClr>
              <a:buSzPts val="2400"/>
              <a:buFont typeface="Arial"/>
              <a:buChar char="•"/>
            </a:pPr>
            <a:r>
              <a:rPr lang="en-US"/>
              <a:t>React uses JSX, which is a syntax extension for JavaScript. It looks similar to HTML but can include JavaScript expressions. JSX is compiled into regular JavaScript at runtime.</a:t>
            </a:r>
            <a:endParaRPr/>
          </a:p>
          <a:p>
            <a:pPr indent="-228600" lvl="1" marL="685800" rtl="0" algn="just">
              <a:lnSpc>
                <a:spcPct val="100000"/>
              </a:lnSpc>
              <a:spcBef>
                <a:spcPts val="600"/>
              </a:spcBef>
              <a:spcAft>
                <a:spcPts val="0"/>
              </a:spcAft>
              <a:buClr>
                <a:schemeClr val="dk1"/>
              </a:buClr>
              <a:buSzPts val="2400"/>
              <a:buFont typeface="Arial"/>
              <a:buChar char="•"/>
            </a:pPr>
            <a:r>
              <a:rPr lang="en-US"/>
              <a:t>JSX allows developers to define the UI structure directly in the component, making it easier to visualize the layout of the UI within the code.</a:t>
            </a:r>
            <a:endParaRPr/>
          </a:p>
          <a:p>
            <a:pPr indent="-50800" lvl="0" marL="228600" rtl="0" algn="just">
              <a:lnSpc>
                <a:spcPct val="100000"/>
              </a:lnSpc>
              <a:spcBef>
                <a:spcPts val="1800"/>
              </a:spcBef>
              <a:spcAft>
                <a:spcPts val="0"/>
              </a:spcAft>
              <a:buClr>
                <a:schemeClr val="dk1"/>
              </a:buClr>
              <a:buSzPts val="28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Overview of React JS architecture</a:t>
            </a:r>
            <a:endParaRPr/>
          </a:p>
        </p:txBody>
      </p:sp>
      <p:sp>
        <p:nvSpPr>
          <p:cNvPr id="287" name="Google Shape;287;p2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lnSpcReduction="10000"/>
          </a:bodyPr>
          <a:lstStyle/>
          <a:p>
            <a:pPr indent="-228600" lvl="0" marL="228600" rtl="0" algn="just">
              <a:lnSpc>
                <a:spcPct val="115000"/>
              </a:lnSpc>
              <a:spcBef>
                <a:spcPts val="0"/>
              </a:spcBef>
              <a:spcAft>
                <a:spcPts val="0"/>
              </a:spcAft>
              <a:buClr>
                <a:schemeClr val="dk1"/>
              </a:buClr>
              <a:buSzPts val="2800"/>
              <a:buChar char="▪"/>
            </a:pPr>
            <a:r>
              <a:rPr lang="en-US"/>
              <a:t> </a:t>
            </a:r>
            <a:r>
              <a:rPr b="1" lang="en-US">
                <a:solidFill>
                  <a:srgbClr val="FF0000"/>
                </a:solidFill>
              </a:rPr>
              <a:t>State and Props</a:t>
            </a:r>
            <a:endParaRPr/>
          </a:p>
          <a:p>
            <a:pPr indent="-228600" lvl="1" marL="685800" rtl="0" algn="just">
              <a:lnSpc>
                <a:spcPct val="115000"/>
              </a:lnSpc>
              <a:spcBef>
                <a:spcPts val="600"/>
              </a:spcBef>
              <a:spcAft>
                <a:spcPts val="0"/>
              </a:spcAft>
              <a:buClr>
                <a:schemeClr val="dk1"/>
              </a:buClr>
              <a:buSzPts val="2400"/>
              <a:buFont typeface="Arial"/>
              <a:buChar char="•"/>
            </a:pPr>
            <a:r>
              <a:rPr b="1" lang="en-US"/>
              <a:t>State</a:t>
            </a:r>
            <a:r>
              <a:rPr lang="en-US"/>
              <a:t>: Each React component can maintain its own state. State represents the internal data of the component that can change over time and trigger re-rendering of the component.</a:t>
            </a:r>
            <a:endParaRPr/>
          </a:p>
          <a:p>
            <a:pPr indent="-228600" lvl="1" marL="685800" rtl="0" algn="just">
              <a:lnSpc>
                <a:spcPct val="115000"/>
              </a:lnSpc>
              <a:spcBef>
                <a:spcPts val="600"/>
              </a:spcBef>
              <a:spcAft>
                <a:spcPts val="0"/>
              </a:spcAft>
              <a:buClr>
                <a:schemeClr val="dk1"/>
              </a:buClr>
              <a:buSzPts val="2400"/>
              <a:buFont typeface="Arial"/>
              <a:buChar char="•"/>
            </a:pPr>
            <a:r>
              <a:rPr b="1" lang="en-US"/>
              <a:t>Props</a:t>
            </a:r>
            <a:r>
              <a:rPr lang="en-US"/>
              <a:t>: "Props" (short for properties) are how data is passed from parent components to child components. Props are immutable, meaning a component cannot change its own props directly, but it can pass them down to child components.</a:t>
            </a:r>
            <a:endParaRPr/>
          </a:p>
          <a:p>
            <a:pPr indent="-50800" lvl="0" marL="228600" rtl="0" algn="just">
              <a:lnSpc>
                <a:spcPct val="115000"/>
              </a:lnSpc>
              <a:spcBef>
                <a:spcPts val="1800"/>
              </a:spcBef>
              <a:spcAft>
                <a:spcPts val="0"/>
              </a:spcAft>
              <a:buClr>
                <a:schemeClr val="dk1"/>
              </a:buClr>
              <a:buSzPts val="2800"/>
              <a:buNone/>
            </a:pPr>
            <a:r>
              <a:t/>
            </a:r>
            <a:endParaRPr b="1">
              <a:solidFill>
                <a:srgbClr val="FF0000"/>
              </a:solidFill>
            </a:endParaRPr>
          </a:p>
          <a:p>
            <a:pPr indent="-76200" lvl="1" marL="685800" rtl="0" algn="just">
              <a:lnSpc>
                <a:spcPct val="115000"/>
              </a:lnSpc>
              <a:spcBef>
                <a:spcPts val="600"/>
              </a:spcBef>
              <a:spcAft>
                <a:spcPts val="0"/>
              </a:spcAft>
              <a:buClr>
                <a:schemeClr val="dk1"/>
              </a:buClr>
              <a:buSzPts val="2400"/>
              <a:buNone/>
            </a:pPr>
            <a:r>
              <a:t/>
            </a:r>
            <a:endParaRPr b="1">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Overview of React JS architecture</a:t>
            </a:r>
            <a:endParaRPr/>
          </a:p>
        </p:txBody>
      </p:sp>
      <p:sp>
        <p:nvSpPr>
          <p:cNvPr id="293" name="Google Shape;293;p26"/>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lnSpcReduction="20000"/>
          </a:bodyPr>
          <a:lstStyle/>
          <a:p>
            <a:pPr indent="-228600" lvl="0" marL="228600" rtl="0" algn="just">
              <a:lnSpc>
                <a:spcPct val="100000"/>
              </a:lnSpc>
              <a:spcBef>
                <a:spcPts val="0"/>
              </a:spcBef>
              <a:spcAft>
                <a:spcPts val="0"/>
              </a:spcAft>
              <a:buClr>
                <a:srgbClr val="FF0000"/>
              </a:buClr>
              <a:buSzPts val="2800"/>
              <a:buChar char="▪"/>
            </a:pPr>
            <a:r>
              <a:rPr b="1" lang="en-US">
                <a:solidFill>
                  <a:srgbClr val="FF0000"/>
                </a:solidFill>
              </a:rPr>
              <a:t>Unidirectional Data Flow</a:t>
            </a:r>
            <a:endParaRPr/>
          </a:p>
          <a:p>
            <a:pPr indent="-228600" lvl="1" marL="685800" rtl="0" algn="just">
              <a:lnSpc>
                <a:spcPct val="100000"/>
              </a:lnSpc>
              <a:spcBef>
                <a:spcPts val="600"/>
              </a:spcBef>
              <a:spcAft>
                <a:spcPts val="0"/>
              </a:spcAft>
              <a:buClr>
                <a:schemeClr val="dk1"/>
              </a:buClr>
              <a:buSzPts val="2400"/>
              <a:buFont typeface="Arial"/>
              <a:buChar char="•"/>
            </a:pPr>
            <a:r>
              <a:rPr lang="en-US"/>
              <a:t>React follows a unidirectional data flow. This means that data flows from parent components down to child components via props. </a:t>
            </a:r>
            <a:endParaRPr/>
          </a:p>
          <a:p>
            <a:pPr indent="-228600" lvl="1" marL="685800" rtl="0" algn="just">
              <a:lnSpc>
                <a:spcPct val="115000"/>
              </a:lnSpc>
              <a:spcBef>
                <a:spcPts val="600"/>
              </a:spcBef>
              <a:spcAft>
                <a:spcPts val="0"/>
              </a:spcAft>
              <a:buClr>
                <a:schemeClr val="dk1"/>
              </a:buClr>
              <a:buSzPts val="2400"/>
              <a:buFont typeface="Arial"/>
              <a:buChar char="•"/>
            </a:pPr>
            <a:r>
              <a:rPr lang="en-US"/>
              <a:t>When a user interacts with the UI (e.g., clicking a button or entering text), an event handler in a component updates its state, which in turn causes a re-render and updates the UI.</a:t>
            </a:r>
            <a:endParaRPr/>
          </a:p>
          <a:p>
            <a:pPr indent="-228600" lvl="0" marL="228600" rtl="0" algn="just">
              <a:lnSpc>
                <a:spcPct val="100000"/>
              </a:lnSpc>
              <a:spcBef>
                <a:spcPts val="1800"/>
              </a:spcBef>
              <a:spcAft>
                <a:spcPts val="0"/>
              </a:spcAft>
              <a:buClr>
                <a:srgbClr val="FF0000"/>
              </a:buClr>
              <a:buSzPts val="2800"/>
              <a:buChar char="▪"/>
            </a:pPr>
            <a:r>
              <a:rPr b="1" lang="en-US">
                <a:solidFill>
                  <a:srgbClr val="FF0000"/>
                </a:solidFill>
              </a:rPr>
              <a:t>React Router</a:t>
            </a:r>
            <a:endParaRPr/>
          </a:p>
          <a:p>
            <a:pPr indent="-228600" lvl="1" marL="685800" rtl="0" algn="just">
              <a:lnSpc>
                <a:spcPct val="100000"/>
              </a:lnSpc>
              <a:spcBef>
                <a:spcPts val="600"/>
              </a:spcBef>
              <a:spcAft>
                <a:spcPts val="0"/>
              </a:spcAft>
              <a:buClr>
                <a:schemeClr val="dk1"/>
              </a:buClr>
              <a:buSzPts val="2400"/>
              <a:buFont typeface="Arial"/>
              <a:buChar char="•"/>
            </a:pPr>
            <a:r>
              <a:rPr lang="en-US"/>
              <a:t>React Router is a popular library for handling routing in single-page applications (SPAs). It allows navigation between different views or pages within the application without triggering a full page reload</a:t>
            </a:r>
            <a:endParaRPr/>
          </a:p>
          <a:p>
            <a:pPr indent="-50800" lvl="0" marL="228600" rtl="0" algn="just">
              <a:lnSpc>
                <a:spcPct val="100000"/>
              </a:lnSpc>
              <a:spcBef>
                <a:spcPts val="1800"/>
              </a:spcBef>
              <a:spcAft>
                <a:spcPts val="0"/>
              </a:spcAft>
              <a:buClr>
                <a:schemeClr val="dk1"/>
              </a:buClr>
              <a:buSzPts val="28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Overview of React JS architecture</a:t>
            </a:r>
            <a:endParaRPr/>
          </a:p>
        </p:txBody>
      </p:sp>
      <p:sp>
        <p:nvSpPr>
          <p:cNvPr id="299" name="Google Shape;299;p27"/>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React Lifecycle</a:t>
            </a:r>
            <a:r>
              <a:rPr lang="en-US"/>
              <a:t>: </a:t>
            </a:r>
            <a:endParaRPr/>
          </a:p>
          <a:p>
            <a:pPr indent="-228600" lvl="1" marL="685800" rtl="0" algn="just">
              <a:lnSpc>
                <a:spcPct val="100000"/>
              </a:lnSpc>
              <a:spcBef>
                <a:spcPts val="600"/>
              </a:spcBef>
              <a:spcAft>
                <a:spcPts val="0"/>
              </a:spcAft>
              <a:buClr>
                <a:schemeClr val="dk1"/>
              </a:buClr>
              <a:buSzPts val="2400"/>
              <a:buChar char="▪"/>
            </a:pPr>
            <a:r>
              <a:rPr b="1" lang="en-US"/>
              <a:t>React class components </a:t>
            </a:r>
            <a:r>
              <a:rPr lang="en-US"/>
              <a:t>have lifecycle methods that allow developers to run code at specific points in the component’s lifecycle. In functional components, these lifecycle methods are replaced by </a:t>
            </a:r>
            <a:r>
              <a:rPr b="1" lang="en-US"/>
              <a:t>hooks</a:t>
            </a:r>
            <a:r>
              <a:rPr lang="en-US"/>
              <a:t> such as </a:t>
            </a:r>
            <a:r>
              <a:rPr b="1" i="1" lang="en-US"/>
              <a:t>useEffect.</a:t>
            </a:r>
            <a:endParaRPr/>
          </a:p>
          <a:p>
            <a:pPr indent="-228600" lvl="1" marL="685800" rtl="0" algn="l">
              <a:lnSpc>
                <a:spcPct val="100000"/>
              </a:lnSpc>
              <a:spcBef>
                <a:spcPts val="600"/>
              </a:spcBef>
              <a:spcAft>
                <a:spcPts val="0"/>
              </a:spcAft>
              <a:buClr>
                <a:schemeClr val="dk1"/>
              </a:buClr>
              <a:buSzPts val="2400"/>
              <a:buChar char="▪"/>
            </a:pPr>
            <a:r>
              <a:rPr b="1" lang="en-US"/>
              <a:t>Common lifecycle methods include</a:t>
            </a:r>
            <a:r>
              <a:rPr lang="en-US"/>
              <a:t>:</a:t>
            </a:r>
            <a:endParaRPr/>
          </a:p>
          <a:p>
            <a:pPr indent="-228600" lvl="2" marL="1143000" rtl="0" algn="l">
              <a:lnSpc>
                <a:spcPct val="100000"/>
              </a:lnSpc>
              <a:spcBef>
                <a:spcPts val="600"/>
              </a:spcBef>
              <a:spcAft>
                <a:spcPts val="0"/>
              </a:spcAft>
              <a:buClr>
                <a:schemeClr val="dk1"/>
              </a:buClr>
              <a:buSzPts val="2000"/>
              <a:buChar char="▪"/>
            </a:pPr>
            <a:r>
              <a:rPr lang="en-US"/>
              <a:t>componentDidMount()</a:t>
            </a:r>
            <a:endParaRPr/>
          </a:p>
          <a:p>
            <a:pPr indent="-228600" lvl="2" marL="1143000" rtl="0" algn="l">
              <a:lnSpc>
                <a:spcPct val="100000"/>
              </a:lnSpc>
              <a:spcBef>
                <a:spcPts val="600"/>
              </a:spcBef>
              <a:spcAft>
                <a:spcPts val="0"/>
              </a:spcAft>
              <a:buClr>
                <a:schemeClr val="dk1"/>
              </a:buClr>
              <a:buSzPts val="2000"/>
              <a:buChar char="▪"/>
            </a:pPr>
            <a:r>
              <a:rPr lang="en-US"/>
              <a:t>componentDidUpdate()</a:t>
            </a:r>
            <a:endParaRPr/>
          </a:p>
          <a:p>
            <a:pPr indent="-228600" lvl="2" marL="1143000" rtl="0" algn="l">
              <a:lnSpc>
                <a:spcPct val="100000"/>
              </a:lnSpc>
              <a:spcBef>
                <a:spcPts val="600"/>
              </a:spcBef>
              <a:spcAft>
                <a:spcPts val="0"/>
              </a:spcAft>
              <a:buClr>
                <a:schemeClr val="dk1"/>
              </a:buClr>
              <a:buSzPts val="2000"/>
              <a:buChar char="▪"/>
            </a:pPr>
            <a:r>
              <a:rPr lang="en-US"/>
              <a:t>componentWillUnmount()</a:t>
            </a:r>
            <a:endParaRPr/>
          </a:p>
          <a:p>
            <a:pPr indent="-228600" lvl="2" marL="1143000" rtl="0" algn="l">
              <a:lnSpc>
                <a:spcPct val="100000"/>
              </a:lnSpc>
              <a:spcBef>
                <a:spcPts val="600"/>
              </a:spcBef>
              <a:spcAft>
                <a:spcPts val="0"/>
              </a:spcAft>
              <a:buClr>
                <a:schemeClr val="dk1"/>
              </a:buClr>
              <a:buSzPts val="2000"/>
              <a:buChar char="▪"/>
            </a:pPr>
            <a:r>
              <a:rPr lang="en-US"/>
              <a:t>useEffect() for functional components.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Overview of React JS architecture</a:t>
            </a:r>
            <a:endParaRPr/>
          </a:p>
        </p:txBody>
      </p:sp>
      <p:sp>
        <p:nvSpPr>
          <p:cNvPr id="305" name="Google Shape;305;p2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 Hooks</a:t>
            </a:r>
            <a:endParaRPr/>
          </a:p>
          <a:p>
            <a:pPr indent="-228600" lvl="1" marL="685800" rtl="0" algn="l">
              <a:lnSpc>
                <a:spcPct val="100000"/>
              </a:lnSpc>
              <a:spcBef>
                <a:spcPts val="600"/>
              </a:spcBef>
              <a:spcAft>
                <a:spcPts val="0"/>
              </a:spcAft>
              <a:buClr>
                <a:schemeClr val="dk1"/>
              </a:buClr>
              <a:buSzPts val="2400"/>
              <a:buChar char="▪"/>
            </a:pPr>
            <a:r>
              <a:rPr lang="en-US"/>
              <a:t>Hooks allow you to "hook into" React features like state, lifecycle methods, and context in functional components. Common hooks include:</a:t>
            </a:r>
            <a:endParaRPr/>
          </a:p>
          <a:p>
            <a:pPr indent="-228600" lvl="2" marL="1143000" rtl="0" algn="l">
              <a:lnSpc>
                <a:spcPct val="100000"/>
              </a:lnSpc>
              <a:spcBef>
                <a:spcPts val="600"/>
              </a:spcBef>
              <a:spcAft>
                <a:spcPts val="0"/>
              </a:spcAft>
              <a:buClr>
                <a:schemeClr val="dk1"/>
              </a:buClr>
              <a:buSzPts val="2400"/>
              <a:buChar char="▪"/>
            </a:pPr>
            <a:r>
              <a:rPr i="1" lang="en-US" sz="2400"/>
              <a:t>useState</a:t>
            </a:r>
            <a:r>
              <a:rPr lang="en-US" sz="2400"/>
              <a:t>: For state management</a:t>
            </a:r>
            <a:endParaRPr/>
          </a:p>
          <a:p>
            <a:pPr indent="-228600" lvl="2" marL="1143000" rtl="0" algn="l">
              <a:lnSpc>
                <a:spcPct val="100000"/>
              </a:lnSpc>
              <a:spcBef>
                <a:spcPts val="600"/>
              </a:spcBef>
              <a:spcAft>
                <a:spcPts val="0"/>
              </a:spcAft>
              <a:buClr>
                <a:schemeClr val="dk1"/>
              </a:buClr>
              <a:buSzPts val="2400"/>
              <a:buChar char="▪"/>
            </a:pPr>
            <a:r>
              <a:rPr i="1" lang="en-US" sz="2400"/>
              <a:t>useEffect</a:t>
            </a:r>
            <a:r>
              <a:rPr lang="en-US" sz="2400"/>
              <a:t>: For side effects (e.g., data fetching, subscriptions).</a:t>
            </a:r>
            <a:endParaRPr/>
          </a:p>
          <a:p>
            <a:pPr indent="-228600" lvl="2" marL="1143000" rtl="0" algn="l">
              <a:lnSpc>
                <a:spcPct val="100000"/>
              </a:lnSpc>
              <a:spcBef>
                <a:spcPts val="600"/>
              </a:spcBef>
              <a:spcAft>
                <a:spcPts val="0"/>
              </a:spcAft>
              <a:buClr>
                <a:schemeClr val="dk1"/>
              </a:buClr>
              <a:buSzPts val="2400"/>
              <a:buChar char="▪"/>
            </a:pPr>
            <a:r>
              <a:rPr i="1" lang="en-US" sz="2400"/>
              <a:t>useContext</a:t>
            </a:r>
            <a:r>
              <a:rPr lang="en-US" sz="2400"/>
              <a:t>: For accessing context values.</a:t>
            </a:r>
            <a:endParaRPr/>
          </a:p>
          <a:p>
            <a:pPr indent="-228600" lvl="2" marL="1143000" rtl="0" algn="l">
              <a:lnSpc>
                <a:spcPct val="100000"/>
              </a:lnSpc>
              <a:spcBef>
                <a:spcPts val="600"/>
              </a:spcBef>
              <a:spcAft>
                <a:spcPts val="0"/>
              </a:spcAft>
              <a:buClr>
                <a:schemeClr val="dk1"/>
              </a:buClr>
              <a:buSzPts val="2400"/>
              <a:buChar char="▪"/>
            </a:pPr>
            <a:r>
              <a:rPr i="1" lang="en-US" sz="2400"/>
              <a:t>useReducer</a:t>
            </a:r>
            <a:r>
              <a:rPr lang="en-US" sz="2400"/>
              <a:t>: For managing more complex state logic</a:t>
            </a:r>
            <a:r>
              <a:rPr lang="en-US"/>
              <a: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Overview of React JS architecture</a:t>
            </a:r>
            <a:endParaRPr/>
          </a:p>
        </p:txBody>
      </p:sp>
      <p:sp>
        <p:nvSpPr>
          <p:cNvPr id="311" name="Google Shape;311;p29"/>
          <p:cNvSpPr txBox="1"/>
          <p:nvPr>
            <p:ph idx="1" type="body"/>
          </p:nvPr>
        </p:nvSpPr>
        <p:spPr>
          <a:xfrm>
            <a:off x="1104900" y="1600200"/>
            <a:ext cx="10204784" cy="4572000"/>
          </a:xfrm>
          <a:prstGeom prst="rect">
            <a:avLst/>
          </a:prstGeom>
          <a:noFill/>
          <a:ln>
            <a:noFill/>
          </a:ln>
        </p:spPr>
        <p:txBody>
          <a:bodyPr anchorCtr="0" anchor="t" bIns="45700" lIns="0" spcFirstLastPara="1" rIns="0" wrap="square" tIns="45700">
            <a:normAutofit lnSpcReduction="10000"/>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Context API</a:t>
            </a:r>
            <a:endParaRPr/>
          </a:p>
          <a:p>
            <a:pPr indent="-228600" lvl="1" marL="685800" rtl="0" algn="just">
              <a:lnSpc>
                <a:spcPct val="100000"/>
              </a:lnSpc>
              <a:spcBef>
                <a:spcPts val="600"/>
              </a:spcBef>
              <a:spcAft>
                <a:spcPts val="0"/>
              </a:spcAft>
              <a:buClr>
                <a:schemeClr val="dk1"/>
              </a:buClr>
              <a:buSzPts val="2400"/>
              <a:buFont typeface="Arial"/>
              <a:buChar char="•"/>
            </a:pPr>
            <a:r>
              <a:rPr lang="en-US"/>
              <a:t>The Context API provides a way to pass data through the component tree without having to manually pass props down at every level. It is particularly useful for global state management, like theming or user authentication status.</a:t>
            </a:r>
            <a:endParaRPr/>
          </a:p>
          <a:p>
            <a:pPr indent="-228600" lvl="0" marL="228600" rtl="0" algn="just">
              <a:lnSpc>
                <a:spcPct val="100000"/>
              </a:lnSpc>
              <a:spcBef>
                <a:spcPts val="1800"/>
              </a:spcBef>
              <a:spcAft>
                <a:spcPts val="0"/>
              </a:spcAft>
              <a:buClr>
                <a:srgbClr val="FF0000"/>
              </a:buClr>
              <a:buSzPts val="2800"/>
              <a:buChar char="▪"/>
            </a:pPr>
            <a:r>
              <a:rPr b="1" lang="en-US">
                <a:solidFill>
                  <a:srgbClr val="FF0000"/>
                </a:solidFill>
              </a:rPr>
              <a:t>React DevTools</a:t>
            </a:r>
            <a:endParaRPr b="1">
              <a:solidFill>
                <a:srgbClr val="FF0000"/>
              </a:solidFill>
            </a:endParaRPr>
          </a:p>
          <a:p>
            <a:pPr indent="-228600" lvl="1" marL="685800" rtl="0" algn="just">
              <a:lnSpc>
                <a:spcPct val="100000"/>
              </a:lnSpc>
              <a:spcBef>
                <a:spcPts val="600"/>
              </a:spcBef>
              <a:spcAft>
                <a:spcPts val="0"/>
              </a:spcAft>
              <a:buClr>
                <a:schemeClr val="dk1"/>
              </a:buClr>
              <a:buSzPts val="2400"/>
              <a:buFont typeface="Arial"/>
              <a:buChar char="•"/>
            </a:pPr>
            <a:r>
              <a:rPr lang="en-US"/>
              <a:t>React DevTools is a browser extension that allows developers to inspect and debug React applications. It provides features such as inspecting the component tree, viewing props and state, and measuring component performance.</a:t>
            </a:r>
            <a:endParaRPr/>
          </a:p>
          <a:p>
            <a:pPr indent="-50800" lvl="0" marL="228600" rtl="0" algn="l">
              <a:lnSpc>
                <a:spcPct val="100000"/>
              </a:lnSpc>
              <a:spcBef>
                <a:spcPts val="1800"/>
              </a:spcBef>
              <a:spcAft>
                <a:spcPts val="0"/>
              </a:spcAft>
              <a:buClr>
                <a:schemeClr val="dk1"/>
              </a:buClr>
              <a:buSzPts val="28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Overview of React JS architecture</a:t>
            </a:r>
            <a:endParaRPr/>
          </a:p>
        </p:txBody>
      </p:sp>
      <p:sp>
        <p:nvSpPr>
          <p:cNvPr id="317" name="Google Shape;317;p30"/>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lnSpcReduction="20000"/>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Bundling and Compilation</a:t>
            </a:r>
            <a:endParaRPr/>
          </a:p>
          <a:p>
            <a:pPr indent="-228600" lvl="1" marL="685800" rtl="0" algn="just">
              <a:lnSpc>
                <a:spcPct val="100000"/>
              </a:lnSpc>
              <a:spcBef>
                <a:spcPts val="600"/>
              </a:spcBef>
              <a:spcAft>
                <a:spcPts val="0"/>
              </a:spcAft>
              <a:buClr>
                <a:schemeClr val="dk1"/>
              </a:buClr>
              <a:buSzPts val="2400"/>
              <a:buFont typeface="Arial"/>
              <a:buChar char="•"/>
            </a:pPr>
            <a:r>
              <a:rPr lang="en-US"/>
              <a:t>React applications are typically bundled using tools like </a:t>
            </a:r>
            <a:r>
              <a:rPr b="1" lang="en-US"/>
              <a:t>Webpack</a:t>
            </a:r>
            <a:r>
              <a:rPr lang="en-US"/>
              <a:t> or </a:t>
            </a:r>
            <a:r>
              <a:rPr b="1" lang="en-US"/>
              <a:t>Vite</a:t>
            </a:r>
            <a:r>
              <a:rPr lang="en-US"/>
              <a:t>. JSX code is compiled into JavaScript during the build process, and ES6+ features are transpiled into compatible JavaScript using Babel.</a:t>
            </a:r>
            <a:endParaRPr/>
          </a:p>
          <a:p>
            <a:pPr indent="-228600" lvl="0" marL="228600" rtl="0" algn="l">
              <a:lnSpc>
                <a:spcPct val="100000"/>
              </a:lnSpc>
              <a:spcBef>
                <a:spcPts val="1800"/>
              </a:spcBef>
              <a:spcAft>
                <a:spcPts val="0"/>
              </a:spcAft>
              <a:buClr>
                <a:srgbClr val="FF0000"/>
              </a:buClr>
              <a:buSzPts val="2800"/>
              <a:buChar char="▪"/>
            </a:pPr>
            <a:r>
              <a:rPr b="1" lang="en-US">
                <a:solidFill>
                  <a:srgbClr val="FF0000"/>
                </a:solidFill>
              </a:rPr>
              <a:t>Redux (optional)</a:t>
            </a:r>
            <a:endParaRPr/>
          </a:p>
          <a:p>
            <a:pPr indent="-228600" lvl="1" marL="685800" rtl="0" algn="just">
              <a:lnSpc>
                <a:spcPct val="100000"/>
              </a:lnSpc>
              <a:spcBef>
                <a:spcPts val="600"/>
              </a:spcBef>
              <a:spcAft>
                <a:spcPts val="0"/>
              </a:spcAft>
              <a:buClr>
                <a:schemeClr val="dk1"/>
              </a:buClr>
              <a:buSzPts val="2400"/>
              <a:buFont typeface="Arial"/>
              <a:buChar char="•"/>
            </a:pPr>
            <a:r>
              <a:rPr lang="en-US"/>
              <a:t>While React itself does not provide a built-in state management solution for large applications, Redux is often used in large-scale React applications for managing global state. It uses a single immutable state tree and allows for predictable state updates via actions and reducers.</a:t>
            </a:r>
            <a:endParaRPr/>
          </a:p>
          <a:p>
            <a:pPr indent="-50800" lvl="0" marL="228600" rtl="0" algn="l">
              <a:lnSpc>
                <a:spcPct val="100000"/>
              </a:lnSpc>
              <a:spcBef>
                <a:spcPts val="1800"/>
              </a:spcBef>
              <a:spcAft>
                <a:spcPts val="0"/>
              </a:spcAft>
              <a:buClr>
                <a:schemeClr val="dk1"/>
              </a:buClr>
              <a:buSzPts val="28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Visual Studio Code development environment</a:t>
            </a:r>
            <a:endParaRPr/>
          </a:p>
        </p:txBody>
      </p:sp>
      <p:sp>
        <p:nvSpPr>
          <p:cNvPr id="323" name="Google Shape;323;p31"/>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1. </a:t>
            </a:r>
            <a:r>
              <a:rPr b="1" lang="en-US"/>
              <a:t>Install Visual Studio Code</a:t>
            </a:r>
            <a:endParaRPr/>
          </a:p>
          <a:p>
            <a:pPr indent="-228600" lvl="0" marL="228600" rtl="0" algn="l">
              <a:lnSpc>
                <a:spcPct val="100000"/>
              </a:lnSpc>
              <a:spcBef>
                <a:spcPts val="1800"/>
              </a:spcBef>
              <a:spcAft>
                <a:spcPts val="0"/>
              </a:spcAft>
              <a:buClr>
                <a:schemeClr val="dk1"/>
              </a:buClr>
              <a:buSzPts val="2800"/>
              <a:buChar char="▪"/>
            </a:pPr>
            <a:r>
              <a:rPr lang="en-US"/>
              <a:t>2. </a:t>
            </a:r>
            <a:r>
              <a:rPr b="1" lang="en-US"/>
              <a:t>Install Node.js and npm</a:t>
            </a:r>
            <a:endParaRPr b="1"/>
          </a:p>
          <a:p>
            <a:pPr indent="-228600" lvl="0" marL="228600" rtl="0" algn="l">
              <a:lnSpc>
                <a:spcPct val="100000"/>
              </a:lnSpc>
              <a:spcBef>
                <a:spcPts val="1800"/>
              </a:spcBef>
              <a:spcAft>
                <a:spcPts val="0"/>
              </a:spcAft>
              <a:buClr>
                <a:schemeClr val="dk1"/>
              </a:buClr>
              <a:buSzPts val="2800"/>
              <a:buChar char="▪"/>
            </a:pPr>
            <a:r>
              <a:rPr b="1" lang="en-US"/>
              <a:t>3. Install Create React App </a:t>
            </a:r>
            <a:r>
              <a:rPr lang="en-US"/>
              <a:t>(Optional)</a:t>
            </a:r>
            <a:endParaRPr/>
          </a:p>
          <a:p>
            <a:pPr indent="-228600" lvl="1" marL="685800" rtl="0" algn="l">
              <a:lnSpc>
                <a:spcPct val="100000"/>
              </a:lnSpc>
              <a:spcBef>
                <a:spcPts val="600"/>
              </a:spcBef>
              <a:spcAft>
                <a:spcPts val="0"/>
              </a:spcAft>
              <a:buClr>
                <a:schemeClr val="dk1"/>
              </a:buClr>
              <a:buSzPts val="2400"/>
              <a:buChar char="▪"/>
            </a:pPr>
            <a:r>
              <a:rPr lang="en-US"/>
              <a:t>Create React App is a tool to quickly set up a new React project with a good default configuration.</a:t>
            </a:r>
            <a:endParaRPr/>
          </a:p>
          <a:p>
            <a:pPr indent="-76200" lvl="1" marL="685800" rtl="0" algn="l">
              <a:lnSpc>
                <a:spcPct val="100000"/>
              </a:lnSpc>
              <a:spcBef>
                <a:spcPts val="600"/>
              </a:spcBef>
              <a:spcAft>
                <a:spcPts val="0"/>
              </a:spcAft>
              <a:buClr>
                <a:schemeClr val="dk1"/>
              </a:buClr>
              <a:buSzPts val="2400"/>
              <a:buNone/>
            </a:pPr>
            <a:r>
              <a:t/>
            </a:r>
            <a:endParaRPr/>
          </a:p>
          <a:p>
            <a:pPr indent="-228600" lvl="1" marL="685800" rtl="0" algn="l">
              <a:lnSpc>
                <a:spcPct val="100000"/>
              </a:lnSpc>
              <a:spcBef>
                <a:spcPts val="600"/>
              </a:spcBef>
              <a:spcAft>
                <a:spcPts val="0"/>
              </a:spcAft>
              <a:buClr>
                <a:schemeClr val="dk1"/>
              </a:buClr>
              <a:buSzPts val="2400"/>
              <a:buChar char="▪"/>
            </a:pPr>
            <a:r>
              <a:rPr lang="en-US"/>
              <a:t>Once installed, you can create a new React project</a:t>
            </a:r>
            <a:endParaRPr/>
          </a:p>
        </p:txBody>
      </p:sp>
      <p:sp>
        <p:nvSpPr>
          <p:cNvPr id="324" name="Google Shape;324;p31"/>
          <p:cNvSpPr txBox="1"/>
          <p:nvPr/>
        </p:nvSpPr>
        <p:spPr>
          <a:xfrm>
            <a:off x="2855495" y="5305150"/>
            <a:ext cx="6096000" cy="5232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0000"/>
                </a:solidFill>
              </a:rPr>
              <a:t>npm create vite@latest my-app</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Visual Studio Code development environment</a:t>
            </a:r>
            <a:endParaRPr/>
          </a:p>
        </p:txBody>
      </p:sp>
      <p:sp>
        <p:nvSpPr>
          <p:cNvPr id="330" name="Google Shape;330;p3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Open the React Project in VS Code</a:t>
            </a:r>
            <a:endParaRPr/>
          </a:p>
          <a:p>
            <a:pPr indent="-228600" lvl="1" marL="685800" rtl="0" algn="l">
              <a:lnSpc>
                <a:spcPct val="100000"/>
              </a:lnSpc>
              <a:spcBef>
                <a:spcPts val="600"/>
              </a:spcBef>
              <a:spcAft>
                <a:spcPts val="0"/>
              </a:spcAft>
              <a:buClr>
                <a:schemeClr val="dk1"/>
              </a:buClr>
              <a:buSzPts val="2400"/>
              <a:buChar char="▪"/>
            </a:pPr>
            <a:r>
              <a:rPr lang="en-US"/>
              <a:t>Open the VS Code editor.</a:t>
            </a:r>
            <a:endParaRPr/>
          </a:p>
          <a:p>
            <a:pPr indent="-228600" lvl="1" marL="685800" rtl="0" algn="l">
              <a:lnSpc>
                <a:spcPct val="100000"/>
              </a:lnSpc>
              <a:spcBef>
                <a:spcPts val="600"/>
              </a:spcBef>
              <a:spcAft>
                <a:spcPts val="0"/>
              </a:spcAft>
              <a:buClr>
                <a:schemeClr val="dk1"/>
              </a:buClr>
              <a:buSzPts val="2400"/>
              <a:buChar char="▪"/>
            </a:pPr>
            <a:r>
              <a:rPr b="1" lang="en-US"/>
              <a:t>Use File &gt; Open Folder </a:t>
            </a:r>
            <a:r>
              <a:rPr lang="en-US"/>
              <a:t>to open the folder containing your React project (e.g., the folder where you created your app using create-react-app).</a:t>
            </a:r>
            <a:endParaRPr/>
          </a:p>
          <a:p>
            <a:pPr indent="-228600" lvl="1" marL="685800" rtl="0" algn="l">
              <a:lnSpc>
                <a:spcPct val="100000"/>
              </a:lnSpc>
              <a:spcBef>
                <a:spcPts val="600"/>
              </a:spcBef>
              <a:spcAft>
                <a:spcPts val="0"/>
              </a:spcAft>
              <a:buClr>
                <a:schemeClr val="dk1"/>
              </a:buClr>
              <a:buSzPts val="2400"/>
              <a:buChar char="▪"/>
            </a:pPr>
            <a:r>
              <a:rPr lang="en-US"/>
              <a:t>Alternatively, from the terminal/command prompt, you can navigate to the project folder and open it directly in VS Code by running:</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Visual Studio Code development environment</a:t>
            </a:r>
            <a:endParaRPr/>
          </a:p>
        </p:txBody>
      </p:sp>
      <p:sp>
        <p:nvSpPr>
          <p:cNvPr id="336" name="Google Shape;336;p33"/>
          <p:cNvSpPr txBox="1"/>
          <p:nvPr>
            <p:ph idx="1" type="body"/>
          </p:nvPr>
        </p:nvSpPr>
        <p:spPr>
          <a:xfrm>
            <a:off x="1104899" y="1600200"/>
            <a:ext cx="10397289" cy="5181600"/>
          </a:xfrm>
          <a:prstGeom prst="rect">
            <a:avLst/>
          </a:prstGeom>
          <a:noFill/>
          <a:ln>
            <a:noFill/>
          </a:ln>
        </p:spPr>
        <p:txBody>
          <a:bodyPr anchorCtr="0" anchor="t" bIns="45700" lIns="0" spcFirstLastPara="1" rIns="0" wrap="square" tIns="45700">
            <a:normAutofit fontScale="85000" lnSpcReduction="20000"/>
          </a:bodyPr>
          <a:lstStyle/>
          <a:p>
            <a:pPr indent="-215265" lvl="0" marL="228600" rtl="0" algn="l">
              <a:lnSpc>
                <a:spcPct val="100000"/>
              </a:lnSpc>
              <a:spcBef>
                <a:spcPts val="0"/>
              </a:spcBef>
              <a:spcAft>
                <a:spcPts val="0"/>
              </a:spcAft>
              <a:buClr>
                <a:schemeClr val="dk1"/>
              </a:buClr>
              <a:buSzPct val="100000"/>
              <a:buChar char="▪"/>
            </a:pPr>
            <a:r>
              <a:rPr b="1" lang="en-US"/>
              <a:t>Install Essential VS Code Extensions: </a:t>
            </a:r>
            <a:endParaRPr/>
          </a:p>
          <a:p>
            <a:pPr indent="-217170" lvl="1" marL="685800" rtl="0" algn="l">
              <a:lnSpc>
                <a:spcPct val="100000"/>
              </a:lnSpc>
              <a:spcBef>
                <a:spcPts val="600"/>
              </a:spcBef>
              <a:spcAft>
                <a:spcPts val="0"/>
              </a:spcAft>
              <a:buClr>
                <a:schemeClr val="dk1"/>
              </a:buClr>
              <a:buSzPct val="100000"/>
              <a:buChar char="▪"/>
            </a:pPr>
            <a:r>
              <a:rPr b="1" lang="en-US"/>
              <a:t>ES7 React/Redux/GraphQL/React-Native snippets</a:t>
            </a:r>
            <a:r>
              <a:rPr lang="en-US"/>
              <a:t>: This extension provides many useful code snippets for React, Redux, and GraphQL.</a:t>
            </a:r>
            <a:endParaRPr/>
          </a:p>
          <a:p>
            <a:pPr indent="-219075" lvl="2" marL="1143000" rtl="0" algn="l">
              <a:lnSpc>
                <a:spcPct val="100000"/>
              </a:lnSpc>
              <a:spcBef>
                <a:spcPts val="600"/>
              </a:spcBef>
              <a:spcAft>
                <a:spcPts val="0"/>
              </a:spcAft>
              <a:buClr>
                <a:schemeClr val="dk1"/>
              </a:buClr>
              <a:buSzPct val="100000"/>
              <a:buChar char="▪"/>
            </a:pPr>
            <a:r>
              <a:rPr lang="en-US"/>
              <a:t>Install it from the VS Code Extensions Marketplace.</a:t>
            </a:r>
            <a:endParaRPr/>
          </a:p>
          <a:p>
            <a:pPr indent="-217170" lvl="1" marL="685800" rtl="0" algn="l">
              <a:lnSpc>
                <a:spcPct val="100000"/>
              </a:lnSpc>
              <a:spcBef>
                <a:spcPts val="600"/>
              </a:spcBef>
              <a:spcAft>
                <a:spcPts val="0"/>
              </a:spcAft>
              <a:buClr>
                <a:schemeClr val="dk1"/>
              </a:buClr>
              <a:buSzPct val="100000"/>
              <a:buChar char="▪"/>
            </a:pPr>
            <a:r>
              <a:rPr b="1" lang="en-US"/>
              <a:t>Prettier - Code formatter</a:t>
            </a:r>
            <a:r>
              <a:rPr lang="en-US"/>
              <a:t>: Helps format your code automatically for better readability and consistency.</a:t>
            </a:r>
            <a:endParaRPr/>
          </a:p>
          <a:p>
            <a:pPr indent="-217170" lvl="1" marL="685800" rtl="0" algn="l">
              <a:lnSpc>
                <a:spcPct val="100000"/>
              </a:lnSpc>
              <a:spcBef>
                <a:spcPts val="600"/>
              </a:spcBef>
              <a:spcAft>
                <a:spcPts val="0"/>
              </a:spcAft>
              <a:buClr>
                <a:schemeClr val="dk1"/>
              </a:buClr>
              <a:buSzPct val="100000"/>
              <a:buChar char="▪"/>
            </a:pPr>
            <a:r>
              <a:rPr b="1" lang="en-US"/>
              <a:t>ESLint</a:t>
            </a:r>
            <a:r>
              <a:rPr lang="en-US"/>
              <a:t>: A linter for JavaScript and JSX that can help enforce code quality and style.</a:t>
            </a:r>
            <a:endParaRPr/>
          </a:p>
          <a:p>
            <a:pPr indent="-217170" lvl="1" marL="685800" rtl="0" algn="l">
              <a:lnSpc>
                <a:spcPct val="100000"/>
              </a:lnSpc>
              <a:spcBef>
                <a:spcPts val="600"/>
              </a:spcBef>
              <a:spcAft>
                <a:spcPts val="0"/>
              </a:spcAft>
              <a:buClr>
                <a:schemeClr val="dk1"/>
              </a:buClr>
              <a:buSzPct val="100000"/>
              <a:buChar char="▪"/>
            </a:pPr>
            <a:r>
              <a:rPr b="1" lang="en-US"/>
              <a:t>Bracket Pair Colorizer</a:t>
            </a:r>
            <a:r>
              <a:rPr lang="en-US"/>
              <a:t>: This extension adds color-coding to matching brackets, which is particularly helpful in React with complex </a:t>
            </a:r>
            <a:r>
              <a:rPr b="1" lang="en-US"/>
              <a:t>JSX.</a:t>
            </a:r>
            <a:endParaRPr/>
          </a:p>
          <a:p>
            <a:pPr indent="-217170" lvl="1" marL="685800" rtl="0" algn="l">
              <a:lnSpc>
                <a:spcPct val="100000"/>
              </a:lnSpc>
              <a:spcBef>
                <a:spcPts val="600"/>
              </a:spcBef>
              <a:spcAft>
                <a:spcPts val="0"/>
              </a:spcAft>
              <a:buClr>
                <a:schemeClr val="dk1"/>
              </a:buClr>
              <a:buSzPct val="100000"/>
              <a:buChar char="▪"/>
            </a:pPr>
            <a:r>
              <a:rPr b="1" lang="en-US"/>
              <a:t>Path Intellisense</a:t>
            </a:r>
            <a:r>
              <a:rPr lang="en-US"/>
              <a:t>: Provides autocompletion for file paths when importing components and assets in your React project.</a:t>
            </a:r>
            <a:endParaRPr/>
          </a:p>
          <a:p>
            <a:pPr indent="-217170" lvl="1" marL="685800" rtl="0" algn="l">
              <a:lnSpc>
                <a:spcPct val="100000"/>
              </a:lnSpc>
              <a:spcBef>
                <a:spcPts val="600"/>
              </a:spcBef>
              <a:spcAft>
                <a:spcPts val="0"/>
              </a:spcAft>
              <a:buClr>
                <a:schemeClr val="dk1"/>
              </a:buClr>
              <a:buSzPct val="100000"/>
              <a:buChar char="▪"/>
            </a:pPr>
            <a:r>
              <a:rPr b="1" lang="en-US"/>
              <a:t>Reactjs code snippets</a:t>
            </a:r>
            <a:r>
              <a:rPr lang="en-US"/>
              <a:t>: Offers more advanced React-specific snippets for faster development.</a:t>
            </a:r>
            <a:endParaRPr/>
          </a:p>
          <a:p>
            <a:pPr indent="-217170" lvl="1" marL="685800" rtl="0" algn="l">
              <a:lnSpc>
                <a:spcPct val="100000"/>
              </a:lnSpc>
              <a:spcBef>
                <a:spcPts val="600"/>
              </a:spcBef>
              <a:spcAft>
                <a:spcPts val="0"/>
              </a:spcAft>
              <a:buClr>
                <a:schemeClr val="dk1"/>
              </a:buClr>
              <a:buSzPct val="100000"/>
              <a:buChar char="▪"/>
            </a:pPr>
            <a:r>
              <a:rPr b="1" lang="en-US"/>
              <a:t>GitLens</a:t>
            </a:r>
            <a:r>
              <a:rPr lang="en-US"/>
              <a:t>: Enhances VS Code's built-in Git capabilities, providing a deeper insight into Git history, blame annotations, and more.</a:t>
            </a:r>
            <a:endParaRPr/>
          </a:p>
          <a:p>
            <a:pPr indent="-87630" lvl="1" marL="685800" rtl="0" algn="l">
              <a:lnSpc>
                <a:spcPct val="100000"/>
              </a:lnSpc>
              <a:spcBef>
                <a:spcPts val="600"/>
              </a:spcBef>
              <a:spcAft>
                <a:spcPts val="0"/>
              </a:spcAft>
              <a:buClr>
                <a:schemeClr val="dk1"/>
              </a:buClr>
              <a:buSzPct val="1000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Visual Studio Code development environment</a:t>
            </a:r>
            <a:endParaRPr/>
          </a:p>
        </p:txBody>
      </p:sp>
      <p:sp>
        <p:nvSpPr>
          <p:cNvPr id="342" name="Google Shape;342;p3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Configure ESLint and Prettier</a:t>
            </a:r>
            <a:endParaRPr/>
          </a:p>
          <a:p>
            <a:pPr indent="-228600" lvl="1" marL="685800" rtl="0" algn="l">
              <a:lnSpc>
                <a:spcPct val="100000"/>
              </a:lnSpc>
              <a:spcBef>
                <a:spcPts val="600"/>
              </a:spcBef>
              <a:spcAft>
                <a:spcPts val="0"/>
              </a:spcAft>
              <a:buClr>
                <a:schemeClr val="dk1"/>
              </a:buClr>
              <a:buSzPts val="2400"/>
              <a:buChar char="▪"/>
            </a:pPr>
            <a:r>
              <a:rPr b="1" lang="en-US"/>
              <a:t>ESLint</a:t>
            </a:r>
            <a:r>
              <a:rPr lang="en-US"/>
              <a:t> helps you maintain code quality by identifying potential issues, while Prettier automatically formats your code according to a standard style.</a:t>
            </a:r>
            <a:endParaRPr/>
          </a:p>
          <a:p>
            <a:pPr indent="-228600" lvl="1" marL="685800" rtl="0" algn="l">
              <a:lnSpc>
                <a:spcPct val="100000"/>
              </a:lnSpc>
              <a:spcBef>
                <a:spcPts val="600"/>
              </a:spcBef>
              <a:spcAft>
                <a:spcPts val="0"/>
              </a:spcAft>
              <a:buClr>
                <a:schemeClr val="dk1"/>
              </a:buClr>
              <a:buSzPts val="2400"/>
              <a:buChar char="▪"/>
            </a:pPr>
            <a:r>
              <a:rPr lang="en-US"/>
              <a:t>You can install them in your React project.</a:t>
            </a:r>
            <a:endParaRPr/>
          </a:p>
          <a:p>
            <a:pPr indent="-76200" lvl="1" marL="685800" rtl="0" algn="l">
              <a:lnSpc>
                <a:spcPct val="100000"/>
              </a:lnSpc>
              <a:spcBef>
                <a:spcPts val="600"/>
              </a:spcBef>
              <a:spcAft>
                <a:spcPts val="0"/>
              </a:spcAft>
              <a:buClr>
                <a:schemeClr val="dk1"/>
              </a:buClr>
              <a:buSzPts val="2400"/>
              <a:buNone/>
            </a:pPr>
            <a:r>
              <a:t/>
            </a:r>
            <a:endParaRPr/>
          </a:p>
          <a:p>
            <a:pPr indent="-76200" lvl="1" marL="685800" rtl="0" algn="l">
              <a:lnSpc>
                <a:spcPct val="100000"/>
              </a:lnSpc>
              <a:spcBef>
                <a:spcPts val="600"/>
              </a:spcBef>
              <a:spcAft>
                <a:spcPts val="0"/>
              </a:spcAft>
              <a:buClr>
                <a:schemeClr val="dk1"/>
              </a:buClr>
              <a:buSzPts val="2400"/>
              <a:buNone/>
            </a:pPr>
            <a:r>
              <a:t/>
            </a:r>
            <a:endParaRPr/>
          </a:p>
          <a:p>
            <a:pPr indent="-228600" lvl="1" marL="685800" rtl="0" algn="l">
              <a:lnSpc>
                <a:spcPct val="100000"/>
              </a:lnSpc>
              <a:spcBef>
                <a:spcPts val="600"/>
              </a:spcBef>
              <a:spcAft>
                <a:spcPts val="0"/>
              </a:spcAft>
              <a:buClr>
                <a:schemeClr val="dk1"/>
              </a:buClr>
              <a:buSzPts val="2400"/>
              <a:buChar char="▪"/>
            </a:pPr>
            <a:r>
              <a:rPr lang="en-US"/>
              <a:t>Create an ESLint configuration file (.eslintrc.json) and a Prettier configuration file (.prettierrc) at the root of your project. </a:t>
            </a:r>
            <a:endParaRPr/>
          </a:p>
          <a:p>
            <a:pPr indent="-50800" lvl="0" marL="228600" rtl="0" algn="l">
              <a:lnSpc>
                <a:spcPct val="100000"/>
              </a:lnSpc>
              <a:spcBef>
                <a:spcPts val="1800"/>
              </a:spcBef>
              <a:spcAft>
                <a:spcPts val="0"/>
              </a:spcAft>
              <a:buClr>
                <a:schemeClr val="dk1"/>
              </a:buClr>
              <a:buSzPts val="2800"/>
              <a:buNone/>
            </a:pPr>
            <a:r>
              <a:t/>
            </a:r>
            <a:endParaRPr/>
          </a:p>
        </p:txBody>
      </p:sp>
      <p:sp>
        <p:nvSpPr>
          <p:cNvPr id="343" name="Google Shape;343;p34"/>
          <p:cNvSpPr txBox="1"/>
          <p:nvPr/>
        </p:nvSpPr>
        <p:spPr>
          <a:xfrm>
            <a:off x="1796714" y="3886201"/>
            <a:ext cx="9288867" cy="70788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Arial"/>
                <a:ea typeface="Arial"/>
                <a:cs typeface="Arial"/>
                <a:sym typeface="Arial"/>
              </a:rPr>
              <a:t>npm install --save-dev eslint prettier eslint-plugin-react eslint-config-prettier eslint-plugin-prettier</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Visual Studio Code development environment</a:t>
            </a:r>
            <a:endParaRPr/>
          </a:p>
        </p:txBody>
      </p:sp>
      <p:sp>
        <p:nvSpPr>
          <p:cNvPr id="349" name="Google Shape;349;p3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Example .eslintrc.json:</a:t>
            </a:r>
            <a:endParaRPr/>
          </a:p>
        </p:txBody>
      </p:sp>
      <p:sp>
        <p:nvSpPr>
          <p:cNvPr id="350" name="Google Shape;350;p35"/>
          <p:cNvSpPr txBox="1"/>
          <p:nvPr/>
        </p:nvSpPr>
        <p:spPr>
          <a:xfrm>
            <a:off x="5245010" y="1679424"/>
            <a:ext cx="5422990" cy="480131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onsolas"/>
                <a:ea typeface="Consolas"/>
                <a:cs typeface="Consolas"/>
                <a:sym typeface="Consolas"/>
              </a:rPr>
              <a:t>{</a:t>
            </a:r>
            <a:endParaRPr/>
          </a:p>
          <a:p>
            <a:pPr indent="0" lvl="0" marL="0" marR="0" rtl="0" algn="l">
              <a:spcBef>
                <a:spcPts val="0"/>
              </a:spcBef>
              <a:spcAft>
                <a:spcPts val="0"/>
              </a:spcAft>
              <a:buNone/>
            </a:pPr>
            <a:r>
              <a:rPr b="1" lang="en-US" sz="1800">
                <a:solidFill>
                  <a:schemeClr val="dk1"/>
                </a:solidFill>
                <a:latin typeface="Consolas"/>
                <a:ea typeface="Consolas"/>
                <a:cs typeface="Consolas"/>
                <a:sym typeface="Consolas"/>
              </a:rPr>
              <a:t>  "extends": [</a:t>
            </a:r>
            <a:endParaRPr/>
          </a:p>
          <a:p>
            <a:pPr indent="0" lvl="0" marL="0" marR="0" rtl="0" algn="l">
              <a:spcBef>
                <a:spcPts val="0"/>
              </a:spcBef>
              <a:spcAft>
                <a:spcPts val="0"/>
              </a:spcAft>
              <a:buNone/>
            </a:pPr>
            <a:r>
              <a:rPr b="1" lang="en-US" sz="1800">
                <a:solidFill>
                  <a:schemeClr val="dk1"/>
                </a:solidFill>
                <a:latin typeface="Consolas"/>
                <a:ea typeface="Consolas"/>
                <a:cs typeface="Consolas"/>
                <a:sym typeface="Consolas"/>
              </a:rPr>
              <a:t>    "eslint:recommended",</a:t>
            </a:r>
            <a:endParaRPr/>
          </a:p>
          <a:p>
            <a:pPr indent="0" lvl="0" marL="0" marR="0" rtl="0" algn="l">
              <a:spcBef>
                <a:spcPts val="0"/>
              </a:spcBef>
              <a:spcAft>
                <a:spcPts val="0"/>
              </a:spcAft>
              <a:buNone/>
            </a:pPr>
            <a:r>
              <a:rPr b="1" lang="en-US" sz="1800">
                <a:solidFill>
                  <a:schemeClr val="dk1"/>
                </a:solidFill>
                <a:latin typeface="Consolas"/>
                <a:ea typeface="Consolas"/>
                <a:cs typeface="Consolas"/>
                <a:sym typeface="Consolas"/>
              </a:rPr>
              <a:t>    "plugin:react/recommended",</a:t>
            </a:r>
            <a:endParaRPr/>
          </a:p>
          <a:p>
            <a:pPr indent="0" lvl="0" marL="0" marR="0" rtl="0" algn="l">
              <a:spcBef>
                <a:spcPts val="0"/>
              </a:spcBef>
              <a:spcAft>
                <a:spcPts val="0"/>
              </a:spcAft>
              <a:buNone/>
            </a:pPr>
            <a:r>
              <a:rPr b="1" lang="en-US" sz="1800">
                <a:solidFill>
                  <a:schemeClr val="dk1"/>
                </a:solidFill>
                <a:latin typeface="Consolas"/>
                <a:ea typeface="Consolas"/>
                <a:cs typeface="Consolas"/>
                <a:sym typeface="Consolas"/>
              </a:rPr>
              <a:t>    "plugin:prettier/recommended"</a:t>
            </a:r>
            <a:endParaRPr/>
          </a:p>
          <a:p>
            <a:pPr indent="0" lvl="0" marL="0" marR="0" rtl="0" algn="l">
              <a:spcBef>
                <a:spcPts val="0"/>
              </a:spcBef>
              <a:spcAft>
                <a:spcPts val="0"/>
              </a:spcAft>
              <a:buNone/>
            </a:pPr>
            <a:r>
              <a:rPr b="1" lang="en-US" sz="18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b="1" lang="en-US" sz="1800">
                <a:solidFill>
                  <a:schemeClr val="dk1"/>
                </a:solidFill>
                <a:latin typeface="Consolas"/>
                <a:ea typeface="Consolas"/>
                <a:cs typeface="Consolas"/>
                <a:sym typeface="Consolas"/>
              </a:rPr>
              <a:t>  "parser": "babel-eslint",</a:t>
            </a:r>
            <a:endParaRPr/>
          </a:p>
          <a:p>
            <a:pPr indent="0" lvl="0" marL="0" marR="0" rtl="0" algn="l">
              <a:spcBef>
                <a:spcPts val="0"/>
              </a:spcBef>
              <a:spcAft>
                <a:spcPts val="0"/>
              </a:spcAft>
              <a:buNone/>
            </a:pPr>
            <a:r>
              <a:rPr b="1" lang="en-US" sz="1800">
                <a:solidFill>
                  <a:schemeClr val="dk1"/>
                </a:solidFill>
                <a:latin typeface="Consolas"/>
                <a:ea typeface="Consolas"/>
                <a:cs typeface="Consolas"/>
                <a:sym typeface="Consolas"/>
              </a:rPr>
              <a:t>  "plugins": ["react", "prettier"],</a:t>
            </a:r>
            <a:endParaRPr/>
          </a:p>
          <a:p>
            <a:pPr indent="0" lvl="0" marL="0" marR="0" rtl="0" algn="l">
              <a:spcBef>
                <a:spcPts val="0"/>
              </a:spcBef>
              <a:spcAft>
                <a:spcPts val="0"/>
              </a:spcAft>
              <a:buNone/>
            </a:pPr>
            <a:r>
              <a:rPr b="1" lang="en-US" sz="1800">
                <a:solidFill>
                  <a:schemeClr val="dk1"/>
                </a:solidFill>
                <a:latin typeface="Consolas"/>
                <a:ea typeface="Consolas"/>
                <a:cs typeface="Consolas"/>
                <a:sym typeface="Consolas"/>
              </a:rPr>
              <a:t>  "env": {</a:t>
            </a:r>
            <a:endParaRPr/>
          </a:p>
          <a:p>
            <a:pPr indent="0" lvl="0" marL="0" marR="0" rtl="0" algn="l">
              <a:spcBef>
                <a:spcPts val="0"/>
              </a:spcBef>
              <a:spcAft>
                <a:spcPts val="0"/>
              </a:spcAft>
              <a:buNone/>
            </a:pPr>
            <a:r>
              <a:rPr b="1" lang="en-US" sz="1800">
                <a:solidFill>
                  <a:schemeClr val="dk1"/>
                </a:solidFill>
                <a:latin typeface="Consolas"/>
                <a:ea typeface="Consolas"/>
                <a:cs typeface="Consolas"/>
                <a:sym typeface="Consolas"/>
              </a:rPr>
              <a:t>    "browser": true,</a:t>
            </a:r>
            <a:endParaRPr/>
          </a:p>
          <a:p>
            <a:pPr indent="0" lvl="0" marL="0" marR="0" rtl="0" algn="l">
              <a:spcBef>
                <a:spcPts val="0"/>
              </a:spcBef>
              <a:spcAft>
                <a:spcPts val="0"/>
              </a:spcAft>
              <a:buNone/>
            </a:pPr>
            <a:r>
              <a:rPr b="1" lang="en-US" sz="1800">
                <a:solidFill>
                  <a:schemeClr val="dk1"/>
                </a:solidFill>
                <a:latin typeface="Consolas"/>
                <a:ea typeface="Consolas"/>
                <a:cs typeface="Consolas"/>
                <a:sym typeface="Consolas"/>
              </a:rPr>
              <a:t>    "es2021": true</a:t>
            </a:r>
            <a:endParaRPr/>
          </a:p>
          <a:p>
            <a:pPr indent="0" lvl="0" marL="0" marR="0" rtl="0" algn="l">
              <a:spcBef>
                <a:spcPts val="0"/>
              </a:spcBef>
              <a:spcAft>
                <a:spcPts val="0"/>
              </a:spcAft>
              <a:buNone/>
            </a:pPr>
            <a:r>
              <a:rPr b="1" lang="en-US" sz="18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b="1" lang="en-US" sz="1800">
                <a:solidFill>
                  <a:schemeClr val="dk1"/>
                </a:solidFill>
                <a:latin typeface="Consolas"/>
                <a:ea typeface="Consolas"/>
                <a:cs typeface="Consolas"/>
                <a:sym typeface="Consolas"/>
              </a:rPr>
              <a:t>  "rules": {</a:t>
            </a:r>
            <a:endParaRPr/>
          </a:p>
          <a:p>
            <a:pPr indent="0" lvl="0" marL="0" marR="0" rtl="0" algn="l">
              <a:spcBef>
                <a:spcPts val="0"/>
              </a:spcBef>
              <a:spcAft>
                <a:spcPts val="0"/>
              </a:spcAft>
              <a:buNone/>
            </a:pPr>
            <a:r>
              <a:rPr b="1" lang="en-US" sz="1800">
                <a:solidFill>
                  <a:schemeClr val="dk1"/>
                </a:solidFill>
                <a:latin typeface="Consolas"/>
                <a:ea typeface="Consolas"/>
                <a:cs typeface="Consolas"/>
                <a:sym typeface="Consolas"/>
              </a:rPr>
              <a:t>    "prettier/prettier": "error",</a:t>
            </a:r>
            <a:endParaRPr/>
          </a:p>
          <a:p>
            <a:pPr indent="0" lvl="0" marL="0" marR="0" rtl="0" algn="l">
              <a:spcBef>
                <a:spcPts val="0"/>
              </a:spcBef>
              <a:spcAft>
                <a:spcPts val="0"/>
              </a:spcAft>
              <a:buNone/>
            </a:pPr>
            <a:r>
              <a:rPr b="1" lang="en-US" sz="1800">
                <a:solidFill>
                  <a:schemeClr val="dk1"/>
                </a:solidFill>
                <a:latin typeface="Consolas"/>
                <a:ea typeface="Consolas"/>
                <a:cs typeface="Consolas"/>
                <a:sym typeface="Consolas"/>
              </a:rPr>
              <a:t>    "react/prop-types": "off"</a:t>
            </a:r>
            <a:endParaRPr/>
          </a:p>
          <a:p>
            <a:pPr indent="0" lvl="0" marL="0" marR="0" rtl="0" algn="l">
              <a:spcBef>
                <a:spcPts val="0"/>
              </a:spcBef>
              <a:spcAft>
                <a:spcPts val="0"/>
              </a:spcAft>
              <a:buNone/>
            </a:pPr>
            <a:r>
              <a:rPr b="1" lang="en-US" sz="18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b="1" lang="en-US" sz="1800">
                <a:solidFill>
                  <a:schemeClr val="dk1"/>
                </a:solidFill>
                <a:latin typeface="Consolas"/>
                <a:ea typeface="Consolas"/>
                <a:cs typeface="Consolas"/>
                <a:sym typeface="Consolas"/>
              </a:rPr>
              <a: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Visual Studio Code development environment</a:t>
            </a:r>
            <a:endParaRPr/>
          </a:p>
        </p:txBody>
      </p:sp>
      <p:sp>
        <p:nvSpPr>
          <p:cNvPr id="356" name="Google Shape;356;p36"/>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Configure Debugging</a:t>
            </a:r>
            <a:r>
              <a:rPr lang="en-US"/>
              <a:t>: VS Code has built-in debugging support. To configure it for React development:</a:t>
            </a:r>
            <a:endParaRPr/>
          </a:p>
          <a:p>
            <a:pPr indent="-228600" lvl="1" marL="685800" rtl="0" algn="l">
              <a:lnSpc>
                <a:spcPct val="100000"/>
              </a:lnSpc>
              <a:spcBef>
                <a:spcPts val="600"/>
              </a:spcBef>
              <a:spcAft>
                <a:spcPts val="0"/>
              </a:spcAft>
              <a:buClr>
                <a:schemeClr val="dk1"/>
              </a:buClr>
              <a:buSzPts val="2400"/>
              <a:buChar char="▪"/>
            </a:pPr>
            <a:r>
              <a:rPr lang="en-US"/>
              <a:t>Go to the Run and Debug sidebar (click the play icon with a bug on the left).</a:t>
            </a:r>
            <a:endParaRPr/>
          </a:p>
          <a:p>
            <a:pPr indent="-228600" lvl="1" marL="685800" rtl="0" algn="l">
              <a:lnSpc>
                <a:spcPct val="100000"/>
              </a:lnSpc>
              <a:spcBef>
                <a:spcPts val="600"/>
              </a:spcBef>
              <a:spcAft>
                <a:spcPts val="0"/>
              </a:spcAft>
              <a:buClr>
                <a:schemeClr val="dk1"/>
              </a:buClr>
              <a:buSzPts val="2400"/>
              <a:buChar char="▪"/>
            </a:pPr>
            <a:r>
              <a:rPr lang="en-US"/>
              <a:t>Click create a launch.json file, then select Chrome (or another browser if you prefer). </a:t>
            </a:r>
            <a:endParaRPr/>
          </a:p>
          <a:p>
            <a:pPr indent="-228600" lvl="1" marL="685800" rtl="0" algn="l">
              <a:lnSpc>
                <a:spcPct val="100000"/>
              </a:lnSpc>
              <a:spcBef>
                <a:spcPts val="600"/>
              </a:spcBef>
              <a:spcAft>
                <a:spcPts val="0"/>
              </a:spcAft>
              <a:buClr>
                <a:schemeClr val="dk1"/>
              </a:buClr>
              <a:buSzPts val="2400"/>
              <a:buChar char="▪"/>
            </a:pPr>
            <a:r>
              <a:rPr lang="en-US"/>
              <a:t>Add the following configuration to your launch.json: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Visual Studio Code development environment</a:t>
            </a:r>
            <a:endParaRPr/>
          </a:p>
        </p:txBody>
      </p:sp>
      <p:sp>
        <p:nvSpPr>
          <p:cNvPr id="362" name="Google Shape;362;p37"/>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Configure Debugging</a:t>
            </a:r>
            <a:endParaRPr/>
          </a:p>
        </p:txBody>
      </p:sp>
      <p:sp>
        <p:nvSpPr>
          <p:cNvPr id="363" name="Google Shape;363;p37"/>
          <p:cNvSpPr txBox="1"/>
          <p:nvPr/>
        </p:nvSpPr>
        <p:spPr>
          <a:xfrm>
            <a:off x="3047241" y="2178040"/>
            <a:ext cx="6096000" cy="4062651"/>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onsolas"/>
                <a:ea typeface="Consolas"/>
                <a:cs typeface="Consolas"/>
                <a:sym typeface="Consolas"/>
              </a:rPr>
              <a:t>{</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"version": "0.2.0",</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"configurations": [</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"name": "Launch Chrome against localhost",</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"type": "chrome",</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"request": "launch",</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"url": "http://localhost:3000",</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"webRoot": "${workspaceFolder}"</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Visual Studio Code development environment</a:t>
            </a:r>
            <a:endParaRPr/>
          </a:p>
        </p:txBody>
      </p:sp>
      <p:sp>
        <p:nvSpPr>
          <p:cNvPr id="369" name="Google Shape;369;p3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Version Control with Git</a:t>
            </a:r>
            <a:endParaRPr/>
          </a:p>
          <a:p>
            <a:pPr indent="-228600" lvl="1" marL="685800" rtl="0" algn="l">
              <a:lnSpc>
                <a:spcPct val="100000"/>
              </a:lnSpc>
              <a:spcBef>
                <a:spcPts val="600"/>
              </a:spcBef>
              <a:spcAft>
                <a:spcPts val="0"/>
              </a:spcAft>
              <a:buClr>
                <a:schemeClr val="dk1"/>
              </a:buClr>
              <a:buSzPts val="2400"/>
              <a:buFont typeface="Arial"/>
              <a:buChar char="•"/>
            </a:pPr>
            <a:r>
              <a:rPr b="1" lang="en-US"/>
              <a:t>Git</a:t>
            </a:r>
            <a:r>
              <a:rPr lang="en-US"/>
              <a:t> integration is built into VS Code, allowing you to manage version control and collaborate with others. Make sure Git is installed on your system.</a:t>
            </a:r>
            <a:endParaRPr/>
          </a:p>
          <a:p>
            <a:pPr indent="-228600" lvl="1" marL="685800" rtl="0" algn="l">
              <a:lnSpc>
                <a:spcPct val="100000"/>
              </a:lnSpc>
              <a:spcBef>
                <a:spcPts val="600"/>
              </a:spcBef>
              <a:spcAft>
                <a:spcPts val="0"/>
              </a:spcAft>
              <a:buClr>
                <a:schemeClr val="dk1"/>
              </a:buClr>
              <a:buSzPts val="2400"/>
              <a:buFont typeface="Arial"/>
              <a:buChar char="•"/>
            </a:pPr>
            <a:r>
              <a:rPr lang="en-US"/>
              <a:t>You can check if Git is installed by running</a:t>
            </a:r>
            <a:endParaRPr/>
          </a:p>
          <a:p>
            <a:pPr indent="-50800" lvl="0" marL="228600" rtl="0" algn="l">
              <a:lnSpc>
                <a:spcPct val="100000"/>
              </a:lnSpc>
              <a:spcBef>
                <a:spcPts val="1800"/>
              </a:spcBef>
              <a:spcAft>
                <a:spcPts val="0"/>
              </a:spcAft>
              <a:buClr>
                <a:schemeClr val="dk1"/>
              </a:buClr>
              <a:buSzPts val="2800"/>
              <a:buNone/>
            </a:pPr>
            <a:r>
              <a:t/>
            </a:r>
            <a:endParaRPr/>
          </a:p>
        </p:txBody>
      </p:sp>
      <p:sp>
        <p:nvSpPr>
          <p:cNvPr id="370" name="Google Shape;370;p38"/>
          <p:cNvSpPr txBox="1"/>
          <p:nvPr/>
        </p:nvSpPr>
        <p:spPr>
          <a:xfrm>
            <a:off x="7876673" y="3228945"/>
            <a:ext cx="2197769" cy="40011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Arial"/>
                <a:ea typeface="Arial"/>
                <a:cs typeface="Arial"/>
                <a:sym typeface="Arial"/>
              </a:rPr>
              <a:t>git --version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Visual Studio Code development environment</a:t>
            </a:r>
            <a:endParaRPr/>
          </a:p>
        </p:txBody>
      </p:sp>
      <p:sp>
        <p:nvSpPr>
          <p:cNvPr id="376" name="Google Shape;376;p39"/>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Run and Build the React Application</a:t>
            </a:r>
            <a:endParaRPr/>
          </a:p>
          <a:p>
            <a:pPr indent="-228600" lvl="1" marL="685800" rtl="0" algn="l">
              <a:lnSpc>
                <a:spcPct val="100000"/>
              </a:lnSpc>
              <a:spcBef>
                <a:spcPts val="600"/>
              </a:spcBef>
              <a:spcAft>
                <a:spcPts val="0"/>
              </a:spcAft>
              <a:buClr>
                <a:schemeClr val="dk1"/>
              </a:buClr>
              <a:buSzPts val="2400"/>
              <a:buChar char="▪"/>
            </a:pPr>
            <a:r>
              <a:rPr lang="en-US"/>
              <a:t>To run the React app, open a terminal inside VS Code (press Ctrl + or go to Terminal &gt; New Terminal).</a:t>
            </a:r>
            <a:endParaRPr/>
          </a:p>
          <a:p>
            <a:pPr indent="-228600" lvl="1" marL="685800" rtl="0" algn="l">
              <a:lnSpc>
                <a:spcPct val="100000"/>
              </a:lnSpc>
              <a:spcBef>
                <a:spcPts val="600"/>
              </a:spcBef>
              <a:spcAft>
                <a:spcPts val="0"/>
              </a:spcAft>
              <a:buClr>
                <a:schemeClr val="dk1"/>
              </a:buClr>
              <a:buSzPts val="2400"/>
              <a:buChar char="▪"/>
            </a:pPr>
            <a:r>
              <a:rPr lang="en-US"/>
              <a:t>In the terminal, run:</a:t>
            </a:r>
            <a:endParaRPr/>
          </a:p>
        </p:txBody>
      </p:sp>
      <p:sp>
        <p:nvSpPr>
          <p:cNvPr id="377" name="Google Shape;377;p39"/>
          <p:cNvSpPr txBox="1"/>
          <p:nvPr/>
        </p:nvSpPr>
        <p:spPr>
          <a:xfrm>
            <a:off x="4667494" y="2948680"/>
            <a:ext cx="2855494" cy="46166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FF0000"/>
                </a:solidFill>
                <a:latin typeface="Arial"/>
                <a:ea typeface="Arial"/>
                <a:cs typeface="Arial"/>
                <a:sym typeface="Arial"/>
              </a:rPr>
              <a:t>npm </a:t>
            </a:r>
            <a:r>
              <a:rPr b="1" lang="en-US" sz="2400">
                <a:solidFill>
                  <a:srgbClr val="FF0000"/>
                </a:solidFill>
              </a:rPr>
              <a:t>run dev</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Visual Studio Code development environment</a:t>
            </a:r>
            <a:endParaRPr/>
          </a:p>
        </p:txBody>
      </p:sp>
      <p:sp>
        <p:nvSpPr>
          <p:cNvPr id="383" name="Google Shape;383;p40"/>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Additional Tips for React Development in VS Code </a:t>
            </a:r>
            <a:endParaRPr/>
          </a:p>
          <a:p>
            <a:pPr indent="-228600" lvl="1" marL="685800" rtl="0" algn="l">
              <a:lnSpc>
                <a:spcPct val="100000"/>
              </a:lnSpc>
              <a:spcBef>
                <a:spcPts val="600"/>
              </a:spcBef>
              <a:spcAft>
                <a:spcPts val="0"/>
              </a:spcAft>
              <a:buClr>
                <a:schemeClr val="dk1"/>
              </a:buClr>
              <a:buSzPts val="2400"/>
              <a:buChar char="▪"/>
            </a:pPr>
            <a:r>
              <a:rPr b="1" lang="en-US"/>
              <a:t>Auto-save</a:t>
            </a:r>
            <a:r>
              <a:rPr lang="en-US"/>
              <a:t>: Enable auto-save in VS Code to automatically save your files after a short delay. Go to File &gt; Preferences &gt; Settings and search for "Auto Save".</a:t>
            </a:r>
            <a:endParaRPr/>
          </a:p>
          <a:p>
            <a:pPr indent="-228600" lvl="1" marL="685800" rtl="0" algn="l">
              <a:lnSpc>
                <a:spcPct val="100000"/>
              </a:lnSpc>
              <a:spcBef>
                <a:spcPts val="600"/>
              </a:spcBef>
              <a:spcAft>
                <a:spcPts val="0"/>
              </a:spcAft>
              <a:buClr>
                <a:schemeClr val="dk1"/>
              </a:buClr>
              <a:buSzPts val="2400"/>
              <a:buChar char="▪"/>
            </a:pPr>
            <a:r>
              <a:rPr b="1" lang="en-US"/>
              <a:t>Code Navigation</a:t>
            </a:r>
            <a:r>
              <a:rPr lang="en-US"/>
              <a:t>: Use Ctrl+P to quickly navigate to files in your project and Ctrl+Shift+O to navigate to symbols in the current file.</a:t>
            </a:r>
            <a:endParaRPr/>
          </a:p>
          <a:p>
            <a:pPr indent="-228600" lvl="1" marL="685800" rtl="0" algn="l">
              <a:lnSpc>
                <a:spcPct val="100000"/>
              </a:lnSpc>
              <a:spcBef>
                <a:spcPts val="600"/>
              </a:spcBef>
              <a:spcAft>
                <a:spcPts val="0"/>
              </a:spcAft>
              <a:buClr>
                <a:schemeClr val="dk1"/>
              </a:buClr>
              <a:buSzPts val="2400"/>
              <a:buChar char="▪"/>
            </a:pPr>
            <a:r>
              <a:rPr b="1" lang="en-US"/>
              <a:t>Live Server</a:t>
            </a:r>
            <a:r>
              <a:rPr lang="en-US"/>
              <a:t>: If you want to preview static files or non-React content, use the Live Server extension, which auto-refreshes the page on file changes.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1.2 Basic concepts of React JS</a:t>
            </a:r>
            <a:endParaRPr/>
          </a:p>
        </p:txBody>
      </p:sp>
      <p:sp>
        <p:nvSpPr>
          <p:cNvPr id="389" name="Google Shape;389;p41"/>
          <p:cNvSpPr txBox="1"/>
          <p:nvPr>
            <p:ph idx="1" type="body"/>
          </p:nvPr>
        </p:nvSpPr>
        <p:spPr>
          <a:xfrm>
            <a:off x="1104900" y="1600200"/>
            <a:ext cx="10204784"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Components:</a:t>
            </a:r>
            <a:r>
              <a:rPr lang="en-US"/>
              <a:t> Components are independent and reusable bits of code. They serve the same purpose as JavaScript functions, but work in isolation and return HTML.</a:t>
            </a:r>
            <a:endParaRPr/>
          </a:p>
          <a:p>
            <a:pPr indent="-228600" lvl="0" marL="228600" rtl="0" algn="l">
              <a:lnSpc>
                <a:spcPct val="100000"/>
              </a:lnSpc>
              <a:spcBef>
                <a:spcPts val="1800"/>
              </a:spcBef>
              <a:spcAft>
                <a:spcPts val="0"/>
              </a:spcAft>
              <a:buClr>
                <a:schemeClr val="dk1"/>
              </a:buClr>
              <a:buSzPts val="2800"/>
              <a:buChar char="▪"/>
            </a:pPr>
            <a:r>
              <a:rPr b="1" lang="en-US"/>
              <a:t>Components</a:t>
            </a:r>
            <a:r>
              <a:rPr lang="en-US"/>
              <a:t> </a:t>
            </a:r>
            <a:r>
              <a:rPr b="1" lang="en-US"/>
              <a:t>come in two types</a:t>
            </a:r>
            <a:endParaRPr/>
          </a:p>
          <a:p>
            <a:pPr indent="-228600" lvl="1" marL="685800" rtl="0" algn="l">
              <a:lnSpc>
                <a:spcPct val="100000"/>
              </a:lnSpc>
              <a:spcBef>
                <a:spcPts val="600"/>
              </a:spcBef>
              <a:spcAft>
                <a:spcPts val="0"/>
              </a:spcAft>
              <a:buClr>
                <a:schemeClr val="dk1"/>
              </a:buClr>
              <a:buSzPts val="2800"/>
              <a:buChar char="▪"/>
            </a:pPr>
            <a:r>
              <a:rPr lang="en-US" sz="2800"/>
              <a:t>Class components.</a:t>
            </a:r>
            <a:endParaRPr/>
          </a:p>
          <a:p>
            <a:pPr indent="-228600" lvl="1" marL="685800" rtl="0" algn="l">
              <a:lnSpc>
                <a:spcPct val="100000"/>
              </a:lnSpc>
              <a:spcBef>
                <a:spcPts val="600"/>
              </a:spcBef>
              <a:spcAft>
                <a:spcPts val="0"/>
              </a:spcAft>
              <a:buClr>
                <a:schemeClr val="dk1"/>
              </a:buClr>
              <a:buSzPts val="2800"/>
              <a:buChar char="▪"/>
            </a:pPr>
            <a:r>
              <a:rPr lang="en-US" sz="2800"/>
              <a:t>Function components.</a:t>
            </a:r>
            <a:endParaRPr/>
          </a:p>
          <a:p>
            <a:pPr indent="-50800" lvl="0" marL="228600" rtl="0" algn="l">
              <a:lnSpc>
                <a:spcPct val="100000"/>
              </a:lnSpc>
              <a:spcBef>
                <a:spcPts val="1800"/>
              </a:spcBef>
              <a:spcAft>
                <a:spcPts val="0"/>
              </a:spcAft>
              <a:buClr>
                <a:schemeClr val="dk1"/>
              </a:buClr>
              <a:buSzPts val="2800"/>
              <a:buNone/>
            </a:pPr>
            <a:r>
              <a:t/>
            </a:r>
            <a:endParaRPr b="1"/>
          </a:p>
          <a:p>
            <a:pPr indent="-50800" lvl="0" marL="228600" rtl="0" algn="l">
              <a:lnSpc>
                <a:spcPct val="100000"/>
              </a:lnSpc>
              <a:spcBef>
                <a:spcPts val="1800"/>
              </a:spcBef>
              <a:spcAft>
                <a:spcPts val="0"/>
              </a:spcAft>
              <a:buClr>
                <a:schemeClr val="dk1"/>
              </a:buClr>
              <a:buSzPts val="2800"/>
              <a:buNone/>
            </a:pPr>
            <a:r>
              <a:t/>
            </a:r>
            <a:endParaRPr b="1"/>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Basic concepts of React JS</a:t>
            </a:r>
            <a:endParaRPr/>
          </a:p>
        </p:txBody>
      </p:sp>
      <p:sp>
        <p:nvSpPr>
          <p:cNvPr id="396" name="Google Shape;396;p42"/>
          <p:cNvSpPr txBox="1"/>
          <p:nvPr>
            <p:ph idx="1" type="body"/>
          </p:nvPr>
        </p:nvSpPr>
        <p:spPr>
          <a:xfrm>
            <a:off x="1104899" y="1600200"/>
            <a:ext cx="1062188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Class Component</a:t>
            </a:r>
            <a:r>
              <a:rPr b="1" lang="en-US"/>
              <a:t>: </a:t>
            </a:r>
            <a:r>
              <a:rPr lang="en-US"/>
              <a:t>must include the extends </a:t>
            </a:r>
            <a:r>
              <a:rPr b="1" lang="en-US"/>
              <a:t>React.Component </a:t>
            </a:r>
            <a:r>
              <a:rPr lang="en-US"/>
              <a:t>statement. This statement creates an inheritance to </a:t>
            </a:r>
            <a:r>
              <a:rPr b="1" lang="en-US"/>
              <a:t>React.Component</a:t>
            </a:r>
            <a:r>
              <a:rPr lang="en-US"/>
              <a:t>, and gives your component access to React.Component's functions.</a:t>
            </a:r>
            <a:endParaRPr/>
          </a:p>
          <a:p>
            <a:pPr indent="-228600" lvl="1" marL="685800" rtl="0" algn="l">
              <a:lnSpc>
                <a:spcPct val="100000"/>
              </a:lnSpc>
              <a:spcBef>
                <a:spcPts val="600"/>
              </a:spcBef>
              <a:spcAft>
                <a:spcPts val="0"/>
              </a:spcAft>
              <a:buClr>
                <a:schemeClr val="dk1"/>
              </a:buClr>
              <a:buSzPts val="2400"/>
              <a:buChar char="▪"/>
            </a:pPr>
            <a:r>
              <a:rPr lang="en-US"/>
              <a:t>The component also requires a </a:t>
            </a:r>
            <a:r>
              <a:rPr b="1" lang="en-US">
                <a:solidFill>
                  <a:srgbClr val="FF0000"/>
                </a:solidFill>
              </a:rPr>
              <a:t>render() </a:t>
            </a:r>
            <a:r>
              <a:rPr lang="en-US"/>
              <a:t>method, this method returns HTML.</a:t>
            </a:r>
            <a:endParaRPr/>
          </a:p>
        </p:txBody>
      </p:sp>
      <p:pic>
        <p:nvPicPr>
          <p:cNvPr id="397" name="Google Shape;397;p42"/>
          <p:cNvPicPr preferRelativeResize="0"/>
          <p:nvPr/>
        </p:nvPicPr>
        <p:blipFill rotWithShape="1">
          <a:blip r:embed="rId3">
            <a:alphaModFix/>
          </a:blip>
          <a:srcRect b="0" l="0" r="0" t="0"/>
          <a:stretch/>
        </p:blipFill>
        <p:spPr>
          <a:xfrm>
            <a:off x="2809855" y="4271678"/>
            <a:ext cx="8027028" cy="1972243"/>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Basic concepts of React JS</a:t>
            </a:r>
            <a:endParaRPr/>
          </a:p>
        </p:txBody>
      </p:sp>
      <p:sp>
        <p:nvSpPr>
          <p:cNvPr id="404" name="Google Shape;404;p4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A Function component </a:t>
            </a:r>
            <a:r>
              <a:rPr lang="en-US"/>
              <a:t>also returns HTML, and behaves much the same way as a Class component, but Function components can be written using much less code, are easier to understand, and will be preferred in this tutorial.</a:t>
            </a:r>
            <a:endParaRPr/>
          </a:p>
          <a:p>
            <a:pPr indent="-228600" lvl="0" marL="228600" rtl="0" algn="l">
              <a:lnSpc>
                <a:spcPct val="100000"/>
              </a:lnSpc>
              <a:spcBef>
                <a:spcPts val="1800"/>
              </a:spcBef>
              <a:spcAft>
                <a:spcPts val="0"/>
              </a:spcAft>
              <a:buClr>
                <a:schemeClr val="dk1"/>
              </a:buClr>
              <a:buSzPts val="2800"/>
              <a:buChar char="▪"/>
            </a:pPr>
            <a:r>
              <a:rPr lang="en-US"/>
              <a:t>Example</a:t>
            </a:r>
            <a:endParaRPr/>
          </a:p>
        </p:txBody>
      </p:sp>
      <p:pic>
        <p:nvPicPr>
          <p:cNvPr id="405" name="Google Shape;405;p43"/>
          <p:cNvPicPr preferRelativeResize="0"/>
          <p:nvPr/>
        </p:nvPicPr>
        <p:blipFill rotWithShape="1">
          <a:blip r:embed="rId3">
            <a:alphaModFix/>
          </a:blip>
          <a:srcRect b="0" l="0" r="0" t="0"/>
          <a:stretch/>
        </p:blipFill>
        <p:spPr>
          <a:xfrm>
            <a:off x="2059919" y="4213268"/>
            <a:ext cx="7209462" cy="1225006"/>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React Functional vs. Class Components</a:t>
            </a:r>
            <a:endParaRPr/>
          </a:p>
        </p:txBody>
      </p:sp>
      <p:pic>
        <p:nvPicPr>
          <p:cNvPr id="411" name="Google Shape;411;p44"/>
          <p:cNvPicPr preferRelativeResize="0"/>
          <p:nvPr/>
        </p:nvPicPr>
        <p:blipFill rotWithShape="1">
          <a:blip r:embed="rId3">
            <a:alphaModFix/>
          </a:blip>
          <a:srcRect b="0" l="0" r="0" t="0"/>
          <a:stretch/>
        </p:blipFill>
        <p:spPr>
          <a:xfrm>
            <a:off x="1104900" y="1609781"/>
            <a:ext cx="9980682" cy="448899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State and Props</a:t>
            </a:r>
            <a:endParaRPr/>
          </a:p>
        </p:txBody>
      </p:sp>
      <p:sp>
        <p:nvSpPr>
          <p:cNvPr id="417" name="Google Shape;417;p4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i="0" lang="en-US">
                <a:solidFill>
                  <a:srgbClr val="FF0000"/>
                </a:solidFill>
                <a:latin typeface="Arial"/>
                <a:ea typeface="Arial"/>
                <a:cs typeface="Arial"/>
                <a:sym typeface="Arial"/>
              </a:rPr>
              <a:t>State in React:</a:t>
            </a:r>
            <a:endParaRPr/>
          </a:p>
          <a:p>
            <a:pPr indent="-228600" lvl="1" marL="685800" rtl="0" algn="l">
              <a:lnSpc>
                <a:spcPct val="100000"/>
              </a:lnSpc>
              <a:spcBef>
                <a:spcPts val="600"/>
              </a:spcBef>
              <a:spcAft>
                <a:spcPts val="0"/>
              </a:spcAft>
              <a:buClr>
                <a:schemeClr val="dk1"/>
              </a:buClr>
              <a:buSzPts val="2400"/>
              <a:buChar char="▪"/>
            </a:pPr>
            <a:r>
              <a:rPr b="1" lang="en-US"/>
              <a:t>State in ReactJS </a:t>
            </a:r>
            <a:r>
              <a:rPr lang="en-US"/>
              <a:t>refers to an </a:t>
            </a:r>
            <a:r>
              <a:rPr b="1" lang="en-US"/>
              <a:t>object</a:t>
            </a:r>
            <a:r>
              <a:rPr lang="en-US"/>
              <a:t> that stores a component’s dynamic data and determines how the component behaves.</a:t>
            </a:r>
            <a:endParaRPr/>
          </a:p>
          <a:p>
            <a:pPr indent="-228600" lvl="1" marL="685800" rtl="0" algn="l">
              <a:lnSpc>
                <a:spcPct val="100000"/>
              </a:lnSpc>
              <a:spcBef>
                <a:spcPts val="600"/>
              </a:spcBef>
              <a:spcAft>
                <a:spcPts val="0"/>
              </a:spcAft>
              <a:buClr>
                <a:schemeClr val="dk1"/>
              </a:buClr>
              <a:buSzPts val="2400"/>
              <a:buChar char="▪"/>
            </a:pPr>
            <a:r>
              <a:rPr lang="en-US"/>
              <a:t>It is an instance of the </a:t>
            </a:r>
            <a:r>
              <a:rPr b="1" lang="en-US"/>
              <a:t>React Component Class </a:t>
            </a:r>
            <a:r>
              <a:rPr lang="en-US"/>
              <a:t>that can be defined as an object of a set of observable properties that control the behavior of the component.</a:t>
            </a:r>
            <a:endParaRPr/>
          </a:p>
          <a:p>
            <a:pPr indent="-228600" lvl="1" marL="685800" rtl="0" algn="l">
              <a:lnSpc>
                <a:spcPct val="100000"/>
              </a:lnSpc>
              <a:spcBef>
                <a:spcPts val="600"/>
              </a:spcBef>
              <a:spcAft>
                <a:spcPts val="0"/>
              </a:spcAft>
              <a:buClr>
                <a:schemeClr val="dk1"/>
              </a:buClr>
              <a:buSzPts val="2400"/>
              <a:buChar char="▪"/>
            </a:pPr>
            <a:r>
              <a:rPr lang="en-US"/>
              <a:t>React components has a built-in state object.</a:t>
            </a:r>
            <a:endParaRPr/>
          </a:p>
          <a:p>
            <a:pPr indent="-228600" lvl="1" marL="685800" rtl="0" algn="l">
              <a:lnSpc>
                <a:spcPct val="100000"/>
              </a:lnSpc>
              <a:spcBef>
                <a:spcPts val="600"/>
              </a:spcBef>
              <a:spcAft>
                <a:spcPts val="0"/>
              </a:spcAft>
              <a:buClr>
                <a:schemeClr val="dk1"/>
              </a:buClr>
              <a:buSzPts val="2400"/>
              <a:buChar char="▪"/>
            </a:pPr>
            <a:r>
              <a:rPr lang="en-US"/>
              <a:t>The state object is where you store property values that belong to the component.</a:t>
            </a:r>
            <a:endParaRPr/>
          </a:p>
          <a:p>
            <a:pPr indent="-228600" lvl="1" marL="685800" rtl="0" algn="l">
              <a:lnSpc>
                <a:spcPct val="100000"/>
              </a:lnSpc>
              <a:spcBef>
                <a:spcPts val="600"/>
              </a:spcBef>
              <a:spcAft>
                <a:spcPts val="0"/>
              </a:spcAft>
              <a:buClr>
                <a:schemeClr val="dk1"/>
              </a:buClr>
              <a:buSzPts val="2400"/>
              <a:buChar char="▪"/>
            </a:pPr>
            <a:r>
              <a:rPr lang="en-US"/>
              <a:t>When the </a:t>
            </a:r>
            <a:r>
              <a:rPr b="1" lang="en-US"/>
              <a:t>state object </a:t>
            </a:r>
            <a:r>
              <a:rPr lang="en-US"/>
              <a:t>changes, the </a:t>
            </a:r>
            <a:r>
              <a:rPr b="1" lang="en-US"/>
              <a:t>component re-renders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State and Props</a:t>
            </a:r>
            <a:endParaRPr/>
          </a:p>
        </p:txBody>
      </p:sp>
      <p:sp>
        <p:nvSpPr>
          <p:cNvPr id="423" name="Google Shape;423;p46"/>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Creating the state Object: </a:t>
            </a:r>
            <a:r>
              <a:rPr lang="en-US"/>
              <a:t>The state object is initialized in the constructor: Specify the </a:t>
            </a:r>
            <a:r>
              <a:rPr b="1" lang="en-US"/>
              <a:t>state</a:t>
            </a:r>
            <a:r>
              <a:rPr lang="en-US"/>
              <a:t> object in the constructor method</a:t>
            </a:r>
            <a:endParaRPr/>
          </a:p>
        </p:txBody>
      </p:sp>
      <p:pic>
        <p:nvPicPr>
          <p:cNvPr id="424" name="Google Shape;424;p46"/>
          <p:cNvPicPr preferRelativeResize="0"/>
          <p:nvPr/>
        </p:nvPicPr>
        <p:blipFill rotWithShape="1">
          <a:blip r:embed="rId3">
            <a:alphaModFix/>
          </a:blip>
          <a:srcRect b="0" l="0" r="0" t="0"/>
          <a:stretch/>
        </p:blipFill>
        <p:spPr>
          <a:xfrm>
            <a:off x="4044149" y="2630811"/>
            <a:ext cx="4987555" cy="3968427"/>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State and Props</a:t>
            </a:r>
            <a:endParaRPr/>
          </a:p>
        </p:txBody>
      </p:sp>
      <p:sp>
        <p:nvSpPr>
          <p:cNvPr id="430" name="Google Shape;430;p47"/>
          <p:cNvSpPr txBox="1"/>
          <p:nvPr>
            <p:ph idx="1" type="body"/>
          </p:nvPr>
        </p:nvSpPr>
        <p:spPr>
          <a:xfrm>
            <a:off x="1104900" y="1600200"/>
            <a:ext cx="4913366"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The </a:t>
            </a:r>
            <a:r>
              <a:rPr b="1" lang="en-US"/>
              <a:t>state object </a:t>
            </a:r>
            <a:r>
              <a:rPr lang="en-US"/>
              <a:t>can contain as </a:t>
            </a:r>
            <a:r>
              <a:rPr b="1" lang="en-US"/>
              <a:t>many properties </a:t>
            </a:r>
            <a:r>
              <a:rPr lang="en-US"/>
              <a:t>as you like:</a:t>
            </a:r>
            <a:endParaRPr/>
          </a:p>
        </p:txBody>
      </p:sp>
      <p:pic>
        <p:nvPicPr>
          <p:cNvPr id="431" name="Google Shape;431;p47"/>
          <p:cNvPicPr preferRelativeResize="0"/>
          <p:nvPr/>
        </p:nvPicPr>
        <p:blipFill rotWithShape="1">
          <a:blip r:embed="rId3">
            <a:alphaModFix/>
          </a:blip>
          <a:srcRect b="0" l="0" r="0" t="0"/>
          <a:stretch/>
        </p:blipFill>
        <p:spPr>
          <a:xfrm>
            <a:off x="6172216" y="1295399"/>
            <a:ext cx="4913366" cy="5210247"/>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State and Props</a:t>
            </a:r>
            <a:endParaRPr/>
          </a:p>
        </p:txBody>
      </p:sp>
      <p:sp>
        <p:nvSpPr>
          <p:cNvPr id="437" name="Google Shape;437;p48"/>
          <p:cNvSpPr txBox="1"/>
          <p:nvPr>
            <p:ph idx="1" type="body"/>
          </p:nvPr>
        </p:nvSpPr>
        <p:spPr>
          <a:xfrm>
            <a:off x="1104900" y="1600200"/>
            <a:ext cx="101727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Using the state Object</a:t>
            </a:r>
            <a:r>
              <a:rPr lang="en-US"/>
              <a:t>: Refer to the </a:t>
            </a:r>
            <a:r>
              <a:rPr b="1" lang="en-US"/>
              <a:t>state object </a:t>
            </a:r>
            <a:r>
              <a:rPr lang="en-US"/>
              <a:t>anywhere in the component by using the </a:t>
            </a:r>
            <a:r>
              <a:rPr b="1" lang="en-US"/>
              <a:t>this.state.propertyname </a:t>
            </a:r>
            <a:r>
              <a:rPr lang="en-US"/>
              <a:t>syntax</a:t>
            </a:r>
            <a:endParaRPr/>
          </a:p>
          <a:p>
            <a:pPr indent="-228600" lvl="0" marL="228600" rtl="0" algn="l">
              <a:lnSpc>
                <a:spcPct val="100000"/>
              </a:lnSpc>
              <a:spcBef>
                <a:spcPts val="1800"/>
              </a:spcBef>
              <a:spcAft>
                <a:spcPts val="0"/>
              </a:spcAft>
              <a:buClr>
                <a:schemeClr val="dk1"/>
              </a:buClr>
              <a:buSzPts val="2800"/>
              <a:buChar char="▪"/>
            </a:pPr>
            <a:r>
              <a:rPr lang="en-US"/>
              <a:t>Example: Refer to the state object in the </a:t>
            </a:r>
            <a:r>
              <a:rPr b="1" lang="en-US"/>
              <a:t>render() </a:t>
            </a:r>
            <a:r>
              <a:rPr lang="en-US"/>
              <a:t>method:</a:t>
            </a:r>
            <a:endParaRPr/>
          </a:p>
        </p:txBody>
      </p:sp>
      <p:pic>
        <p:nvPicPr>
          <p:cNvPr id="438" name="Google Shape;438;p48"/>
          <p:cNvPicPr preferRelativeResize="0"/>
          <p:nvPr/>
        </p:nvPicPr>
        <p:blipFill rotWithShape="1">
          <a:blip r:embed="rId3">
            <a:alphaModFix/>
          </a:blip>
          <a:srcRect b="0" l="0" r="21802" t="0"/>
          <a:stretch/>
        </p:blipFill>
        <p:spPr>
          <a:xfrm>
            <a:off x="1104900" y="3457190"/>
            <a:ext cx="5021566" cy="3079457"/>
          </a:xfrm>
          <a:prstGeom prst="rect">
            <a:avLst/>
          </a:prstGeom>
          <a:noFill/>
          <a:ln>
            <a:noFill/>
          </a:ln>
          <a:effectLst>
            <a:outerShdw blurRad="292100" rotWithShape="0" algn="tl" dir="2700000" dist="139700">
              <a:srgbClr val="333333">
                <a:alpha val="64705"/>
              </a:srgbClr>
            </a:outerShdw>
          </a:effectLst>
        </p:spPr>
      </p:pic>
      <p:pic>
        <p:nvPicPr>
          <p:cNvPr id="439" name="Google Shape;439;p48"/>
          <p:cNvPicPr preferRelativeResize="0"/>
          <p:nvPr/>
        </p:nvPicPr>
        <p:blipFill rotWithShape="1">
          <a:blip r:embed="rId4">
            <a:alphaModFix/>
          </a:blip>
          <a:srcRect b="0" l="0" r="0" t="0"/>
          <a:stretch/>
        </p:blipFill>
        <p:spPr>
          <a:xfrm>
            <a:off x="6619869" y="3429000"/>
            <a:ext cx="4465713" cy="3107647"/>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State and Props</a:t>
            </a:r>
            <a:endParaRPr/>
          </a:p>
        </p:txBody>
      </p:sp>
      <p:sp>
        <p:nvSpPr>
          <p:cNvPr id="445" name="Google Shape;445;p49"/>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Changing the state Object </a:t>
            </a:r>
            <a:r>
              <a:rPr lang="en-US"/>
              <a:t>To change a value in the state object, use the </a:t>
            </a:r>
            <a:r>
              <a:rPr b="1" lang="en-US"/>
              <a:t>this.setState() </a:t>
            </a:r>
            <a:r>
              <a:rPr lang="en-US"/>
              <a:t>method.</a:t>
            </a:r>
            <a:endParaRPr/>
          </a:p>
          <a:p>
            <a:pPr indent="-228600" lvl="0" marL="228600" rtl="0" algn="l">
              <a:lnSpc>
                <a:spcPct val="100000"/>
              </a:lnSpc>
              <a:spcBef>
                <a:spcPts val="1800"/>
              </a:spcBef>
              <a:spcAft>
                <a:spcPts val="0"/>
              </a:spcAft>
              <a:buClr>
                <a:schemeClr val="dk1"/>
              </a:buClr>
              <a:buSzPts val="2800"/>
              <a:buChar char="▪"/>
            </a:pPr>
            <a:r>
              <a:rPr lang="en-US"/>
              <a:t>When a value in the state object changes, the component will re-render, meaning that the output will change according to the new value(s).</a:t>
            </a:r>
            <a:endParaRPr/>
          </a:p>
          <a:p>
            <a:pPr indent="-228600" lvl="0" marL="228600" rtl="0" algn="l">
              <a:lnSpc>
                <a:spcPct val="100000"/>
              </a:lnSpc>
              <a:spcBef>
                <a:spcPts val="1800"/>
              </a:spcBef>
              <a:spcAft>
                <a:spcPts val="0"/>
              </a:spcAft>
              <a:buClr>
                <a:schemeClr val="dk1"/>
              </a:buClr>
              <a:buSzPts val="2800"/>
              <a:buChar char="▪"/>
            </a:pPr>
            <a:r>
              <a:rPr lang="en-US"/>
              <a:t>Example</a:t>
            </a:r>
            <a:endParaRPr/>
          </a:p>
          <a:p>
            <a:pPr indent="-228600" lvl="1" marL="685800" rtl="0" algn="l">
              <a:lnSpc>
                <a:spcPct val="100000"/>
              </a:lnSpc>
              <a:spcBef>
                <a:spcPts val="600"/>
              </a:spcBef>
              <a:spcAft>
                <a:spcPts val="0"/>
              </a:spcAft>
              <a:buClr>
                <a:schemeClr val="dk1"/>
              </a:buClr>
              <a:buSzPts val="2400"/>
              <a:buChar char="▪"/>
            </a:pPr>
            <a:r>
              <a:rPr lang="en-US"/>
              <a:t>Add a button with an onClick event that will change the color property:</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State and Props</a:t>
            </a:r>
            <a:endParaRPr/>
          </a:p>
        </p:txBody>
      </p:sp>
      <p:sp>
        <p:nvSpPr>
          <p:cNvPr id="451" name="Google Shape;451;p50"/>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Changing the state Object:</a:t>
            </a:r>
            <a:endParaRPr/>
          </a:p>
        </p:txBody>
      </p:sp>
      <p:pic>
        <p:nvPicPr>
          <p:cNvPr id="452" name="Google Shape;452;p50"/>
          <p:cNvPicPr preferRelativeResize="0"/>
          <p:nvPr/>
        </p:nvPicPr>
        <p:blipFill rotWithShape="1">
          <a:blip r:embed="rId3">
            <a:alphaModFix/>
          </a:blip>
          <a:srcRect b="0" l="0" r="0" t="0"/>
          <a:stretch/>
        </p:blipFill>
        <p:spPr>
          <a:xfrm>
            <a:off x="576765" y="2304638"/>
            <a:ext cx="4666026" cy="3867562"/>
          </a:xfrm>
          <a:prstGeom prst="rect">
            <a:avLst/>
          </a:prstGeom>
          <a:noFill/>
          <a:ln>
            <a:noFill/>
          </a:ln>
          <a:effectLst>
            <a:outerShdw blurRad="292100" rotWithShape="0" algn="tl" dir="2700000" dist="139700">
              <a:srgbClr val="333333">
                <a:alpha val="64705"/>
              </a:srgbClr>
            </a:outerShdw>
          </a:effectLst>
        </p:spPr>
      </p:pic>
      <p:pic>
        <p:nvPicPr>
          <p:cNvPr id="453" name="Google Shape;453;p50"/>
          <p:cNvPicPr preferRelativeResize="0"/>
          <p:nvPr/>
        </p:nvPicPr>
        <p:blipFill rotWithShape="1">
          <a:blip r:embed="rId4">
            <a:alphaModFix/>
          </a:blip>
          <a:srcRect b="0" l="0" r="0" t="0"/>
          <a:stretch/>
        </p:blipFill>
        <p:spPr>
          <a:xfrm>
            <a:off x="5298219" y="2304639"/>
            <a:ext cx="6317016" cy="3867561"/>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State and Props</a:t>
            </a:r>
            <a:endParaRPr/>
          </a:p>
        </p:txBody>
      </p:sp>
      <p:sp>
        <p:nvSpPr>
          <p:cNvPr id="459" name="Google Shape;459;p51"/>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i="0" lang="en-US">
                <a:solidFill>
                  <a:srgbClr val="FF0000"/>
                </a:solidFill>
                <a:latin typeface="Arial"/>
                <a:ea typeface="Arial"/>
                <a:cs typeface="Arial"/>
                <a:sym typeface="Arial"/>
              </a:rPr>
              <a:t>Props in React:</a:t>
            </a:r>
            <a:endParaRPr/>
          </a:p>
          <a:p>
            <a:pPr indent="-228600" lvl="1" marL="685800" rtl="0" algn="l">
              <a:lnSpc>
                <a:spcPct val="100000"/>
              </a:lnSpc>
              <a:spcBef>
                <a:spcPts val="600"/>
              </a:spcBef>
              <a:spcAft>
                <a:spcPts val="0"/>
              </a:spcAft>
              <a:buClr>
                <a:schemeClr val="dk2"/>
              </a:buClr>
              <a:buSzPts val="2400"/>
              <a:buChar char="▪"/>
            </a:pPr>
            <a:r>
              <a:rPr i="0" lang="en-US">
                <a:solidFill>
                  <a:schemeClr val="dk2"/>
                </a:solidFill>
                <a:latin typeface="Arial"/>
                <a:ea typeface="Arial"/>
                <a:cs typeface="Arial"/>
                <a:sym typeface="Arial"/>
              </a:rPr>
              <a:t>Props are arguments passed into React components.</a:t>
            </a:r>
            <a:endParaRPr/>
          </a:p>
          <a:p>
            <a:pPr indent="-228600" lvl="1" marL="685800" rtl="0" algn="l">
              <a:lnSpc>
                <a:spcPct val="100000"/>
              </a:lnSpc>
              <a:spcBef>
                <a:spcPts val="600"/>
              </a:spcBef>
              <a:spcAft>
                <a:spcPts val="0"/>
              </a:spcAft>
              <a:buClr>
                <a:schemeClr val="dk2"/>
              </a:buClr>
              <a:buSzPts val="2400"/>
              <a:buChar char="▪"/>
            </a:pPr>
            <a:r>
              <a:rPr i="0" lang="en-US">
                <a:solidFill>
                  <a:schemeClr val="dk2"/>
                </a:solidFill>
                <a:latin typeface="Arial"/>
                <a:ea typeface="Arial"/>
                <a:cs typeface="Arial"/>
                <a:sym typeface="Arial"/>
              </a:rPr>
              <a:t>Props are objects which can be used inside a component. </a:t>
            </a:r>
            <a:endParaRPr/>
          </a:p>
          <a:p>
            <a:pPr indent="-228600" lvl="1" marL="685800" rtl="0" algn="l">
              <a:lnSpc>
                <a:spcPct val="100000"/>
              </a:lnSpc>
              <a:spcBef>
                <a:spcPts val="600"/>
              </a:spcBef>
              <a:spcAft>
                <a:spcPts val="0"/>
              </a:spcAft>
              <a:buClr>
                <a:schemeClr val="dk2"/>
              </a:buClr>
              <a:buSzPts val="2400"/>
              <a:buChar char="▪"/>
            </a:pPr>
            <a:r>
              <a:rPr i="0" lang="en-US">
                <a:solidFill>
                  <a:schemeClr val="dk2"/>
                </a:solidFill>
                <a:latin typeface="Arial"/>
                <a:ea typeface="Arial"/>
                <a:cs typeface="Arial"/>
                <a:sym typeface="Arial"/>
              </a:rPr>
              <a:t>React Props are like function arguments in JavaScript and attributes in HTML.</a:t>
            </a:r>
            <a:endParaRPr/>
          </a:p>
          <a:p>
            <a:pPr indent="-228600" lvl="1" marL="685800" rtl="0" algn="l">
              <a:lnSpc>
                <a:spcPct val="100000"/>
              </a:lnSpc>
              <a:spcBef>
                <a:spcPts val="600"/>
              </a:spcBef>
              <a:spcAft>
                <a:spcPts val="0"/>
              </a:spcAft>
              <a:buClr>
                <a:schemeClr val="dk2"/>
              </a:buClr>
              <a:buSzPts val="2400"/>
              <a:buChar char="▪"/>
            </a:pPr>
            <a:r>
              <a:rPr i="0" lang="en-US">
                <a:solidFill>
                  <a:schemeClr val="dk2"/>
                </a:solidFill>
                <a:latin typeface="Arial"/>
                <a:ea typeface="Arial"/>
                <a:cs typeface="Arial"/>
                <a:sym typeface="Arial"/>
              </a:rPr>
              <a:t>To send props into a component, use the same syntax as HTML attributes:</a:t>
            </a:r>
            <a:endParaRPr/>
          </a:p>
          <a:p>
            <a:pPr indent="-228600" lvl="0" marL="228600" rtl="0" algn="l">
              <a:lnSpc>
                <a:spcPct val="100000"/>
              </a:lnSpc>
              <a:spcBef>
                <a:spcPts val="1800"/>
              </a:spcBef>
              <a:spcAft>
                <a:spcPts val="0"/>
              </a:spcAft>
              <a:buClr>
                <a:schemeClr val="dk2"/>
              </a:buClr>
              <a:buSzPts val="2800"/>
              <a:buChar char="▪"/>
            </a:pPr>
            <a:r>
              <a:rPr lang="en-US">
                <a:solidFill>
                  <a:schemeClr val="dk2"/>
                </a:solidFill>
                <a:latin typeface="Arial"/>
                <a:ea typeface="Arial"/>
                <a:cs typeface="Arial"/>
                <a:sym typeface="Arial"/>
              </a:rPr>
              <a:t>Example: Add a "brand" attribute to the </a:t>
            </a:r>
            <a:r>
              <a:rPr b="1" lang="en-US">
                <a:solidFill>
                  <a:schemeClr val="dk2"/>
                </a:solidFill>
                <a:latin typeface="Arial"/>
                <a:ea typeface="Arial"/>
                <a:cs typeface="Arial"/>
                <a:sym typeface="Arial"/>
              </a:rPr>
              <a:t>Car</a:t>
            </a:r>
            <a:r>
              <a:rPr lang="en-US">
                <a:solidFill>
                  <a:schemeClr val="dk2"/>
                </a:solidFill>
                <a:latin typeface="Arial"/>
                <a:ea typeface="Arial"/>
                <a:cs typeface="Arial"/>
                <a:sym typeface="Arial"/>
              </a:rPr>
              <a:t> element:</a:t>
            </a:r>
            <a:endParaRPr i="0">
              <a:solidFill>
                <a:schemeClr val="dk2"/>
              </a:solidFill>
              <a:latin typeface="Arial"/>
              <a:ea typeface="Arial"/>
              <a:cs typeface="Arial"/>
              <a:sym typeface="Arial"/>
            </a:endParaRPr>
          </a:p>
        </p:txBody>
      </p:sp>
      <p:pic>
        <p:nvPicPr>
          <p:cNvPr id="460" name="Google Shape;460;p51"/>
          <p:cNvPicPr preferRelativeResize="0"/>
          <p:nvPr/>
        </p:nvPicPr>
        <p:blipFill rotWithShape="1">
          <a:blip r:embed="rId3">
            <a:alphaModFix/>
          </a:blip>
          <a:srcRect b="0" l="0" r="0" t="0"/>
          <a:stretch/>
        </p:blipFill>
        <p:spPr>
          <a:xfrm>
            <a:off x="1451353" y="5406190"/>
            <a:ext cx="8815595" cy="63620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State and Props</a:t>
            </a:r>
            <a:endParaRPr/>
          </a:p>
        </p:txBody>
      </p:sp>
      <p:sp>
        <p:nvSpPr>
          <p:cNvPr id="466" name="Google Shape;466;p5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i="0" lang="en-US">
                <a:solidFill>
                  <a:srgbClr val="FF0000"/>
                </a:solidFill>
                <a:latin typeface="Arial"/>
                <a:ea typeface="Arial"/>
                <a:cs typeface="Arial"/>
                <a:sym typeface="Arial"/>
              </a:rPr>
              <a:t>Props in React:</a:t>
            </a:r>
            <a:endParaRPr/>
          </a:p>
          <a:p>
            <a:pPr indent="-228600" lvl="1" marL="685800" rtl="0" algn="l">
              <a:lnSpc>
                <a:spcPct val="100000"/>
              </a:lnSpc>
              <a:spcBef>
                <a:spcPts val="600"/>
              </a:spcBef>
              <a:spcAft>
                <a:spcPts val="0"/>
              </a:spcAft>
              <a:buClr>
                <a:schemeClr val="dk1"/>
              </a:buClr>
              <a:buSzPts val="2400"/>
              <a:buChar char="▪"/>
            </a:pPr>
            <a:r>
              <a:rPr lang="en-US"/>
              <a:t>The component receives the argument as a props object: For Example, Use the </a:t>
            </a:r>
            <a:r>
              <a:rPr b="1" lang="en-US"/>
              <a:t>brand</a:t>
            </a:r>
            <a:r>
              <a:rPr lang="en-US"/>
              <a:t> attribute in the component:</a:t>
            </a:r>
            <a:endParaRPr/>
          </a:p>
        </p:txBody>
      </p:sp>
      <p:pic>
        <p:nvPicPr>
          <p:cNvPr id="467" name="Google Shape;467;p52"/>
          <p:cNvPicPr preferRelativeResize="0"/>
          <p:nvPr/>
        </p:nvPicPr>
        <p:blipFill rotWithShape="1">
          <a:blip r:embed="rId3">
            <a:alphaModFix/>
          </a:blip>
          <a:srcRect b="0" l="0" r="0" t="0"/>
          <a:stretch/>
        </p:blipFill>
        <p:spPr>
          <a:xfrm>
            <a:off x="2621529" y="3175294"/>
            <a:ext cx="6947423" cy="1096962"/>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State and Props</a:t>
            </a:r>
            <a:endParaRPr/>
          </a:p>
        </p:txBody>
      </p:sp>
      <p:sp>
        <p:nvSpPr>
          <p:cNvPr id="473" name="Google Shape;473;p5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Pass Data: </a:t>
            </a:r>
            <a:r>
              <a:rPr b="1" lang="en-US"/>
              <a:t>Props</a:t>
            </a:r>
            <a:r>
              <a:rPr lang="en-US"/>
              <a:t> are also how you </a:t>
            </a:r>
            <a:r>
              <a:rPr b="1" lang="en-US"/>
              <a:t>pass data </a:t>
            </a:r>
            <a:r>
              <a:rPr lang="en-US"/>
              <a:t>from one component to another, as parameters.</a:t>
            </a:r>
            <a:endParaRPr/>
          </a:p>
          <a:p>
            <a:pPr indent="-228600" lvl="1" marL="685800" rtl="0" algn="l">
              <a:lnSpc>
                <a:spcPct val="100000"/>
              </a:lnSpc>
              <a:spcBef>
                <a:spcPts val="600"/>
              </a:spcBef>
              <a:spcAft>
                <a:spcPts val="0"/>
              </a:spcAft>
              <a:buClr>
                <a:schemeClr val="dk1"/>
              </a:buClr>
              <a:buSzPts val="2400"/>
              <a:buChar char="▪"/>
            </a:pPr>
            <a:r>
              <a:rPr lang="en-US"/>
              <a:t>Example: Send the "</a:t>
            </a:r>
            <a:r>
              <a:rPr b="1" lang="en-US"/>
              <a:t>brand</a:t>
            </a:r>
            <a:r>
              <a:rPr lang="en-US"/>
              <a:t>" property from the Garage component to the Car component:</a:t>
            </a:r>
            <a:endParaRPr/>
          </a:p>
          <a:p>
            <a:pPr indent="-50800" lvl="0" marL="228600" rtl="0" algn="l">
              <a:lnSpc>
                <a:spcPct val="100000"/>
              </a:lnSpc>
              <a:spcBef>
                <a:spcPts val="1800"/>
              </a:spcBef>
              <a:spcAft>
                <a:spcPts val="0"/>
              </a:spcAft>
              <a:buClr>
                <a:schemeClr val="dk1"/>
              </a:buClr>
              <a:buSzPts val="2800"/>
              <a:buNone/>
            </a:pPr>
            <a:r>
              <a:t/>
            </a:r>
            <a:endParaRPr/>
          </a:p>
        </p:txBody>
      </p:sp>
      <p:pic>
        <p:nvPicPr>
          <p:cNvPr id="474" name="Google Shape;474;p53"/>
          <p:cNvPicPr preferRelativeResize="0"/>
          <p:nvPr/>
        </p:nvPicPr>
        <p:blipFill rotWithShape="1">
          <a:blip r:embed="rId3">
            <a:alphaModFix/>
          </a:blip>
          <a:srcRect b="0" l="0" r="0" t="0"/>
          <a:stretch/>
        </p:blipFill>
        <p:spPr>
          <a:xfrm>
            <a:off x="2474924" y="3429000"/>
            <a:ext cx="7242152" cy="3187044"/>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State and Props</a:t>
            </a:r>
            <a:endParaRPr/>
          </a:p>
        </p:txBody>
      </p:sp>
      <p:sp>
        <p:nvSpPr>
          <p:cNvPr id="480" name="Google Shape;480;p5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Pass Data: </a:t>
            </a:r>
            <a:r>
              <a:rPr lang="en-US"/>
              <a:t>If you have a variable to send, and not a string as in the example above, you just put the variable name inside curly brackets</a:t>
            </a:r>
            <a:endParaRPr/>
          </a:p>
          <a:p>
            <a:pPr indent="-228600" lvl="1" marL="685800" rtl="0" algn="l">
              <a:lnSpc>
                <a:spcPct val="100000"/>
              </a:lnSpc>
              <a:spcBef>
                <a:spcPts val="600"/>
              </a:spcBef>
              <a:spcAft>
                <a:spcPts val="0"/>
              </a:spcAft>
              <a:buClr>
                <a:schemeClr val="dk1"/>
              </a:buClr>
              <a:buSzPts val="2400"/>
              <a:buChar char="▪"/>
            </a:pPr>
            <a:r>
              <a:rPr lang="en-US"/>
              <a:t>Example: Create a variable named </a:t>
            </a:r>
            <a:r>
              <a:rPr b="1" lang="en-US"/>
              <a:t>carName</a:t>
            </a:r>
            <a:r>
              <a:rPr lang="en-US"/>
              <a:t> and send it to the Car component:</a:t>
            </a:r>
            <a:endParaRPr/>
          </a:p>
        </p:txBody>
      </p:sp>
      <p:pic>
        <p:nvPicPr>
          <p:cNvPr id="481" name="Google Shape;481;p54"/>
          <p:cNvPicPr preferRelativeResize="0"/>
          <p:nvPr/>
        </p:nvPicPr>
        <p:blipFill rotWithShape="1">
          <a:blip r:embed="rId3">
            <a:alphaModFix/>
          </a:blip>
          <a:srcRect b="0" l="0" r="0" t="0"/>
          <a:stretch/>
        </p:blipFill>
        <p:spPr>
          <a:xfrm>
            <a:off x="3450422" y="3505911"/>
            <a:ext cx="6495684" cy="3275889"/>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Event handling</a:t>
            </a:r>
            <a:endParaRPr/>
          </a:p>
        </p:txBody>
      </p:sp>
      <p:sp>
        <p:nvSpPr>
          <p:cNvPr id="487" name="Google Shape;487;p55"/>
          <p:cNvSpPr txBox="1"/>
          <p:nvPr>
            <p:ph idx="1" type="body"/>
          </p:nvPr>
        </p:nvSpPr>
        <p:spPr>
          <a:xfrm>
            <a:off x="1104900" y="1600200"/>
            <a:ext cx="10108532"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React Events</a:t>
            </a:r>
            <a:r>
              <a:rPr lang="en-US">
                <a:solidFill>
                  <a:srgbClr val="FF0000"/>
                </a:solidFill>
              </a:rPr>
              <a:t>: </a:t>
            </a:r>
            <a:r>
              <a:rPr lang="en-US"/>
              <a:t>Just like HTML DOM events, React can perform actions based on </a:t>
            </a:r>
            <a:r>
              <a:rPr b="1" lang="en-US"/>
              <a:t>user events. </a:t>
            </a:r>
            <a:r>
              <a:rPr lang="en-US"/>
              <a:t>React has the same events as HTML: click, change, mouseover etc.</a:t>
            </a:r>
            <a:endParaRPr/>
          </a:p>
          <a:p>
            <a:pPr indent="-228600" lvl="0" marL="228600" rtl="0" algn="l">
              <a:lnSpc>
                <a:spcPct val="100000"/>
              </a:lnSpc>
              <a:spcBef>
                <a:spcPts val="1800"/>
              </a:spcBef>
              <a:spcAft>
                <a:spcPts val="0"/>
              </a:spcAft>
              <a:buClr>
                <a:schemeClr val="dk1"/>
              </a:buClr>
              <a:buSzPts val="2800"/>
              <a:buChar char="▪"/>
            </a:pPr>
            <a:r>
              <a:rPr b="1" lang="en-US"/>
              <a:t>Adding Events: </a:t>
            </a:r>
            <a:r>
              <a:rPr lang="en-US"/>
              <a:t>React events are written in camelCase syntax:</a:t>
            </a:r>
            <a:endParaRPr/>
          </a:p>
          <a:p>
            <a:pPr indent="-228600" lvl="1" marL="685800" rtl="0" algn="l">
              <a:lnSpc>
                <a:spcPct val="100000"/>
              </a:lnSpc>
              <a:spcBef>
                <a:spcPts val="600"/>
              </a:spcBef>
              <a:spcAft>
                <a:spcPts val="0"/>
              </a:spcAft>
              <a:buClr>
                <a:schemeClr val="dk1"/>
              </a:buClr>
              <a:buSzPts val="2400"/>
              <a:buChar char="▪"/>
            </a:pPr>
            <a:r>
              <a:rPr b="1" lang="en-US"/>
              <a:t>onClick</a:t>
            </a:r>
            <a:r>
              <a:rPr lang="en-US"/>
              <a:t> instead of onclick.</a:t>
            </a:r>
            <a:endParaRPr/>
          </a:p>
          <a:p>
            <a:pPr indent="-228600" lvl="1" marL="685800" rtl="0" algn="l">
              <a:lnSpc>
                <a:spcPct val="100000"/>
              </a:lnSpc>
              <a:spcBef>
                <a:spcPts val="600"/>
              </a:spcBef>
              <a:spcAft>
                <a:spcPts val="0"/>
              </a:spcAft>
              <a:buClr>
                <a:schemeClr val="dk1"/>
              </a:buClr>
              <a:buSzPts val="2400"/>
              <a:buChar char="▪"/>
            </a:pPr>
            <a:r>
              <a:rPr lang="en-US"/>
              <a:t>React event handlers are written inside curly braces:</a:t>
            </a:r>
            <a:endParaRPr/>
          </a:p>
          <a:p>
            <a:pPr indent="-228600" lvl="1" marL="685800" rtl="0" algn="l">
              <a:lnSpc>
                <a:spcPct val="100000"/>
              </a:lnSpc>
              <a:spcBef>
                <a:spcPts val="600"/>
              </a:spcBef>
              <a:spcAft>
                <a:spcPts val="0"/>
              </a:spcAft>
              <a:buClr>
                <a:schemeClr val="dk1"/>
              </a:buClr>
              <a:buSzPts val="2400"/>
              <a:buChar char="▪"/>
            </a:pPr>
            <a:r>
              <a:rPr b="1" lang="en-US"/>
              <a:t>onClick={shoot}</a:t>
            </a:r>
            <a:r>
              <a:rPr lang="en-US"/>
              <a:t>  instead of </a:t>
            </a:r>
            <a:r>
              <a:rPr b="1" lang="en-US"/>
              <a:t>onclick="shoot()".</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Event handling</a:t>
            </a:r>
            <a:endParaRPr/>
          </a:p>
        </p:txBody>
      </p:sp>
      <p:sp>
        <p:nvSpPr>
          <p:cNvPr id="493" name="Google Shape;493;p56"/>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React Events</a:t>
            </a:r>
            <a:endParaRPr/>
          </a:p>
          <a:p>
            <a:pPr indent="-228600" lvl="1" marL="685800" rtl="0" algn="l">
              <a:lnSpc>
                <a:spcPct val="100000"/>
              </a:lnSpc>
              <a:spcBef>
                <a:spcPts val="600"/>
              </a:spcBef>
              <a:spcAft>
                <a:spcPts val="0"/>
              </a:spcAft>
              <a:buClr>
                <a:schemeClr val="dk1"/>
              </a:buClr>
              <a:buSzPts val="2400"/>
              <a:buChar char="▪"/>
            </a:pPr>
            <a:r>
              <a:rPr b="1" lang="en-US"/>
              <a:t>Example: </a:t>
            </a:r>
            <a:endParaRPr/>
          </a:p>
          <a:p>
            <a:pPr indent="0" lvl="1" marL="457200" rtl="0" algn="l">
              <a:lnSpc>
                <a:spcPct val="100000"/>
              </a:lnSpc>
              <a:spcBef>
                <a:spcPts val="600"/>
              </a:spcBef>
              <a:spcAft>
                <a:spcPts val="0"/>
              </a:spcAft>
              <a:buClr>
                <a:schemeClr val="dk1"/>
              </a:buClr>
              <a:buSzPts val="2400"/>
              <a:buNone/>
            </a:pPr>
            <a:r>
              <a:rPr b="1" lang="en-US"/>
              <a:t>React</a:t>
            </a:r>
            <a:endParaRPr/>
          </a:p>
          <a:p>
            <a:pPr indent="0" lvl="1" marL="457200" rtl="0" algn="l">
              <a:lnSpc>
                <a:spcPct val="100000"/>
              </a:lnSpc>
              <a:spcBef>
                <a:spcPts val="600"/>
              </a:spcBef>
              <a:spcAft>
                <a:spcPts val="0"/>
              </a:spcAft>
              <a:buClr>
                <a:schemeClr val="dk1"/>
              </a:buClr>
              <a:buSzPts val="2400"/>
              <a:buNone/>
            </a:pPr>
            <a:r>
              <a:t/>
            </a:r>
            <a:endParaRPr b="1"/>
          </a:p>
          <a:p>
            <a:pPr indent="0" lvl="1" marL="457200" rtl="0" algn="l">
              <a:lnSpc>
                <a:spcPct val="100000"/>
              </a:lnSpc>
              <a:spcBef>
                <a:spcPts val="600"/>
              </a:spcBef>
              <a:spcAft>
                <a:spcPts val="0"/>
              </a:spcAft>
              <a:buClr>
                <a:schemeClr val="dk1"/>
              </a:buClr>
              <a:buSzPts val="2400"/>
              <a:buNone/>
            </a:pPr>
            <a:r>
              <a:rPr b="1" lang="en-US"/>
              <a:t>HTML:</a:t>
            </a:r>
            <a:endParaRPr/>
          </a:p>
          <a:p>
            <a:pPr indent="-76200" lvl="1" marL="685800" rtl="0" algn="l">
              <a:lnSpc>
                <a:spcPct val="100000"/>
              </a:lnSpc>
              <a:spcBef>
                <a:spcPts val="600"/>
              </a:spcBef>
              <a:spcAft>
                <a:spcPts val="0"/>
              </a:spcAft>
              <a:buClr>
                <a:schemeClr val="dk1"/>
              </a:buClr>
              <a:buSzPts val="2400"/>
              <a:buNone/>
            </a:pPr>
            <a:r>
              <a:t/>
            </a:r>
            <a:endParaRPr b="1"/>
          </a:p>
          <a:p>
            <a:pPr indent="-76200" lvl="1" marL="685800" rtl="0" algn="l">
              <a:lnSpc>
                <a:spcPct val="100000"/>
              </a:lnSpc>
              <a:spcBef>
                <a:spcPts val="600"/>
              </a:spcBef>
              <a:spcAft>
                <a:spcPts val="0"/>
              </a:spcAft>
              <a:buClr>
                <a:schemeClr val="dk1"/>
              </a:buClr>
              <a:buSzPts val="2400"/>
              <a:buNone/>
            </a:pPr>
            <a:r>
              <a:t/>
            </a:r>
            <a:endParaRPr b="1"/>
          </a:p>
          <a:p>
            <a:pPr indent="-76200" lvl="1" marL="685800" rtl="0" algn="l">
              <a:lnSpc>
                <a:spcPct val="100000"/>
              </a:lnSpc>
              <a:spcBef>
                <a:spcPts val="600"/>
              </a:spcBef>
              <a:spcAft>
                <a:spcPts val="0"/>
              </a:spcAft>
              <a:buClr>
                <a:schemeClr val="dk1"/>
              </a:buClr>
              <a:buSzPts val="2400"/>
              <a:buNone/>
            </a:pPr>
            <a:r>
              <a:t/>
            </a:r>
            <a:endParaRPr b="1"/>
          </a:p>
          <a:p>
            <a:pPr indent="-76200" lvl="1" marL="685800" rtl="0" algn="l">
              <a:lnSpc>
                <a:spcPct val="100000"/>
              </a:lnSpc>
              <a:spcBef>
                <a:spcPts val="600"/>
              </a:spcBef>
              <a:spcAft>
                <a:spcPts val="0"/>
              </a:spcAft>
              <a:buClr>
                <a:schemeClr val="dk1"/>
              </a:buClr>
              <a:buSzPts val="2400"/>
              <a:buNone/>
            </a:pPr>
            <a:r>
              <a:t/>
            </a:r>
            <a:endParaRPr b="1"/>
          </a:p>
          <a:p>
            <a:pPr indent="-76200" lvl="1" marL="685800" rtl="0" algn="l">
              <a:lnSpc>
                <a:spcPct val="100000"/>
              </a:lnSpc>
              <a:spcBef>
                <a:spcPts val="600"/>
              </a:spcBef>
              <a:spcAft>
                <a:spcPts val="0"/>
              </a:spcAft>
              <a:buClr>
                <a:schemeClr val="dk1"/>
              </a:buClr>
              <a:buSzPts val="2400"/>
              <a:buNone/>
            </a:pPr>
            <a:r>
              <a:t/>
            </a:r>
            <a:endParaRPr b="1"/>
          </a:p>
          <a:p>
            <a:pPr indent="-50800" lvl="0" marL="228600" rtl="0" algn="l">
              <a:lnSpc>
                <a:spcPct val="100000"/>
              </a:lnSpc>
              <a:spcBef>
                <a:spcPts val="1800"/>
              </a:spcBef>
              <a:spcAft>
                <a:spcPts val="0"/>
              </a:spcAft>
              <a:buClr>
                <a:schemeClr val="dk1"/>
              </a:buClr>
              <a:buSzPts val="2800"/>
              <a:buNone/>
            </a:pPr>
            <a:r>
              <a:t/>
            </a:r>
            <a:endParaRPr/>
          </a:p>
        </p:txBody>
      </p:sp>
      <p:pic>
        <p:nvPicPr>
          <p:cNvPr id="494" name="Google Shape;494;p56"/>
          <p:cNvPicPr preferRelativeResize="0"/>
          <p:nvPr/>
        </p:nvPicPr>
        <p:blipFill rotWithShape="1">
          <a:blip r:embed="rId3">
            <a:alphaModFix/>
          </a:blip>
          <a:srcRect b="0" l="0" r="0" t="0"/>
          <a:stretch/>
        </p:blipFill>
        <p:spPr>
          <a:xfrm>
            <a:off x="2903531" y="2565191"/>
            <a:ext cx="8182051" cy="645952"/>
          </a:xfrm>
          <a:prstGeom prst="rect">
            <a:avLst/>
          </a:prstGeom>
          <a:noFill/>
          <a:ln>
            <a:noFill/>
          </a:ln>
        </p:spPr>
      </p:pic>
      <p:pic>
        <p:nvPicPr>
          <p:cNvPr id="495" name="Google Shape;495;p56"/>
          <p:cNvPicPr preferRelativeResize="0"/>
          <p:nvPr/>
        </p:nvPicPr>
        <p:blipFill rotWithShape="1">
          <a:blip r:embed="rId4">
            <a:alphaModFix/>
          </a:blip>
          <a:srcRect b="0" l="0" r="0" t="0"/>
          <a:stretch/>
        </p:blipFill>
        <p:spPr>
          <a:xfrm>
            <a:off x="2903530" y="3345267"/>
            <a:ext cx="8182051" cy="585827"/>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Styling components</a:t>
            </a:r>
            <a:endParaRPr/>
          </a:p>
        </p:txBody>
      </p:sp>
      <p:sp>
        <p:nvSpPr>
          <p:cNvPr id="501" name="Google Shape;501;p57"/>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Styling React Using CSS: </a:t>
            </a:r>
            <a:r>
              <a:rPr lang="en-US"/>
              <a:t>There are many ways to style React with CSS:</a:t>
            </a:r>
            <a:endParaRPr/>
          </a:p>
          <a:p>
            <a:pPr indent="-228600" lvl="1" marL="685800" rtl="0" algn="l">
              <a:lnSpc>
                <a:spcPct val="100000"/>
              </a:lnSpc>
              <a:spcBef>
                <a:spcPts val="600"/>
              </a:spcBef>
              <a:spcAft>
                <a:spcPts val="0"/>
              </a:spcAft>
              <a:buClr>
                <a:schemeClr val="dk1"/>
              </a:buClr>
              <a:buSzPts val="2400"/>
              <a:buChar char="▪"/>
            </a:pPr>
            <a:r>
              <a:rPr lang="en-US"/>
              <a:t>Inline styling</a:t>
            </a:r>
            <a:endParaRPr/>
          </a:p>
          <a:p>
            <a:pPr indent="-228600" lvl="1" marL="685800" rtl="0" algn="l">
              <a:lnSpc>
                <a:spcPct val="100000"/>
              </a:lnSpc>
              <a:spcBef>
                <a:spcPts val="600"/>
              </a:spcBef>
              <a:spcAft>
                <a:spcPts val="0"/>
              </a:spcAft>
              <a:buClr>
                <a:schemeClr val="dk1"/>
              </a:buClr>
              <a:buSzPts val="2400"/>
              <a:buChar char="▪"/>
            </a:pPr>
            <a:r>
              <a:rPr lang="en-US"/>
              <a:t>CSS stylesheets</a:t>
            </a:r>
            <a:endParaRPr/>
          </a:p>
          <a:p>
            <a:pPr indent="-228600" lvl="1" marL="685800" rtl="0" algn="l">
              <a:lnSpc>
                <a:spcPct val="100000"/>
              </a:lnSpc>
              <a:spcBef>
                <a:spcPts val="600"/>
              </a:spcBef>
              <a:spcAft>
                <a:spcPts val="0"/>
              </a:spcAft>
              <a:buClr>
                <a:schemeClr val="dk1"/>
              </a:buClr>
              <a:buSzPts val="2400"/>
              <a:buChar char="▪"/>
            </a:pPr>
            <a:r>
              <a:rPr lang="en-US"/>
              <a:t>CSS Modules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5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Styling components</a:t>
            </a:r>
            <a:endParaRPr/>
          </a:p>
        </p:txBody>
      </p:sp>
      <p:sp>
        <p:nvSpPr>
          <p:cNvPr id="507" name="Google Shape;507;p5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Using Inline Styles: </a:t>
            </a:r>
            <a:r>
              <a:rPr lang="en-US"/>
              <a:t>Inline styles in React are defined using the style </a:t>
            </a:r>
            <a:r>
              <a:rPr b="1" lang="en-US"/>
              <a:t>prop</a:t>
            </a:r>
            <a:r>
              <a:rPr lang="en-US"/>
              <a:t>, which accepts an object. </a:t>
            </a:r>
            <a:endParaRPr/>
          </a:p>
          <a:p>
            <a:pPr indent="-228600" lvl="0" marL="228600" rtl="0" algn="l">
              <a:lnSpc>
                <a:spcPct val="100000"/>
              </a:lnSpc>
              <a:spcBef>
                <a:spcPts val="1800"/>
              </a:spcBef>
              <a:spcAft>
                <a:spcPts val="0"/>
              </a:spcAft>
              <a:buClr>
                <a:schemeClr val="dk1"/>
              </a:buClr>
              <a:buSzPts val="2800"/>
              <a:buChar char="▪"/>
            </a:pPr>
            <a:r>
              <a:rPr lang="en-US"/>
              <a:t>The keys in the object are written in c</a:t>
            </a:r>
            <a:r>
              <a:rPr b="1" lang="en-US"/>
              <a:t>amelCase</a:t>
            </a:r>
            <a:r>
              <a:rPr lang="en-US"/>
              <a:t>, and the values are the corresponding CSS values.</a:t>
            </a:r>
            <a:endParaRPr/>
          </a:p>
          <a:p>
            <a:pPr indent="-228600" lvl="0" marL="228600" rtl="0" algn="l">
              <a:lnSpc>
                <a:spcPct val="100000"/>
              </a:lnSpc>
              <a:spcBef>
                <a:spcPts val="1800"/>
              </a:spcBef>
              <a:spcAft>
                <a:spcPts val="0"/>
              </a:spcAft>
              <a:buClr>
                <a:schemeClr val="dk1"/>
              </a:buClr>
              <a:buSzPts val="2800"/>
              <a:buChar char="▪"/>
            </a:pPr>
            <a:r>
              <a:rPr b="1" lang="en-US"/>
              <a:t>Syntax</a:t>
            </a:r>
            <a:r>
              <a:rPr lang="en-US"/>
              <a:t>: assign inline styles to CSS elements is mentioned below</a:t>
            </a:r>
            <a:endParaRPr/>
          </a:p>
        </p:txBody>
      </p:sp>
      <p:pic>
        <p:nvPicPr>
          <p:cNvPr id="508" name="Google Shape;508;p58"/>
          <p:cNvPicPr preferRelativeResize="0"/>
          <p:nvPr/>
        </p:nvPicPr>
        <p:blipFill rotWithShape="1">
          <a:blip r:embed="rId3">
            <a:alphaModFix/>
          </a:blip>
          <a:srcRect b="0" l="0" r="0" t="0"/>
          <a:stretch/>
        </p:blipFill>
        <p:spPr>
          <a:xfrm>
            <a:off x="1507678" y="4843447"/>
            <a:ext cx="9175125" cy="562742"/>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Styling components</a:t>
            </a:r>
            <a:endParaRPr/>
          </a:p>
        </p:txBody>
      </p:sp>
      <p:sp>
        <p:nvSpPr>
          <p:cNvPr id="514" name="Google Shape;514;p59"/>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Using Inline Styles: </a:t>
            </a:r>
            <a:endParaRPr/>
          </a:p>
          <a:p>
            <a:pPr indent="-228600" lvl="0" marL="228600" rtl="0" algn="l">
              <a:lnSpc>
                <a:spcPct val="100000"/>
              </a:lnSpc>
              <a:spcBef>
                <a:spcPts val="1800"/>
              </a:spcBef>
              <a:spcAft>
                <a:spcPts val="0"/>
              </a:spcAft>
              <a:buClr>
                <a:schemeClr val="dk1"/>
              </a:buClr>
              <a:buSzPts val="2800"/>
              <a:buChar char="▪"/>
            </a:pPr>
            <a:r>
              <a:rPr lang="en-US"/>
              <a:t>Example: add inline styling to the React elements. </a:t>
            </a:r>
            <a:endParaRPr/>
          </a:p>
          <a:p>
            <a:pPr indent="-50800" lvl="0" marL="228600" rtl="0" algn="l">
              <a:lnSpc>
                <a:spcPct val="100000"/>
              </a:lnSpc>
              <a:spcBef>
                <a:spcPts val="1800"/>
              </a:spcBef>
              <a:spcAft>
                <a:spcPts val="0"/>
              </a:spcAft>
              <a:buClr>
                <a:schemeClr val="dk1"/>
              </a:buClr>
              <a:buSzPts val="2800"/>
              <a:buNone/>
            </a:pPr>
            <a:r>
              <a:t/>
            </a:r>
            <a:endParaRPr/>
          </a:p>
        </p:txBody>
      </p:sp>
      <p:pic>
        <p:nvPicPr>
          <p:cNvPr id="515" name="Google Shape;515;p59"/>
          <p:cNvPicPr preferRelativeResize="0"/>
          <p:nvPr/>
        </p:nvPicPr>
        <p:blipFill rotWithShape="1">
          <a:blip r:embed="rId3">
            <a:alphaModFix/>
          </a:blip>
          <a:srcRect b="0" l="0" r="0" t="0"/>
          <a:stretch/>
        </p:blipFill>
        <p:spPr>
          <a:xfrm>
            <a:off x="2683252" y="2814918"/>
            <a:ext cx="6825495" cy="3784320"/>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Styling components</a:t>
            </a:r>
            <a:endParaRPr/>
          </a:p>
        </p:txBody>
      </p:sp>
      <p:sp>
        <p:nvSpPr>
          <p:cNvPr id="521" name="Google Shape;521;p60"/>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Using CSS File</a:t>
            </a:r>
            <a:r>
              <a:rPr lang="en-US"/>
              <a:t>: To style elements using a traditional CSS file, you can create a CSS file and import it into your React component.</a:t>
            </a:r>
            <a:endParaRPr/>
          </a:p>
          <a:p>
            <a:pPr indent="-228600" lvl="1" marL="685800" rtl="0" algn="l">
              <a:lnSpc>
                <a:spcPct val="100000"/>
              </a:lnSpc>
              <a:spcBef>
                <a:spcPts val="600"/>
              </a:spcBef>
              <a:spcAft>
                <a:spcPts val="0"/>
              </a:spcAft>
              <a:buClr>
                <a:schemeClr val="dk1"/>
              </a:buClr>
              <a:buSzPts val="2400"/>
              <a:buChar char="▪"/>
            </a:pPr>
            <a:r>
              <a:rPr b="1" lang="en-US"/>
              <a:t>Syntax</a:t>
            </a:r>
            <a:r>
              <a:rPr lang="en-US"/>
              <a:t>: assign the classes to the </a:t>
            </a:r>
            <a:r>
              <a:rPr b="1" lang="en-US"/>
              <a:t>className</a:t>
            </a:r>
            <a:r>
              <a:rPr lang="en-US"/>
              <a:t> </a:t>
            </a:r>
            <a:r>
              <a:rPr b="1" lang="en-US"/>
              <a:t>prop</a:t>
            </a:r>
            <a:r>
              <a:rPr lang="en-US"/>
              <a:t> . </a:t>
            </a:r>
            <a:endParaRPr/>
          </a:p>
        </p:txBody>
      </p:sp>
      <p:pic>
        <p:nvPicPr>
          <p:cNvPr id="522" name="Google Shape;522;p60"/>
          <p:cNvPicPr preferRelativeResize="0"/>
          <p:nvPr/>
        </p:nvPicPr>
        <p:blipFill rotWithShape="1">
          <a:blip r:embed="rId3">
            <a:alphaModFix/>
          </a:blip>
          <a:srcRect b="0" l="0" r="0" t="0"/>
          <a:stretch/>
        </p:blipFill>
        <p:spPr>
          <a:xfrm>
            <a:off x="1740535" y="3645569"/>
            <a:ext cx="8710929" cy="592757"/>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Styling components</a:t>
            </a:r>
            <a:endParaRPr/>
          </a:p>
        </p:txBody>
      </p:sp>
      <p:sp>
        <p:nvSpPr>
          <p:cNvPr id="528" name="Google Shape;528;p61"/>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Using CSS File</a:t>
            </a:r>
            <a:endParaRPr/>
          </a:p>
          <a:p>
            <a:pPr indent="-228600" lvl="1" marL="685800" rtl="0" algn="l">
              <a:lnSpc>
                <a:spcPct val="100000"/>
              </a:lnSpc>
              <a:spcBef>
                <a:spcPts val="600"/>
              </a:spcBef>
              <a:spcAft>
                <a:spcPts val="0"/>
              </a:spcAft>
              <a:buClr>
                <a:schemeClr val="dk2"/>
              </a:buClr>
              <a:buSzPts val="2400"/>
              <a:buChar char="▪"/>
            </a:pPr>
            <a:r>
              <a:rPr lang="en-US">
                <a:solidFill>
                  <a:schemeClr val="dk2"/>
                </a:solidFill>
              </a:rPr>
              <a:t>Example: </a:t>
            </a:r>
            <a:endParaRPr/>
          </a:p>
        </p:txBody>
      </p:sp>
      <p:pic>
        <p:nvPicPr>
          <p:cNvPr id="529" name="Google Shape;529;p61"/>
          <p:cNvPicPr preferRelativeResize="0"/>
          <p:nvPr/>
        </p:nvPicPr>
        <p:blipFill rotWithShape="1">
          <a:blip r:embed="rId3">
            <a:alphaModFix/>
          </a:blip>
          <a:srcRect b="0" l="0" r="0" t="0"/>
          <a:stretch/>
        </p:blipFill>
        <p:spPr>
          <a:xfrm>
            <a:off x="3360501" y="2420198"/>
            <a:ext cx="6841725" cy="3306833"/>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Styling components</a:t>
            </a:r>
            <a:endParaRPr/>
          </a:p>
        </p:txBody>
      </p:sp>
      <p:sp>
        <p:nvSpPr>
          <p:cNvPr id="535" name="Google Shape;535;p6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Using CSS Modules</a:t>
            </a:r>
            <a:r>
              <a:rPr lang="en-US"/>
              <a:t>: CSS Modules allow you to locally scope CSS by generating unique class names. </a:t>
            </a:r>
            <a:endParaRPr/>
          </a:p>
          <a:p>
            <a:pPr indent="-228600" lvl="0" marL="228600" rtl="0" algn="l">
              <a:lnSpc>
                <a:spcPct val="100000"/>
              </a:lnSpc>
              <a:spcBef>
                <a:spcPts val="1800"/>
              </a:spcBef>
              <a:spcAft>
                <a:spcPts val="0"/>
              </a:spcAft>
              <a:buClr>
                <a:schemeClr val="dk1"/>
              </a:buClr>
              <a:buSzPts val="2800"/>
              <a:buChar char="▪"/>
            </a:pPr>
            <a:r>
              <a:rPr lang="en-US"/>
              <a:t>To use CSS Modules, create a file with the </a:t>
            </a:r>
            <a:r>
              <a:rPr b="1" lang="en-US"/>
              <a:t>.module.css </a:t>
            </a:r>
            <a:r>
              <a:rPr lang="en-US"/>
              <a:t>extension and import it into your component.</a:t>
            </a:r>
            <a:endParaRPr/>
          </a:p>
          <a:p>
            <a:pPr indent="-228600" lvl="0" marL="228600" rtl="0" algn="l">
              <a:lnSpc>
                <a:spcPct val="100000"/>
              </a:lnSpc>
              <a:spcBef>
                <a:spcPts val="1800"/>
              </a:spcBef>
              <a:spcAft>
                <a:spcPts val="0"/>
              </a:spcAft>
              <a:buClr>
                <a:schemeClr val="dk1"/>
              </a:buClr>
              <a:buSzPts val="2800"/>
              <a:buChar char="▪"/>
            </a:pPr>
            <a:r>
              <a:rPr b="1" lang="en-US"/>
              <a:t>Syntax</a:t>
            </a:r>
            <a:r>
              <a:rPr lang="en-US"/>
              <a:t>: </a:t>
            </a:r>
            <a:endParaRPr/>
          </a:p>
        </p:txBody>
      </p:sp>
      <p:pic>
        <p:nvPicPr>
          <p:cNvPr id="536" name="Google Shape;536;p62"/>
          <p:cNvPicPr preferRelativeResize="0"/>
          <p:nvPr/>
        </p:nvPicPr>
        <p:blipFill rotWithShape="1">
          <a:blip r:embed="rId3">
            <a:alphaModFix/>
          </a:blip>
          <a:srcRect b="0" l="0" r="0" t="0"/>
          <a:stretch/>
        </p:blipFill>
        <p:spPr>
          <a:xfrm>
            <a:off x="1202672" y="4373462"/>
            <a:ext cx="9785138" cy="760011"/>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6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Styling components</a:t>
            </a:r>
            <a:endParaRPr/>
          </a:p>
        </p:txBody>
      </p:sp>
      <p:sp>
        <p:nvSpPr>
          <p:cNvPr id="542" name="Google Shape;542;p6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Using CSS Modules: </a:t>
            </a:r>
            <a:endParaRPr/>
          </a:p>
          <a:p>
            <a:pPr indent="-228600" lvl="1" marL="685800" rtl="0" algn="l">
              <a:lnSpc>
                <a:spcPct val="100000"/>
              </a:lnSpc>
              <a:spcBef>
                <a:spcPts val="600"/>
              </a:spcBef>
              <a:spcAft>
                <a:spcPts val="0"/>
              </a:spcAft>
              <a:buClr>
                <a:schemeClr val="dk1"/>
              </a:buClr>
              <a:buSzPts val="2400"/>
              <a:buChar char="▪"/>
            </a:pPr>
            <a:r>
              <a:rPr lang="en-US"/>
              <a:t>assign the classes to the </a:t>
            </a:r>
            <a:r>
              <a:rPr b="1" lang="en-US"/>
              <a:t>className</a:t>
            </a:r>
            <a:r>
              <a:rPr lang="en-US"/>
              <a:t> properties</a:t>
            </a:r>
            <a:endParaRPr/>
          </a:p>
          <a:p>
            <a:pPr indent="-76200" lvl="1" marL="685800" rtl="0" algn="l">
              <a:lnSpc>
                <a:spcPct val="100000"/>
              </a:lnSpc>
              <a:spcBef>
                <a:spcPts val="600"/>
              </a:spcBef>
              <a:spcAft>
                <a:spcPts val="0"/>
              </a:spcAft>
              <a:buClr>
                <a:schemeClr val="dk1"/>
              </a:buClr>
              <a:buSzPts val="2400"/>
              <a:buNone/>
            </a:pPr>
            <a:r>
              <a:t/>
            </a:r>
            <a:endParaRPr/>
          </a:p>
          <a:p>
            <a:pPr indent="-76200" lvl="1" marL="685800" rtl="0" algn="l">
              <a:lnSpc>
                <a:spcPct val="100000"/>
              </a:lnSpc>
              <a:spcBef>
                <a:spcPts val="600"/>
              </a:spcBef>
              <a:spcAft>
                <a:spcPts val="0"/>
              </a:spcAft>
              <a:buClr>
                <a:schemeClr val="dk1"/>
              </a:buClr>
              <a:buSzPts val="2400"/>
              <a:buNone/>
            </a:pPr>
            <a:r>
              <a:t/>
            </a:r>
            <a:endParaRPr/>
          </a:p>
          <a:p>
            <a:pPr indent="-76200" lvl="1" marL="685800" rtl="0" algn="l">
              <a:lnSpc>
                <a:spcPct val="100000"/>
              </a:lnSpc>
              <a:spcBef>
                <a:spcPts val="600"/>
              </a:spcBef>
              <a:spcAft>
                <a:spcPts val="0"/>
              </a:spcAft>
              <a:buClr>
                <a:schemeClr val="dk1"/>
              </a:buClr>
              <a:buSzPts val="2400"/>
              <a:buNone/>
            </a:pPr>
            <a:r>
              <a:t/>
            </a:r>
            <a:endParaRPr/>
          </a:p>
          <a:p>
            <a:pPr indent="-76200" lvl="1" marL="685800" rtl="0" algn="l">
              <a:lnSpc>
                <a:spcPct val="100000"/>
              </a:lnSpc>
              <a:spcBef>
                <a:spcPts val="600"/>
              </a:spcBef>
              <a:spcAft>
                <a:spcPts val="0"/>
              </a:spcAft>
              <a:buClr>
                <a:schemeClr val="dk1"/>
              </a:buClr>
              <a:buSzPts val="2400"/>
              <a:buNone/>
            </a:pPr>
            <a:r>
              <a:t/>
            </a:r>
            <a:endParaRPr/>
          </a:p>
        </p:txBody>
      </p:sp>
      <p:pic>
        <p:nvPicPr>
          <p:cNvPr id="543" name="Google Shape;543;p63"/>
          <p:cNvPicPr preferRelativeResize="0"/>
          <p:nvPr/>
        </p:nvPicPr>
        <p:blipFill rotWithShape="1">
          <a:blip r:embed="rId3">
            <a:alphaModFix/>
          </a:blip>
          <a:srcRect b="0" l="0" r="0" t="0"/>
          <a:stretch/>
        </p:blipFill>
        <p:spPr>
          <a:xfrm>
            <a:off x="1771388" y="2789239"/>
            <a:ext cx="8647706" cy="1096961"/>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6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Styling components</a:t>
            </a:r>
            <a:endParaRPr/>
          </a:p>
        </p:txBody>
      </p:sp>
      <p:sp>
        <p:nvSpPr>
          <p:cNvPr id="549" name="Google Shape;549;p64"/>
          <p:cNvSpPr txBox="1"/>
          <p:nvPr>
            <p:ph idx="1" type="body"/>
          </p:nvPr>
        </p:nvSpPr>
        <p:spPr>
          <a:xfrm>
            <a:off x="1104900" y="1600200"/>
            <a:ext cx="9980682"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Using CSS Modules: </a:t>
            </a:r>
            <a:endParaRPr/>
          </a:p>
          <a:p>
            <a:pPr indent="-228600" lvl="0" marL="228600" rtl="0" algn="l">
              <a:lnSpc>
                <a:spcPct val="100000"/>
              </a:lnSpc>
              <a:spcBef>
                <a:spcPts val="1800"/>
              </a:spcBef>
              <a:spcAft>
                <a:spcPts val="0"/>
              </a:spcAft>
              <a:buClr>
                <a:schemeClr val="dk1"/>
              </a:buClr>
              <a:buSzPts val="2800"/>
              <a:buChar char="▪"/>
            </a:pPr>
            <a:r>
              <a:rPr lang="en-US"/>
              <a:t>Example :The content of </a:t>
            </a:r>
            <a:r>
              <a:rPr b="1" lang="en-US"/>
              <a:t>App.js </a:t>
            </a:r>
            <a:r>
              <a:rPr lang="en-US"/>
              <a:t>and </a:t>
            </a:r>
            <a:r>
              <a:rPr b="1" lang="en-US"/>
              <a:t>App.css </a:t>
            </a:r>
            <a:r>
              <a:rPr lang="en-US"/>
              <a:t>files demonstrating the use of CSS modules to style the React element</a:t>
            </a:r>
            <a:endParaRPr/>
          </a:p>
        </p:txBody>
      </p:sp>
      <p:sp>
        <p:nvSpPr>
          <p:cNvPr id="550" name="Google Shape;550;p64"/>
          <p:cNvSpPr txBox="1"/>
          <p:nvPr/>
        </p:nvSpPr>
        <p:spPr>
          <a:xfrm>
            <a:off x="3047241" y="3283182"/>
            <a:ext cx="6096000" cy="3170099"/>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B050"/>
                </a:solidFill>
                <a:latin typeface="Consolas"/>
                <a:ea typeface="Consolas"/>
                <a:cs typeface="Consolas"/>
                <a:sym typeface="Consolas"/>
              </a:rPr>
              <a:t>/*App.modules.css*/</a:t>
            </a:r>
            <a:endParaRPr/>
          </a:p>
          <a:p>
            <a:pPr indent="0" lvl="0" marL="0" marR="0" rtl="0" algn="l">
              <a:spcBef>
                <a:spcPts val="0"/>
              </a:spcBef>
              <a:spcAft>
                <a:spcPts val="0"/>
              </a:spcAft>
              <a:buNone/>
            </a:pPr>
            <a:r>
              <a:rPr b="1" lang="en-US" sz="2000">
                <a:solidFill>
                  <a:srgbClr val="000000"/>
                </a:solidFill>
                <a:latin typeface="Consolas"/>
                <a:ea typeface="Consolas"/>
                <a:cs typeface="Consolas"/>
                <a:sym typeface="Consolas"/>
              </a:rPr>
              <a:t>.container - div {</a:t>
            </a:r>
            <a:endParaRPr/>
          </a:p>
          <a:p>
            <a:pPr indent="0" lvl="0" marL="0" marR="0" rtl="0" algn="l">
              <a:spcBef>
                <a:spcPts val="0"/>
              </a:spcBef>
              <a:spcAft>
                <a:spcPts val="0"/>
              </a:spcAft>
              <a:buNone/>
            </a:pPr>
            <a:r>
              <a:rPr b="1" lang="en-US" sz="2000">
                <a:solidFill>
                  <a:srgbClr val="000000"/>
                </a:solidFill>
                <a:latin typeface="Consolas"/>
                <a:ea typeface="Consolas"/>
                <a:cs typeface="Consolas"/>
                <a:sym typeface="Consolas"/>
              </a:rPr>
              <a:t>  display: flex;</a:t>
            </a:r>
            <a:endParaRPr/>
          </a:p>
          <a:p>
            <a:pPr indent="0" lvl="0" marL="0" marR="0" rtl="0" algn="l">
              <a:spcBef>
                <a:spcPts val="0"/>
              </a:spcBef>
              <a:spcAft>
                <a:spcPts val="0"/>
              </a:spcAft>
              <a:buNone/>
            </a:pPr>
            <a:r>
              <a:rPr b="1" lang="en-US" sz="2000">
                <a:solidFill>
                  <a:srgbClr val="000000"/>
                </a:solidFill>
                <a:latin typeface="Consolas"/>
                <a:ea typeface="Consolas"/>
                <a:cs typeface="Consolas"/>
                <a:sym typeface="Consolas"/>
              </a:rPr>
              <a:t>  align - items: center;</a:t>
            </a:r>
            <a:endParaRPr/>
          </a:p>
          <a:p>
            <a:pPr indent="0" lvl="0" marL="0" marR="0" rtl="0" algn="l">
              <a:spcBef>
                <a:spcPts val="0"/>
              </a:spcBef>
              <a:spcAft>
                <a:spcPts val="0"/>
              </a:spcAft>
              <a:buNone/>
            </a:pPr>
            <a:r>
              <a:rPr b="1" lang="en-US" sz="2000">
                <a:solidFill>
                  <a:srgbClr val="000000"/>
                </a:solidFill>
                <a:latin typeface="Consolas"/>
                <a:ea typeface="Consolas"/>
                <a:cs typeface="Consolas"/>
                <a:sym typeface="Consolas"/>
              </a:rPr>
              <a:t>  justify - content: center;</a:t>
            </a:r>
            <a:endParaRPr/>
          </a:p>
          <a:p>
            <a:pPr indent="0" lvl="0" marL="0" marR="0" rtl="0" algn="l">
              <a:spcBef>
                <a:spcPts val="0"/>
              </a:spcBef>
              <a:spcAft>
                <a:spcPts val="0"/>
              </a:spcAft>
              <a:buNone/>
            </a:pPr>
            <a:r>
              <a:rPr b="1" lang="en-US" sz="2000">
                <a:solidFill>
                  <a:srgbClr val="000000"/>
                </a:solidFill>
                <a:latin typeface="Consolas"/>
                <a:ea typeface="Consolas"/>
                <a:cs typeface="Consolas"/>
                <a:sym typeface="Consolas"/>
              </a:rPr>
              <a:t>  height: 100vh;</a:t>
            </a:r>
            <a:endParaRPr/>
          </a:p>
          <a:p>
            <a:pPr indent="0" lvl="0" marL="0" marR="0" rtl="0" algn="l">
              <a:spcBef>
                <a:spcPts val="0"/>
              </a:spcBef>
              <a:spcAft>
                <a:spcPts val="0"/>
              </a:spcAft>
              <a:buNone/>
            </a:pPr>
            <a:r>
              <a:rPr b="1" lang="en-US" sz="2000">
                <a:solidFill>
                  <a:srgbClr val="000000"/>
                </a:solidFill>
                <a:latin typeface="Consolas"/>
                <a:ea typeface="Consolas"/>
                <a:cs typeface="Consolas"/>
                <a:sym typeface="Consolas"/>
              </a:rPr>
              <a:t>  background - image: linear - gradient(</a:t>
            </a:r>
            <a:endParaRPr/>
          </a:p>
          <a:p>
            <a:pPr indent="0" lvl="0" marL="0" marR="0" rtl="0" algn="l">
              <a:spcBef>
                <a:spcPts val="0"/>
              </a:spcBef>
              <a:spcAft>
                <a:spcPts val="0"/>
              </a:spcAft>
              <a:buNone/>
            </a:pPr>
            <a:r>
              <a:rPr b="1" lang="en-US" sz="2000">
                <a:solidFill>
                  <a:srgbClr val="000000"/>
                </a:solidFill>
                <a:latin typeface="Consolas"/>
                <a:ea typeface="Consolas"/>
                <a:cs typeface="Consolas"/>
                <a:sym typeface="Consolas"/>
              </a:rPr>
              <a:t>    to right, #427ceb, #1dad6f);</a:t>
            </a:r>
            <a:endParaRPr/>
          </a:p>
          <a:p>
            <a:pPr indent="0" lvl="0" marL="0" marR="0" rtl="0" algn="l">
              <a:spcBef>
                <a:spcPts val="0"/>
              </a:spcBef>
              <a:spcAft>
                <a:spcPts val="0"/>
              </a:spcAft>
              <a:buNone/>
            </a:pPr>
            <a:r>
              <a:rPr b="1" lang="en-US" sz="20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b="1" lang="en-US" sz="2000">
                <a:solidFill>
                  <a:srgbClr val="000000"/>
                </a:solidFill>
                <a:latin typeface="Consolas"/>
                <a:ea typeface="Consolas"/>
                <a:cs typeface="Consolas"/>
                <a:sym typeface="Consolas"/>
              </a:rPr>
              <a:t>.heading { color: white;}</a:t>
            </a:r>
            <a:endParaRPr b="1" sz="1800">
              <a:solidFill>
                <a:srgbClr val="000000"/>
              </a:solidFill>
              <a:latin typeface="Consolas"/>
              <a:ea typeface="Consolas"/>
              <a:cs typeface="Consolas"/>
              <a:sym typeface="Consola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Styling components</a:t>
            </a:r>
            <a:endParaRPr/>
          </a:p>
        </p:txBody>
      </p:sp>
      <p:sp>
        <p:nvSpPr>
          <p:cNvPr id="556" name="Google Shape;556;p6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Using CSS Modules: </a:t>
            </a:r>
            <a:endParaRPr/>
          </a:p>
          <a:p>
            <a:pPr indent="-228600" lvl="0" marL="228600" rtl="0" algn="l">
              <a:lnSpc>
                <a:spcPct val="100000"/>
              </a:lnSpc>
              <a:spcBef>
                <a:spcPts val="1800"/>
              </a:spcBef>
              <a:spcAft>
                <a:spcPts val="0"/>
              </a:spcAft>
              <a:buClr>
                <a:schemeClr val="dk1"/>
              </a:buClr>
              <a:buSzPts val="2800"/>
              <a:buChar char="▪"/>
            </a:pPr>
            <a:r>
              <a:rPr lang="en-US"/>
              <a:t>Example(tt)</a:t>
            </a:r>
            <a:endParaRPr/>
          </a:p>
          <a:p>
            <a:pPr indent="-50800" lvl="0" marL="228600" rtl="0" algn="l">
              <a:lnSpc>
                <a:spcPct val="100000"/>
              </a:lnSpc>
              <a:spcBef>
                <a:spcPts val="1800"/>
              </a:spcBef>
              <a:spcAft>
                <a:spcPts val="0"/>
              </a:spcAft>
              <a:buClr>
                <a:schemeClr val="dk1"/>
              </a:buClr>
              <a:buSzPts val="2800"/>
              <a:buNone/>
            </a:pPr>
            <a:r>
              <a:t/>
            </a:r>
            <a:endParaRPr/>
          </a:p>
        </p:txBody>
      </p:sp>
      <p:pic>
        <p:nvPicPr>
          <p:cNvPr id="557" name="Google Shape;557;p65"/>
          <p:cNvPicPr preferRelativeResize="0"/>
          <p:nvPr/>
        </p:nvPicPr>
        <p:blipFill rotWithShape="1">
          <a:blip r:embed="rId3">
            <a:alphaModFix/>
          </a:blip>
          <a:srcRect b="0" l="0" r="0" t="0"/>
          <a:stretch/>
        </p:blipFill>
        <p:spPr>
          <a:xfrm>
            <a:off x="1528438" y="3049388"/>
            <a:ext cx="9135124" cy="3122812"/>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6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Styling components</a:t>
            </a:r>
            <a:endParaRPr/>
          </a:p>
        </p:txBody>
      </p:sp>
      <p:sp>
        <p:nvSpPr>
          <p:cNvPr id="563" name="Google Shape;563;p66"/>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Using Styled-Components</a:t>
            </a:r>
            <a:r>
              <a:rPr lang="en-US"/>
              <a:t>:</a:t>
            </a:r>
            <a:endParaRPr/>
          </a:p>
          <a:p>
            <a:pPr indent="-228600" lvl="1" marL="685800" rtl="0" algn="l">
              <a:lnSpc>
                <a:spcPct val="100000"/>
              </a:lnSpc>
              <a:spcBef>
                <a:spcPts val="600"/>
              </a:spcBef>
              <a:spcAft>
                <a:spcPts val="0"/>
              </a:spcAft>
              <a:buClr>
                <a:schemeClr val="dk1"/>
              </a:buClr>
              <a:buSzPts val="2400"/>
              <a:buChar char="▪"/>
            </a:pPr>
            <a:r>
              <a:rPr b="1" lang="en-US"/>
              <a:t>styled-components</a:t>
            </a:r>
            <a:r>
              <a:rPr lang="en-US"/>
              <a:t> is a popular library for writing component-level styles in JavaScript. It allows you to create styled components with a combination of CSS and JavaScript.</a:t>
            </a:r>
            <a:endParaRPr/>
          </a:p>
          <a:p>
            <a:pPr indent="-228600" lvl="0" marL="228600" rtl="0" algn="l">
              <a:lnSpc>
                <a:spcPct val="100000"/>
              </a:lnSpc>
              <a:spcBef>
                <a:spcPts val="1800"/>
              </a:spcBef>
              <a:spcAft>
                <a:spcPts val="0"/>
              </a:spcAft>
              <a:buClr>
                <a:schemeClr val="dk1"/>
              </a:buClr>
              <a:buSzPts val="2800"/>
              <a:buChar char="▪"/>
            </a:pPr>
            <a:r>
              <a:rPr b="1" lang="en-US"/>
              <a:t>Module Installation</a:t>
            </a:r>
            <a:r>
              <a:rPr lang="en-US"/>
              <a:t>: In order to use the </a:t>
            </a:r>
            <a:r>
              <a:rPr b="1" i="1" lang="en-US"/>
              <a:t>styled-components </a:t>
            </a:r>
            <a:r>
              <a:rPr lang="en-US"/>
              <a:t>you must first install it as a dependency using the following command from the command line</a:t>
            </a:r>
            <a:endParaRPr/>
          </a:p>
        </p:txBody>
      </p:sp>
      <p:sp>
        <p:nvSpPr>
          <p:cNvPr id="564" name="Google Shape;564;p66"/>
          <p:cNvSpPr/>
          <p:nvPr/>
        </p:nvSpPr>
        <p:spPr>
          <a:xfrm>
            <a:off x="2374232" y="4997486"/>
            <a:ext cx="6769768" cy="520627"/>
          </a:xfrm>
          <a:prstGeom prst="rect">
            <a:avLst/>
          </a:prstGeom>
          <a:solidFill>
            <a:srgbClr val="E0E0E0"/>
          </a:solidFill>
          <a:ln cap="flat" cmpd="sng" w="9525">
            <a:solidFill>
              <a:schemeClr val="dk1"/>
            </a:solidFill>
            <a:prstDash val="solid"/>
            <a:miter lim="800000"/>
            <a:headEnd len="sm" w="sm" type="none"/>
            <a:tailEnd len="sm" w="sm" type="none"/>
          </a:ln>
        </p:spPr>
        <p:txBody>
          <a:bodyPr anchorCtr="0" anchor="ctr" bIns="88850" lIns="0" spcFirstLastPara="1" rIns="0" wrap="square" tIns="0">
            <a:spAutoFit/>
          </a:bodyPr>
          <a:lstStyle/>
          <a:p>
            <a:pPr indent="0" lvl="0" marL="112713" marR="0" rtl="0" algn="l">
              <a:lnSpc>
                <a:spcPct val="100000"/>
              </a:lnSpc>
              <a:spcBef>
                <a:spcPts val="0"/>
              </a:spcBef>
              <a:spcAft>
                <a:spcPts val="0"/>
              </a:spcAft>
              <a:buClr>
                <a:schemeClr val="dk1"/>
              </a:buClr>
              <a:buSzPts val="2800"/>
              <a:buFont typeface="Consolas"/>
              <a:buNone/>
            </a:pPr>
            <a:r>
              <a:rPr b="1" i="0" lang="en-US" sz="2800" u="none" cap="none" strike="noStrike">
                <a:solidFill>
                  <a:schemeClr val="dk1"/>
                </a:solidFill>
                <a:latin typeface="Consolas"/>
                <a:ea typeface="Consolas"/>
                <a:cs typeface="Consolas"/>
                <a:sym typeface="Consolas"/>
              </a:rPr>
              <a:t>npm install styled-components</a:t>
            </a:r>
            <a:r>
              <a:rPr b="1" i="0" lang="en-US" sz="2400" u="none" cap="none" strike="noStrike">
                <a:solidFill>
                  <a:schemeClr val="dk1"/>
                </a:solidFill>
                <a:latin typeface="Arial"/>
                <a:ea typeface="Arial"/>
                <a:cs typeface="Arial"/>
                <a:sym typeface="Arial"/>
              </a:rPr>
              <a:t> </a:t>
            </a:r>
            <a:endParaRPr b="1" i="0" sz="4000" u="none" cap="none" strike="noStrike">
              <a:solidFill>
                <a:schemeClr val="dk1"/>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6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Styling components</a:t>
            </a:r>
            <a:endParaRPr/>
          </a:p>
        </p:txBody>
      </p:sp>
      <p:sp>
        <p:nvSpPr>
          <p:cNvPr id="570" name="Google Shape;570;p67"/>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Using Styled-Components</a:t>
            </a:r>
            <a:r>
              <a:rPr lang="en-US"/>
              <a:t>:</a:t>
            </a:r>
            <a:endParaRPr/>
          </a:p>
          <a:p>
            <a:pPr indent="-228600" lvl="0" marL="228600" rtl="0" algn="l">
              <a:lnSpc>
                <a:spcPct val="100000"/>
              </a:lnSpc>
              <a:spcBef>
                <a:spcPts val="1800"/>
              </a:spcBef>
              <a:spcAft>
                <a:spcPts val="0"/>
              </a:spcAft>
              <a:buClr>
                <a:schemeClr val="dk1"/>
              </a:buClr>
              <a:buSzPts val="2800"/>
              <a:buChar char="▪"/>
            </a:pPr>
            <a:r>
              <a:rPr b="1" lang="en-US"/>
              <a:t>Syntax</a:t>
            </a:r>
            <a:r>
              <a:rPr lang="en-US"/>
              <a:t>: create a </a:t>
            </a:r>
            <a:r>
              <a:rPr b="1" lang="en-US"/>
              <a:t>styled component</a:t>
            </a:r>
            <a:endParaRPr/>
          </a:p>
        </p:txBody>
      </p:sp>
      <p:pic>
        <p:nvPicPr>
          <p:cNvPr id="571" name="Google Shape;571;p67"/>
          <p:cNvPicPr preferRelativeResize="0"/>
          <p:nvPr/>
        </p:nvPicPr>
        <p:blipFill rotWithShape="1">
          <a:blip r:embed="rId3">
            <a:alphaModFix/>
          </a:blip>
          <a:srcRect b="0" l="0" r="0" t="0"/>
          <a:stretch/>
        </p:blipFill>
        <p:spPr>
          <a:xfrm>
            <a:off x="2287186" y="3067149"/>
            <a:ext cx="7616110" cy="1638101"/>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6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Styling components</a:t>
            </a:r>
            <a:endParaRPr/>
          </a:p>
        </p:txBody>
      </p:sp>
      <p:sp>
        <p:nvSpPr>
          <p:cNvPr id="577" name="Google Shape;577;p6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Using Styled-Components</a:t>
            </a:r>
            <a:r>
              <a:rPr lang="en-US"/>
              <a:t>:</a:t>
            </a:r>
            <a:endParaRPr/>
          </a:p>
          <a:p>
            <a:pPr indent="-228600" lvl="1" marL="685800" rtl="0" algn="l">
              <a:lnSpc>
                <a:spcPct val="100000"/>
              </a:lnSpc>
              <a:spcBef>
                <a:spcPts val="600"/>
              </a:spcBef>
              <a:spcAft>
                <a:spcPts val="0"/>
              </a:spcAft>
              <a:buClr>
                <a:schemeClr val="dk1"/>
              </a:buClr>
              <a:buSzPts val="2400"/>
              <a:buChar char="▪"/>
            </a:pPr>
            <a:r>
              <a:rPr lang="en-US"/>
              <a:t>Example</a:t>
            </a:r>
            <a:endParaRPr/>
          </a:p>
          <a:p>
            <a:pPr indent="-76200" lvl="1" marL="685800" rtl="0" algn="l">
              <a:lnSpc>
                <a:spcPct val="100000"/>
              </a:lnSpc>
              <a:spcBef>
                <a:spcPts val="600"/>
              </a:spcBef>
              <a:spcAft>
                <a:spcPts val="0"/>
              </a:spcAft>
              <a:buClr>
                <a:schemeClr val="dk1"/>
              </a:buClr>
              <a:buSzPts val="2400"/>
              <a:buNone/>
            </a:pPr>
            <a:r>
              <a:t/>
            </a:r>
            <a:endParaRPr/>
          </a:p>
        </p:txBody>
      </p:sp>
      <p:pic>
        <p:nvPicPr>
          <p:cNvPr id="578" name="Google Shape;578;p68"/>
          <p:cNvPicPr preferRelativeResize="0"/>
          <p:nvPr/>
        </p:nvPicPr>
        <p:blipFill rotWithShape="1">
          <a:blip r:embed="rId3">
            <a:alphaModFix/>
          </a:blip>
          <a:srcRect b="0" l="0" r="0" t="0"/>
          <a:stretch/>
        </p:blipFill>
        <p:spPr>
          <a:xfrm>
            <a:off x="349930" y="2726502"/>
            <a:ext cx="4885778" cy="3112823"/>
          </a:xfrm>
          <a:prstGeom prst="rect">
            <a:avLst/>
          </a:prstGeom>
          <a:noFill/>
          <a:ln>
            <a:noFill/>
          </a:ln>
          <a:effectLst>
            <a:outerShdw blurRad="292100" rotWithShape="0" algn="tl" dir="2700000" dist="139700">
              <a:srgbClr val="333333">
                <a:alpha val="64705"/>
              </a:srgbClr>
            </a:outerShdw>
          </a:effectLst>
        </p:spPr>
      </p:pic>
      <p:pic>
        <p:nvPicPr>
          <p:cNvPr id="579" name="Google Shape;579;p68"/>
          <p:cNvPicPr preferRelativeResize="0"/>
          <p:nvPr/>
        </p:nvPicPr>
        <p:blipFill rotWithShape="1">
          <a:blip r:embed="rId4">
            <a:alphaModFix/>
          </a:blip>
          <a:srcRect b="0" l="0" r="0" t="0"/>
          <a:stretch/>
        </p:blipFill>
        <p:spPr>
          <a:xfrm>
            <a:off x="5501424" y="2726502"/>
            <a:ext cx="6340646" cy="3112823"/>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2024-10-17T15:22:21Z</dcterms:created>
  <dc:creator>License For You And Lifetime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