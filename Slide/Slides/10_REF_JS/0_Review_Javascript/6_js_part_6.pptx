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1309350" cx="20104100"/>
  <p:notesSz cx="20104100" cy="11309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ro1u6hy2XIVmPempFF6/x3YD1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/>
          <p:nvPr>
            <p:ph type="ctrTitle"/>
          </p:nvPr>
        </p:nvSpPr>
        <p:spPr>
          <a:xfrm>
            <a:off x="1439154" y="2208600"/>
            <a:ext cx="17139285" cy="4444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" type="subTitle"/>
          </p:nvPr>
        </p:nvSpPr>
        <p:spPr>
          <a:xfrm>
            <a:off x="6636149" y="6826260"/>
            <a:ext cx="6748780" cy="2035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" name="Google Shape;24;p17"/>
          <p:cNvSpPr/>
          <p:nvPr/>
        </p:nvSpPr>
        <p:spPr>
          <a:xfrm>
            <a:off x="0" y="1361215"/>
            <a:ext cx="6362700" cy="9941560"/>
          </a:xfrm>
          <a:custGeom>
            <a:rect b="b" l="l" r="r" t="t"/>
            <a:pathLst>
              <a:path extrusionOk="0" h="9941560" w="6362700">
                <a:moveTo>
                  <a:pt x="6362216" y="0"/>
                </a:moveTo>
                <a:lnTo>
                  <a:pt x="0" y="0"/>
                </a:lnTo>
                <a:lnTo>
                  <a:pt x="0" y="9941240"/>
                </a:lnTo>
                <a:lnTo>
                  <a:pt x="6362216" y="9941240"/>
                </a:lnTo>
                <a:lnTo>
                  <a:pt x="6362216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5" name="Google Shape;2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7"/>
          <p:cNvSpPr txBox="1"/>
          <p:nvPr>
            <p:ph type="title"/>
          </p:nvPr>
        </p:nvSpPr>
        <p:spPr>
          <a:xfrm>
            <a:off x="603309" y="259543"/>
            <a:ext cx="943165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18"/>
          <p:cNvSpPr/>
          <p:nvPr/>
        </p:nvSpPr>
        <p:spPr>
          <a:xfrm>
            <a:off x="0" y="1361215"/>
            <a:ext cx="6362700" cy="9941560"/>
          </a:xfrm>
          <a:custGeom>
            <a:rect b="b" l="l" r="r" t="t"/>
            <a:pathLst>
              <a:path extrusionOk="0" h="9941560" w="6362700">
                <a:moveTo>
                  <a:pt x="6362216" y="0"/>
                </a:moveTo>
                <a:lnTo>
                  <a:pt x="0" y="0"/>
                </a:lnTo>
                <a:lnTo>
                  <a:pt x="0" y="9941240"/>
                </a:lnTo>
                <a:lnTo>
                  <a:pt x="6362216" y="9941240"/>
                </a:lnTo>
                <a:lnTo>
                  <a:pt x="6362216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34" name="Google Shape;3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8"/>
          <p:cNvSpPr txBox="1"/>
          <p:nvPr>
            <p:ph type="title"/>
          </p:nvPr>
        </p:nvSpPr>
        <p:spPr>
          <a:xfrm>
            <a:off x="603309" y="259543"/>
            <a:ext cx="943165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603309" y="259543"/>
            <a:ext cx="943165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4"/>
          <p:cNvSpPr txBox="1"/>
          <p:nvPr>
            <p:ph type="title"/>
          </p:nvPr>
        </p:nvSpPr>
        <p:spPr>
          <a:xfrm>
            <a:off x="603309" y="259543"/>
            <a:ext cx="943165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 u="none" cap="none" strike="noStrike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4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0.jp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7.jpg"/><Relationship Id="rId10" Type="http://schemas.openxmlformats.org/officeDocument/2006/relationships/image" Target="../media/image10.jpg"/><Relationship Id="rId9" Type="http://schemas.openxmlformats.org/officeDocument/2006/relationships/image" Target="../media/image40.png"/><Relationship Id="rId5" Type="http://schemas.openxmlformats.org/officeDocument/2006/relationships/image" Target="../media/image19.png"/><Relationship Id="rId6" Type="http://schemas.openxmlformats.org/officeDocument/2006/relationships/image" Target="../media/image14.jpg"/><Relationship Id="rId7" Type="http://schemas.openxmlformats.org/officeDocument/2006/relationships/image" Target="../media/image17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7.jpg"/><Relationship Id="rId5" Type="http://schemas.openxmlformats.org/officeDocument/2006/relationships/image" Target="../media/image28.png"/><Relationship Id="rId6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21.png"/><Relationship Id="rId7" Type="http://schemas.openxmlformats.org/officeDocument/2006/relationships/image" Target="../media/image2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jp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Relationship Id="rId5" Type="http://schemas.openxmlformats.org/officeDocument/2006/relationships/image" Target="../media/image3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42.png"/><Relationship Id="rId9" Type="http://schemas.openxmlformats.org/officeDocument/2006/relationships/image" Target="../media/image36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41.png"/><Relationship Id="rId8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>
            <p:ph type="ctrTitle"/>
          </p:nvPr>
        </p:nvSpPr>
        <p:spPr>
          <a:xfrm>
            <a:off x="1439154" y="2208600"/>
            <a:ext cx="17139285" cy="4444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988060" lvl="0" marL="12700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HOW JAVASCRIPT WORKS BEHIND THE</a:t>
            </a:r>
            <a:endParaRPr sz="1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>
            <p:ph idx="1" type="subTitle"/>
          </p:nvPr>
        </p:nvSpPr>
        <p:spPr>
          <a:xfrm>
            <a:off x="5525424" y="6826250"/>
            <a:ext cx="7859400" cy="20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SCENES</a:t>
            </a:r>
            <a:endParaRPr sz="1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 txBox="1"/>
          <p:nvPr/>
        </p:nvSpPr>
        <p:spPr>
          <a:xfrm>
            <a:off x="11603930" y="2517449"/>
            <a:ext cx="6954520" cy="620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5080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HOW JAVASCRIPT WORKS BEHIND THE SCENES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1435735" rtl="0" algn="l">
              <a:lnSpc>
                <a:spcPct val="103529"/>
              </a:lnSpc>
              <a:spcBef>
                <a:spcPts val="180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AN HIGH-LEVEL OVERVIEW OF JAVASCRIPT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 txBox="1"/>
          <p:nvPr/>
        </p:nvSpPr>
        <p:spPr>
          <a:xfrm>
            <a:off x="603309" y="259543"/>
            <a:ext cx="134111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WHAT IS JAVASCRIPT: REVISITED</a:t>
            </a:r>
            <a:endParaRPr sz="4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212943" y="3733914"/>
            <a:ext cx="9982200" cy="4683125"/>
          </a:xfrm>
          <a:custGeom>
            <a:rect b="b" l="l" r="r" t="t"/>
            <a:pathLst>
              <a:path extrusionOk="0" h="4683125" w="9982200">
                <a:moveTo>
                  <a:pt x="9981892" y="0"/>
                </a:moveTo>
                <a:lnTo>
                  <a:pt x="0" y="0"/>
                </a:lnTo>
                <a:lnTo>
                  <a:pt x="0" y="4682824"/>
                </a:lnTo>
                <a:lnTo>
                  <a:pt x="9981892" y="4682824"/>
                </a:lnTo>
                <a:lnTo>
                  <a:pt x="9981892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" name="Google Shape;67;p3"/>
          <p:cNvSpPr txBox="1"/>
          <p:nvPr/>
        </p:nvSpPr>
        <p:spPr>
          <a:xfrm>
            <a:off x="6207473" y="4727520"/>
            <a:ext cx="7993380" cy="243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065" marR="5080" rtl="0" algn="ctr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JAVASCRIPT IS A HIGH-LEVEL, OBJECT-ORIENTED, MULTI-PARADIGM PROGRAMMING LANGUAGE.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3"/>
          <p:cNvGrpSpPr/>
          <p:nvPr/>
        </p:nvGrpSpPr>
        <p:grpSpPr>
          <a:xfrm>
            <a:off x="3529667" y="2155934"/>
            <a:ext cx="5310807" cy="3434238"/>
            <a:chOff x="3529667" y="2155934"/>
            <a:chExt cx="5310807" cy="3434238"/>
          </a:xfrm>
        </p:grpSpPr>
        <p:pic>
          <p:nvPicPr>
            <p:cNvPr id="69" name="Google Shape;6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29667" y="2155934"/>
              <a:ext cx="5310807" cy="34342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78772" y="2743592"/>
              <a:ext cx="3612598" cy="17360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3"/>
          <p:cNvSpPr txBox="1"/>
          <p:nvPr/>
        </p:nvSpPr>
        <p:spPr>
          <a:xfrm rot="-600000">
            <a:off x="4790238" y="3310490"/>
            <a:ext cx="3065116" cy="533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4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4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90398" y="8409854"/>
            <a:ext cx="2147170" cy="2147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 txBox="1"/>
          <p:nvPr>
            <p:ph type="title"/>
          </p:nvPr>
        </p:nvSpPr>
        <p:spPr>
          <a:xfrm>
            <a:off x="603309" y="259543"/>
            <a:ext cx="125729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JAVASCRIPT: REVISITED</a:t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580094" y="3343445"/>
            <a:ext cx="16944340" cy="5652135"/>
          </a:xfrm>
          <a:custGeom>
            <a:rect b="b" l="l" r="r" t="t"/>
            <a:pathLst>
              <a:path extrusionOk="0" h="5652134" w="16944340">
                <a:moveTo>
                  <a:pt x="16943913" y="0"/>
                </a:moveTo>
                <a:lnTo>
                  <a:pt x="0" y="0"/>
                </a:lnTo>
                <a:lnTo>
                  <a:pt x="0" y="5651545"/>
                </a:lnTo>
                <a:lnTo>
                  <a:pt x="16943913" y="5651545"/>
                </a:lnTo>
                <a:lnTo>
                  <a:pt x="16943913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" name="Google Shape;81;p4"/>
          <p:cNvSpPr txBox="1"/>
          <p:nvPr/>
        </p:nvSpPr>
        <p:spPr>
          <a:xfrm>
            <a:off x="2575546" y="4054339"/>
            <a:ext cx="1495361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38835" lvl="0" marL="850900" marR="5080" rtl="0" algn="l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JAVASCRIPT IS A HIGH-LEVEL, PROTOTYPE-BASED OBJECT-ORIENTED, MULTI-PARADIGM, INTERPRETED OR JUST-IN-TIME COMPILED,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2596827" y="5898261"/>
            <a:ext cx="6453505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DYNAMIC, SINGLE-THREADED,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9136604" y="5852458"/>
            <a:ext cx="4869180" cy="675640"/>
          </a:xfrm>
          <a:prstGeom prst="rect">
            <a:avLst/>
          </a:prstGeom>
          <a:solidFill>
            <a:srgbClr val="E7E7E7"/>
          </a:solidFill>
          <a:ln cap="flat" cmpd="sng" w="62825">
            <a:solidFill>
              <a:srgbClr val="F1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5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GARBAGE-COLLECTED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14035482" y="5898261"/>
            <a:ext cx="3472179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PROGRAMMING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2962759" y="6701378"/>
            <a:ext cx="3695700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LANGUAGE WITH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6703687" y="6664806"/>
            <a:ext cx="5547360" cy="675640"/>
          </a:xfrm>
          <a:prstGeom prst="rect">
            <a:avLst/>
          </a:prstGeom>
          <a:solidFill>
            <a:srgbClr val="E7E7E7"/>
          </a:solidFill>
          <a:ln cap="flat" cmpd="sng" w="62825">
            <a:solidFill>
              <a:srgbClr val="F1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55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12303962" y="6701378"/>
            <a:ext cx="4837430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AND A NON-BLOCKING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6041138" y="7504495"/>
            <a:ext cx="8021955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EVENT LOOP CONCURRENCY MODEL.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4"/>
          <p:cNvGrpSpPr/>
          <p:nvPr/>
        </p:nvGrpSpPr>
        <p:grpSpPr>
          <a:xfrm>
            <a:off x="285779" y="1810519"/>
            <a:ext cx="5310807" cy="3434238"/>
            <a:chOff x="285779" y="1810519"/>
            <a:chExt cx="5310807" cy="3434238"/>
          </a:xfrm>
        </p:grpSpPr>
        <p:pic>
          <p:nvPicPr>
            <p:cNvPr id="90" name="Google Shape;9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5779" y="1810519"/>
              <a:ext cx="5310807" cy="34342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34883" y="2398178"/>
              <a:ext cx="3612598" cy="17360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4"/>
          <p:cNvSpPr txBox="1"/>
          <p:nvPr/>
        </p:nvSpPr>
        <p:spPr>
          <a:xfrm rot="-600000">
            <a:off x="1788138" y="2904752"/>
            <a:ext cx="3265751" cy="533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4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4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4"/>
          <p:cNvGrpSpPr/>
          <p:nvPr/>
        </p:nvGrpSpPr>
        <p:grpSpPr>
          <a:xfrm>
            <a:off x="2508737" y="4269643"/>
            <a:ext cx="16828831" cy="6287381"/>
            <a:chOff x="2508737" y="4269643"/>
            <a:chExt cx="16828831" cy="6287381"/>
          </a:xfrm>
        </p:grpSpPr>
        <p:pic>
          <p:nvPicPr>
            <p:cNvPr id="94" name="Google Shape;94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190398" y="8409854"/>
              <a:ext cx="2147170" cy="2147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454973" y="7554871"/>
              <a:ext cx="523544" cy="523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229819" y="7554871"/>
              <a:ext cx="523544" cy="523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6015135" y="7554871"/>
              <a:ext cx="523544" cy="5235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4"/>
            <p:cNvSpPr/>
            <p:nvPr/>
          </p:nvSpPr>
          <p:spPr>
            <a:xfrm>
              <a:off x="6271662" y="4269643"/>
              <a:ext cx="2668270" cy="675640"/>
            </a:xfrm>
            <a:custGeom>
              <a:rect b="b" l="l" r="r" t="t"/>
              <a:pathLst>
                <a:path extrusionOk="0" h="675639" w="2668270">
                  <a:moveTo>
                    <a:pt x="0" y="0"/>
                  </a:moveTo>
                  <a:lnTo>
                    <a:pt x="2667993" y="0"/>
                  </a:lnTo>
                  <a:lnTo>
                    <a:pt x="2667993" y="675090"/>
                  </a:lnTo>
                  <a:lnTo>
                    <a:pt x="0" y="67509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9080029" y="4269643"/>
              <a:ext cx="8402320" cy="675640"/>
            </a:xfrm>
            <a:custGeom>
              <a:rect b="b" l="l" r="r" t="t"/>
              <a:pathLst>
                <a:path extrusionOk="0" h="675639" w="8402319">
                  <a:moveTo>
                    <a:pt x="0" y="0"/>
                  </a:moveTo>
                  <a:lnTo>
                    <a:pt x="8401702" y="0"/>
                  </a:lnTo>
                  <a:lnTo>
                    <a:pt x="8401702" y="675090"/>
                  </a:lnTo>
                  <a:lnTo>
                    <a:pt x="0" y="67509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3337344" y="5061051"/>
              <a:ext cx="3916679" cy="675640"/>
            </a:xfrm>
            <a:custGeom>
              <a:rect b="b" l="l" r="r" t="t"/>
              <a:pathLst>
                <a:path extrusionOk="0" h="675639" w="3916679">
                  <a:moveTo>
                    <a:pt x="0" y="0"/>
                  </a:moveTo>
                  <a:lnTo>
                    <a:pt x="3916071" y="0"/>
                  </a:lnTo>
                  <a:lnTo>
                    <a:pt x="3916071" y="675090"/>
                  </a:lnTo>
                  <a:lnTo>
                    <a:pt x="0" y="67509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7392205" y="5061051"/>
              <a:ext cx="9236075" cy="675640"/>
            </a:xfrm>
            <a:custGeom>
              <a:rect b="b" l="l" r="r" t="t"/>
              <a:pathLst>
                <a:path extrusionOk="0" h="675639" w="9236075">
                  <a:moveTo>
                    <a:pt x="0" y="0"/>
                  </a:moveTo>
                  <a:lnTo>
                    <a:pt x="9235611" y="0"/>
                  </a:lnTo>
                  <a:lnTo>
                    <a:pt x="9235611" y="675090"/>
                  </a:lnTo>
                  <a:lnTo>
                    <a:pt x="0" y="67509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2508737" y="5852458"/>
              <a:ext cx="2220595" cy="675640"/>
            </a:xfrm>
            <a:custGeom>
              <a:rect b="b" l="l" r="r" t="t"/>
              <a:pathLst>
                <a:path extrusionOk="0" h="675640" w="2220595">
                  <a:moveTo>
                    <a:pt x="0" y="0"/>
                  </a:moveTo>
                  <a:lnTo>
                    <a:pt x="2220335" y="0"/>
                  </a:lnTo>
                  <a:lnTo>
                    <a:pt x="2220335" y="675090"/>
                  </a:lnTo>
                  <a:lnTo>
                    <a:pt x="0" y="67509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4851546" y="5852458"/>
              <a:ext cx="4163060" cy="675640"/>
            </a:xfrm>
            <a:custGeom>
              <a:rect b="b" l="l" r="r" t="t"/>
              <a:pathLst>
                <a:path extrusionOk="0" h="675640" w="4163059">
                  <a:moveTo>
                    <a:pt x="0" y="0"/>
                  </a:moveTo>
                  <a:lnTo>
                    <a:pt x="4162586" y="0"/>
                  </a:lnTo>
                  <a:lnTo>
                    <a:pt x="4162586" y="675090"/>
                  </a:lnTo>
                  <a:lnTo>
                    <a:pt x="0" y="67509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6027878" y="7485248"/>
              <a:ext cx="7943850" cy="675640"/>
            </a:xfrm>
            <a:custGeom>
              <a:rect b="b" l="l" r="r" t="t"/>
              <a:pathLst>
                <a:path extrusionOk="0" h="675640" w="7943850">
                  <a:moveTo>
                    <a:pt x="0" y="0"/>
                  </a:moveTo>
                  <a:lnTo>
                    <a:pt x="7943635" y="0"/>
                  </a:lnTo>
                  <a:lnTo>
                    <a:pt x="7943635" y="675090"/>
                  </a:lnTo>
                  <a:lnTo>
                    <a:pt x="0" y="67509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603309" y="259543"/>
            <a:ext cx="154685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DECONSTRUCTING	THE MONSTER DEFINITION </a:t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562842" y="189982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562842" y="5941695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330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Prototype-based object-oriented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562842" y="493088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Multi-paradigm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562842" y="3918720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Interpreted or just-in-time compiled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562842" y="7964669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562842" y="8971392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Single-threaded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562842" y="2907913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Garbage-collected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562842" y="694977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562842" y="998083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Non-blocking event loop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562842" y="189982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562842" y="593761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330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Prototype-based object-oriented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562842" y="4929527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Multi-paradigm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562842" y="3915997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Interpreted or just-in-time compiled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562842" y="7961946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562842" y="897003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Single-threaded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562842" y="290933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Garbage-collected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562842" y="694977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562842" y="998083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Non-blocking event loop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6"/>
          <p:cNvGrpSpPr/>
          <p:nvPr/>
        </p:nvGrpSpPr>
        <p:grpSpPr>
          <a:xfrm>
            <a:off x="8159786" y="2819751"/>
            <a:ext cx="8604801" cy="3796350"/>
            <a:chOff x="8159786" y="2819751"/>
            <a:chExt cx="8604801" cy="3796350"/>
          </a:xfrm>
        </p:grpSpPr>
        <p:pic>
          <p:nvPicPr>
            <p:cNvPr id="133" name="Google Shape;133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59786" y="2819751"/>
              <a:ext cx="4446526" cy="3796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92748" y="3133878"/>
              <a:ext cx="2980461" cy="2330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313479" y="2819751"/>
              <a:ext cx="4451108" cy="3796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046440" y="3133878"/>
              <a:ext cx="2985072" cy="23302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6"/>
          <p:cNvSpPr txBox="1"/>
          <p:nvPr/>
        </p:nvSpPr>
        <p:spPr>
          <a:xfrm>
            <a:off x="12275868" y="3997522"/>
            <a:ext cx="368300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4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6"/>
          <p:cNvGrpSpPr/>
          <p:nvPr/>
        </p:nvGrpSpPr>
        <p:grpSpPr>
          <a:xfrm>
            <a:off x="7539786" y="2214831"/>
            <a:ext cx="8704427" cy="7748151"/>
            <a:chOff x="7539786" y="2214831"/>
            <a:chExt cx="8704427" cy="7748151"/>
          </a:xfrm>
        </p:grpSpPr>
        <p:pic>
          <p:nvPicPr>
            <p:cNvPr id="139" name="Google Shape;139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65646" y="2214831"/>
              <a:ext cx="303655" cy="303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39786" y="6467349"/>
              <a:ext cx="1843583" cy="18435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6"/>
            <p:cNvSpPr/>
            <p:nvPr/>
          </p:nvSpPr>
          <p:spPr>
            <a:xfrm>
              <a:off x="8538146" y="9411017"/>
              <a:ext cx="964565" cy="530225"/>
            </a:xfrm>
            <a:custGeom>
              <a:rect b="b" l="l" r="r" t="t"/>
              <a:pathLst>
                <a:path extrusionOk="0" h="530225" w="964565">
                  <a:moveTo>
                    <a:pt x="964186" y="529874"/>
                  </a:moveTo>
                  <a:lnTo>
                    <a:pt x="910610" y="528900"/>
                  </a:lnTo>
                  <a:lnTo>
                    <a:pt x="858134" y="525991"/>
                  </a:lnTo>
                  <a:lnTo>
                    <a:pt x="806759" y="521150"/>
                  </a:lnTo>
                  <a:lnTo>
                    <a:pt x="756484" y="514374"/>
                  </a:lnTo>
                  <a:lnTo>
                    <a:pt x="707310" y="505665"/>
                  </a:lnTo>
                  <a:lnTo>
                    <a:pt x="659236" y="495022"/>
                  </a:lnTo>
                  <a:lnTo>
                    <a:pt x="612263" y="482446"/>
                  </a:lnTo>
                  <a:lnTo>
                    <a:pt x="566390" y="467936"/>
                  </a:lnTo>
                  <a:lnTo>
                    <a:pt x="521618" y="451492"/>
                  </a:lnTo>
                  <a:lnTo>
                    <a:pt x="477947" y="433115"/>
                  </a:lnTo>
                  <a:lnTo>
                    <a:pt x="435376" y="412804"/>
                  </a:lnTo>
                  <a:lnTo>
                    <a:pt x="393906" y="390559"/>
                  </a:lnTo>
                  <a:lnTo>
                    <a:pt x="353536" y="366381"/>
                  </a:lnTo>
                  <a:lnTo>
                    <a:pt x="314267" y="340269"/>
                  </a:lnTo>
                  <a:lnTo>
                    <a:pt x="276098" y="312223"/>
                  </a:lnTo>
                  <a:lnTo>
                    <a:pt x="239030" y="282244"/>
                  </a:lnTo>
                  <a:lnTo>
                    <a:pt x="203062" y="250331"/>
                  </a:lnTo>
                  <a:lnTo>
                    <a:pt x="168195" y="216484"/>
                  </a:lnTo>
                  <a:lnTo>
                    <a:pt x="134429" y="180703"/>
                  </a:lnTo>
                  <a:lnTo>
                    <a:pt x="101763" y="142989"/>
                  </a:lnTo>
                  <a:lnTo>
                    <a:pt x="70198" y="103342"/>
                  </a:lnTo>
                  <a:lnTo>
                    <a:pt x="39733" y="61760"/>
                  </a:lnTo>
                  <a:lnTo>
                    <a:pt x="10369" y="18245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8461578" y="9276285"/>
              <a:ext cx="163830" cy="196850"/>
            </a:xfrm>
            <a:custGeom>
              <a:rect b="b" l="l" r="r" t="t"/>
              <a:pathLst>
                <a:path extrusionOk="0" h="196850" w="163829">
                  <a:moveTo>
                    <a:pt x="0" y="0"/>
                  </a:moveTo>
                  <a:lnTo>
                    <a:pt x="10444" y="196396"/>
                  </a:lnTo>
                  <a:lnTo>
                    <a:pt x="163384" y="109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3" name="Google Shape;143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4563294" y="6639981"/>
              <a:ext cx="1680919" cy="1498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2872697" y="6665318"/>
              <a:ext cx="1447643" cy="14476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6"/>
            <p:cNvSpPr/>
            <p:nvPr/>
          </p:nvSpPr>
          <p:spPr>
            <a:xfrm>
              <a:off x="14473022" y="9413707"/>
              <a:ext cx="1005205" cy="549275"/>
            </a:xfrm>
            <a:custGeom>
              <a:rect b="b" l="l" r="r" t="t"/>
              <a:pathLst>
                <a:path extrusionOk="0" h="549275" w="1005205">
                  <a:moveTo>
                    <a:pt x="1004897" y="549271"/>
                  </a:moveTo>
                  <a:lnTo>
                    <a:pt x="946543" y="542162"/>
                  </a:lnTo>
                  <a:lnTo>
                    <a:pt x="889656" y="533748"/>
                  </a:lnTo>
                  <a:lnTo>
                    <a:pt x="834239" y="524030"/>
                  </a:lnTo>
                  <a:lnTo>
                    <a:pt x="780290" y="513008"/>
                  </a:lnTo>
                  <a:lnTo>
                    <a:pt x="727809" y="500681"/>
                  </a:lnTo>
                  <a:lnTo>
                    <a:pt x="676797" y="487049"/>
                  </a:lnTo>
                  <a:lnTo>
                    <a:pt x="627254" y="472113"/>
                  </a:lnTo>
                  <a:lnTo>
                    <a:pt x="579179" y="455873"/>
                  </a:lnTo>
                  <a:lnTo>
                    <a:pt x="532572" y="438328"/>
                  </a:lnTo>
                  <a:lnTo>
                    <a:pt x="487434" y="419478"/>
                  </a:lnTo>
                  <a:lnTo>
                    <a:pt x="443765" y="399324"/>
                  </a:lnTo>
                  <a:lnTo>
                    <a:pt x="401564" y="377865"/>
                  </a:lnTo>
                  <a:lnTo>
                    <a:pt x="360832" y="355102"/>
                  </a:lnTo>
                  <a:lnTo>
                    <a:pt x="321568" y="331035"/>
                  </a:lnTo>
                  <a:lnTo>
                    <a:pt x="283773" y="305663"/>
                  </a:lnTo>
                  <a:lnTo>
                    <a:pt x="247446" y="278986"/>
                  </a:lnTo>
                  <a:lnTo>
                    <a:pt x="212588" y="251005"/>
                  </a:lnTo>
                  <a:lnTo>
                    <a:pt x="179199" y="221720"/>
                  </a:lnTo>
                  <a:lnTo>
                    <a:pt x="147278" y="191130"/>
                  </a:lnTo>
                  <a:lnTo>
                    <a:pt x="116825" y="159235"/>
                  </a:lnTo>
                  <a:lnTo>
                    <a:pt x="87841" y="126036"/>
                  </a:lnTo>
                  <a:lnTo>
                    <a:pt x="60326" y="91533"/>
                  </a:lnTo>
                  <a:lnTo>
                    <a:pt x="34279" y="55724"/>
                  </a:lnTo>
                  <a:lnTo>
                    <a:pt x="9701" y="18612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14401393" y="9276285"/>
              <a:ext cx="159385" cy="196850"/>
            </a:xfrm>
            <a:custGeom>
              <a:rect b="b" l="l" r="r" t="t"/>
              <a:pathLst>
                <a:path extrusionOk="0" h="196850" w="159384">
                  <a:moveTo>
                    <a:pt x="0" y="0"/>
                  </a:moveTo>
                  <a:lnTo>
                    <a:pt x="3308" y="196646"/>
                  </a:lnTo>
                  <a:lnTo>
                    <a:pt x="159304" y="115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7" name="Google Shape;147;p6"/>
          <p:cNvSpPr txBox="1"/>
          <p:nvPr/>
        </p:nvSpPr>
        <p:spPr>
          <a:xfrm>
            <a:off x="9661948" y="2158448"/>
            <a:ext cx="6136005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Any computer program needs resources: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7557380" y="8624007"/>
            <a:ext cx="1798320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LOW-LEVEL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9818627" y="9453180"/>
            <a:ext cx="3126105" cy="80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Developer has to manage resources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manually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13624697" y="8624007"/>
            <a:ext cx="1913889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15736893" y="9346551"/>
            <a:ext cx="3152140" cy="1200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Developer does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have to worry, everything happens automatically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>
            <p:ph type="title"/>
          </p:nvPr>
        </p:nvSpPr>
        <p:spPr>
          <a:xfrm>
            <a:off x="603309" y="259543"/>
            <a:ext cx="15133584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DECONSTRUCTING	THE MONSTER DEFINITION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/>
        </p:nvSpPr>
        <p:spPr>
          <a:xfrm>
            <a:off x="562842" y="189982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562842" y="593761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330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Prototype-based object-oriented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562842" y="4929527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Multi-paradigm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562842" y="3915997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Interpreted or just-in-time compiled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562842" y="7961946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562842" y="897003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Single-threaded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562842" y="290933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Garbage-collected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562842" y="694977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562842" y="998083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Non-blocking event loop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196863" y="4301465"/>
            <a:ext cx="6832682" cy="3863540"/>
            <a:chOff x="9196863" y="4301465"/>
            <a:chExt cx="6832682" cy="3863540"/>
          </a:xfrm>
        </p:grpSpPr>
        <p:pic>
          <p:nvPicPr>
            <p:cNvPr id="167" name="Google Shape;16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196863" y="4368655"/>
              <a:ext cx="4446526" cy="3796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29825" y="4682781"/>
              <a:ext cx="2980461" cy="2330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125694" y="4301465"/>
              <a:ext cx="2094177" cy="2094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652523" y="5266646"/>
              <a:ext cx="732961" cy="7329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7"/>
            <p:cNvSpPr/>
            <p:nvPr/>
          </p:nvSpPr>
          <p:spPr>
            <a:xfrm>
              <a:off x="14989415" y="5739575"/>
              <a:ext cx="1040130" cy="293370"/>
            </a:xfrm>
            <a:custGeom>
              <a:rect b="b" l="l" r="r" t="t"/>
              <a:pathLst>
                <a:path extrusionOk="0" h="293370" w="1040130">
                  <a:moveTo>
                    <a:pt x="1039785" y="293017"/>
                  </a:moveTo>
                  <a:lnTo>
                    <a:pt x="1007097" y="263879"/>
                  </a:lnTo>
                  <a:lnTo>
                    <a:pt x="973110" y="236266"/>
                  </a:lnTo>
                  <a:lnTo>
                    <a:pt x="937826" y="210177"/>
                  </a:lnTo>
                  <a:lnTo>
                    <a:pt x="901244" y="185614"/>
                  </a:lnTo>
                  <a:lnTo>
                    <a:pt x="863364" y="162575"/>
                  </a:lnTo>
                  <a:lnTo>
                    <a:pt x="824187" y="141062"/>
                  </a:lnTo>
                  <a:lnTo>
                    <a:pt x="783712" y="121074"/>
                  </a:lnTo>
                  <a:lnTo>
                    <a:pt x="741939" y="102610"/>
                  </a:lnTo>
                  <a:lnTo>
                    <a:pt x="698868" y="85672"/>
                  </a:lnTo>
                  <a:lnTo>
                    <a:pt x="654500" y="70258"/>
                  </a:lnTo>
                  <a:lnTo>
                    <a:pt x="608834" y="56370"/>
                  </a:lnTo>
                  <a:lnTo>
                    <a:pt x="561870" y="44007"/>
                  </a:lnTo>
                  <a:lnTo>
                    <a:pt x="513609" y="33168"/>
                  </a:lnTo>
                  <a:lnTo>
                    <a:pt x="464049" y="23855"/>
                  </a:lnTo>
                  <a:lnTo>
                    <a:pt x="413192" y="16066"/>
                  </a:lnTo>
                  <a:lnTo>
                    <a:pt x="361038" y="9803"/>
                  </a:lnTo>
                  <a:lnTo>
                    <a:pt x="307585" y="5065"/>
                  </a:lnTo>
                  <a:lnTo>
                    <a:pt x="252835" y="1851"/>
                  </a:lnTo>
                  <a:lnTo>
                    <a:pt x="196787" y="163"/>
                  </a:lnTo>
                  <a:lnTo>
                    <a:pt x="139441" y="0"/>
                  </a:lnTo>
                  <a:lnTo>
                    <a:pt x="80798" y="1361"/>
                  </a:lnTo>
                  <a:lnTo>
                    <a:pt x="20856" y="4248"/>
                  </a:lnTo>
                  <a:lnTo>
                    <a:pt x="0" y="6182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4835108" y="5656244"/>
              <a:ext cx="183515" cy="175260"/>
            </a:xfrm>
            <a:custGeom>
              <a:rect b="b" l="l" r="r" t="t"/>
              <a:pathLst>
                <a:path extrusionOk="0" h="175260" w="183515">
                  <a:moveTo>
                    <a:pt x="167031" y="0"/>
                  </a:moveTo>
                  <a:lnTo>
                    <a:pt x="0" y="103827"/>
                  </a:lnTo>
                  <a:lnTo>
                    <a:pt x="183282" y="175159"/>
                  </a:lnTo>
                  <a:lnTo>
                    <a:pt x="167031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3" name="Google Shape;173;p7"/>
          <p:cNvSpPr txBox="1"/>
          <p:nvPr/>
        </p:nvSpPr>
        <p:spPr>
          <a:xfrm>
            <a:off x="16201057" y="5685075"/>
            <a:ext cx="263017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Cleaning the memory so we don’t have to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>
            <p:ph type="title"/>
          </p:nvPr>
        </p:nvSpPr>
        <p:spPr>
          <a:xfrm>
            <a:off x="603309" y="259543"/>
            <a:ext cx="12522385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DECONSTRUCTING	THE MONSTER DEFINITION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/>
          <p:nvPr/>
        </p:nvSpPr>
        <p:spPr>
          <a:xfrm>
            <a:off x="562842" y="189982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562842" y="593761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330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Prototype-based object-oriented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562842" y="4929527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Multi-paradigm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562842" y="391599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Interpreted or just-in-time compiled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562842" y="7961946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562842" y="897003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Single-threaded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562842" y="290933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Garbage-collected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562842" y="694977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562842" y="998083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Non-blocking event loop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8"/>
          <p:cNvGrpSpPr/>
          <p:nvPr/>
        </p:nvGrpSpPr>
        <p:grpSpPr>
          <a:xfrm>
            <a:off x="7264869" y="2999727"/>
            <a:ext cx="11405870" cy="7220021"/>
            <a:chOff x="7264869" y="2999727"/>
            <a:chExt cx="11405870" cy="7220021"/>
          </a:xfrm>
        </p:grpSpPr>
        <p:sp>
          <p:nvSpPr>
            <p:cNvPr id="189" name="Google Shape;189;p8"/>
            <p:cNvSpPr/>
            <p:nvPr/>
          </p:nvSpPr>
          <p:spPr>
            <a:xfrm>
              <a:off x="15695257" y="3083058"/>
              <a:ext cx="1040130" cy="293370"/>
            </a:xfrm>
            <a:custGeom>
              <a:rect b="b" l="l" r="r" t="t"/>
              <a:pathLst>
                <a:path extrusionOk="0" h="293370" w="1040130">
                  <a:moveTo>
                    <a:pt x="1039785" y="293017"/>
                  </a:moveTo>
                  <a:lnTo>
                    <a:pt x="1007097" y="263879"/>
                  </a:lnTo>
                  <a:lnTo>
                    <a:pt x="973110" y="236266"/>
                  </a:lnTo>
                  <a:lnTo>
                    <a:pt x="937826" y="210177"/>
                  </a:lnTo>
                  <a:lnTo>
                    <a:pt x="901244" y="185614"/>
                  </a:lnTo>
                  <a:lnTo>
                    <a:pt x="863364" y="162575"/>
                  </a:lnTo>
                  <a:lnTo>
                    <a:pt x="824187" y="141062"/>
                  </a:lnTo>
                  <a:lnTo>
                    <a:pt x="783712" y="121074"/>
                  </a:lnTo>
                  <a:lnTo>
                    <a:pt x="741939" y="102610"/>
                  </a:lnTo>
                  <a:lnTo>
                    <a:pt x="698868" y="85672"/>
                  </a:lnTo>
                  <a:lnTo>
                    <a:pt x="654500" y="70258"/>
                  </a:lnTo>
                  <a:lnTo>
                    <a:pt x="608834" y="56370"/>
                  </a:lnTo>
                  <a:lnTo>
                    <a:pt x="561870" y="44007"/>
                  </a:lnTo>
                  <a:lnTo>
                    <a:pt x="513609" y="33168"/>
                  </a:lnTo>
                  <a:lnTo>
                    <a:pt x="464049" y="23855"/>
                  </a:lnTo>
                  <a:lnTo>
                    <a:pt x="413192" y="16066"/>
                  </a:lnTo>
                  <a:lnTo>
                    <a:pt x="361038" y="9803"/>
                  </a:lnTo>
                  <a:lnTo>
                    <a:pt x="307585" y="5065"/>
                  </a:lnTo>
                  <a:lnTo>
                    <a:pt x="252835" y="1851"/>
                  </a:lnTo>
                  <a:lnTo>
                    <a:pt x="196787" y="163"/>
                  </a:lnTo>
                  <a:lnTo>
                    <a:pt x="139441" y="0"/>
                  </a:lnTo>
                  <a:lnTo>
                    <a:pt x="80798" y="1361"/>
                  </a:lnTo>
                  <a:lnTo>
                    <a:pt x="20856" y="4248"/>
                  </a:lnTo>
                  <a:lnTo>
                    <a:pt x="0" y="6182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15540950" y="2999727"/>
              <a:ext cx="183515" cy="175260"/>
            </a:xfrm>
            <a:custGeom>
              <a:rect b="b" l="l" r="r" t="t"/>
              <a:pathLst>
                <a:path extrusionOk="0" h="175260" w="183515">
                  <a:moveTo>
                    <a:pt x="167042" y="0"/>
                  </a:moveTo>
                  <a:lnTo>
                    <a:pt x="0" y="103826"/>
                  </a:lnTo>
                  <a:lnTo>
                    <a:pt x="183282" y="175159"/>
                  </a:lnTo>
                  <a:lnTo>
                    <a:pt x="16704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7264869" y="8928158"/>
              <a:ext cx="11405870" cy="1291590"/>
            </a:xfrm>
            <a:custGeom>
              <a:rect b="b" l="l" r="r" t="t"/>
              <a:pathLst>
                <a:path extrusionOk="0" h="1291590" w="11405869">
                  <a:moveTo>
                    <a:pt x="11405338" y="0"/>
                  </a:moveTo>
                  <a:lnTo>
                    <a:pt x="0" y="0"/>
                  </a:lnTo>
                  <a:lnTo>
                    <a:pt x="0" y="1291030"/>
                  </a:lnTo>
                  <a:lnTo>
                    <a:pt x="11405338" y="1291030"/>
                  </a:lnTo>
                  <a:lnTo>
                    <a:pt x="11405338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2" name="Google Shape;192;p8"/>
          <p:cNvSpPr txBox="1"/>
          <p:nvPr/>
        </p:nvSpPr>
        <p:spPr>
          <a:xfrm>
            <a:off x="16921925" y="3073611"/>
            <a:ext cx="204470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Abstraction over 0s and 1s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9768395" y="9336692"/>
            <a:ext cx="578294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More about this </a:t>
            </a: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Later in this Section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8"/>
          <p:cNvGrpSpPr/>
          <p:nvPr/>
        </p:nvGrpSpPr>
        <p:grpSpPr>
          <a:xfrm>
            <a:off x="8829057" y="1969375"/>
            <a:ext cx="7328807" cy="7777911"/>
            <a:chOff x="8829057" y="1969375"/>
            <a:chExt cx="7328807" cy="7777911"/>
          </a:xfrm>
        </p:grpSpPr>
        <p:pic>
          <p:nvPicPr>
            <p:cNvPr id="195" name="Google Shape;19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801854" y="9391276"/>
              <a:ext cx="356010" cy="35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29057" y="1969375"/>
              <a:ext cx="7065136" cy="31767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62019" y="2283502"/>
              <a:ext cx="5599212" cy="17108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646680" y="5842432"/>
              <a:ext cx="5429808" cy="3132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379642" y="6156560"/>
              <a:ext cx="3963822" cy="16667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8"/>
            <p:cNvSpPr/>
            <p:nvPr/>
          </p:nvSpPr>
          <p:spPr>
            <a:xfrm>
              <a:off x="12361623" y="4383360"/>
              <a:ext cx="0" cy="1127760"/>
            </a:xfrm>
            <a:custGeom>
              <a:rect b="b" l="l" r="r" t="t"/>
              <a:pathLst>
                <a:path extrusionOk="0" h="1127760" w="120000">
                  <a:moveTo>
                    <a:pt x="0" y="0"/>
                  </a:moveTo>
                  <a:lnTo>
                    <a:pt x="0" y="1085418"/>
                  </a:lnTo>
                  <a:lnTo>
                    <a:pt x="0" y="1127301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12198277" y="5468780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326691" y="0"/>
                  </a:moveTo>
                  <a:lnTo>
                    <a:pt x="0" y="0"/>
                  </a:lnTo>
                  <a:lnTo>
                    <a:pt x="163345" y="326691"/>
                  </a:lnTo>
                  <a:lnTo>
                    <a:pt x="326691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2" name="Google Shape;202;p8"/>
          <p:cNvSpPr txBox="1"/>
          <p:nvPr/>
        </p:nvSpPr>
        <p:spPr>
          <a:xfrm>
            <a:off x="12775445" y="4881645"/>
            <a:ext cx="6261735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CONVERT TO MACHINE CODE = COMPILING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>
            <p:ph type="title"/>
          </p:nvPr>
        </p:nvSpPr>
        <p:spPr>
          <a:xfrm>
            <a:off x="603309" y="259543"/>
            <a:ext cx="12172136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DECONSTRUCTING	THE MONSTER DEFINITION </a:t>
            </a:r>
            <a:endParaRPr/>
          </a:p>
        </p:txBody>
      </p:sp>
      <p:grpSp>
        <p:nvGrpSpPr>
          <p:cNvPr id="204" name="Google Shape;204;p8"/>
          <p:cNvGrpSpPr/>
          <p:nvPr/>
        </p:nvGrpSpPr>
        <p:grpSpPr>
          <a:xfrm>
            <a:off x="15289524" y="5445215"/>
            <a:ext cx="1225035" cy="1122496"/>
            <a:chOff x="15289524" y="5445215"/>
            <a:chExt cx="1225035" cy="1122496"/>
          </a:xfrm>
        </p:grpSpPr>
        <p:sp>
          <p:nvSpPr>
            <p:cNvPr id="205" name="Google Shape;205;p8"/>
            <p:cNvSpPr/>
            <p:nvPr/>
          </p:nvSpPr>
          <p:spPr>
            <a:xfrm>
              <a:off x="15372829" y="5598067"/>
              <a:ext cx="1141730" cy="969644"/>
            </a:xfrm>
            <a:custGeom>
              <a:rect b="b" l="l" r="r" t="t"/>
              <a:pathLst>
                <a:path extrusionOk="0" h="969645" w="1141730">
                  <a:moveTo>
                    <a:pt x="1141404" y="969242"/>
                  </a:moveTo>
                  <a:lnTo>
                    <a:pt x="1088162" y="967465"/>
                  </a:lnTo>
                  <a:lnTo>
                    <a:pt x="1036140" y="964198"/>
                  </a:lnTo>
                  <a:lnTo>
                    <a:pt x="985338" y="959441"/>
                  </a:lnTo>
                  <a:lnTo>
                    <a:pt x="935754" y="953194"/>
                  </a:lnTo>
                  <a:lnTo>
                    <a:pt x="887390" y="945458"/>
                  </a:lnTo>
                  <a:lnTo>
                    <a:pt x="840245" y="936233"/>
                  </a:lnTo>
                  <a:lnTo>
                    <a:pt x="794320" y="925517"/>
                  </a:lnTo>
                  <a:lnTo>
                    <a:pt x="749614" y="913312"/>
                  </a:lnTo>
                  <a:lnTo>
                    <a:pt x="706127" y="899617"/>
                  </a:lnTo>
                  <a:lnTo>
                    <a:pt x="663859" y="884433"/>
                  </a:lnTo>
                  <a:lnTo>
                    <a:pt x="622811" y="867758"/>
                  </a:lnTo>
                  <a:lnTo>
                    <a:pt x="582982" y="849594"/>
                  </a:lnTo>
                  <a:lnTo>
                    <a:pt x="544373" y="829941"/>
                  </a:lnTo>
                  <a:lnTo>
                    <a:pt x="506983" y="808797"/>
                  </a:lnTo>
                  <a:lnTo>
                    <a:pt x="470812" y="786164"/>
                  </a:lnTo>
                  <a:lnTo>
                    <a:pt x="435860" y="762042"/>
                  </a:lnTo>
                  <a:lnTo>
                    <a:pt x="402128" y="736429"/>
                  </a:lnTo>
                  <a:lnTo>
                    <a:pt x="369615" y="709327"/>
                  </a:lnTo>
                  <a:lnTo>
                    <a:pt x="338321" y="680735"/>
                  </a:lnTo>
                  <a:lnTo>
                    <a:pt x="308247" y="650654"/>
                  </a:lnTo>
                  <a:lnTo>
                    <a:pt x="279392" y="619083"/>
                  </a:lnTo>
                  <a:lnTo>
                    <a:pt x="251757" y="586022"/>
                  </a:lnTo>
                  <a:lnTo>
                    <a:pt x="225340" y="551471"/>
                  </a:lnTo>
                  <a:lnTo>
                    <a:pt x="200143" y="515431"/>
                  </a:lnTo>
                  <a:lnTo>
                    <a:pt x="176166" y="477901"/>
                  </a:lnTo>
                  <a:lnTo>
                    <a:pt x="153407" y="438882"/>
                  </a:lnTo>
                  <a:lnTo>
                    <a:pt x="131868" y="398372"/>
                  </a:lnTo>
                  <a:lnTo>
                    <a:pt x="111548" y="356373"/>
                  </a:lnTo>
                  <a:lnTo>
                    <a:pt x="92448" y="312885"/>
                  </a:lnTo>
                  <a:lnTo>
                    <a:pt x="74567" y="267906"/>
                  </a:lnTo>
                  <a:lnTo>
                    <a:pt x="57905" y="221438"/>
                  </a:lnTo>
                  <a:lnTo>
                    <a:pt x="42463" y="173480"/>
                  </a:lnTo>
                  <a:lnTo>
                    <a:pt x="28240" y="124033"/>
                  </a:lnTo>
                  <a:lnTo>
                    <a:pt x="15236" y="73096"/>
                  </a:lnTo>
                  <a:lnTo>
                    <a:pt x="3451" y="20669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15289524" y="5445215"/>
              <a:ext cx="173990" cy="188595"/>
            </a:xfrm>
            <a:custGeom>
              <a:rect b="b" l="l" r="r" t="t"/>
              <a:pathLst>
                <a:path extrusionOk="0" h="188595" w="173990">
                  <a:moveTo>
                    <a:pt x="57778" y="0"/>
                  </a:moveTo>
                  <a:lnTo>
                    <a:pt x="0" y="187996"/>
                  </a:lnTo>
                  <a:lnTo>
                    <a:pt x="173513" y="159020"/>
                  </a:lnTo>
                  <a:lnTo>
                    <a:pt x="57778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7" name="Google Shape;207;p8"/>
          <p:cNvSpPr txBox="1"/>
          <p:nvPr/>
        </p:nvSpPr>
        <p:spPr>
          <a:xfrm>
            <a:off x="16765407" y="6207826"/>
            <a:ext cx="237934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Happens inside the JavaScript engine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/>
        </p:nvSpPr>
        <p:spPr>
          <a:xfrm>
            <a:off x="562842" y="189982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562842" y="593761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330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Prototype-based object-oriented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562842" y="492952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Multi-paradigm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562842" y="391599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Interpreted or just-in-time compiled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562842" y="7961946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562842" y="897003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Single-threaded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562842" y="290933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Garbage-collected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562842" y="694977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562842" y="998083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Non-blocking event loop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 txBox="1"/>
          <p:nvPr>
            <p:ph type="title"/>
          </p:nvPr>
        </p:nvSpPr>
        <p:spPr>
          <a:xfrm>
            <a:off x="603309" y="259543"/>
            <a:ext cx="130301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DECONSTRUCTING	THE MONSTER DEFINITION 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7264869" y="8928158"/>
            <a:ext cx="11405870" cy="1291590"/>
          </a:xfrm>
          <a:custGeom>
            <a:rect b="b" l="l" r="r" t="t"/>
            <a:pathLst>
              <a:path extrusionOk="0" h="1291590" w="11405869">
                <a:moveTo>
                  <a:pt x="11405338" y="0"/>
                </a:moveTo>
                <a:lnTo>
                  <a:pt x="0" y="0"/>
                </a:lnTo>
                <a:lnTo>
                  <a:pt x="0" y="1291030"/>
                </a:lnTo>
                <a:lnTo>
                  <a:pt x="11405338" y="1291030"/>
                </a:lnTo>
                <a:lnTo>
                  <a:pt x="11405338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3" name="Google Shape;223;p9"/>
          <p:cNvSpPr txBox="1"/>
          <p:nvPr/>
        </p:nvSpPr>
        <p:spPr>
          <a:xfrm>
            <a:off x="7264869" y="8928158"/>
            <a:ext cx="11405870" cy="129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725">
            <a:spAutoFit/>
          </a:bodyPr>
          <a:lstStyle/>
          <a:p>
            <a:pPr indent="0" lvl="0" marL="0" marR="61785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More about this later in </a:t>
            </a: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Multiple Sections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9"/>
          <p:cNvGrpSpPr/>
          <p:nvPr/>
        </p:nvGrpSpPr>
        <p:grpSpPr>
          <a:xfrm>
            <a:off x="7121798" y="2134566"/>
            <a:ext cx="9413341" cy="7611083"/>
            <a:chOff x="7121798" y="2134566"/>
            <a:chExt cx="9413341" cy="7611083"/>
          </a:xfrm>
        </p:grpSpPr>
        <p:pic>
          <p:nvPicPr>
            <p:cNvPr id="225" name="Google Shape;22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168659" y="9379169"/>
              <a:ext cx="366480" cy="366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21798" y="2134566"/>
              <a:ext cx="303655" cy="303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9"/>
            <p:cNvSpPr/>
            <p:nvPr/>
          </p:nvSpPr>
          <p:spPr>
            <a:xfrm>
              <a:off x="7684388" y="4726406"/>
              <a:ext cx="594360" cy="594360"/>
            </a:xfrm>
            <a:custGeom>
              <a:rect b="b" l="l" r="r" t="t"/>
              <a:pathLst>
                <a:path extrusionOk="0" h="594360" w="594359">
                  <a:moveTo>
                    <a:pt x="296880" y="0"/>
                  </a:moveTo>
                  <a:lnTo>
                    <a:pt x="251437" y="3478"/>
                  </a:lnTo>
                  <a:lnTo>
                    <a:pt x="206858" y="13912"/>
                  </a:lnTo>
                  <a:lnTo>
                    <a:pt x="164009" y="31303"/>
                  </a:lnTo>
                  <a:lnTo>
                    <a:pt x="123752" y="55650"/>
                  </a:lnTo>
                  <a:lnTo>
                    <a:pt x="86954" y="86954"/>
                  </a:lnTo>
                  <a:lnTo>
                    <a:pt x="55650" y="123752"/>
                  </a:lnTo>
                  <a:lnTo>
                    <a:pt x="31303" y="164009"/>
                  </a:lnTo>
                  <a:lnTo>
                    <a:pt x="13912" y="206858"/>
                  </a:lnTo>
                  <a:lnTo>
                    <a:pt x="3478" y="251437"/>
                  </a:lnTo>
                  <a:lnTo>
                    <a:pt x="0" y="296880"/>
                  </a:lnTo>
                  <a:lnTo>
                    <a:pt x="3478" y="342323"/>
                  </a:lnTo>
                  <a:lnTo>
                    <a:pt x="13912" y="386901"/>
                  </a:lnTo>
                  <a:lnTo>
                    <a:pt x="31303" y="429751"/>
                  </a:lnTo>
                  <a:lnTo>
                    <a:pt x="55650" y="470007"/>
                  </a:lnTo>
                  <a:lnTo>
                    <a:pt x="86954" y="506806"/>
                  </a:lnTo>
                  <a:lnTo>
                    <a:pt x="123752" y="538109"/>
                  </a:lnTo>
                  <a:lnTo>
                    <a:pt x="164009" y="562456"/>
                  </a:lnTo>
                  <a:lnTo>
                    <a:pt x="206858" y="579847"/>
                  </a:lnTo>
                  <a:lnTo>
                    <a:pt x="251437" y="590282"/>
                  </a:lnTo>
                  <a:lnTo>
                    <a:pt x="296880" y="593760"/>
                  </a:lnTo>
                  <a:lnTo>
                    <a:pt x="342323" y="590282"/>
                  </a:lnTo>
                  <a:lnTo>
                    <a:pt x="386901" y="579847"/>
                  </a:lnTo>
                  <a:lnTo>
                    <a:pt x="429751" y="562456"/>
                  </a:lnTo>
                  <a:lnTo>
                    <a:pt x="470007" y="538109"/>
                  </a:lnTo>
                  <a:lnTo>
                    <a:pt x="506806" y="506806"/>
                  </a:lnTo>
                  <a:lnTo>
                    <a:pt x="538109" y="470007"/>
                  </a:lnTo>
                  <a:lnTo>
                    <a:pt x="562456" y="429751"/>
                  </a:lnTo>
                  <a:lnTo>
                    <a:pt x="579847" y="386901"/>
                  </a:lnTo>
                  <a:lnTo>
                    <a:pt x="590282" y="342323"/>
                  </a:lnTo>
                  <a:lnTo>
                    <a:pt x="593760" y="296880"/>
                  </a:lnTo>
                  <a:lnTo>
                    <a:pt x="590282" y="251437"/>
                  </a:lnTo>
                  <a:lnTo>
                    <a:pt x="579847" y="206858"/>
                  </a:lnTo>
                  <a:lnTo>
                    <a:pt x="562456" y="164009"/>
                  </a:lnTo>
                  <a:lnTo>
                    <a:pt x="538109" y="123752"/>
                  </a:lnTo>
                  <a:lnTo>
                    <a:pt x="506806" y="86954"/>
                  </a:lnTo>
                  <a:lnTo>
                    <a:pt x="470007" y="55650"/>
                  </a:lnTo>
                  <a:lnTo>
                    <a:pt x="429751" y="31303"/>
                  </a:lnTo>
                  <a:lnTo>
                    <a:pt x="386901" y="13912"/>
                  </a:lnTo>
                  <a:lnTo>
                    <a:pt x="342323" y="3478"/>
                  </a:lnTo>
                  <a:lnTo>
                    <a:pt x="296880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8" name="Google Shape;228;p9"/>
          <p:cNvSpPr txBox="1"/>
          <p:nvPr/>
        </p:nvSpPr>
        <p:spPr>
          <a:xfrm>
            <a:off x="7618100" y="1939969"/>
            <a:ext cx="9876155" cy="1106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Paradigm</a:t>
            </a: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: An approach and mindset of structuring code, which will direct your coding style and technique.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7878456" y="4794419"/>
            <a:ext cx="4555490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baseline="30000" lang="en-US" sz="39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Procedural programming</a:t>
            </a:r>
            <a:endParaRPr baseline="30000"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7669369" y="5640112"/>
            <a:ext cx="594360" cy="594360"/>
          </a:xfrm>
          <a:custGeom>
            <a:rect b="b" l="l" r="r" t="t"/>
            <a:pathLst>
              <a:path extrusionOk="0" h="594360" w="594359">
                <a:moveTo>
                  <a:pt x="296880" y="0"/>
                </a:moveTo>
                <a:lnTo>
                  <a:pt x="251437" y="3478"/>
                </a:lnTo>
                <a:lnTo>
                  <a:pt x="206858" y="13912"/>
                </a:lnTo>
                <a:lnTo>
                  <a:pt x="164009" y="31303"/>
                </a:lnTo>
                <a:lnTo>
                  <a:pt x="123752" y="55650"/>
                </a:lnTo>
                <a:lnTo>
                  <a:pt x="86954" y="86954"/>
                </a:lnTo>
                <a:lnTo>
                  <a:pt x="55650" y="123752"/>
                </a:lnTo>
                <a:lnTo>
                  <a:pt x="31303" y="164009"/>
                </a:lnTo>
                <a:lnTo>
                  <a:pt x="13912" y="206858"/>
                </a:lnTo>
                <a:lnTo>
                  <a:pt x="3478" y="251436"/>
                </a:lnTo>
                <a:lnTo>
                  <a:pt x="0" y="296879"/>
                </a:lnTo>
                <a:lnTo>
                  <a:pt x="3478" y="342322"/>
                </a:lnTo>
                <a:lnTo>
                  <a:pt x="13912" y="386900"/>
                </a:lnTo>
                <a:lnTo>
                  <a:pt x="31303" y="429750"/>
                </a:lnTo>
                <a:lnTo>
                  <a:pt x="55650" y="470006"/>
                </a:lnTo>
                <a:lnTo>
                  <a:pt x="86954" y="506805"/>
                </a:lnTo>
                <a:lnTo>
                  <a:pt x="123752" y="538108"/>
                </a:lnTo>
                <a:lnTo>
                  <a:pt x="164009" y="562455"/>
                </a:lnTo>
                <a:lnTo>
                  <a:pt x="206858" y="579846"/>
                </a:lnTo>
                <a:lnTo>
                  <a:pt x="251437" y="590281"/>
                </a:lnTo>
                <a:lnTo>
                  <a:pt x="296880" y="593759"/>
                </a:lnTo>
                <a:lnTo>
                  <a:pt x="342323" y="590281"/>
                </a:lnTo>
                <a:lnTo>
                  <a:pt x="386901" y="579846"/>
                </a:lnTo>
                <a:lnTo>
                  <a:pt x="429751" y="562455"/>
                </a:lnTo>
                <a:lnTo>
                  <a:pt x="470007" y="538108"/>
                </a:lnTo>
                <a:lnTo>
                  <a:pt x="506806" y="506805"/>
                </a:lnTo>
                <a:lnTo>
                  <a:pt x="538109" y="470006"/>
                </a:lnTo>
                <a:lnTo>
                  <a:pt x="562456" y="429750"/>
                </a:lnTo>
                <a:lnTo>
                  <a:pt x="579847" y="386900"/>
                </a:lnTo>
                <a:lnTo>
                  <a:pt x="590282" y="342322"/>
                </a:lnTo>
                <a:lnTo>
                  <a:pt x="593760" y="296879"/>
                </a:lnTo>
                <a:lnTo>
                  <a:pt x="590282" y="251436"/>
                </a:lnTo>
                <a:lnTo>
                  <a:pt x="579847" y="206858"/>
                </a:lnTo>
                <a:lnTo>
                  <a:pt x="562456" y="164009"/>
                </a:lnTo>
                <a:lnTo>
                  <a:pt x="538109" y="123752"/>
                </a:lnTo>
                <a:lnTo>
                  <a:pt x="506806" y="86954"/>
                </a:lnTo>
                <a:lnTo>
                  <a:pt x="470007" y="55650"/>
                </a:lnTo>
                <a:lnTo>
                  <a:pt x="429751" y="31303"/>
                </a:lnTo>
                <a:lnTo>
                  <a:pt x="386901" y="13912"/>
                </a:lnTo>
                <a:lnTo>
                  <a:pt x="342323" y="3478"/>
                </a:lnTo>
                <a:lnTo>
                  <a:pt x="296880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1" name="Google Shape;231;p9"/>
          <p:cNvSpPr txBox="1"/>
          <p:nvPr/>
        </p:nvSpPr>
        <p:spPr>
          <a:xfrm>
            <a:off x="7863437" y="5729066"/>
            <a:ext cx="205740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8637092" y="5702603"/>
            <a:ext cx="5457190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Object-oriented programming (OOP)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684388" y="6553817"/>
            <a:ext cx="594360" cy="594360"/>
          </a:xfrm>
          <a:custGeom>
            <a:rect b="b" l="l" r="r" t="t"/>
            <a:pathLst>
              <a:path extrusionOk="0" h="594359" w="594359">
                <a:moveTo>
                  <a:pt x="296879" y="0"/>
                </a:moveTo>
                <a:lnTo>
                  <a:pt x="251436" y="3478"/>
                </a:lnTo>
                <a:lnTo>
                  <a:pt x="206858" y="13912"/>
                </a:lnTo>
                <a:lnTo>
                  <a:pt x="164009" y="31303"/>
                </a:lnTo>
                <a:lnTo>
                  <a:pt x="123752" y="55650"/>
                </a:lnTo>
                <a:lnTo>
                  <a:pt x="86954" y="86954"/>
                </a:lnTo>
                <a:lnTo>
                  <a:pt x="55650" y="123752"/>
                </a:lnTo>
                <a:lnTo>
                  <a:pt x="31303" y="164009"/>
                </a:lnTo>
                <a:lnTo>
                  <a:pt x="13912" y="206858"/>
                </a:lnTo>
                <a:lnTo>
                  <a:pt x="3478" y="251437"/>
                </a:lnTo>
                <a:lnTo>
                  <a:pt x="0" y="296880"/>
                </a:lnTo>
                <a:lnTo>
                  <a:pt x="3478" y="342323"/>
                </a:lnTo>
                <a:lnTo>
                  <a:pt x="13912" y="386901"/>
                </a:lnTo>
                <a:lnTo>
                  <a:pt x="31303" y="429751"/>
                </a:lnTo>
                <a:lnTo>
                  <a:pt x="55650" y="470007"/>
                </a:lnTo>
                <a:lnTo>
                  <a:pt x="86954" y="506806"/>
                </a:lnTo>
                <a:lnTo>
                  <a:pt x="123752" y="538109"/>
                </a:lnTo>
                <a:lnTo>
                  <a:pt x="164009" y="562456"/>
                </a:lnTo>
                <a:lnTo>
                  <a:pt x="206858" y="579847"/>
                </a:lnTo>
                <a:lnTo>
                  <a:pt x="251436" y="590282"/>
                </a:lnTo>
                <a:lnTo>
                  <a:pt x="296879" y="593760"/>
                </a:lnTo>
                <a:lnTo>
                  <a:pt x="342322" y="590282"/>
                </a:lnTo>
                <a:lnTo>
                  <a:pt x="386900" y="579847"/>
                </a:lnTo>
                <a:lnTo>
                  <a:pt x="429750" y="562456"/>
                </a:lnTo>
                <a:lnTo>
                  <a:pt x="470006" y="538109"/>
                </a:lnTo>
                <a:lnTo>
                  <a:pt x="506805" y="506806"/>
                </a:lnTo>
                <a:lnTo>
                  <a:pt x="538108" y="470007"/>
                </a:lnTo>
                <a:lnTo>
                  <a:pt x="562455" y="429751"/>
                </a:lnTo>
                <a:lnTo>
                  <a:pt x="579846" y="386901"/>
                </a:lnTo>
                <a:lnTo>
                  <a:pt x="590281" y="342323"/>
                </a:lnTo>
                <a:lnTo>
                  <a:pt x="593759" y="296880"/>
                </a:lnTo>
                <a:lnTo>
                  <a:pt x="590281" y="251437"/>
                </a:lnTo>
                <a:lnTo>
                  <a:pt x="579846" y="206858"/>
                </a:lnTo>
                <a:lnTo>
                  <a:pt x="562455" y="164009"/>
                </a:lnTo>
                <a:lnTo>
                  <a:pt x="538108" y="123752"/>
                </a:lnTo>
                <a:lnTo>
                  <a:pt x="506805" y="86954"/>
                </a:lnTo>
                <a:lnTo>
                  <a:pt x="470006" y="55650"/>
                </a:lnTo>
                <a:lnTo>
                  <a:pt x="429750" y="31303"/>
                </a:lnTo>
                <a:lnTo>
                  <a:pt x="386900" y="13912"/>
                </a:lnTo>
                <a:lnTo>
                  <a:pt x="342322" y="3478"/>
                </a:lnTo>
                <a:lnTo>
                  <a:pt x="296879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4" name="Google Shape;234;p9"/>
          <p:cNvSpPr txBox="1"/>
          <p:nvPr/>
        </p:nvSpPr>
        <p:spPr>
          <a:xfrm>
            <a:off x="7878456" y="6642772"/>
            <a:ext cx="205740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8607055" y="6616309"/>
            <a:ext cx="4462780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Functional programming (FP)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9"/>
          <p:cNvGrpSpPr/>
          <p:nvPr/>
        </p:nvGrpSpPr>
        <p:grpSpPr>
          <a:xfrm>
            <a:off x="9743588" y="4042605"/>
            <a:ext cx="9103871" cy="2755050"/>
            <a:chOff x="9743588" y="4042605"/>
            <a:chExt cx="9103871" cy="2755050"/>
          </a:xfrm>
        </p:grpSpPr>
        <p:sp>
          <p:nvSpPr>
            <p:cNvPr id="237" name="Google Shape;237;p9"/>
            <p:cNvSpPr/>
            <p:nvPr/>
          </p:nvSpPr>
          <p:spPr>
            <a:xfrm>
              <a:off x="9846050" y="4042605"/>
              <a:ext cx="1478280" cy="420370"/>
            </a:xfrm>
            <a:custGeom>
              <a:rect b="b" l="l" r="r" t="t"/>
              <a:pathLst>
                <a:path extrusionOk="0" h="420370" w="1478279">
                  <a:moveTo>
                    <a:pt x="1477991" y="13423"/>
                  </a:moveTo>
                  <a:lnTo>
                    <a:pt x="1417269" y="8531"/>
                  </a:lnTo>
                  <a:lnTo>
                    <a:pt x="1357512" y="4743"/>
                  </a:lnTo>
                  <a:lnTo>
                    <a:pt x="1298721" y="2058"/>
                  </a:lnTo>
                  <a:lnTo>
                    <a:pt x="1240896" y="477"/>
                  </a:lnTo>
                  <a:lnTo>
                    <a:pt x="1184036" y="0"/>
                  </a:lnTo>
                  <a:lnTo>
                    <a:pt x="1128142" y="625"/>
                  </a:lnTo>
                  <a:lnTo>
                    <a:pt x="1073214" y="2355"/>
                  </a:lnTo>
                  <a:lnTo>
                    <a:pt x="1019251" y="5187"/>
                  </a:lnTo>
                  <a:lnTo>
                    <a:pt x="966254" y="9124"/>
                  </a:lnTo>
                  <a:lnTo>
                    <a:pt x="914223" y="14164"/>
                  </a:lnTo>
                  <a:lnTo>
                    <a:pt x="863158" y="20307"/>
                  </a:lnTo>
                  <a:lnTo>
                    <a:pt x="813058" y="27554"/>
                  </a:lnTo>
                  <a:lnTo>
                    <a:pt x="763923" y="35905"/>
                  </a:lnTo>
                  <a:lnTo>
                    <a:pt x="715755" y="45359"/>
                  </a:lnTo>
                  <a:lnTo>
                    <a:pt x="668552" y="55916"/>
                  </a:lnTo>
                  <a:lnTo>
                    <a:pt x="622315" y="67577"/>
                  </a:lnTo>
                  <a:lnTo>
                    <a:pt x="577043" y="80342"/>
                  </a:lnTo>
                  <a:lnTo>
                    <a:pt x="532737" y="94210"/>
                  </a:lnTo>
                  <a:lnTo>
                    <a:pt x="489397" y="109181"/>
                  </a:lnTo>
                  <a:lnTo>
                    <a:pt x="447022" y="125256"/>
                  </a:lnTo>
                  <a:lnTo>
                    <a:pt x="405613" y="142435"/>
                  </a:lnTo>
                  <a:lnTo>
                    <a:pt x="365170" y="160717"/>
                  </a:lnTo>
                  <a:lnTo>
                    <a:pt x="325693" y="180103"/>
                  </a:lnTo>
                  <a:lnTo>
                    <a:pt x="287181" y="200592"/>
                  </a:lnTo>
                  <a:lnTo>
                    <a:pt x="249634" y="222185"/>
                  </a:lnTo>
                  <a:lnTo>
                    <a:pt x="213054" y="244881"/>
                  </a:lnTo>
                  <a:lnTo>
                    <a:pt x="177439" y="268681"/>
                  </a:lnTo>
                  <a:lnTo>
                    <a:pt x="142790" y="293584"/>
                  </a:lnTo>
                  <a:lnTo>
                    <a:pt x="109106" y="319591"/>
                  </a:lnTo>
                  <a:lnTo>
                    <a:pt x="76388" y="346701"/>
                  </a:lnTo>
                  <a:lnTo>
                    <a:pt x="44636" y="374915"/>
                  </a:lnTo>
                  <a:lnTo>
                    <a:pt x="13850" y="404232"/>
                  </a:lnTo>
                  <a:lnTo>
                    <a:pt x="0" y="41994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9743588" y="4388689"/>
              <a:ext cx="182880" cy="190500"/>
            </a:xfrm>
            <a:custGeom>
              <a:rect b="b" l="l" r="r" t="t"/>
              <a:pathLst>
                <a:path extrusionOk="0" h="190500" w="182879">
                  <a:moveTo>
                    <a:pt x="50322" y="0"/>
                  </a:moveTo>
                  <a:lnTo>
                    <a:pt x="0" y="190128"/>
                  </a:lnTo>
                  <a:lnTo>
                    <a:pt x="182294" y="116308"/>
                  </a:lnTo>
                  <a:lnTo>
                    <a:pt x="5032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14926969" y="5068550"/>
              <a:ext cx="3920490" cy="1729105"/>
            </a:xfrm>
            <a:custGeom>
              <a:rect b="b" l="l" r="r" t="t"/>
              <a:pathLst>
                <a:path extrusionOk="0" h="1729104" w="3920490">
                  <a:moveTo>
                    <a:pt x="3920393" y="0"/>
                  </a:moveTo>
                  <a:lnTo>
                    <a:pt x="0" y="0"/>
                  </a:lnTo>
                  <a:lnTo>
                    <a:pt x="0" y="1728798"/>
                  </a:lnTo>
                  <a:lnTo>
                    <a:pt x="3920393" y="1728798"/>
                  </a:lnTo>
                  <a:lnTo>
                    <a:pt x="3920393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40" name="Google Shape;24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530406" y="5450053"/>
              <a:ext cx="345539" cy="3455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757164" y="6067631"/>
              <a:ext cx="345539" cy="3455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" name="Google Shape;242;p9"/>
          <p:cNvSpPr txBox="1"/>
          <p:nvPr/>
        </p:nvSpPr>
        <p:spPr>
          <a:xfrm>
            <a:off x="11550612" y="3726388"/>
            <a:ext cx="241300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The one we’ve been using so far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14926969" y="5068550"/>
            <a:ext cx="3920490" cy="172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250">
            <a:spAutoFit/>
          </a:bodyPr>
          <a:lstStyle/>
          <a:p>
            <a:pPr indent="0" lvl="0" marL="517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Imperative vs.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517525" rtl="0" algn="ctr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Declarative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/>
          <p:nvPr/>
        </p:nvSpPr>
        <p:spPr>
          <a:xfrm>
            <a:off x="562842" y="189982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562842" y="5937611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330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Prototype-based object-oriented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562842" y="492952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Multi-paradigm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562842" y="391599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Interpreted or just-in-time compiled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562842" y="7961946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562842" y="897003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Single-threaded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562842" y="290933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Garbage-collected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562842" y="694977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562842" y="998083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Non-blocking event loop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 txBox="1"/>
          <p:nvPr>
            <p:ph type="title"/>
          </p:nvPr>
        </p:nvSpPr>
        <p:spPr>
          <a:xfrm>
            <a:off x="603309" y="259543"/>
            <a:ext cx="125729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DECONSTRUCTING	THE MONSTER DEFINITION </a:t>
            </a:r>
            <a:endParaRPr/>
          </a:p>
        </p:txBody>
      </p:sp>
      <p:grpSp>
        <p:nvGrpSpPr>
          <p:cNvPr id="258" name="Google Shape;258;p10"/>
          <p:cNvGrpSpPr/>
          <p:nvPr/>
        </p:nvGrpSpPr>
        <p:grpSpPr>
          <a:xfrm>
            <a:off x="9089441" y="2436919"/>
            <a:ext cx="6379768" cy="5275708"/>
            <a:chOff x="9089441" y="2436919"/>
            <a:chExt cx="6379768" cy="5275708"/>
          </a:xfrm>
        </p:grpSpPr>
        <p:pic>
          <p:nvPicPr>
            <p:cNvPr id="259" name="Google Shape;25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053287" y="6219415"/>
              <a:ext cx="5404005" cy="1493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10"/>
            <p:cNvSpPr/>
            <p:nvPr/>
          </p:nvSpPr>
          <p:spPr>
            <a:xfrm>
              <a:off x="9089441" y="3685149"/>
              <a:ext cx="1161415" cy="3175635"/>
            </a:xfrm>
            <a:custGeom>
              <a:rect b="b" l="l" r="r" t="t"/>
              <a:pathLst>
                <a:path extrusionOk="0" h="3175634" w="1161415">
                  <a:moveTo>
                    <a:pt x="1161093" y="0"/>
                  </a:moveTo>
                  <a:lnTo>
                    <a:pt x="1112574" y="28831"/>
                  </a:lnTo>
                  <a:lnTo>
                    <a:pt x="1065090" y="57794"/>
                  </a:lnTo>
                  <a:lnTo>
                    <a:pt x="1018641" y="86888"/>
                  </a:lnTo>
                  <a:lnTo>
                    <a:pt x="973228" y="116113"/>
                  </a:lnTo>
                  <a:lnTo>
                    <a:pt x="928850" y="145470"/>
                  </a:lnTo>
                  <a:lnTo>
                    <a:pt x="885508" y="174958"/>
                  </a:lnTo>
                  <a:lnTo>
                    <a:pt x="843201" y="204577"/>
                  </a:lnTo>
                  <a:lnTo>
                    <a:pt x="801930" y="234328"/>
                  </a:lnTo>
                  <a:lnTo>
                    <a:pt x="761694" y="264210"/>
                  </a:lnTo>
                  <a:lnTo>
                    <a:pt x="722493" y="294223"/>
                  </a:lnTo>
                  <a:lnTo>
                    <a:pt x="684328" y="324367"/>
                  </a:lnTo>
                  <a:lnTo>
                    <a:pt x="647199" y="354643"/>
                  </a:lnTo>
                  <a:lnTo>
                    <a:pt x="611104" y="385049"/>
                  </a:lnTo>
                  <a:lnTo>
                    <a:pt x="576046" y="415588"/>
                  </a:lnTo>
                  <a:lnTo>
                    <a:pt x="542023" y="446257"/>
                  </a:lnTo>
                  <a:lnTo>
                    <a:pt x="509035" y="477058"/>
                  </a:lnTo>
                  <a:lnTo>
                    <a:pt x="477083" y="507990"/>
                  </a:lnTo>
                  <a:lnTo>
                    <a:pt x="446166" y="539053"/>
                  </a:lnTo>
                  <a:lnTo>
                    <a:pt x="416284" y="570247"/>
                  </a:lnTo>
                  <a:lnTo>
                    <a:pt x="387438" y="601573"/>
                  </a:lnTo>
                  <a:lnTo>
                    <a:pt x="359628" y="633030"/>
                  </a:lnTo>
                  <a:lnTo>
                    <a:pt x="332853" y="664619"/>
                  </a:lnTo>
                  <a:lnTo>
                    <a:pt x="307113" y="696338"/>
                  </a:lnTo>
                  <a:lnTo>
                    <a:pt x="282409" y="728189"/>
                  </a:lnTo>
                  <a:lnTo>
                    <a:pt x="258740" y="760171"/>
                  </a:lnTo>
                  <a:lnTo>
                    <a:pt x="236107" y="792285"/>
                  </a:lnTo>
                  <a:lnTo>
                    <a:pt x="214509" y="824529"/>
                  </a:lnTo>
                  <a:lnTo>
                    <a:pt x="193947" y="856905"/>
                  </a:lnTo>
                  <a:lnTo>
                    <a:pt x="155929" y="922051"/>
                  </a:lnTo>
                  <a:lnTo>
                    <a:pt x="122052" y="987722"/>
                  </a:lnTo>
                  <a:lnTo>
                    <a:pt x="92318" y="1053918"/>
                  </a:lnTo>
                  <a:lnTo>
                    <a:pt x="66725" y="1120639"/>
                  </a:lnTo>
                  <a:lnTo>
                    <a:pt x="45274" y="1187885"/>
                  </a:lnTo>
                  <a:lnTo>
                    <a:pt x="27965" y="1255657"/>
                  </a:lnTo>
                  <a:lnTo>
                    <a:pt x="14797" y="1323953"/>
                  </a:lnTo>
                  <a:lnTo>
                    <a:pt x="5772" y="1392774"/>
                  </a:lnTo>
                  <a:lnTo>
                    <a:pt x="888" y="1462121"/>
                  </a:lnTo>
                  <a:lnTo>
                    <a:pt x="0" y="1496991"/>
                  </a:lnTo>
                  <a:lnTo>
                    <a:pt x="146" y="1531993"/>
                  </a:lnTo>
                  <a:lnTo>
                    <a:pt x="3546" y="1602389"/>
                  </a:lnTo>
                  <a:lnTo>
                    <a:pt x="11088" y="1673311"/>
                  </a:lnTo>
                  <a:lnTo>
                    <a:pt x="22771" y="1744758"/>
                  </a:lnTo>
                  <a:lnTo>
                    <a:pt x="38597" y="1816730"/>
                  </a:lnTo>
                  <a:lnTo>
                    <a:pt x="58564" y="1889227"/>
                  </a:lnTo>
                  <a:lnTo>
                    <a:pt x="70101" y="1925673"/>
                  </a:lnTo>
                  <a:lnTo>
                    <a:pt x="82673" y="1962249"/>
                  </a:lnTo>
                  <a:lnTo>
                    <a:pt x="96281" y="1998957"/>
                  </a:lnTo>
                  <a:lnTo>
                    <a:pt x="110924" y="2035797"/>
                  </a:lnTo>
                  <a:lnTo>
                    <a:pt x="126602" y="2072767"/>
                  </a:lnTo>
                  <a:lnTo>
                    <a:pt x="143316" y="2109869"/>
                  </a:lnTo>
                  <a:lnTo>
                    <a:pt x="161066" y="2147102"/>
                  </a:lnTo>
                  <a:lnTo>
                    <a:pt x="179851" y="2184467"/>
                  </a:lnTo>
                  <a:lnTo>
                    <a:pt x="199671" y="2221962"/>
                  </a:lnTo>
                  <a:lnTo>
                    <a:pt x="220527" y="2259589"/>
                  </a:lnTo>
                  <a:lnTo>
                    <a:pt x="242418" y="2297347"/>
                  </a:lnTo>
                  <a:lnTo>
                    <a:pt x="265345" y="2335237"/>
                  </a:lnTo>
                  <a:lnTo>
                    <a:pt x="289307" y="2373258"/>
                  </a:lnTo>
                  <a:lnTo>
                    <a:pt x="314305" y="2411410"/>
                  </a:lnTo>
                  <a:lnTo>
                    <a:pt x="340338" y="2449693"/>
                  </a:lnTo>
                  <a:lnTo>
                    <a:pt x="367407" y="2488108"/>
                  </a:lnTo>
                  <a:lnTo>
                    <a:pt x="395511" y="2526654"/>
                  </a:lnTo>
                  <a:lnTo>
                    <a:pt x="424650" y="2565331"/>
                  </a:lnTo>
                  <a:lnTo>
                    <a:pt x="454825" y="2604139"/>
                  </a:lnTo>
                  <a:lnTo>
                    <a:pt x="486035" y="2643079"/>
                  </a:lnTo>
                  <a:lnTo>
                    <a:pt x="518281" y="2682150"/>
                  </a:lnTo>
                  <a:lnTo>
                    <a:pt x="551563" y="2721352"/>
                  </a:lnTo>
                  <a:lnTo>
                    <a:pt x="585879" y="2760685"/>
                  </a:lnTo>
                  <a:lnTo>
                    <a:pt x="621232" y="2800150"/>
                  </a:lnTo>
                  <a:lnTo>
                    <a:pt x="657619" y="2839746"/>
                  </a:lnTo>
                  <a:lnTo>
                    <a:pt x="695042" y="2879474"/>
                  </a:lnTo>
                  <a:lnTo>
                    <a:pt x="733501" y="2919332"/>
                  </a:lnTo>
                  <a:lnTo>
                    <a:pt x="772995" y="2959322"/>
                  </a:lnTo>
                  <a:lnTo>
                    <a:pt x="813524" y="2999443"/>
                  </a:lnTo>
                  <a:lnTo>
                    <a:pt x="855089" y="3039696"/>
                  </a:lnTo>
                  <a:lnTo>
                    <a:pt x="897690" y="3080079"/>
                  </a:lnTo>
                  <a:lnTo>
                    <a:pt x="941325" y="3120594"/>
                  </a:lnTo>
                  <a:lnTo>
                    <a:pt x="985997" y="3161240"/>
                  </a:lnTo>
                  <a:lnTo>
                    <a:pt x="1001753" y="3175052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10017469" y="6780255"/>
              <a:ext cx="190500" cy="182245"/>
            </a:xfrm>
            <a:custGeom>
              <a:rect b="b" l="l" r="r" t="t"/>
              <a:pathLst>
                <a:path extrusionOk="0" h="182245" w="190500">
                  <a:moveTo>
                    <a:pt x="115955" y="0"/>
                  </a:moveTo>
                  <a:lnTo>
                    <a:pt x="0" y="132283"/>
                  </a:lnTo>
                  <a:lnTo>
                    <a:pt x="190261" y="182098"/>
                  </a:lnTo>
                  <a:lnTo>
                    <a:pt x="11595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10041864" y="2436919"/>
              <a:ext cx="5427345" cy="2425065"/>
            </a:xfrm>
            <a:custGeom>
              <a:rect b="b" l="l" r="r" t="t"/>
              <a:pathLst>
                <a:path extrusionOk="0" h="2425065" w="5427344">
                  <a:moveTo>
                    <a:pt x="5426851" y="0"/>
                  </a:moveTo>
                  <a:lnTo>
                    <a:pt x="0" y="0"/>
                  </a:lnTo>
                  <a:lnTo>
                    <a:pt x="0" y="2424986"/>
                  </a:lnTo>
                  <a:lnTo>
                    <a:pt x="5426851" y="2424986"/>
                  </a:lnTo>
                  <a:lnTo>
                    <a:pt x="5426851" y="0"/>
                  </a:lnTo>
                  <a:close/>
                </a:path>
              </a:pathLst>
            </a:custGeom>
            <a:solidFill>
              <a:srgbClr val="3846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3" name="Google Shape;263;p10"/>
          <p:cNvSpPr txBox="1"/>
          <p:nvPr/>
        </p:nvSpPr>
        <p:spPr>
          <a:xfrm>
            <a:off x="6921223" y="5358567"/>
            <a:ext cx="2097405" cy="109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Our array inherits methods from prototype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10436797" y="3470162"/>
            <a:ext cx="3946525" cy="448309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292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Array.prototype.push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10436797" y="4079607"/>
            <a:ext cx="3946525" cy="448309"/>
          </a:xfrm>
          <a:custGeom>
            <a:rect b="b" l="l" r="r" t="t"/>
            <a:pathLst>
              <a:path extrusionOk="0" h="448310" w="3946525">
                <a:moveTo>
                  <a:pt x="3946157" y="0"/>
                </a:moveTo>
                <a:lnTo>
                  <a:pt x="0" y="0"/>
                </a:lnTo>
                <a:lnTo>
                  <a:pt x="0" y="447903"/>
                </a:lnTo>
                <a:lnTo>
                  <a:pt x="3946157" y="447903"/>
                </a:lnTo>
                <a:lnTo>
                  <a:pt x="3946157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6" name="Google Shape;266;p10"/>
          <p:cNvSpPr txBox="1"/>
          <p:nvPr/>
        </p:nvSpPr>
        <p:spPr>
          <a:xfrm>
            <a:off x="10717287" y="4118781"/>
            <a:ext cx="29140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Array.prototype.indexOf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0"/>
          <p:cNvGrpSpPr/>
          <p:nvPr/>
        </p:nvGrpSpPr>
        <p:grpSpPr>
          <a:xfrm>
            <a:off x="12559114" y="2186136"/>
            <a:ext cx="3503196" cy="4251038"/>
            <a:chOff x="12559114" y="2186136"/>
            <a:chExt cx="3503196" cy="4251038"/>
          </a:xfrm>
        </p:grpSpPr>
        <p:sp>
          <p:nvSpPr>
            <p:cNvPr id="268" name="Google Shape;268;p10"/>
            <p:cNvSpPr/>
            <p:nvPr/>
          </p:nvSpPr>
          <p:spPr>
            <a:xfrm>
              <a:off x="14608795" y="2186136"/>
              <a:ext cx="1453515" cy="535305"/>
            </a:xfrm>
            <a:custGeom>
              <a:rect b="b" l="l" r="r" t="t"/>
              <a:pathLst>
                <a:path extrusionOk="0" h="535305" w="1453515">
                  <a:moveTo>
                    <a:pt x="1453310" y="16213"/>
                  </a:moveTo>
                  <a:lnTo>
                    <a:pt x="1395524" y="10335"/>
                  </a:lnTo>
                  <a:lnTo>
                    <a:pt x="1338619" y="5775"/>
                  </a:lnTo>
                  <a:lnTo>
                    <a:pt x="1282596" y="2532"/>
                  </a:lnTo>
                  <a:lnTo>
                    <a:pt x="1227455" y="607"/>
                  </a:lnTo>
                  <a:lnTo>
                    <a:pt x="1173196" y="0"/>
                  </a:lnTo>
                  <a:lnTo>
                    <a:pt x="1119819" y="710"/>
                  </a:lnTo>
                  <a:lnTo>
                    <a:pt x="1067324" y="2737"/>
                  </a:lnTo>
                  <a:lnTo>
                    <a:pt x="1015711" y="6082"/>
                  </a:lnTo>
                  <a:lnTo>
                    <a:pt x="964979" y="10745"/>
                  </a:lnTo>
                  <a:lnTo>
                    <a:pt x="915130" y="16726"/>
                  </a:lnTo>
                  <a:lnTo>
                    <a:pt x="866163" y="24024"/>
                  </a:lnTo>
                  <a:lnTo>
                    <a:pt x="818077" y="32639"/>
                  </a:lnTo>
                  <a:lnTo>
                    <a:pt x="770874" y="42572"/>
                  </a:lnTo>
                  <a:lnTo>
                    <a:pt x="724553" y="53823"/>
                  </a:lnTo>
                  <a:lnTo>
                    <a:pt x="679113" y="66391"/>
                  </a:lnTo>
                  <a:lnTo>
                    <a:pt x="634555" y="80277"/>
                  </a:lnTo>
                  <a:lnTo>
                    <a:pt x="590880" y="95481"/>
                  </a:lnTo>
                  <a:lnTo>
                    <a:pt x="548086" y="112002"/>
                  </a:lnTo>
                  <a:lnTo>
                    <a:pt x="506174" y="129840"/>
                  </a:lnTo>
                  <a:lnTo>
                    <a:pt x="465144" y="148997"/>
                  </a:lnTo>
                  <a:lnTo>
                    <a:pt x="424996" y="169470"/>
                  </a:lnTo>
                  <a:lnTo>
                    <a:pt x="385731" y="191262"/>
                  </a:lnTo>
                  <a:lnTo>
                    <a:pt x="347347" y="214371"/>
                  </a:lnTo>
                  <a:lnTo>
                    <a:pt x="309844" y="238797"/>
                  </a:lnTo>
                  <a:lnTo>
                    <a:pt x="273224" y="264541"/>
                  </a:lnTo>
                  <a:lnTo>
                    <a:pt x="237486" y="291603"/>
                  </a:lnTo>
                  <a:lnTo>
                    <a:pt x="202630" y="319982"/>
                  </a:lnTo>
                  <a:lnTo>
                    <a:pt x="168656" y="349679"/>
                  </a:lnTo>
                  <a:lnTo>
                    <a:pt x="135563" y="380693"/>
                  </a:lnTo>
                  <a:lnTo>
                    <a:pt x="103353" y="413025"/>
                  </a:lnTo>
                  <a:lnTo>
                    <a:pt x="72024" y="446675"/>
                  </a:lnTo>
                  <a:lnTo>
                    <a:pt x="41578" y="481642"/>
                  </a:lnTo>
                  <a:lnTo>
                    <a:pt x="12013" y="517927"/>
                  </a:lnTo>
                  <a:lnTo>
                    <a:pt x="0" y="53511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14520018" y="2653701"/>
              <a:ext cx="173355" cy="194945"/>
            </a:xfrm>
            <a:custGeom>
              <a:rect b="b" l="l" r="r" t="t"/>
              <a:pathLst>
                <a:path extrusionOk="0" h="194944" w="173355">
                  <a:moveTo>
                    <a:pt x="28679" y="0"/>
                  </a:moveTo>
                  <a:lnTo>
                    <a:pt x="0" y="194571"/>
                  </a:lnTo>
                  <a:lnTo>
                    <a:pt x="172863" y="100773"/>
                  </a:lnTo>
                  <a:lnTo>
                    <a:pt x="2867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12696901" y="4490513"/>
              <a:ext cx="2320925" cy="1875789"/>
            </a:xfrm>
            <a:custGeom>
              <a:rect b="b" l="l" r="r" t="t"/>
              <a:pathLst>
                <a:path extrusionOk="0" h="1875789" w="2320925">
                  <a:moveTo>
                    <a:pt x="2320926" y="0"/>
                  </a:moveTo>
                  <a:lnTo>
                    <a:pt x="2291260" y="59053"/>
                  </a:lnTo>
                  <a:lnTo>
                    <a:pt x="2258348" y="118323"/>
                  </a:lnTo>
                  <a:lnTo>
                    <a:pt x="2222189" y="177811"/>
                  </a:lnTo>
                  <a:lnTo>
                    <a:pt x="2182784" y="237516"/>
                  </a:lnTo>
                  <a:lnTo>
                    <a:pt x="2140132" y="297438"/>
                  </a:lnTo>
                  <a:lnTo>
                    <a:pt x="2094233" y="357577"/>
                  </a:lnTo>
                  <a:lnTo>
                    <a:pt x="2070066" y="387729"/>
                  </a:lnTo>
                  <a:lnTo>
                    <a:pt x="2045087" y="417934"/>
                  </a:lnTo>
                  <a:lnTo>
                    <a:pt x="2019297" y="448194"/>
                  </a:lnTo>
                  <a:lnTo>
                    <a:pt x="1992695" y="478508"/>
                  </a:lnTo>
                  <a:lnTo>
                    <a:pt x="1965282" y="508876"/>
                  </a:lnTo>
                  <a:lnTo>
                    <a:pt x="1937056" y="539299"/>
                  </a:lnTo>
                  <a:lnTo>
                    <a:pt x="1908019" y="569776"/>
                  </a:lnTo>
                  <a:lnTo>
                    <a:pt x="1878171" y="600307"/>
                  </a:lnTo>
                  <a:lnTo>
                    <a:pt x="1847511" y="630893"/>
                  </a:lnTo>
                  <a:lnTo>
                    <a:pt x="1816039" y="661533"/>
                  </a:lnTo>
                  <a:lnTo>
                    <a:pt x="1783755" y="692227"/>
                  </a:lnTo>
                  <a:lnTo>
                    <a:pt x="1750660" y="722976"/>
                  </a:lnTo>
                  <a:lnTo>
                    <a:pt x="1716753" y="753778"/>
                  </a:lnTo>
                  <a:lnTo>
                    <a:pt x="1682034" y="784636"/>
                  </a:lnTo>
                  <a:lnTo>
                    <a:pt x="1646504" y="815547"/>
                  </a:lnTo>
                  <a:lnTo>
                    <a:pt x="1610162" y="846513"/>
                  </a:lnTo>
                  <a:lnTo>
                    <a:pt x="1573009" y="877533"/>
                  </a:lnTo>
                  <a:lnTo>
                    <a:pt x="1535043" y="908607"/>
                  </a:lnTo>
                  <a:lnTo>
                    <a:pt x="1496267" y="939736"/>
                  </a:lnTo>
                  <a:lnTo>
                    <a:pt x="1456678" y="970919"/>
                  </a:lnTo>
                  <a:lnTo>
                    <a:pt x="1416278" y="1002156"/>
                  </a:lnTo>
                  <a:lnTo>
                    <a:pt x="1375066" y="1033448"/>
                  </a:lnTo>
                  <a:lnTo>
                    <a:pt x="1333042" y="1064794"/>
                  </a:lnTo>
                  <a:lnTo>
                    <a:pt x="1290207" y="1096194"/>
                  </a:lnTo>
                  <a:lnTo>
                    <a:pt x="1246560" y="1127649"/>
                  </a:lnTo>
                  <a:lnTo>
                    <a:pt x="1202102" y="1159158"/>
                  </a:lnTo>
                  <a:lnTo>
                    <a:pt x="1156831" y="1190721"/>
                  </a:lnTo>
                  <a:lnTo>
                    <a:pt x="1110749" y="1222338"/>
                  </a:lnTo>
                  <a:lnTo>
                    <a:pt x="1063856" y="1254010"/>
                  </a:lnTo>
                  <a:lnTo>
                    <a:pt x="1016151" y="1285736"/>
                  </a:lnTo>
                  <a:lnTo>
                    <a:pt x="967634" y="1317517"/>
                  </a:lnTo>
                  <a:lnTo>
                    <a:pt x="918305" y="1349351"/>
                  </a:lnTo>
                  <a:lnTo>
                    <a:pt x="868165" y="1381240"/>
                  </a:lnTo>
                  <a:lnTo>
                    <a:pt x="817213" y="1413184"/>
                  </a:lnTo>
                  <a:lnTo>
                    <a:pt x="765449" y="1445181"/>
                  </a:lnTo>
                  <a:lnTo>
                    <a:pt x="712874" y="1477233"/>
                  </a:lnTo>
                  <a:lnTo>
                    <a:pt x="659487" y="1509339"/>
                  </a:lnTo>
                  <a:lnTo>
                    <a:pt x="605289" y="1541500"/>
                  </a:lnTo>
                  <a:lnTo>
                    <a:pt x="550278" y="1573715"/>
                  </a:lnTo>
                  <a:lnTo>
                    <a:pt x="494457" y="1605984"/>
                  </a:lnTo>
                  <a:lnTo>
                    <a:pt x="437823" y="1638307"/>
                  </a:lnTo>
                  <a:lnTo>
                    <a:pt x="380378" y="1670685"/>
                  </a:lnTo>
                  <a:lnTo>
                    <a:pt x="322121" y="1703117"/>
                  </a:lnTo>
                  <a:lnTo>
                    <a:pt x="263052" y="1735604"/>
                  </a:lnTo>
                  <a:lnTo>
                    <a:pt x="203172" y="1768144"/>
                  </a:lnTo>
                  <a:lnTo>
                    <a:pt x="142480" y="1800739"/>
                  </a:lnTo>
                  <a:lnTo>
                    <a:pt x="80977" y="1833389"/>
                  </a:lnTo>
                  <a:lnTo>
                    <a:pt x="18661" y="1866092"/>
                  </a:lnTo>
                  <a:lnTo>
                    <a:pt x="0" y="187569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12559114" y="6278424"/>
              <a:ext cx="196850" cy="158750"/>
            </a:xfrm>
            <a:custGeom>
              <a:rect b="b" l="l" r="r" t="t"/>
              <a:pathLst>
                <a:path extrusionOk="0" h="158750" w="196850">
                  <a:moveTo>
                    <a:pt x="116153" y="0"/>
                  </a:moveTo>
                  <a:lnTo>
                    <a:pt x="0" y="158711"/>
                  </a:lnTo>
                  <a:lnTo>
                    <a:pt x="196664" y="156407"/>
                  </a:lnTo>
                  <a:lnTo>
                    <a:pt x="116153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72" name="Google Shape;272;p10"/>
          <p:cNvSpPr txBox="1"/>
          <p:nvPr/>
        </p:nvSpPr>
        <p:spPr>
          <a:xfrm>
            <a:off x="14599231" y="5386123"/>
            <a:ext cx="24892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Built from prototype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10418765" y="2683753"/>
            <a:ext cx="87312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16245025" y="1999733"/>
            <a:ext cx="122999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7264869" y="8928158"/>
            <a:ext cx="11405870" cy="1291590"/>
          </a:xfrm>
          <a:custGeom>
            <a:rect b="b" l="l" r="r" t="t"/>
            <a:pathLst>
              <a:path extrusionOk="0" h="1291590" w="11405869">
                <a:moveTo>
                  <a:pt x="11405338" y="0"/>
                </a:moveTo>
                <a:lnTo>
                  <a:pt x="0" y="0"/>
                </a:lnTo>
                <a:lnTo>
                  <a:pt x="0" y="1291030"/>
                </a:lnTo>
                <a:lnTo>
                  <a:pt x="11405338" y="1291030"/>
                </a:lnTo>
                <a:lnTo>
                  <a:pt x="11405338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6" name="Google Shape;276;p10"/>
          <p:cNvSpPr txBox="1"/>
          <p:nvPr/>
        </p:nvSpPr>
        <p:spPr>
          <a:xfrm>
            <a:off x="7264869" y="8928158"/>
            <a:ext cx="11405870" cy="129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725">
            <a:spAutoFit/>
          </a:bodyPr>
          <a:lstStyle/>
          <a:p>
            <a:pPr indent="0" lvl="0" marL="916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More about this in Section </a:t>
            </a: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Object Oriented Programming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85459" y="9379168"/>
            <a:ext cx="366480" cy="366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 txBox="1"/>
          <p:nvPr/>
        </p:nvSpPr>
        <p:spPr>
          <a:xfrm>
            <a:off x="16593182" y="3468698"/>
            <a:ext cx="25063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(Oversimplification!)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 txBox="1"/>
          <p:nvPr/>
        </p:nvSpPr>
        <p:spPr>
          <a:xfrm>
            <a:off x="562842" y="189982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562842" y="5937611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330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Prototype-based object-oriented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562842" y="492952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Multi-paradigm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562842" y="391599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Interpreted or just-in-time compiled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562842" y="7961946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562842" y="897003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Single-threaded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562842" y="290933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Garbage-collected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562842" y="694977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562842" y="998083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Non-blocking event loop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7264869" y="8928158"/>
            <a:ext cx="11405870" cy="1291590"/>
          </a:xfrm>
          <a:custGeom>
            <a:rect b="b" l="l" r="r" t="t"/>
            <a:pathLst>
              <a:path extrusionOk="0" h="1291590" w="11405869">
                <a:moveTo>
                  <a:pt x="11405338" y="0"/>
                </a:moveTo>
                <a:lnTo>
                  <a:pt x="0" y="0"/>
                </a:lnTo>
                <a:lnTo>
                  <a:pt x="0" y="1291030"/>
                </a:lnTo>
                <a:lnTo>
                  <a:pt x="11405338" y="1291030"/>
                </a:lnTo>
                <a:lnTo>
                  <a:pt x="11405338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3" name="Google Shape;293;p11"/>
          <p:cNvSpPr txBox="1"/>
          <p:nvPr/>
        </p:nvSpPr>
        <p:spPr>
          <a:xfrm>
            <a:off x="7264869" y="8928158"/>
            <a:ext cx="11405870" cy="129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725">
            <a:spAutoFit/>
          </a:bodyPr>
          <a:lstStyle/>
          <a:p>
            <a:pPr indent="0" lvl="0" marL="1151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More about this in Section </a:t>
            </a: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 Closer Look at Functions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11"/>
          <p:cNvGrpSpPr/>
          <p:nvPr/>
        </p:nvGrpSpPr>
        <p:grpSpPr>
          <a:xfrm>
            <a:off x="6917977" y="2278067"/>
            <a:ext cx="10598053" cy="7467582"/>
            <a:chOff x="6917977" y="2278067"/>
            <a:chExt cx="10598053" cy="7467582"/>
          </a:xfrm>
        </p:grpSpPr>
        <p:pic>
          <p:nvPicPr>
            <p:cNvPr id="295" name="Google Shape;295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149550" y="9379169"/>
              <a:ext cx="366480" cy="366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6344" y="2278067"/>
              <a:ext cx="303655" cy="303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17977" y="4625638"/>
              <a:ext cx="7691014" cy="36758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0939" y="4939764"/>
              <a:ext cx="6225090" cy="22099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p11"/>
            <p:cNvSpPr/>
            <p:nvPr/>
          </p:nvSpPr>
          <p:spPr>
            <a:xfrm>
              <a:off x="13034801" y="5548820"/>
              <a:ext cx="1750695" cy="946150"/>
            </a:xfrm>
            <a:custGeom>
              <a:rect b="b" l="l" r="r" t="t"/>
              <a:pathLst>
                <a:path extrusionOk="0" h="946150" w="1750694">
                  <a:moveTo>
                    <a:pt x="1750641" y="0"/>
                  </a:moveTo>
                  <a:lnTo>
                    <a:pt x="1691478" y="366"/>
                  </a:lnTo>
                  <a:lnTo>
                    <a:pt x="1633204" y="1741"/>
                  </a:lnTo>
                  <a:lnTo>
                    <a:pt x="1575817" y="4125"/>
                  </a:lnTo>
                  <a:lnTo>
                    <a:pt x="1519318" y="7517"/>
                  </a:lnTo>
                  <a:lnTo>
                    <a:pt x="1463708" y="11918"/>
                  </a:lnTo>
                  <a:lnTo>
                    <a:pt x="1408985" y="17328"/>
                  </a:lnTo>
                  <a:lnTo>
                    <a:pt x="1355150" y="23745"/>
                  </a:lnTo>
                  <a:lnTo>
                    <a:pt x="1302203" y="31172"/>
                  </a:lnTo>
                  <a:lnTo>
                    <a:pt x="1250144" y="39607"/>
                  </a:lnTo>
                  <a:lnTo>
                    <a:pt x="1198973" y="49050"/>
                  </a:lnTo>
                  <a:lnTo>
                    <a:pt x="1148690" y="59502"/>
                  </a:lnTo>
                  <a:lnTo>
                    <a:pt x="1099295" y="70962"/>
                  </a:lnTo>
                  <a:lnTo>
                    <a:pt x="1050788" y="83431"/>
                  </a:lnTo>
                  <a:lnTo>
                    <a:pt x="1003168" y="96909"/>
                  </a:lnTo>
                  <a:lnTo>
                    <a:pt x="956437" y="111395"/>
                  </a:lnTo>
                  <a:lnTo>
                    <a:pt x="910593" y="126889"/>
                  </a:lnTo>
                  <a:lnTo>
                    <a:pt x="865638" y="143392"/>
                  </a:lnTo>
                  <a:lnTo>
                    <a:pt x="821570" y="160904"/>
                  </a:lnTo>
                  <a:lnTo>
                    <a:pt x="778391" y="179424"/>
                  </a:lnTo>
                  <a:lnTo>
                    <a:pt x="736099" y="198952"/>
                  </a:lnTo>
                  <a:lnTo>
                    <a:pt x="694695" y="219489"/>
                  </a:lnTo>
                  <a:lnTo>
                    <a:pt x="654180" y="241035"/>
                  </a:lnTo>
                  <a:lnTo>
                    <a:pt x="614552" y="263589"/>
                  </a:lnTo>
                  <a:lnTo>
                    <a:pt x="575812" y="287152"/>
                  </a:lnTo>
                  <a:lnTo>
                    <a:pt x="537960" y="311723"/>
                  </a:lnTo>
                  <a:lnTo>
                    <a:pt x="500996" y="337303"/>
                  </a:lnTo>
                  <a:lnTo>
                    <a:pt x="464920" y="363891"/>
                  </a:lnTo>
                  <a:lnTo>
                    <a:pt x="429731" y="391488"/>
                  </a:lnTo>
                  <a:lnTo>
                    <a:pt x="395431" y="420093"/>
                  </a:lnTo>
                  <a:lnTo>
                    <a:pt x="362019" y="449707"/>
                  </a:lnTo>
                  <a:lnTo>
                    <a:pt x="329494" y="480329"/>
                  </a:lnTo>
                  <a:lnTo>
                    <a:pt x="297858" y="511960"/>
                  </a:lnTo>
                  <a:lnTo>
                    <a:pt x="267109" y="544599"/>
                  </a:lnTo>
                  <a:lnTo>
                    <a:pt x="237249" y="578247"/>
                  </a:lnTo>
                  <a:lnTo>
                    <a:pt x="208276" y="612903"/>
                  </a:lnTo>
                  <a:lnTo>
                    <a:pt x="180192" y="648568"/>
                  </a:lnTo>
                  <a:lnTo>
                    <a:pt x="152995" y="685242"/>
                  </a:lnTo>
                  <a:lnTo>
                    <a:pt x="126686" y="722923"/>
                  </a:lnTo>
                  <a:lnTo>
                    <a:pt x="101265" y="761614"/>
                  </a:lnTo>
                  <a:lnTo>
                    <a:pt x="76732" y="801313"/>
                  </a:lnTo>
                  <a:lnTo>
                    <a:pt x="53087" y="842020"/>
                  </a:lnTo>
                  <a:lnTo>
                    <a:pt x="30330" y="883736"/>
                  </a:lnTo>
                  <a:lnTo>
                    <a:pt x="8461" y="926461"/>
                  </a:lnTo>
                  <a:lnTo>
                    <a:pt x="0" y="945669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12962756" y="6439866"/>
              <a:ext cx="161290" cy="196850"/>
            </a:xfrm>
            <a:custGeom>
              <a:rect b="b" l="l" r="r" t="t"/>
              <a:pathLst>
                <a:path extrusionOk="0" h="196850" w="161290">
                  <a:moveTo>
                    <a:pt x="0" y="0"/>
                  </a:moveTo>
                  <a:lnTo>
                    <a:pt x="9570" y="196441"/>
                  </a:lnTo>
                  <a:lnTo>
                    <a:pt x="160979" y="70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1" name="Google Shape;301;p11"/>
          <p:cNvSpPr txBox="1"/>
          <p:nvPr/>
        </p:nvSpPr>
        <p:spPr>
          <a:xfrm>
            <a:off x="7492646" y="2083470"/>
            <a:ext cx="10186035" cy="1646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just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 a language with </a:t>
            </a: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functions are simply </a:t>
            </a: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treated as variables</a:t>
            </a: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. We can pass them into other functions, and return them from functions.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15018642" y="5017731"/>
            <a:ext cx="3867150" cy="109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Passing a function into another function as an argument: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First-class functions!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 txBox="1"/>
          <p:nvPr>
            <p:ph type="title"/>
          </p:nvPr>
        </p:nvSpPr>
        <p:spPr>
          <a:xfrm>
            <a:off x="603309" y="259543"/>
            <a:ext cx="130301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DECONSTRUCTING	THE MONSTER DEFINITION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"/>
          <p:cNvSpPr txBox="1"/>
          <p:nvPr/>
        </p:nvSpPr>
        <p:spPr>
          <a:xfrm>
            <a:off x="562842" y="189982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562842" y="5937611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330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Prototype-based object-oriented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562842" y="492952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Multi-paradigm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562842" y="391599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Interpreted or just-in-time compiled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562842" y="7961946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562842" y="8970031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Single-threaded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562842" y="290933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Garbage-collected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562842" y="694977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 txBox="1"/>
          <p:nvPr/>
        </p:nvSpPr>
        <p:spPr>
          <a:xfrm>
            <a:off x="562842" y="9980838"/>
            <a:ext cx="5236845" cy="78867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Non-blocking event loop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12"/>
          <p:cNvGrpSpPr/>
          <p:nvPr/>
        </p:nvGrpSpPr>
        <p:grpSpPr>
          <a:xfrm>
            <a:off x="10046621" y="2938509"/>
            <a:ext cx="8960957" cy="7275688"/>
            <a:chOff x="10046621" y="2938509"/>
            <a:chExt cx="8960957" cy="7275688"/>
          </a:xfrm>
        </p:grpSpPr>
        <p:pic>
          <p:nvPicPr>
            <p:cNvPr id="318" name="Google Shape;31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12027" y="3756570"/>
              <a:ext cx="5082027" cy="38855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244989" y="4070697"/>
              <a:ext cx="3616103" cy="24195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12"/>
            <p:cNvSpPr/>
            <p:nvPr/>
          </p:nvSpPr>
          <p:spPr>
            <a:xfrm>
              <a:off x="11851733" y="4583814"/>
              <a:ext cx="1580515" cy="302260"/>
            </a:xfrm>
            <a:custGeom>
              <a:rect b="b" l="l" r="r" t="t"/>
              <a:pathLst>
                <a:path extrusionOk="0" h="302260" w="1580515">
                  <a:moveTo>
                    <a:pt x="0" y="11689"/>
                  </a:moveTo>
                  <a:lnTo>
                    <a:pt x="45102" y="7699"/>
                  </a:lnTo>
                  <a:lnTo>
                    <a:pt x="90442" y="4535"/>
                  </a:lnTo>
                  <a:lnTo>
                    <a:pt x="136020" y="2197"/>
                  </a:lnTo>
                  <a:lnTo>
                    <a:pt x="181835" y="685"/>
                  </a:lnTo>
                  <a:lnTo>
                    <a:pt x="227888" y="0"/>
                  </a:lnTo>
                  <a:lnTo>
                    <a:pt x="274179" y="140"/>
                  </a:lnTo>
                  <a:lnTo>
                    <a:pt x="320707" y="1107"/>
                  </a:lnTo>
                  <a:lnTo>
                    <a:pt x="367473" y="2900"/>
                  </a:lnTo>
                  <a:lnTo>
                    <a:pt x="414477" y="5519"/>
                  </a:lnTo>
                  <a:lnTo>
                    <a:pt x="461718" y="8965"/>
                  </a:lnTo>
                  <a:lnTo>
                    <a:pt x="509197" y="13236"/>
                  </a:lnTo>
                  <a:lnTo>
                    <a:pt x="556913" y="18334"/>
                  </a:lnTo>
                  <a:lnTo>
                    <a:pt x="604867" y="24258"/>
                  </a:lnTo>
                  <a:lnTo>
                    <a:pt x="653059" y="31009"/>
                  </a:lnTo>
                  <a:lnTo>
                    <a:pt x="701489" y="38585"/>
                  </a:lnTo>
                  <a:lnTo>
                    <a:pt x="750156" y="46988"/>
                  </a:lnTo>
                  <a:lnTo>
                    <a:pt x="799061" y="56217"/>
                  </a:lnTo>
                  <a:lnTo>
                    <a:pt x="848203" y="66272"/>
                  </a:lnTo>
                  <a:lnTo>
                    <a:pt x="897583" y="77153"/>
                  </a:lnTo>
                  <a:lnTo>
                    <a:pt x="947201" y="88861"/>
                  </a:lnTo>
                  <a:lnTo>
                    <a:pt x="997057" y="101394"/>
                  </a:lnTo>
                  <a:lnTo>
                    <a:pt x="1047150" y="114754"/>
                  </a:lnTo>
                  <a:lnTo>
                    <a:pt x="1097480" y="128940"/>
                  </a:lnTo>
                  <a:lnTo>
                    <a:pt x="1148049" y="143953"/>
                  </a:lnTo>
                  <a:lnTo>
                    <a:pt x="1198855" y="159791"/>
                  </a:lnTo>
                  <a:lnTo>
                    <a:pt x="1249898" y="176456"/>
                  </a:lnTo>
                  <a:lnTo>
                    <a:pt x="1301180" y="193947"/>
                  </a:lnTo>
                  <a:lnTo>
                    <a:pt x="1352699" y="212264"/>
                  </a:lnTo>
                  <a:lnTo>
                    <a:pt x="1404455" y="231408"/>
                  </a:lnTo>
                  <a:lnTo>
                    <a:pt x="1456449" y="251377"/>
                  </a:lnTo>
                  <a:lnTo>
                    <a:pt x="1508681" y="272173"/>
                  </a:lnTo>
                  <a:lnTo>
                    <a:pt x="1561151" y="293795"/>
                  </a:lnTo>
                  <a:lnTo>
                    <a:pt x="1580364" y="30224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13377508" y="4797118"/>
              <a:ext cx="196850" cy="161290"/>
            </a:xfrm>
            <a:custGeom>
              <a:rect b="b" l="l" r="r" t="t"/>
              <a:pathLst>
                <a:path extrusionOk="0" h="161289" w="196850">
                  <a:moveTo>
                    <a:pt x="70835" y="0"/>
                  </a:moveTo>
                  <a:lnTo>
                    <a:pt x="0" y="161021"/>
                  </a:lnTo>
                  <a:lnTo>
                    <a:pt x="196433" y="151340"/>
                  </a:lnTo>
                  <a:lnTo>
                    <a:pt x="7083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12"/>
            <p:cNvSpPr/>
            <p:nvPr/>
          </p:nvSpPr>
          <p:spPr>
            <a:xfrm>
              <a:off x="11888276" y="5850556"/>
              <a:ext cx="1530985" cy="284480"/>
            </a:xfrm>
            <a:custGeom>
              <a:rect b="b" l="l" r="r" t="t"/>
              <a:pathLst>
                <a:path extrusionOk="0" h="284479" w="1530984">
                  <a:moveTo>
                    <a:pt x="0" y="283998"/>
                  </a:moveTo>
                  <a:lnTo>
                    <a:pt x="40719" y="263971"/>
                  </a:lnTo>
                  <a:lnTo>
                    <a:pt x="81972" y="244677"/>
                  </a:lnTo>
                  <a:lnTo>
                    <a:pt x="123757" y="226114"/>
                  </a:lnTo>
                  <a:lnTo>
                    <a:pt x="166075" y="208284"/>
                  </a:lnTo>
                  <a:lnTo>
                    <a:pt x="208926" y="191186"/>
                  </a:lnTo>
                  <a:lnTo>
                    <a:pt x="252310" y="174819"/>
                  </a:lnTo>
                  <a:lnTo>
                    <a:pt x="296226" y="159186"/>
                  </a:lnTo>
                  <a:lnTo>
                    <a:pt x="340676" y="144284"/>
                  </a:lnTo>
                  <a:lnTo>
                    <a:pt x="385658" y="130114"/>
                  </a:lnTo>
                  <a:lnTo>
                    <a:pt x="431173" y="116677"/>
                  </a:lnTo>
                  <a:lnTo>
                    <a:pt x="477220" y="103971"/>
                  </a:lnTo>
                  <a:lnTo>
                    <a:pt x="523801" y="91998"/>
                  </a:lnTo>
                  <a:lnTo>
                    <a:pt x="570914" y="80757"/>
                  </a:lnTo>
                  <a:lnTo>
                    <a:pt x="618560" y="70248"/>
                  </a:lnTo>
                  <a:lnTo>
                    <a:pt x="666739" y="60472"/>
                  </a:lnTo>
                  <a:lnTo>
                    <a:pt x="715451" y="51427"/>
                  </a:lnTo>
                  <a:lnTo>
                    <a:pt x="764695" y="43115"/>
                  </a:lnTo>
                  <a:lnTo>
                    <a:pt x="814472" y="35534"/>
                  </a:lnTo>
                  <a:lnTo>
                    <a:pt x="864782" y="28686"/>
                  </a:lnTo>
                  <a:lnTo>
                    <a:pt x="915625" y="22570"/>
                  </a:lnTo>
                  <a:lnTo>
                    <a:pt x="967001" y="17186"/>
                  </a:lnTo>
                  <a:lnTo>
                    <a:pt x="1018909" y="12535"/>
                  </a:lnTo>
                  <a:lnTo>
                    <a:pt x="1071351" y="8615"/>
                  </a:lnTo>
                  <a:lnTo>
                    <a:pt x="1124325" y="5428"/>
                  </a:lnTo>
                  <a:lnTo>
                    <a:pt x="1177832" y="2972"/>
                  </a:lnTo>
                  <a:lnTo>
                    <a:pt x="1231871" y="1249"/>
                  </a:lnTo>
                  <a:lnTo>
                    <a:pt x="1286444" y="258"/>
                  </a:lnTo>
                  <a:lnTo>
                    <a:pt x="1341549" y="0"/>
                  </a:lnTo>
                  <a:lnTo>
                    <a:pt x="1397187" y="473"/>
                  </a:lnTo>
                  <a:lnTo>
                    <a:pt x="1453358" y="1678"/>
                  </a:lnTo>
                  <a:lnTo>
                    <a:pt x="1510061" y="3616"/>
                  </a:lnTo>
                  <a:lnTo>
                    <a:pt x="1530969" y="4852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12"/>
            <p:cNvSpPr/>
            <p:nvPr/>
          </p:nvSpPr>
          <p:spPr>
            <a:xfrm>
              <a:off x="13393152" y="5766371"/>
              <a:ext cx="180975" cy="175895"/>
            </a:xfrm>
            <a:custGeom>
              <a:rect b="b" l="l" r="r" t="t"/>
              <a:pathLst>
                <a:path extrusionOk="0" h="175895" w="180975">
                  <a:moveTo>
                    <a:pt x="10376" y="0"/>
                  </a:moveTo>
                  <a:lnTo>
                    <a:pt x="0" y="175604"/>
                  </a:lnTo>
                  <a:lnTo>
                    <a:pt x="180790" y="98185"/>
                  </a:lnTo>
                  <a:lnTo>
                    <a:pt x="10376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24" name="Google Shape;324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125499" y="2938509"/>
              <a:ext cx="303655" cy="303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046621" y="8612523"/>
              <a:ext cx="1388951" cy="1388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374230" y="8308203"/>
              <a:ext cx="908742" cy="1662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4221629" y="8714129"/>
              <a:ext cx="1184548" cy="1185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12"/>
            <p:cNvSpPr/>
            <p:nvPr/>
          </p:nvSpPr>
          <p:spPr>
            <a:xfrm>
              <a:off x="10535145" y="8400002"/>
              <a:ext cx="4587240" cy="1814195"/>
            </a:xfrm>
            <a:custGeom>
              <a:rect b="b" l="l" r="r" t="t"/>
              <a:pathLst>
                <a:path extrusionOk="0" h="1814195" w="4587240">
                  <a:moveTo>
                    <a:pt x="4586897" y="78282"/>
                  </a:moveTo>
                  <a:lnTo>
                    <a:pt x="4557077" y="0"/>
                  </a:lnTo>
                  <a:lnTo>
                    <a:pt x="2293442" y="862190"/>
                  </a:lnTo>
                  <a:lnTo>
                    <a:pt x="29806" y="0"/>
                  </a:lnTo>
                  <a:lnTo>
                    <a:pt x="0" y="78282"/>
                  </a:lnTo>
                  <a:lnTo>
                    <a:pt x="2175764" y="907008"/>
                  </a:lnTo>
                  <a:lnTo>
                    <a:pt x="0" y="1735721"/>
                  </a:lnTo>
                  <a:lnTo>
                    <a:pt x="29806" y="1814004"/>
                  </a:lnTo>
                  <a:lnTo>
                    <a:pt x="2293442" y="951826"/>
                  </a:lnTo>
                  <a:lnTo>
                    <a:pt x="4557077" y="1814004"/>
                  </a:lnTo>
                  <a:lnTo>
                    <a:pt x="4586897" y="1735721"/>
                  </a:lnTo>
                  <a:lnTo>
                    <a:pt x="2411107" y="907008"/>
                  </a:lnTo>
                  <a:lnTo>
                    <a:pt x="4586897" y="78282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29" name="Google Shape;329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646363" y="8683648"/>
              <a:ext cx="1361215" cy="13612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12"/>
          <p:cNvSpPr txBox="1"/>
          <p:nvPr/>
        </p:nvSpPr>
        <p:spPr>
          <a:xfrm>
            <a:off x="7870187" y="4201498"/>
            <a:ext cx="3824604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No data type definitions. Types becomes known at runtime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 txBox="1"/>
          <p:nvPr/>
        </p:nvSpPr>
        <p:spPr>
          <a:xfrm>
            <a:off x="8800587" y="5808424"/>
            <a:ext cx="282511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Data type of variable is automatically changed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 txBox="1"/>
          <p:nvPr/>
        </p:nvSpPr>
        <p:spPr>
          <a:xfrm>
            <a:off x="10621803" y="2882126"/>
            <a:ext cx="4404995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Dynamically-typed language: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 txBox="1"/>
          <p:nvPr>
            <p:ph type="title"/>
          </p:nvPr>
        </p:nvSpPr>
        <p:spPr>
          <a:xfrm>
            <a:off x="603309" y="259543"/>
            <a:ext cx="132587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DECONSTRUCTING	THE MONSTER DEFINITION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"/>
          <p:cNvSpPr txBox="1"/>
          <p:nvPr/>
        </p:nvSpPr>
        <p:spPr>
          <a:xfrm>
            <a:off x="562842" y="189982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562842" y="5937611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330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Prototype-based object-oriented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562842" y="492952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Multi-paradigm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 txBox="1"/>
          <p:nvPr/>
        </p:nvSpPr>
        <p:spPr>
          <a:xfrm>
            <a:off x="562842" y="3915997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Interpreted or just-in-time compiled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562842" y="7961946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 txBox="1"/>
          <p:nvPr/>
        </p:nvSpPr>
        <p:spPr>
          <a:xfrm>
            <a:off x="562842" y="8970031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Single-threaded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 txBox="1"/>
          <p:nvPr/>
        </p:nvSpPr>
        <p:spPr>
          <a:xfrm>
            <a:off x="562842" y="290933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Garbage-collected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562842" y="694977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 functions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 txBox="1"/>
          <p:nvPr/>
        </p:nvSpPr>
        <p:spPr>
          <a:xfrm>
            <a:off x="562842" y="9980838"/>
            <a:ext cx="5236845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Non-blocking event loop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3"/>
          <p:cNvSpPr txBox="1"/>
          <p:nvPr>
            <p:ph type="title"/>
          </p:nvPr>
        </p:nvSpPr>
        <p:spPr>
          <a:xfrm>
            <a:off x="603309" y="259543"/>
            <a:ext cx="134873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DECONSTRUCTING	THE MONSTER DEFINITION </a:t>
            </a:r>
            <a:endParaRPr/>
          </a:p>
        </p:txBody>
      </p:sp>
      <p:grpSp>
        <p:nvGrpSpPr>
          <p:cNvPr id="348" name="Google Shape;348;p13"/>
          <p:cNvGrpSpPr/>
          <p:nvPr/>
        </p:nvGrpSpPr>
        <p:grpSpPr>
          <a:xfrm>
            <a:off x="7264869" y="2089294"/>
            <a:ext cx="11405870" cy="8758707"/>
            <a:chOff x="7264869" y="2089294"/>
            <a:chExt cx="11405870" cy="8758707"/>
          </a:xfrm>
        </p:grpSpPr>
        <p:pic>
          <p:nvPicPr>
            <p:cNvPr id="349" name="Google Shape;349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32424" y="2089294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13"/>
            <p:cNvSpPr/>
            <p:nvPr/>
          </p:nvSpPr>
          <p:spPr>
            <a:xfrm>
              <a:off x="8764586" y="3166793"/>
              <a:ext cx="0" cy="501015"/>
            </a:xfrm>
            <a:custGeom>
              <a:rect b="b" l="l" r="r" t="t"/>
              <a:pathLst>
                <a:path extrusionOk="0" h="501014" w="120000">
                  <a:moveTo>
                    <a:pt x="0" y="0"/>
                  </a:moveTo>
                  <a:lnTo>
                    <a:pt x="0" y="474242"/>
                  </a:lnTo>
                  <a:lnTo>
                    <a:pt x="0" y="500419"/>
                  </a:lnTo>
                </a:path>
              </a:pathLst>
            </a:custGeom>
            <a:noFill/>
            <a:ln cap="flat" cmpd="sng" w="52350">
              <a:solidFill>
                <a:srgbClr val="F242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8657783" y="3641035"/>
              <a:ext cx="213995" cy="213995"/>
            </a:xfrm>
            <a:custGeom>
              <a:rect b="b" l="l" r="r" t="t"/>
              <a:pathLst>
                <a:path extrusionOk="0" h="213995" w="213995">
                  <a:moveTo>
                    <a:pt x="213606" y="0"/>
                  </a:moveTo>
                  <a:lnTo>
                    <a:pt x="0" y="0"/>
                  </a:lnTo>
                  <a:lnTo>
                    <a:pt x="106803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F2425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52" name="Google Shape;35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32424" y="4187136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32424" y="5820069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13"/>
            <p:cNvSpPr/>
            <p:nvPr/>
          </p:nvSpPr>
          <p:spPr>
            <a:xfrm>
              <a:off x="8764586" y="4799727"/>
              <a:ext cx="0" cy="501015"/>
            </a:xfrm>
            <a:custGeom>
              <a:rect b="b" l="l" r="r" t="t"/>
              <a:pathLst>
                <a:path extrusionOk="0" h="501014" w="120000">
                  <a:moveTo>
                    <a:pt x="0" y="0"/>
                  </a:moveTo>
                  <a:lnTo>
                    <a:pt x="0" y="474242"/>
                  </a:lnTo>
                  <a:lnTo>
                    <a:pt x="0" y="500419"/>
                  </a:lnTo>
                </a:path>
              </a:pathLst>
            </a:custGeom>
            <a:noFill/>
            <a:ln cap="flat" cmpd="sng" w="52350">
              <a:solidFill>
                <a:srgbClr val="F242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8657783" y="5273970"/>
              <a:ext cx="213995" cy="213995"/>
            </a:xfrm>
            <a:custGeom>
              <a:rect b="b" l="l" r="r" t="t"/>
              <a:pathLst>
                <a:path extrusionOk="0" h="213995" w="213995">
                  <a:moveTo>
                    <a:pt x="213606" y="0"/>
                  </a:moveTo>
                  <a:lnTo>
                    <a:pt x="0" y="0"/>
                  </a:lnTo>
                  <a:lnTo>
                    <a:pt x="106803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F2425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56" name="Google Shape;35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32424" y="7917912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13"/>
            <p:cNvSpPr/>
            <p:nvPr/>
          </p:nvSpPr>
          <p:spPr>
            <a:xfrm>
              <a:off x="8764586" y="6897569"/>
              <a:ext cx="0" cy="501015"/>
            </a:xfrm>
            <a:custGeom>
              <a:rect b="b" l="l" r="r" t="t"/>
              <a:pathLst>
                <a:path extrusionOk="0" h="501015" w="120000">
                  <a:moveTo>
                    <a:pt x="0" y="0"/>
                  </a:moveTo>
                  <a:lnTo>
                    <a:pt x="0" y="474242"/>
                  </a:lnTo>
                  <a:lnTo>
                    <a:pt x="0" y="500419"/>
                  </a:lnTo>
                </a:path>
              </a:pathLst>
            </a:custGeom>
            <a:noFill/>
            <a:ln cap="flat" cmpd="sng" w="52350">
              <a:solidFill>
                <a:srgbClr val="F242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8657783" y="7371811"/>
              <a:ext cx="213995" cy="213995"/>
            </a:xfrm>
            <a:custGeom>
              <a:rect b="b" l="l" r="r" t="t"/>
              <a:pathLst>
                <a:path extrusionOk="0" h="213995" w="213995">
                  <a:moveTo>
                    <a:pt x="213606" y="0"/>
                  </a:moveTo>
                  <a:lnTo>
                    <a:pt x="0" y="0"/>
                  </a:lnTo>
                  <a:lnTo>
                    <a:pt x="106803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F2425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7264869" y="9556411"/>
              <a:ext cx="11405870" cy="1291590"/>
            </a:xfrm>
            <a:custGeom>
              <a:rect b="b" l="l" r="r" t="t"/>
              <a:pathLst>
                <a:path extrusionOk="0" h="1291590" w="11405869">
                  <a:moveTo>
                    <a:pt x="11405338" y="0"/>
                  </a:moveTo>
                  <a:lnTo>
                    <a:pt x="0" y="0"/>
                  </a:lnTo>
                  <a:lnTo>
                    <a:pt x="0" y="1291030"/>
                  </a:lnTo>
                  <a:lnTo>
                    <a:pt x="11405338" y="1291030"/>
                  </a:lnTo>
                  <a:lnTo>
                    <a:pt x="11405338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0" name="Google Shape;360;p13"/>
          <p:cNvSpPr txBox="1"/>
          <p:nvPr/>
        </p:nvSpPr>
        <p:spPr>
          <a:xfrm>
            <a:off x="8028726" y="1924631"/>
            <a:ext cx="9076055" cy="955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Concurrency model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: how the JavaScript engine handles multiple tasks happening at the same time.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9223894" y="3330002"/>
            <a:ext cx="27063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Why do we need that?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8028726" y="4135558"/>
            <a:ext cx="944943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JavaScript runs in one 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single thread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so it can only do one thing at a time.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8028726" y="5655408"/>
            <a:ext cx="9756775" cy="955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Sounds like it would block the single thread. However, we want non-blocking behavior!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9223894" y="4962936"/>
            <a:ext cx="436118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So what about a long-running task?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 txBox="1"/>
          <p:nvPr/>
        </p:nvSpPr>
        <p:spPr>
          <a:xfrm>
            <a:off x="8028726" y="7753250"/>
            <a:ext cx="9775825" cy="955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By using an 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event loop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: takes long running tasks, executes them in the “background”, and puts them back in the main thread once they are finished.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 txBox="1"/>
          <p:nvPr/>
        </p:nvSpPr>
        <p:spPr>
          <a:xfrm>
            <a:off x="9223894" y="7060779"/>
            <a:ext cx="30664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How do we achieve that?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 txBox="1"/>
          <p:nvPr/>
        </p:nvSpPr>
        <p:spPr>
          <a:xfrm>
            <a:off x="7264869" y="9556412"/>
            <a:ext cx="11405870" cy="129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1625">
            <a:spAutoFit/>
          </a:bodyPr>
          <a:lstStyle/>
          <a:p>
            <a:pPr indent="0" lvl="0" marL="0" marR="60769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More about this </a:t>
            </a: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Later in this Section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01854" y="10019529"/>
            <a:ext cx="356010" cy="35601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3"/>
          <p:cNvSpPr txBox="1"/>
          <p:nvPr/>
        </p:nvSpPr>
        <p:spPr>
          <a:xfrm>
            <a:off x="17132735" y="6887388"/>
            <a:ext cx="25063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(Oversimplification!)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2023-08-06T02:46:01Z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2023-08-06T00:00:00Z</vt:filetime>
  </property>
  <property fmtid="{D5CDD505-2E9C-101B-9397-08002B2CF9AE}" pid="3" name="Creator">
    <vt:lpwstr>Keynote</vt:lpwstr>
  </property>
  <property fmtid="{D5CDD505-2E9C-101B-9397-08002B2CF9AE}" pid="4" name="LastSaved">
    <vt:filetime>2023-08-06T00:00:00Z</vt:filetime>
  </property>
  <property fmtid="{D5CDD505-2E9C-101B-9397-08002B2CF9AE}" pid="5" name="Producer">
    <vt:lpwstr>macOS Version 11.0.1 (Build 20B29) Quartz PDFContext</vt:lpwstr>
  </property>
</Properties>
</file>