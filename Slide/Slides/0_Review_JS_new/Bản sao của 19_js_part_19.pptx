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4" r:id="rId5"/>
    <p:sldMasterId id="2147483662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</p:sldIdLst>
  <p:sldSz cy="6858000" cx="12192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Quattrocento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72">
          <p15:clr>
            <a:srgbClr val="A4A3A4"/>
          </p15:clr>
        </p15:guide>
        <p15:guide id="2" pos="288">
          <p15:clr>
            <a:srgbClr val="F26B43"/>
          </p15:clr>
        </p15:guide>
        <p15:guide id="3" orient="horz" pos="4056">
          <p15:clr>
            <a:srgbClr val="F26B43"/>
          </p15:clr>
        </p15:guide>
        <p15:guide id="4" orient="horz" pos="1488">
          <p15:clr>
            <a:srgbClr val="A4A3A4"/>
          </p15:clr>
        </p15:guide>
        <p15:guide id="5" pos="3816">
          <p15:clr>
            <a:srgbClr val="A4A3A4"/>
          </p15:clr>
        </p15:guide>
        <p15:guide id="6" pos="7416">
          <p15:clr>
            <a:srgbClr val="F26B43"/>
          </p15:clr>
        </p15:guide>
        <p15:guide id="7" orient="horz" pos="312">
          <p15:clr>
            <a:srgbClr val="F26B43"/>
          </p15:clr>
        </p15:guide>
        <p15:guide id="8" orient="horz" pos="2160">
          <p15:clr>
            <a:srgbClr val="A4A3A4"/>
          </p15:clr>
        </p15:guide>
        <p15:guide id="9" orient="horz" pos="2304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hFhwthyyAbdCfiFtT27/PBQ93H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72" orient="horz"/>
        <p:guide pos="288"/>
        <p:guide pos="4056" orient="horz"/>
        <p:guide pos="1488" orient="horz"/>
        <p:guide pos="3816"/>
        <p:guide pos="7416"/>
        <p:guide pos="312" orient="horz"/>
        <p:guide pos="2160" orient="horz"/>
        <p:guide pos="23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Roboto-regular.fntdata"/><Relationship Id="rId50" Type="http://schemas.openxmlformats.org/officeDocument/2006/relationships/slide" Target="slides/slide42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3.xml"/><Relationship Id="rId55" Type="http://schemas.openxmlformats.org/officeDocument/2006/relationships/font" Target="fonts/QuattrocentoSans-regular.fntdata"/><Relationship Id="rId10" Type="http://schemas.openxmlformats.org/officeDocument/2006/relationships/slide" Target="slides/slide2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5.xml"/><Relationship Id="rId57" Type="http://schemas.openxmlformats.org/officeDocument/2006/relationships/font" Target="fonts/QuattrocentoSans-italic.fntdata"/><Relationship Id="rId12" Type="http://schemas.openxmlformats.org/officeDocument/2006/relationships/slide" Target="slides/slide4.xml"/><Relationship Id="rId56" Type="http://schemas.openxmlformats.org/officeDocument/2006/relationships/font" Target="fonts/QuattrocentoSans-bold.fntdata"/><Relationship Id="rId15" Type="http://schemas.openxmlformats.org/officeDocument/2006/relationships/slide" Target="slides/slide7.xml"/><Relationship Id="rId59" Type="http://customschemas.google.com/relationships/presentationmetadata" Target="metadata"/><Relationship Id="rId14" Type="http://schemas.openxmlformats.org/officeDocument/2006/relationships/slide" Target="slides/slide6.xml"/><Relationship Id="rId58" Type="http://schemas.openxmlformats.org/officeDocument/2006/relationships/font" Target="fonts/QuattrocentoSans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17" name="Google Shape;17;p44"/>
          <p:cNvSpPr txBox="1"/>
          <p:nvPr>
            <p:ph type="title"/>
          </p:nvPr>
        </p:nvSpPr>
        <p:spPr>
          <a:xfrm>
            <a:off x="457200" y="4517136"/>
            <a:ext cx="658155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s">
  <p:cSld name="Instructio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5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AutoNum type="arabicPeriod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1" name="Google Shape;21;p45"/>
          <p:cNvSpPr/>
          <p:nvPr>
            <p:ph idx="2" type="pic"/>
          </p:nvPr>
        </p:nvSpPr>
        <p:spPr>
          <a:xfrm>
            <a:off x="8115300" y="1384300"/>
            <a:ext cx="3410712" cy="4572000"/>
          </a:xfrm>
          <a:prstGeom prst="roundRect">
            <a:avLst>
              <a:gd fmla="val 254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4" name="Google Shape;24;p46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" type="body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6" name="Google Shape;26;p46"/>
          <p:cNvSpPr txBox="1"/>
          <p:nvPr>
            <p:ph idx="3" type="body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Balance act">
  <p:cSld name="Palette Balance act">
    <p:bg>
      <p:bgPr>
        <a:solidFill>
          <a:srgbClr val="D8D8D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7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7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7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7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7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47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7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Balancing Act">
  <p:cSld name="Immersive palette Balancing Act">
    <p:bg>
      <p:bgPr>
        <a:solidFill>
          <a:schemeClr val="accent5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/>
          <p:nvPr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48"/>
          <p:cNvSpPr txBox="1"/>
          <p:nvPr>
            <p:ph type="title"/>
          </p:nvPr>
        </p:nvSpPr>
        <p:spPr>
          <a:xfrm>
            <a:off x="457199" y="1399032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1" name="Google Shape;41;p48"/>
          <p:cNvSpPr/>
          <p:nvPr>
            <p:ph idx="2" type="pic"/>
          </p:nvPr>
        </p:nvSpPr>
        <p:spPr>
          <a:xfrm>
            <a:off x="4254500" y="0"/>
            <a:ext cx="7480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48"/>
          <p:cNvSpPr/>
          <p:nvPr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" name="Google Shape;43;p48"/>
          <p:cNvSpPr/>
          <p:nvPr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Wellspring">
  <p:cSld name="Palette Wellspring">
    <p:bg>
      <p:bgPr>
        <a:solidFill>
          <a:srgbClr val="D8D8D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50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0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0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0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0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50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50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Wellspring">
  <p:cSld name="Immersive palette Wellspring"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/>
          <p:nvPr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" name="Google Shape;61;p51"/>
          <p:cNvSpPr/>
          <p:nvPr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" name="Google Shape;62;p51"/>
          <p:cNvSpPr/>
          <p:nvPr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" name="Google Shape;63;p51"/>
          <p:cNvSpPr/>
          <p:nvPr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65" name="Google Shape;65;p51"/>
          <p:cNvSpPr/>
          <p:nvPr>
            <p:ph idx="2" type="pic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51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7" name="Google Shape;67;p51"/>
          <p:cNvCxnSpPr/>
          <p:nvPr/>
        </p:nvCxnSpPr>
        <p:spPr>
          <a:xfrm>
            <a:off x="228600" y="2415910"/>
            <a:ext cx="402255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" name="Google Shape;68;p51"/>
          <p:cNvSpPr txBox="1"/>
          <p:nvPr>
            <p:ph type="title"/>
          </p:nvPr>
        </p:nvSpPr>
        <p:spPr>
          <a:xfrm>
            <a:off x="457199" y="1371600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71" name="Google Shape;71;p52"/>
          <p:cNvSpPr txBox="1"/>
          <p:nvPr>
            <p:ph type="title"/>
          </p:nvPr>
        </p:nvSpPr>
        <p:spPr>
          <a:xfrm>
            <a:off x="457200" y="4517136"/>
            <a:ext cx="658155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s">
  <p:cSld name="Instructio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AutoNum type="arabicPeriod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5" name="Google Shape;75;p53"/>
          <p:cNvSpPr/>
          <p:nvPr>
            <p:ph idx="2" type="pic"/>
          </p:nvPr>
        </p:nvSpPr>
        <p:spPr>
          <a:xfrm>
            <a:off x="8115300" y="1384300"/>
            <a:ext cx="3410712" cy="4572000"/>
          </a:xfrm>
          <a:prstGeom prst="roundRect">
            <a:avLst>
              <a:gd fmla="val 254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78" name="Google Shape;78;p54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" type="body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0" name="Google Shape;80;p54"/>
          <p:cNvSpPr txBox="1"/>
          <p:nvPr>
            <p:ph idx="3" type="body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Balance act">
  <p:cSld name="Palette Balance act">
    <p:bg>
      <p:bgPr>
        <a:solidFill>
          <a:srgbClr val="D8D8D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55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55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55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55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55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55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55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Balancing Act">
  <p:cSld name="Immersive palette Balancing Act">
    <p:bg>
      <p:bgPr>
        <a:solidFill>
          <a:schemeClr val="accent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6"/>
          <p:cNvSpPr/>
          <p:nvPr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" name="Google Shape;93;p56"/>
          <p:cNvSpPr txBox="1"/>
          <p:nvPr>
            <p:ph type="title"/>
          </p:nvPr>
        </p:nvSpPr>
        <p:spPr>
          <a:xfrm>
            <a:off x="457199" y="1399032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6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95" name="Google Shape;95;p56"/>
          <p:cNvSpPr/>
          <p:nvPr>
            <p:ph idx="2" type="pic"/>
          </p:nvPr>
        </p:nvSpPr>
        <p:spPr>
          <a:xfrm>
            <a:off x="4254500" y="0"/>
            <a:ext cx="7480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56"/>
          <p:cNvSpPr/>
          <p:nvPr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" name="Google Shape;97;p56"/>
          <p:cNvSpPr/>
          <p:nvPr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Star of the show">
  <p:cSld name="Palette Star of the show">
    <p:bg>
      <p:bgPr>
        <a:solidFill>
          <a:srgbClr val="D8D8D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8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8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58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58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58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58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58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58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58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Star of the show">
  <p:cSld name="Immersive palette Star of the show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9"/>
          <p:cNvSpPr/>
          <p:nvPr/>
        </p:nvSpPr>
        <p:spPr>
          <a:xfrm>
            <a:off x="0" y="495300"/>
            <a:ext cx="6057900" cy="133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59"/>
          <p:cNvSpPr/>
          <p:nvPr/>
        </p:nvSpPr>
        <p:spPr>
          <a:xfrm>
            <a:off x="6530703" y="495300"/>
            <a:ext cx="2931587" cy="2628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59"/>
          <p:cNvSpPr/>
          <p:nvPr/>
        </p:nvSpPr>
        <p:spPr>
          <a:xfrm>
            <a:off x="8852618" y="3863713"/>
            <a:ext cx="29210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59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" name="Google Shape;118;p59"/>
          <p:cNvSpPr txBox="1"/>
          <p:nvPr>
            <p:ph type="title"/>
          </p:nvPr>
        </p:nvSpPr>
        <p:spPr>
          <a:xfrm>
            <a:off x="457199" y="914400"/>
            <a:ext cx="5638801" cy="1572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9"/>
          <p:cNvSpPr txBox="1"/>
          <p:nvPr>
            <p:ph idx="1" type="body"/>
          </p:nvPr>
        </p:nvSpPr>
        <p:spPr>
          <a:xfrm>
            <a:off x="457200" y="2489200"/>
            <a:ext cx="5202936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0" name="Google Shape;120;p59"/>
          <p:cNvSpPr/>
          <p:nvPr>
            <p:ph idx="2" type="pic"/>
          </p:nvPr>
        </p:nvSpPr>
        <p:spPr>
          <a:xfrm>
            <a:off x="6997700" y="914400"/>
            <a:ext cx="4334256" cy="50932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123" name="Google Shape;123;p60"/>
          <p:cNvSpPr txBox="1"/>
          <p:nvPr>
            <p:ph type="title"/>
          </p:nvPr>
        </p:nvSpPr>
        <p:spPr>
          <a:xfrm>
            <a:off x="457200" y="4517136"/>
            <a:ext cx="658155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s">
  <p:cSld name="Instruction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AutoNum type="arabicPeriod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7" name="Google Shape;127;p61"/>
          <p:cNvSpPr/>
          <p:nvPr>
            <p:ph idx="2" type="pic"/>
          </p:nvPr>
        </p:nvSpPr>
        <p:spPr>
          <a:xfrm>
            <a:off x="8115300" y="1384300"/>
            <a:ext cx="3410712" cy="4572000"/>
          </a:xfrm>
          <a:prstGeom prst="roundRect">
            <a:avLst>
              <a:gd fmla="val 254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30" name="Google Shape;130;p62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2"/>
          <p:cNvSpPr txBox="1"/>
          <p:nvPr>
            <p:ph idx="1" type="body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2" name="Google Shape;132;p62"/>
          <p:cNvSpPr txBox="1"/>
          <p:nvPr>
            <p:ph idx="3" type="body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Balance act">
  <p:cSld name="Palette Balance act">
    <p:bg>
      <p:bgPr>
        <a:solidFill>
          <a:srgbClr val="D8D8D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3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3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63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63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63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63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63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63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63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Balancing Act">
  <p:cSld name="Immersive palette Balancing Act">
    <p:bg>
      <p:bgPr>
        <a:solidFill>
          <a:schemeClr val="accent5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4"/>
          <p:cNvSpPr/>
          <p:nvPr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5" name="Google Shape;145;p64"/>
          <p:cNvSpPr txBox="1"/>
          <p:nvPr>
            <p:ph type="title"/>
          </p:nvPr>
        </p:nvSpPr>
        <p:spPr>
          <a:xfrm>
            <a:off x="457199" y="1399032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4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7" name="Google Shape;147;p64"/>
          <p:cNvSpPr/>
          <p:nvPr>
            <p:ph idx="2" type="pic"/>
          </p:nvPr>
        </p:nvSpPr>
        <p:spPr>
          <a:xfrm>
            <a:off x="4254500" y="0"/>
            <a:ext cx="7480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64"/>
          <p:cNvSpPr/>
          <p:nvPr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9" name="Google Shape;149;p64"/>
          <p:cNvSpPr/>
          <p:nvPr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Wellspring">
  <p:cSld name="Palette Wellspring">
    <p:bg>
      <p:bgPr>
        <a:solidFill>
          <a:srgbClr val="D8D8D8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5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5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65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65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65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65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65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65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65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Wellspring">
  <p:cSld name="Immersive palette Wellspring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6"/>
          <p:cNvSpPr/>
          <p:nvPr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2" name="Google Shape;162;p66"/>
          <p:cNvSpPr/>
          <p:nvPr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66"/>
          <p:cNvSpPr/>
          <p:nvPr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66"/>
          <p:cNvSpPr/>
          <p:nvPr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" name="Google Shape;165;p66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66" name="Google Shape;166;p66"/>
          <p:cNvSpPr/>
          <p:nvPr>
            <p:ph idx="2" type="pic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66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68" name="Google Shape;168;p66"/>
          <p:cNvCxnSpPr/>
          <p:nvPr/>
        </p:nvCxnSpPr>
        <p:spPr>
          <a:xfrm>
            <a:off x="228600" y="2415910"/>
            <a:ext cx="402255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66"/>
          <p:cNvSpPr txBox="1"/>
          <p:nvPr>
            <p:ph type="title"/>
          </p:nvPr>
        </p:nvSpPr>
        <p:spPr>
          <a:xfrm>
            <a:off x="457199" y="1371600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Amusements">
  <p:cSld name="Palette Amusements">
    <p:bg>
      <p:bgPr>
        <a:solidFill>
          <a:srgbClr val="D8D8D8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8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8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68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68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8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8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8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8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8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Amusements">
  <p:cSld name="Immersive palette Amusements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9"/>
          <p:cNvSpPr/>
          <p:nvPr/>
        </p:nvSpPr>
        <p:spPr>
          <a:xfrm>
            <a:off x="6712974" y="1651000"/>
            <a:ext cx="460459" cy="520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7" name="Google Shape;187;p69"/>
          <p:cNvSpPr/>
          <p:nvPr/>
        </p:nvSpPr>
        <p:spPr>
          <a:xfrm>
            <a:off x="9271000" y="0"/>
            <a:ext cx="2921000" cy="53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Google Shape;188;p69"/>
          <p:cNvSpPr/>
          <p:nvPr/>
        </p:nvSpPr>
        <p:spPr>
          <a:xfrm>
            <a:off x="0" y="2387600"/>
            <a:ext cx="5461000" cy="2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Google Shape;189;p69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0" name="Google Shape;190;p69"/>
          <p:cNvSpPr txBox="1"/>
          <p:nvPr>
            <p:ph type="title"/>
          </p:nvPr>
        </p:nvSpPr>
        <p:spPr>
          <a:xfrm>
            <a:off x="457199" y="914400"/>
            <a:ext cx="5605272" cy="1572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9"/>
          <p:cNvSpPr txBox="1"/>
          <p:nvPr>
            <p:ph idx="1" type="body"/>
          </p:nvPr>
        </p:nvSpPr>
        <p:spPr>
          <a:xfrm>
            <a:off x="457200" y="3072384"/>
            <a:ext cx="4946904" cy="287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92" name="Google Shape;192;p69"/>
          <p:cNvSpPr/>
          <p:nvPr>
            <p:ph idx="2" type="pic"/>
          </p:nvPr>
        </p:nvSpPr>
        <p:spPr>
          <a:xfrm>
            <a:off x="7178040" y="457200"/>
            <a:ext cx="4562856" cy="6400800"/>
          </a:xfrm>
          <a:prstGeom prst="rect">
            <a:avLst/>
          </a:prstGeom>
          <a:solidFill>
            <a:srgbClr val="FBF2E1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avaScript là gì? Kiến thức cơ bản về ngôn ngữ lập trình JS" id="14" name="Google Shape;14;p4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67284" y="136525"/>
            <a:ext cx="1164734" cy="65456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9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7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01" name="Google Shape;10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02" name="Google Shape;102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7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73" name="Google Shape;173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74" name="Google Shape;174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198" name="Google Shape;198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199" name="Google Shape;199;p1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FUNCTION</a:t>
            </a:r>
            <a:endParaRPr/>
          </a:p>
        </p:txBody>
      </p:sp>
      <p:sp>
        <p:nvSpPr>
          <p:cNvPr id="200" name="Google Shape;200;p1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206" name="Google Shape;206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207" name="Google Shape;207;p2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3054425" y="799825"/>
            <a:ext cx="6944400" cy="341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	  		1.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What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Javascript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2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2.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Requests</a:t>
            </a:r>
            <a:endParaRPr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3</a:t>
            </a:r>
            <a:r>
              <a:rPr b="0" i="0" lang="en-US" sz="2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Callback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endParaRPr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4.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endParaRPr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5.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Callback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hell</a:t>
            </a:r>
            <a:endParaRPr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6. </a:t>
            </a:r>
            <a:r>
              <a:rPr b="0" i="0" lang="en-US" sz="24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7.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Chainning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8.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API, Axios</a:t>
            </a:r>
            <a:endParaRPr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9.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vs</a:t>
            </a:r>
            <a:r>
              <a:rPr b="0" i="0" lang="en-US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1. What is Async Javascript?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CALLBACK</a:t>
            </a:r>
            <a:endParaRPr/>
          </a:p>
        </p:txBody>
      </p:sp>
      <p:sp>
        <p:nvSpPr>
          <p:cNvPr id="219" name="Google Shape;219;p4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 txBox="1"/>
          <p:nvPr>
            <p:ph type="title"/>
          </p:nvPr>
        </p:nvSpPr>
        <p:spPr>
          <a:xfrm>
            <a:off x="279974" y="453000"/>
            <a:ext cx="74676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Jquery Ajax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2705425" y="1672050"/>
            <a:ext cx="8808600" cy="397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//const urlBacon = "https://baconipsum.com/api/?type=all-meat";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urlBacon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"https://jsonplaceholder.typicode.com/todos/1"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(){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ajax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"GET"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urlBacon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dataType: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"json"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fail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alert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"no good"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4284857" y="279664"/>
            <a:ext cx="60941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https://codesandbox.io/s/jquery-ajax-requests-testing-yfnih?file=/src/index.js:738-975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/>
          <p:nvPr>
            <p:ph type="title"/>
          </p:nvPr>
        </p:nvSpPr>
        <p:spPr>
          <a:xfrm>
            <a:off x="457199" y="914400"/>
            <a:ext cx="7467601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https://api.jquery.com/jquery.ajax/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2967377" y="1575700"/>
            <a:ext cx="8862600" cy="369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ajax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"https://jsonplaceholder.typicode.com/todos/1"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beforeSend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overrideMimeType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"text/plain; charset=x-user-defined"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"Sample of data:"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slice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 txBox="1"/>
          <p:nvPr>
            <p:ph type="title"/>
          </p:nvPr>
        </p:nvSpPr>
        <p:spPr>
          <a:xfrm>
            <a:off x="457199" y="914400"/>
            <a:ext cx="7467601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XMLHttpRequest RESTful GET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3958682" y="2127630"/>
            <a:ext cx="7932235" cy="4247317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//Get all users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//var url = 'https://jsonplaceholder.typicode.com/todos';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onload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responseText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>
            <p:ph type="title"/>
          </p:nvPr>
        </p:nvSpPr>
        <p:spPr>
          <a:xfrm>
            <a:off x="457199" y="914400"/>
            <a:ext cx="7467601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XMLHttpRequest RESTful GET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3958682" y="2127630"/>
            <a:ext cx="7932235" cy="369331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Get a user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onload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responseText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XMLHttpRequest</a:t>
            </a:r>
            <a:br>
              <a:rPr lang="en-US"/>
            </a:br>
            <a:r>
              <a:rPr lang="en-US"/>
              <a:t>RESTful POST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4047892" y="335845"/>
            <a:ext cx="7932235" cy="618630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// Post a user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var url = "http://localhost:8080/api/v1/users";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//var url = 'https://my-json-server.typicode.com/typicode/demo/posts';    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{};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//data.firstname = "John";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//data.lastname = "Snow";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stringify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"POST"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setRequestHeader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'Content-type'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'application/json; charset=utf-8'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onload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responseText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"201"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XMLHttpRequest</a:t>
            </a:r>
            <a:br>
              <a:rPr lang="en-US"/>
            </a:br>
            <a:r>
              <a:rPr lang="en-US"/>
              <a:t>RESTful PUT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3657600" y="335845"/>
            <a:ext cx="8322527" cy="590931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Update a user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{};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firstname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"John2"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lastname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"Snow2"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stringify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"PUT"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'/12'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setRequestHeader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'Content-type'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'application/json; charset=utf-8'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onload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responseText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XMLHttpRequest</a:t>
            </a:r>
            <a:br>
              <a:rPr lang="en-US"/>
            </a:br>
            <a:r>
              <a:rPr lang="en-US"/>
              <a:t>RESTful DELETE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3468029" y="2250281"/>
            <a:ext cx="8322527" cy="369331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Delete a user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"DELETE"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'/12'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onload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responseText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268" name="Google Shape;268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269" name="Google Shape;269;p12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PROMISE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How to create Promise()</a:t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3512634" y="1674674"/>
            <a:ext cx="7192537" cy="175432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//relsolve();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//reject();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State of Promise()</a:t>
            </a:r>
            <a:endParaRPr/>
          </a:p>
        </p:txBody>
      </p:sp>
      <p:pic>
        <p:nvPicPr>
          <p:cNvPr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146" y="1405738"/>
            <a:ext cx="3696216" cy="183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424791"/>
            <a:ext cx="5287113" cy="181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4865" y="3875877"/>
            <a:ext cx="4982270" cy="144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How to create Promise()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3557238" y="1514300"/>
            <a:ext cx="4917689" cy="120032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	 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How to create Promise()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4683512" y="1469696"/>
            <a:ext cx="4348977" cy="3139321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	 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How to create Promise()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5084956" y="612855"/>
            <a:ext cx="4348977" cy="590931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'Successful!'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'UnSuccessful!'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'Finally!'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US"/>
              <a:t>How to create Promise()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5084956" y="612855"/>
            <a:ext cx="4348977" cy="590931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'Successful!'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'UnSuccessful!'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'Finally!'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14" name="Google Shape;314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15" name="Google Shape;315;p19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PROMISE CHAIN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4814538" y="982848"/>
            <a:ext cx="6172200" cy="45243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'1!'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'2!'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'3!'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23" name="Google Shape;323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24" name="Google Shape;324;p20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PROMISE CHAIN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4814538" y="982848"/>
            <a:ext cx="6172200" cy="50783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32" name="Google Shape;332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33" name="Google Shape;333;p21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RETURN PROMISE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5766382" y="335845"/>
            <a:ext cx="6172200" cy="618630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setTimeout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3000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41" name="Google Shape;341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42" name="Google Shape;342;p22"/>
          <p:cNvSpPr txBox="1"/>
          <p:nvPr>
            <p:ph type="title"/>
          </p:nvPr>
        </p:nvSpPr>
        <p:spPr>
          <a:xfrm>
            <a:off x="351213" y="886093"/>
            <a:ext cx="4901011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None/>
            </a:pPr>
            <a:r>
              <a:rPr b="0" i="0" lang="en-US">
                <a:latin typeface="Roboto"/>
                <a:ea typeface="Roboto"/>
                <a:cs typeface="Roboto"/>
                <a:sym typeface="Roboto"/>
              </a:rPr>
              <a:t>PROMISE METHODS (RESOLVE, REJECT, ALL)</a:t>
            </a:r>
            <a:br>
              <a:rPr b="0" i="0" lang="en-US"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/>
          </a:p>
        </p:txBody>
      </p:sp>
      <p:sp>
        <p:nvSpPr>
          <p:cNvPr id="343" name="Google Shape;343;p22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49" name="Google Shape;349;p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50" name="Google Shape;350;p23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Quattrocento Sans"/>
              <a:buNone/>
            </a:pPr>
            <a:r>
              <a:rPr b="1" lang="en-US"/>
              <a:t>REAL USING PROMISE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57" name="Google Shape;357;p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58" name="Google Shape;358;p24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FETCH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Get Fetch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2999679" y="1179764"/>
            <a:ext cx="8880088" cy="5355312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posts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`&lt;li&gt; 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            &lt;h2&gt;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posts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&lt;/h2&gt;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            &lt;h2&gt;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posts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&lt;/h2&gt;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            &lt;/li&gt;`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'info'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innerHTML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=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         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'Có lỗi!'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Get Fetch</a:t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2999679" y="1179764"/>
            <a:ext cx="6980662" cy="92333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'https://jsonplaceholder.typicode.com/posts/1'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3079131" y="2846453"/>
            <a:ext cx="6821758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type="title"/>
          </p:nvPr>
        </p:nvSpPr>
        <p:spPr>
          <a:xfrm>
            <a:off x="457199" y="914400"/>
            <a:ext cx="3925229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Creating a resource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2698594" y="1982652"/>
            <a:ext cx="8634761" cy="4247317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'https://jsonplaceholder.typicode.com/posts/1'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'PUT'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stringify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'foo'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userId: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headers: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'Content-type'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'application/json; charset=UTF-8'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>
            <p:ph type="title"/>
          </p:nvPr>
        </p:nvSpPr>
        <p:spPr>
          <a:xfrm>
            <a:off x="457199" y="914400"/>
            <a:ext cx="4449337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Updating a resource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2698594" y="1982652"/>
            <a:ext cx="8634761" cy="369331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'POST'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stringify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'foo'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userId: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headers: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'Content-type'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'application/json; charset=UTF-8'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457199" y="914400"/>
            <a:ext cx="4449337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Deleting a resource</a:t>
            </a:r>
            <a:endParaRPr/>
          </a:p>
        </p:txBody>
      </p:sp>
      <p:sp>
        <p:nvSpPr>
          <p:cNvPr id="390" name="Google Shape;390;p29"/>
          <p:cNvSpPr txBox="1"/>
          <p:nvPr/>
        </p:nvSpPr>
        <p:spPr>
          <a:xfrm>
            <a:off x="2698594" y="1982652"/>
            <a:ext cx="8634761" cy="92333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fetch('https://jsonplaceholder.typicode.com/posts/1',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  method: 'DELETE',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96" name="Google Shape;396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97" name="Google Shape;397;p30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AXIOS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459988" y="1729496"/>
            <a:ext cx="47439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https://github.com/axios/axios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593802" y="2687012"/>
            <a:ext cx="7702705" cy="6463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"https://unpkg.com/axios/dist/axios.min.js"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Get Axios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Get Axios</a:t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3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Get Axios</a:t>
            </a:r>
            <a:endParaRPr/>
          </a:p>
        </p:txBody>
      </p:sp>
      <p:sp>
        <p:nvSpPr>
          <p:cNvPr id="418" name="Google Shape;418;p33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Get Axios</a:t>
            </a:r>
            <a:endParaRPr/>
          </a:p>
        </p:txBody>
      </p:sp>
      <p:sp>
        <p:nvSpPr>
          <p:cNvPr id="424" name="Google Shape;424;p34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430" name="Google Shape;430;p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431" name="Google Shape;431;p35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ASYNC-AWAIT</a:t>
            </a:r>
            <a:endParaRPr/>
          </a:p>
        </p:txBody>
      </p:sp>
      <p:sp>
        <p:nvSpPr>
          <p:cNvPr id="432" name="Google Shape;432;p35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TRONG TIEN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function</a:t>
            </a:r>
            <a:endParaRPr/>
          </a:p>
        </p:txBody>
      </p:sp>
      <p:sp>
        <p:nvSpPr>
          <p:cNvPr id="438" name="Google Shape;438;p36"/>
          <p:cNvSpPr txBox="1"/>
          <p:nvPr/>
        </p:nvSpPr>
        <p:spPr>
          <a:xfrm>
            <a:off x="3180886" y="2529062"/>
            <a:ext cx="8322527" cy="2862322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callback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onreadystatechange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0" i="0" lang="en-US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callback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3180886" y="1138535"/>
            <a:ext cx="6094140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"img_1"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alt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"img_2"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alt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"img_3"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alt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b="0" i="0" lang="en-US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Callback hell</a:t>
            </a:r>
            <a:endParaRPr/>
          </a:p>
        </p:txBody>
      </p:sp>
      <p:sp>
        <p:nvSpPr>
          <p:cNvPr id="445" name="Google Shape;445;p37"/>
          <p:cNvSpPr txBox="1"/>
          <p:nvPr/>
        </p:nvSpPr>
        <p:spPr>
          <a:xfrm>
            <a:off x="1003609" y="1895708"/>
            <a:ext cx="10894741" cy="4524315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setAttribute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'src'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'2'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'img_2'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setAttribute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'src’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					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           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'3'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'img_3'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setAttribute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'src’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				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});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8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make promise</a:t>
            </a:r>
            <a:endParaRPr/>
          </a:p>
        </p:txBody>
      </p:sp>
      <p:sp>
        <p:nvSpPr>
          <p:cNvPr id="451" name="Google Shape;451;p38"/>
          <p:cNvSpPr txBox="1"/>
          <p:nvPr/>
        </p:nvSpPr>
        <p:spPr>
          <a:xfrm>
            <a:off x="1003609" y="1895708"/>
            <a:ext cx="10894741" cy="2585323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myPromise1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myPromise2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myPromise3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9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run promise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1003609" y="1895708"/>
            <a:ext cx="10894741" cy="3970318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myPromise1</a:t>
            </a:r>
            <a:endParaRPr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'img_1'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setAttribute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'src'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myPromise2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'img_2'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setAttribute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'src'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myPromise3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(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'img_3'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setAttribute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'src'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responseURL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result</a:t>
            </a:r>
            <a:endParaRPr/>
          </a:p>
        </p:txBody>
      </p:sp>
      <p:pic>
        <p:nvPicPr>
          <p:cNvPr id="463" name="Google Shape;4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691" y="427361"/>
            <a:ext cx="4283895" cy="63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US"/>
              <a:t>async-await</a:t>
            </a:r>
            <a:endParaRPr/>
          </a:p>
        </p:txBody>
      </p:sp>
      <p:sp>
        <p:nvSpPr>
          <p:cNvPr id="469" name="Google Shape;469;p41"/>
          <p:cNvSpPr txBox="1"/>
          <p:nvPr/>
        </p:nvSpPr>
        <p:spPr>
          <a:xfrm>
            <a:off x="1003609" y="1895708"/>
            <a:ext cx="10894741" cy="2585323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curentPromise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myPromise2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myPromise3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</a:t>
            </a: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475" name="Google Shape;475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476" name="Google Shape;476;p42"/>
          <p:cNvSpPr txBox="1"/>
          <p:nvPr>
            <p:ph type="title"/>
          </p:nvPr>
        </p:nvSpPr>
        <p:spPr>
          <a:xfrm>
            <a:off x="819564" y="1633225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b="1"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llspring">
  <a:themeElements>
    <a:clrScheme name="Wellspring">
      <a:dk1>
        <a:srgbClr val="000000"/>
      </a:dk1>
      <a:lt1>
        <a:srgbClr val="FFFFFF"/>
      </a:lt1>
      <a:dk2>
        <a:srgbClr val="A1CAC9"/>
      </a:dk2>
      <a:lt2>
        <a:srgbClr val="48996B"/>
      </a:lt2>
      <a:accent1>
        <a:srgbClr val="759F51"/>
      </a:accent1>
      <a:accent2>
        <a:srgbClr val="436A2F"/>
      </a:accent2>
      <a:accent3>
        <a:srgbClr val="CFBF54"/>
      </a:accent3>
      <a:accent4>
        <a:srgbClr val="B3832F"/>
      </a:accent4>
      <a:accent5>
        <a:srgbClr val="8C5896"/>
      </a:accent5>
      <a:accent6>
        <a:srgbClr val="6667A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lancing Act">
  <a:themeElements>
    <a:clrScheme name="Balancing Act">
      <a:dk1>
        <a:srgbClr val="000000"/>
      </a:dk1>
      <a:lt1>
        <a:srgbClr val="FFFFFF"/>
      </a:lt1>
      <a:dk2>
        <a:srgbClr val="8A4C5D"/>
      </a:dk2>
      <a:lt2>
        <a:srgbClr val="9E838E"/>
      </a:lt2>
      <a:accent1>
        <a:srgbClr val="C6ADB0"/>
      </a:accent1>
      <a:accent2>
        <a:srgbClr val="E3C0BF"/>
      </a:accent2>
      <a:accent3>
        <a:srgbClr val="D4937F"/>
      </a:accent3>
      <a:accent4>
        <a:srgbClr val="CCB87E"/>
      </a:accent4>
      <a:accent5>
        <a:srgbClr val="6667AB"/>
      </a:accent5>
      <a:accent6>
        <a:srgbClr val="86A094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ar of the show">
  <a:themeElements>
    <a:clrScheme name="Star of the show">
      <a:dk1>
        <a:srgbClr val="000000"/>
      </a:dk1>
      <a:lt1>
        <a:srgbClr val="FFFFFF"/>
      </a:lt1>
      <a:dk2>
        <a:srgbClr val="29282D"/>
      </a:dk2>
      <a:lt2>
        <a:srgbClr val="625C60"/>
      </a:lt2>
      <a:accent1>
        <a:srgbClr val="7C6560"/>
      </a:accent1>
      <a:accent2>
        <a:srgbClr val="AEA392"/>
      </a:accent2>
      <a:accent3>
        <a:srgbClr val="DBD4D0"/>
      </a:accent3>
      <a:accent4>
        <a:srgbClr val="8E7961"/>
      </a:accent4>
      <a:accent5>
        <a:srgbClr val="F0EDE8"/>
      </a:accent5>
      <a:accent6>
        <a:srgbClr val="6667A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musements">
  <a:themeElements>
    <a:clrScheme name="Amusements">
      <a:dk1>
        <a:srgbClr val="000000"/>
      </a:dk1>
      <a:lt1>
        <a:srgbClr val="FFFFFF"/>
      </a:lt1>
      <a:dk2>
        <a:srgbClr val="D77E6F"/>
      </a:dk2>
      <a:lt2>
        <a:srgbClr val="6667AB"/>
      </a:lt2>
      <a:accent1>
        <a:srgbClr val="B38F6A"/>
      </a:accent1>
      <a:accent2>
        <a:srgbClr val="D75078"/>
      </a:accent2>
      <a:accent3>
        <a:srgbClr val="E288B6"/>
      </a:accent3>
      <a:accent4>
        <a:srgbClr val="E9445D"/>
      </a:accent4>
      <a:accent5>
        <a:srgbClr val="EEC272"/>
      </a:accent5>
      <a:accent6>
        <a:srgbClr val="85A0A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2022-08-02T13:34:29Z</dcterms:created>
  <dc:creator>Nguyễn Trọng Tiến</dc:creator>
</cp:coreProperties>
</file>