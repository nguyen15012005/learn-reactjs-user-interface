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6858000" cx="12192000"/>
  <p:notesSz cx="6858000" cy="9144000"/>
  <p:embeddedFontLst>
    <p:embeddedFont>
      <p:font typeface="Tahoma"/>
      <p:regular r:id="rId67"/>
      <p:bold r:id="rId68"/>
    </p:embeddedFont>
    <p:embeddedFont>
      <p:font typeface="Helvetica Neue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hBwoVJUPD2kTxllWUj/5U+n55f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customschemas.google.com/relationships/presentationmetadata" Target="metadata"/><Relationship Id="rId72" Type="http://schemas.openxmlformats.org/officeDocument/2006/relationships/font" Target="fonts/HelveticaNeue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italic.fntdata"/><Relationship Id="rId70" Type="http://schemas.openxmlformats.org/officeDocument/2006/relationships/font" Target="fonts/HelveticaNeue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Tahoma-bold.fntdata"/><Relationship Id="rId23" Type="http://schemas.openxmlformats.org/officeDocument/2006/relationships/slide" Target="slides/slide18.xml"/><Relationship Id="rId67" Type="http://schemas.openxmlformats.org/officeDocument/2006/relationships/font" Target="fonts/Tahoma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HelveticaNeue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3"/>
          <p:cNvSpPr/>
          <p:nvPr/>
        </p:nvSpPr>
        <p:spPr>
          <a:xfrm>
            <a:off x="609601" y="1371600"/>
            <a:ext cx="10968567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" name="Google Shape;15;p63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3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63"/>
          <p:cNvSpPr txBox="1"/>
          <p:nvPr>
            <p:ph idx="10" type="dt"/>
          </p:nvPr>
        </p:nvSpPr>
        <p:spPr>
          <a:xfrm>
            <a:off x="810361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8eCarthage-11.jpg" id="20" name="Google Shape;20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7258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3"/>
          <p:cNvSpPr txBox="1"/>
          <p:nvPr/>
        </p:nvSpPr>
        <p:spPr>
          <a:xfrm>
            <a:off x="3454400" y="462778"/>
            <a:ext cx="6293501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INDUSTRIAL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FACULTY OF INFORMATION TECHNOLOGY</a:t>
            </a:r>
            <a:endParaRPr b="1" i="0" sz="1600" u="none" cap="none" strike="noStrik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FFE55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" name="Google Shape;2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584" y="0"/>
            <a:ext cx="305752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4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˗"/>
              <a:defRPr>
                <a:solidFill>
                  <a:schemeClr val="accent4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>
                <a:solidFill>
                  <a:schemeClr val="accent4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chemeClr val="accent4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4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4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4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/>
          <p:cNvSpPr txBox="1"/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5"/>
          <p:cNvSpPr txBox="1"/>
          <p:nvPr>
            <p:ph idx="1" type="body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65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5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6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6"/>
          <p:cNvSpPr txBox="1"/>
          <p:nvPr>
            <p:ph idx="1" type="body"/>
          </p:nvPr>
        </p:nvSpPr>
        <p:spPr>
          <a:xfrm>
            <a:off x="1117600" y="1219200"/>
            <a:ext cx="51816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˗"/>
              <a:defRPr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6"/>
          <p:cNvSpPr txBox="1"/>
          <p:nvPr>
            <p:ph idx="2" type="body"/>
          </p:nvPr>
        </p:nvSpPr>
        <p:spPr>
          <a:xfrm>
            <a:off x="6502400" y="1219200"/>
            <a:ext cx="51816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˗"/>
              <a:defRPr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6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  <a:defRPr b="1" i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6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6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7"/>
          <p:cNvSpPr txBox="1"/>
          <p:nvPr>
            <p:ph type="title"/>
          </p:nvPr>
        </p:nvSpPr>
        <p:spPr>
          <a:xfrm>
            <a:off x="840317" y="288926"/>
            <a:ext cx="10515600" cy="695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7"/>
          <p:cNvSpPr txBox="1"/>
          <p:nvPr>
            <p:ph idx="1" type="body"/>
          </p:nvPr>
        </p:nvSpPr>
        <p:spPr>
          <a:xfrm>
            <a:off x="840318" y="1136375"/>
            <a:ext cx="515831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 sz="28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7"/>
          <p:cNvSpPr txBox="1"/>
          <p:nvPr>
            <p:ph idx="2" type="body"/>
          </p:nvPr>
        </p:nvSpPr>
        <p:spPr>
          <a:xfrm>
            <a:off x="840318" y="1960286"/>
            <a:ext cx="5158316" cy="428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˗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7"/>
          <p:cNvSpPr txBox="1"/>
          <p:nvPr>
            <p:ph idx="3" type="body"/>
          </p:nvPr>
        </p:nvSpPr>
        <p:spPr>
          <a:xfrm>
            <a:off x="6172200" y="1136375"/>
            <a:ext cx="518371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7"/>
          <p:cNvSpPr txBox="1"/>
          <p:nvPr>
            <p:ph idx="4" type="body"/>
          </p:nvPr>
        </p:nvSpPr>
        <p:spPr>
          <a:xfrm>
            <a:off x="6172200" y="1960287"/>
            <a:ext cx="5183717" cy="428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˗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7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  <a:defRPr b="1" i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7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8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8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8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9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9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9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0"/>
          <p:cNvSpPr txBox="1"/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0"/>
          <p:cNvSpPr txBox="1"/>
          <p:nvPr>
            <p:ph idx="1" type="body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˗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70"/>
          <p:cNvSpPr txBox="1"/>
          <p:nvPr>
            <p:ph idx="2" type="body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70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0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0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1"/>
          <p:cNvSpPr txBox="1"/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1"/>
          <p:cNvSpPr/>
          <p:nvPr>
            <p:ph idx="2" type="pic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1"/>
          <p:cNvSpPr txBox="1"/>
          <p:nvPr>
            <p:ph idx="1" type="body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71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1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1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2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2"/>
          <p:cNvSpPr txBox="1"/>
          <p:nvPr>
            <p:ph idx="1" type="body"/>
          </p:nvPr>
        </p:nvSpPr>
        <p:spPr>
          <a:xfrm rot="5400000">
            <a:off x="3937000" y="-1600200"/>
            <a:ext cx="4927600" cy="10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˗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2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2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2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3"/>
          <p:cNvSpPr txBox="1"/>
          <p:nvPr>
            <p:ph type="title"/>
          </p:nvPr>
        </p:nvSpPr>
        <p:spPr>
          <a:xfrm rot="5400000">
            <a:off x="7556500" y="1816100"/>
            <a:ext cx="5918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3"/>
          <p:cNvSpPr txBox="1"/>
          <p:nvPr>
            <p:ph idx="1" type="body"/>
          </p:nvPr>
        </p:nvSpPr>
        <p:spPr>
          <a:xfrm rot="5400000">
            <a:off x="1968500" y="-825500"/>
            <a:ext cx="5918200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˗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73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3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3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4"/>
          <p:cNvSpPr txBox="1"/>
          <p:nvPr>
            <p:ph idx="1" type="body"/>
          </p:nvPr>
        </p:nvSpPr>
        <p:spPr>
          <a:xfrm>
            <a:off x="1117600" y="1219200"/>
            <a:ext cx="51816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˗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74"/>
          <p:cNvSpPr txBox="1"/>
          <p:nvPr>
            <p:ph idx="2" type="body"/>
          </p:nvPr>
        </p:nvSpPr>
        <p:spPr>
          <a:xfrm>
            <a:off x="6502400" y="1219200"/>
            <a:ext cx="51816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˗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74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4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4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5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5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˗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75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5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5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400"/>
              <a:buFont typeface="Tahoma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SzPts val="2000"/>
              <a:buFont typeface="Tahoma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8"/>
          <p:cNvSpPr txBox="1"/>
          <p:nvPr>
            <p:ph type="title"/>
          </p:nvPr>
        </p:nvSpPr>
        <p:spPr>
          <a:xfrm>
            <a:off x="1320801" y="3810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8"/>
          <p:cNvSpPr txBox="1"/>
          <p:nvPr>
            <p:ph idx="1" type="body"/>
          </p:nvPr>
        </p:nvSpPr>
        <p:spPr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9"/>
          <p:cNvSpPr txBox="1"/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79"/>
          <p:cNvSpPr txBox="1"/>
          <p:nvPr>
            <p:ph idx="1" type="body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Tahoma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ahoma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0"/>
          <p:cNvSpPr txBox="1"/>
          <p:nvPr>
            <p:ph type="title"/>
          </p:nvPr>
        </p:nvSpPr>
        <p:spPr>
          <a:xfrm>
            <a:off x="1320801" y="3810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0"/>
          <p:cNvSpPr txBox="1"/>
          <p:nvPr>
            <p:ph idx="1" type="body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80"/>
          <p:cNvSpPr txBox="1"/>
          <p:nvPr>
            <p:ph idx="2" type="body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1"/>
          <p:cNvSpPr txBox="1"/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1"/>
          <p:cNvSpPr txBox="1"/>
          <p:nvPr>
            <p:ph idx="1" type="body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Tahom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ahom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81"/>
          <p:cNvSpPr txBox="1"/>
          <p:nvPr>
            <p:ph idx="2" type="body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81"/>
          <p:cNvSpPr txBox="1"/>
          <p:nvPr>
            <p:ph idx="3" type="body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Tahom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ahom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ahom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81"/>
          <p:cNvSpPr txBox="1"/>
          <p:nvPr>
            <p:ph idx="4" type="body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2"/>
          <p:cNvSpPr txBox="1"/>
          <p:nvPr>
            <p:ph type="title"/>
          </p:nvPr>
        </p:nvSpPr>
        <p:spPr>
          <a:xfrm>
            <a:off x="1320801" y="3810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4"/>
          <p:cNvSpPr txBox="1"/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84"/>
          <p:cNvSpPr txBox="1"/>
          <p:nvPr>
            <p:ph idx="1" type="body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Tahoma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Tahoma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Tahoma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🟂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84"/>
          <p:cNvSpPr txBox="1"/>
          <p:nvPr>
            <p:ph idx="2" type="body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Tahoma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5"/>
          <p:cNvSpPr txBox="1"/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5"/>
          <p:cNvSpPr/>
          <p:nvPr>
            <p:ph idx="2" type="pic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85"/>
          <p:cNvSpPr txBox="1"/>
          <p:nvPr>
            <p:ph idx="1" type="body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Font typeface="Tahoma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Font typeface="Tahoma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Tahoma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6"/>
          <p:cNvSpPr txBox="1"/>
          <p:nvPr>
            <p:ph type="title"/>
          </p:nvPr>
        </p:nvSpPr>
        <p:spPr>
          <a:xfrm>
            <a:off x="1320801" y="3810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6"/>
          <p:cNvSpPr txBox="1"/>
          <p:nvPr>
            <p:ph idx="1" type="body"/>
          </p:nvPr>
        </p:nvSpPr>
        <p:spPr>
          <a:xfrm rot="5400000">
            <a:off x="4701117" y="-1106487"/>
            <a:ext cx="4114800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7"/>
          <p:cNvSpPr txBox="1"/>
          <p:nvPr>
            <p:ph type="title"/>
          </p:nvPr>
        </p:nvSpPr>
        <p:spPr>
          <a:xfrm rot="5400000">
            <a:off x="7737211" y="1929607"/>
            <a:ext cx="5751513" cy="2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7"/>
          <p:cNvSpPr txBox="1"/>
          <p:nvPr>
            <p:ph idx="1" type="body"/>
          </p:nvPr>
        </p:nvSpPr>
        <p:spPr>
          <a:xfrm rot="5400000">
            <a:off x="2325953" y="-624151"/>
            <a:ext cx="5751513" cy="7761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🟂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4.jpg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/>
          <p:nvPr/>
        </p:nvSpPr>
        <p:spPr>
          <a:xfrm>
            <a:off x="918634" y="990600"/>
            <a:ext cx="10968567" cy="76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" name="Google Shape;7;p62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˗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E21738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98877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3DAB0"/>
              </a:buClr>
              <a:buSzPts val="2000"/>
              <a:buFont typeface="Noto Sans Symbols"/>
              <a:buChar char="🟂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3DAB0"/>
              </a:buClr>
              <a:buSzPts val="2000"/>
              <a:buFont typeface="Noto Sans Symbols"/>
              <a:buChar char="🟂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0" type="dt"/>
          </p:nvPr>
        </p:nvSpPr>
        <p:spPr>
          <a:xfrm>
            <a:off x="1219200" y="63246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1" type="ftr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2"/>
          <p:cNvSpPr txBox="1"/>
          <p:nvPr>
            <p:ph idx="12" type="sldNum"/>
          </p:nvPr>
        </p:nvSpPr>
        <p:spPr>
          <a:xfrm>
            <a:off x="894080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8eCarthage-11.jpg" id="12" name="Google Shape;12;p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772584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6"/>
          <p:cNvSpPr/>
          <p:nvPr/>
        </p:nvSpPr>
        <p:spPr>
          <a:xfrm>
            <a:off x="590551" y="1781175"/>
            <a:ext cx="10968567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1" name="Google Shape;101;p76"/>
          <p:cNvSpPr/>
          <p:nvPr/>
        </p:nvSpPr>
        <p:spPr>
          <a:xfrm>
            <a:off x="590551" y="1781175"/>
            <a:ext cx="10968567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8eCarthage-11.jpg" id="102" name="Google Shape;102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7258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8eCarthage-21.jpg" id="103" name="Google Shape;103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401" y="457201"/>
            <a:ext cx="1293284" cy="9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6"/>
          <p:cNvSpPr txBox="1"/>
          <p:nvPr/>
        </p:nvSpPr>
        <p:spPr>
          <a:xfrm>
            <a:off x="1219200" y="6477001"/>
            <a:ext cx="68072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2011 Pearson Education</a:t>
            </a:r>
            <a:endParaRPr/>
          </a:p>
        </p:txBody>
      </p:sp>
      <p:sp>
        <p:nvSpPr>
          <p:cNvPr id="105" name="Google Shape;105;p76"/>
          <p:cNvSpPr txBox="1"/>
          <p:nvPr>
            <p:ph type="title"/>
          </p:nvPr>
        </p:nvSpPr>
        <p:spPr>
          <a:xfrm>
            <a:off x="1320801" y="3810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DF173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6" name="Google Shape;106;p76"/>
          <p:cNvSpPr txBox="1"/>
          <p:nvPr>
            <p:ph idx="1" type="body"/>
          </p:nvPr>
        </p:nvSpPr>
        <p:spPr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21738"/>
              </a:buClr>
              <a:buSzPts val="2800"/>
              <a:buFont typeface="Tahoma"/>
              <a:buChar char="•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8877D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3DAB0"/>
              </a:buClr>
              <a:buSzPts val="2000"/>
              <a:buFont typeface="Noto Sans Symbols"/>
              <a:buChar char="🟂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3DAB0"/>
              </a:buClr>
              <a:buSzPts val="2000"/>
              <a:buFont typeface="Noto Sans Symbols"/>
              <a:buChar char="🟂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>
                <a:solidFill>
                  <a:srgbClr val="0000CC"/>
                </a:solidFill>
              </a:rPr>
              <a:t>Lecturer: Nguyễn Trọng Tiến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JavaScript?</a:t>
            </a:r>
            <a:endParaRPr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1981200" y="1600201"/>
            <a:ext cx="833932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Key Point: JavaScript is a programming language for the Web, running in browsers and on servers (Node.js).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Explanation: JavaScript enables interaction such as clicks, forms, and API calls. With Node.js, JS is also used for backend and tooling.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i="1" lang="en-US"/>
              <a:t>Example</a:t>
            </a:r>
            <a:r>
              <a:rPr lang="en-US"/>
              <a:t>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console.log('Hello JavaScript');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Exercise: Create app.js and print your name, class, and student ID (3 lines).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Run JavaScript</a:t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Key Point: JavaScript runs in Browser Console and Node.js.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Explanation: Browser: DevTools &gt; Console. Node.js: run `node app.js` in terminal.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i="1" lang="en-US"/>
              <a:t>Example:</a:t>
            </a:r>
            <a:endParaRPr b="1" i="1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const a = 3, b = 5;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console.log(a + b);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/>
              <a:t>Exercise: Run code in browser and Node.js. Note differences (window object exists or not).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Including JS in HTML (defer / async)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defer runs after HTML parsing, async runs immediately after download.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JavaScript can block rendering. defer is recommended for DOM scripts.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i="1" lang="en-US"/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&lt;script src='main.js' defer&gt;&lt;/script&gt;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Create HTML with &lt;h1&gt;. Test normal, defer, async and observe querySelector('h1').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Syntax &amp; Conventions</a:t>
            </a:r>
            <a:endParaRPr/>
          </a:p>
        </p:txBody>
      </p:sp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JavaScript is case-sensitive; semicolons depend on team convention.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Case mistakes cause bugs. Comments improve readability.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// single-line comment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/* multi-line comment */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a code snippet with comments explaining its purpose.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Console Usage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Use console.log, console.table, console.error for debugging.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console.table is very useful for arrays of objects.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console.table([{id:1,name:'A'},{id:2,name:'B'}]);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Create an array of 5 students (id, name, score) and display using console.table.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Strict Mode</a:t>
            </a:r>
            <a:endParaRPr/>
          </a:p>
        </p:txBody>
      </p:sp>
      <p:sp>
        <p:nvSpPr>
          <p:cNvPr id="184" name="Google Shape;184;p7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'use strict' helps detect errors early.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Prevents accidental global variables and enforces stricter rules.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'use strict';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x = 10; // ReferenceError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Enable strict mode and try assigning an undeclared variable. Record the error.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190" name="Google Shape;190;p8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Thank you very much!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 / let / const</a:t>
            </a:r>
            <a:endParaRPr/>
          </a:p>
        </p:txBody>
      </p:sp>
      <p:sp>
        <p:nvSpPr>
          <p:cNvPr id="196" name="Google Shape;196;p9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let is block-scoped, const prevents reassignment; avoid var.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var is function-scoped and hoisted, which often causes bugs. Use let/const in modern JavaScript.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let x = 1;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y = 2;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a for-loop using var that causes a bug, then fix it using let.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Data Types</a:t>
            </a:r>
            <a:endParaRPr/>
          </a:p>
        </p:txBody>
      </p:sp>
      <p:sp>
        <p:nvSpPr>
          <p:cNvPr id="202" name="Google Shape;202;p10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number, string, boolean, null, undefined, symbol, bigint.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JavaScript uses dynamic typing. Note the quirk: typeof null is 'object'.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console.log(typeof 1, typeof 'a', typeof null);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Print typeof for all data types and explain two unusual results.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Truthy and Falsy Values</a:t>
            </a:r>
            <a:endParaRPr/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falsy values include 0, '', null, undefined, NaN, false.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Conditions like if(value) depend on truthy/falsy evaluation.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if ('') console.log('run'); else console.log('skip');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isEmpty(value) that returns true if the value is falsy.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Operators (== vs ===)</a:t>
            </a:r>
            <a:endParaRPr/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Always prefer === for strict comparison.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== performs implicit type conversion, which can lead to bugs.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console.log(0 == '0'); // true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console.log(0 === '0'); // false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Find 3 cases where == gives unexpected results.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Conversion</a:t>
            </a:r>
            <a:endParaRPr/>
          </a:p>
        </p:txBody>
      </p:sp>
      <p:sp>
        <p:nvSpPr>
          <p:cNvPr id="220" name="Google Shape;220;p13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Use Number(), String(), Boolean() for explicit conversion.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Explicit conversion avoids unpredictable implicit coercion.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Number('10'); // 10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Boolean('0'); // true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toNumberSafe(x) that returns null if conversion fails.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Template Literals</a:t>
            </a:r>
            <a:endParaRPr/>
          </a:p>
        </p:txBody>
      </p:sp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Use backticks (`) and ${} for interpolation.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Template literals improve readability and support multi-line strings.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name = 'Tien';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console.log(`Hello ${name}`);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Print 'Student {name} scored {score}' using variables.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Operators &amp; Short-Circuiting</a:t>
            </a:r>
            <a:endParaRPr/>
          </a:p>
        </p:txBody>
      </p:sp>
      <p:sp>
        <p:nvSpPr>
          <p:cNvPr id="232" name="Google Shape;232;p15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&amp;&amp; and || return operands, not just booleans.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a &amp;&amp; b returns b if a is truthy; a || b returns the first truthy value.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username = '' || 'guest';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getDisplayName(user) that falls back to 'guest' if name is missing.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Nullish Coalescing Operator (??)</a:t>
            </a:r>
            <a:endParaRPr/>
          </a:p>
        </p:txBody>
      </p:sp>
      <p:sp>
        <p:nvSpPr>
          <p:cNvPr id="238" name="Google Shape;238;p16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?? falls back only for null or undefined.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Unlike ||, values like 0 or '' are preserved.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page = 0 ?? 1; // 0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Fix pagination code by replacing || with ?? to keep page = 0.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Chaining (?.)</a:t>
            </a:r>
            <a:endParaRPr/>
          </a:p>
        </p:txBody>
      </p:sp>
      <p:sp>
        <p:nvSpPr>
          <p:cNvPr id="244" name="Google Shape;244;p17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Safely access nested properties.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Prevents runtime errors when accessing missing properties.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city = user?.address?.city;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getCity(user) that does not crash if address is missing.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rPr>
              <a:t>Basic </a:t>
            </a:r>
            <a:r>
              <a:rPr lang="en-US"/>
              <a:t>Destructuring</a:t>
            </a:r>
            <a:endParaRPr/>
          </a:p>
        </p:txBody>
      </p:sp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Extract values from objects or arrays easily.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Destructuring makes code cleaner, especially with API data.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{ id, name } = { id: 1, name: 'A' };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Destructure name and score from a student object and print them.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256" name="Google Shape;256;p19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Thank you very much!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/ else &amp; Guard Clause</a:t>
            </a:r>
            <a:endParaRPr/>
          </a:p>
        </p:txBody>
      </p:sp>
      <p:sp>
        <p:nvSpPr>
          <p:cNvPr id="262" name="Google Shape;262;p20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Guard clauses reduce nested conditions.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Returning early when a condition fails makes code cleaner and easier to read.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function pay(amount){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  if(amount &lt;= 0) return 'invalid';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  return 'ok';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checkAge(age) using guard clauses: &lt;0 invalid, &lt;18 minor, else adult.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 Statement</a:t>
            </a:r>
            <a:endParaRPr/>
          </a:p>
        </p:txBody>
      </p:sp>
      <p:sp>
        <p:nvSpPr>
          <p:cNvPr id="268" name="Google Shape;268;p21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switch is useful for multiple discrete cases.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Always remember to use break or return to avoid fall-through.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switch(role){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  case 'admin': console.log('Admin'); break;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  default: console.log('User');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Use switch with dayOfWeek (1–7) to return Mon–Sun.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and while Loops</a:t>
            </a:r>
            <a:endParaRPr/>
          </a:p>
        </p:txBody>
      </p:sp>
      <p:sp>
        <p:nvSpPr>
          <p:cNvPr id="274" name="Google Shape;274;p22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Use for when the number of iterations is known, while when it is not.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Be careful with loop conditions to avoid infinite loops.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for(let i=1;i&lt;=5;i++) console.log(i);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Print all even numbers from 2 to 100.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for...of vs for...in</a:t>
            </a:r>
            <a:endParaRPr/>
          </a:p>
        </p:txBody>
      </p:sp>
      <p:sp>
        <p:nvSpPr>
          <p:cNvPr id="280" name="Google Shape;280;p23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for...of iterates values, for...in iterates keys.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Avoid for...in with arrays because it may include prototype properties.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for(const v of [1,2,3]) console.log(v);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Iterate over a student object and print 'key: value'.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 and continue</a:t>
            </a:r>
            <a:endParaRPr/>
          </a:p>
        </p:txBody>
      </p:sp>
      <p:sp>
        <p:nvSpPr>
          <p:cNvPr id="286" name="Google Shape;286;p24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break exits the loop, continue skips the current iteration.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These keywords help reduce unnecessary nesting inside loops.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for(const n of arr){ if(n &lt; 0) continue; sum += n;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Calculate the sum of positive numbers in an array containing negatives.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Array Algorithm</a:t>
            </a:r>
            <a:endParaRPr/>
          </a:p>
        </p:txBody>
      </p:sp>
      <p:sp>
        <p:nvSpPr>
          <p:cNvPr id="292" name="Google Shape;292;p25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Iteration + condition + accumulator is a common pattern.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This pattern is widely used in data processing.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let max = arr[0];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for(const x of arr){ if(x &gt; max) max = x;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minMax(arr) that returns {min, max}.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Random &amp; Math</a:t>
            </a:r>
            <a:endParaRPr/>
          </a:p>
        </p:txBody>
      </p:sp>
      <p:sp>
        <p:nvSpPr>
          <p:cNvPr id="298" name="Google Shape;298;p26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Math.random() returns a value in [0,1), Math.floor rounds down.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Combine them to generate random integers in a range.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r = Math.floor(Math.random()*10) + 1;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Build a number guessing game (1–10) with 3 attempts.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Functions</a:t>
            </a:r>
            <a:endParaRPr/>
          </a:p>
        </p:txBody>
      </p:sp>
      <p:sp>
        <p:nvSpPr>
          <p:cNvPr id="304" name="Google Shape;304;p27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Functions take input, process data, and return output.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Functions improve reusability and testability.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function sum(a,b){ return a + b;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calcBMI(weight, height) that returns BMI rounded to 2 decimals.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Default Parameters &amp; Rest</a:t>
            </a:r>
            <a:endParaRPr/>
          </a:p>
        </p:txBody>
      </p:sp>
      <p:sp>
        <p:nvSpPr>
          <p:cNvPr id="310" name="Google Shape;310;p28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Default parameters provide fallback values; rest collects arguments.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Useful when the number of arguments is flexible.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function add(...nums){ return nums.reduce((s,n)=&gt;s+n,0);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avg(...nums) that returns the average or 0 if empty.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rPr>
              <a:t>Arrow </a:t>
            </a:r>
            <a:r>
              <a:rPr lang="en-US"/>
              <a:t>Functions</a:t>
            </a:r>
            <a:endParaRPr/>
          </a:p>
        </p:txBody>
      </p:sp>
      <p:sp>
        <p:nvSpPr>
          <p:cNvPr id="316" name="Google Shape;316;p29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Arrow functions are concise but have different this behavior.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Commonly used for callbacks and array methods.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double = x =&gt; x * 2;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Use arr.map(x =&gt; x * 3) on an array of 5 numbers.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322" name="Google Shape;322;p30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Thank you very much!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Scope (Global / Function / Block)</a:t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let and const are block-scoped; var is function-scoped.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Block scope prevents variables from leaking outside control blocks.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if(true){ let a = 1;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// a is not accessible here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Create an example where var leaks outside a block and explain why.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Hoisting</a:t>
            </a:r>
            <a:endParaRPr/>
          </a:p>
        </p:txBody>
      </p:sp>
      <p:sp>
        <p:nvSpPr>
          <p:cNvPr id="334" name="Google Shape;334;p32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var is hoisted as undefined; let/const are hoisted but in TDZ.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TDZ (Temporal Dead Zone) helps catch errors earlier.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console.log(x); // undefined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var x = 1;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Try console.log(y); let y = 1; and describe the error.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Closure</a:t>
            </a:r>
            <a:endParaRPr/>
          </a:p>
        </p:txBody>
      </p:sp>
      <p:sp>
        <p:nvSpPr>
          <p:cNvPr id="340" name="Google Shape;340;p33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A closure allows a function to remember its outer scope.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Closures are used for private variables and factory functions.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function makeCounter(){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  let c = 0;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  return () =&gt; ++c;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Implement makeBankAccount() with deposit, withdraw, and getBalance.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Callback Functions</a:t>
            </a:r>
            <a:endParaRPr/>
          </a:p>
        </p:txBody>
      </p:sp>
      <p:sp>
        <p:nvSpPr>
          <p:cNvPr id="346" name="Google Shape;346;p34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Functions can be passed as arguments to other functions.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Callbacks are common in events, async code, and array methods.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function doTask(cb){ cb('done');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process(arr, fn) that applies fn to each element (no map).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Higher-Order Functions</a:t>
            </a:r>
            <a:endParaRPr/>
          </a:p>
        </p:txBody>
      </p:sp>
      <p:sp>
        <p:nvSpPr>
          <p:cNvPr id="352" name="Google Shape;352;p35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Higher-order functions take or return other functions.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This is a foundation of functional programming in JavaScript.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withLog = fn =&gt; (...a) =&gt; { console.log(a); return fn(...a); };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Create withTimer(fn) to measure execution time.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IIFE (Immediately Invoked Function Expression)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IIFE runs immediately and creates a private scope.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Commonly used before ES modules to avoid global pollution.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(() =&gt; { const secret = 123; })();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an IIFE that creates a private config and logs 'loaded'.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Recursion</a:t>
            </a:r>
            <a:endParaRPr/>
          </a:p>
        </p:txBody>
      </p:sp>
      <p:sp>
        <p:nvSpPr>
          <p:cNvPr id="364" name="Google Shape;364;p37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A recursive function calls itself and needs a base case.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Used for factorial, Fibonacci, and tree traversal.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function fact(n){ if(n&lt;=1) return 1; return n*fact(n-1);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Write sumTo(n) using recursion.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DF1738"/>
                </a:solidFill>
                <a:latin typeface="Arial"/>
                <a:ea typeface="Arial"/>
                <a:cs typeface="Arial"/>
                <a:sym typeface="Arial"/>
              </a:rPr>
              <a:t>Debugging </a:t>
            </a:r>
            <a:r>
              <a:rPr lang="en-US"/>
              <a:t>Mindset</a:t>
            </a:r>
            <a:endParaRPr/>
          </a:p>
        </p:txBody>
      </p:sp>
      <p:sp>
        <p:nvSpPr>
          <p:cNvPr id="370" name="Google Shape;370;p38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Read stack traces and log checkpoints.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Logging before and after suspicious code helps locate bugs.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for(let i=0;i&lt;3;i++){ console.log(i); 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Given a buggy code snippet, identify the error and fix it.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376" name="Google Shape;376;p39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Thank you very much!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 CRUD Operations</a:t>
            </a:r>
            <a:endParaRPr/>
          </a:p>
        </p:txBody>
      </p:sp>
      <p:sp>
        <p:nvSpPr>
          <p:cNvPr id="382" name="Google Shape;382;p40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Use push/pop, shift/unshift, splice to modify arrays.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splice allows insertion and removal at any position.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arr.splice(1, 1); // remove 1 element at index 1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Remove the student with id = 3 from the students array.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Array.map()</a:t>
            </a:r>
            <a:endParaRPr/>
          </a:p>
        </p:txBody>
      </p:sp>
      <p:sp>
        <p:nvSpPr>
          <p:cNvPr id="388" name="Google Shape;388;p41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map transforms each element into a new array.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map does not mutate the original array.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names = students.map(s =&gt; s.name);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From an array of scores, create an array of 'Pass' / 'Fail'.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Array.filter()</a:t>
            </a:r>
            <a:endParaRPr/>
          </a:p>
        </p:txBody>
      </p:sp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filter selects elements that satisfy a condition.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Commonly used for search and filtering in UI.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good = students.filter(s =&gt; s.score &gt;= 8);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Filter students whose names include 'an' (case-insensitive).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Array.find() / findIndex()</a:t>
            </a:r>
            <a:endParaRPr/>
          </a:p>
        </p:txBody>
      </p:sp>
      <p:sp>
        <p:nvSpPr>
          <p:cNvPr id="400" name="Google Shape;400;p43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find returns the first matching element.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Useful for retrieving detail by id.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s = students.find(x =&gt; x.id === 2);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Find student with id = 5, return 'Not found' if missing.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Array.reduce()</a:t>
            </a:r>
            <a:endParaRPr/>
          </a:p>
        </p:txBody>
      </p:sp>
      <p:sp>
        <p:nvSpPr>
          <p:cNvPr id="406" name="Google Shape;406;p44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reduce combines array elements into a single value.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Powerful but should be used carefully for readability.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sum = nums.reduce((acc,n) =&gt; acc + n, 0);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Calculate class average score using reduce.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some() and every()</a:t>
            </a:r>
            <a:endParaRPr/>
          </a:p>
        </p:txBody>
      </p:sp>
      <p:sp>
        <p:nvSpPr>
          <p:cNvPr id="412" name="Google Shape;412;p45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some checks if at least one element matches; every checks all.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Useful for validating conditions across collections.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students.some(s =&gt; s.score &lt; 5);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Check if the class has any failing students and if all passed.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 Access &amp; Iteration</a:t>
            </a:r>
            <a:endParaRPr/>
          </a:p>
        </p:txBody>
      </p:sp>
      <p:sp>
        <p:nvSpPr>
          <p:cNvPr id="418" name="Google Shape;418;p46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Use dot/bracket notation and Object.keys/values/entries.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Bracket notation is needed for dynamic keys.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for(const [k,v] of Object.entries(obj)) console.log(k,v);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Print all key-value pairs of a student object.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Shallow vs Deep Copy</a:t>
            </a:r>
            <a:endParaRPr/>
          </a:p>
        </p:txBody>
      </p:sp>
      <p:sp>
        <p:nvSpPr>
          <p:cNvPr id="424" name="Google Shape;424;p47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Spread/Object.assign create shallow copies.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Nested objects still share references.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a={x:{y:1}}; const b={...a}; b.x.y=2;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Demonstrate a shallow copy bug and fix it using structuredClone or JSON.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JSON &amp; API Data</a:t>
            </a:r>
            <a:endParaRPr/>
          </a:p>
        </p:txBody>
      </p:sp>
      <p:sp>
        <p:nvSpPr>
          <p:cNvPr id="430" name="Google Shape;430;p48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JSON.stringify converts objects to strings; JSON.parse reverses it.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JSON is the standard format for client-server communication.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JSON.stringify({id:1});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Parse a JSON string of students and filter scores &gt;= 8.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 &amp; Time Basics</a:t>
            </a:r>
            <a:endParaRPr/>
          </a:p>
        </p:txBody>
      </p:sp>
      <p:sp>
        <p:nvSpPr>
          <p:cNvPr id="436" name="Google Shape;436;p49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Date object handles dates and timestamps.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Useful for logging and time-based features.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now = new Date(); console.log(now.toISOString());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Print today's date in dd/mm/yyyy format.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and Map</a:t>
            </a:r>
            <a:endParaRPr/>
          </a:p>
        </p:txBody>
      </p:sp>
      <p:sp>
        <p:nvSpPr>
          <p:cNvPr id="442" name="Google Shape;442;p50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Set stores unique values; Map stores key-value pairs.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Useful for deduplication and fast lookups.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set = new Set([1,1,2]); // {1,2}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From an array of names, create a unique list using Set.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 Project: Data Processing</a:t>
            </a:r>
            <a:endParaRPr/>
          </a:p>
        </p:txBody>
      </p:sp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Combine map, filter, and reduce.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Simulates real-world data processing pipelines.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 orders.map().filter().reduce()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Given orders {id,total}, compute total revenue, max order, and top 3 orders.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2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454" name="Google Shape;454;p52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Thank you very much!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3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 Tree &amp; querySelector</a:t>
            </a:r>
            <a:endParaRPr/>
          </a:p>
        </p:txBody>
      </p:sp>
      <p:sp>
        <p:nvSpPr>
          <p:cNvPr id="460" name="Google Shape;460;p53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The DOM represents HTML as a tree structure.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querySelector returns the first matching element; querySelectorAll returns a NodeList.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btn = document.querySelector('#btn');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Select all elements with class '.item' and change their text color.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4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vs HTML Manipulation</a:t>
            </a:r>
            <a:endParaRPr/>
          </a:p>
        </p:txBody>
      </p:sp>
      <p:sp>
        <p:nvSpPr>
          <p:cNvPr id="466" name="Google Shape;466;p54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textContent is safe; innerHTML can cause XSS risks.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Use textContent when inserting user data to avoid script injection.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el.textContent = 'Hello';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Render a list of names safely using textContent.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/ Append / Remove Elements</a:t>
            </a:r>
            <a:endParaRPr/>
          </a:p>
        </p:txBody>
      </p:sp>
      <p:sp>
        <p:nvSpPr>
          <p:cNvPr id="472" name="Google Shape;472;p55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Use createElement, appendChild, and remove to manage DOM nodes.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Essential for dynamic lists like Todo apps.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const li = document.createElement('li');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li.textContent = 'Task';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ul.appendChild(li);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Create an 'Add' button that adds a new &lt;li&gt; from an input field.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Listener</a:t>
            </a:r>
            <a:endParaRPr/>
          </a:p>
        </p:txBody>
      </p:sp>
      <p:sp>
        <p:nvSpPr>
          <p:cNvPr id="478" name="Google Shape;478;p56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addEventListener is preferred over inline events.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Separates HTML and JavaScript, improving maintainability.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btn.addEventListener('click', () =&gt; alert('clicked'));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Create a button that increases a counter displayed on the page.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7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Object &amp; preventDefault</a:t>
            </a:r>
            <a:endParaRPr/>
          </a:p>
        </p:txBody>
      </p:sp>
      <p:sp>
        <p:nvSpPr>
          <p:cNvPr id="484" name="Google Shape;484;p57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Event object provides target and type; preventDefault stops default behavior.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Forms reload pages by default on submit.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form.addEventListener('submit', e =&gt; e.preventDefault());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Build a login form that validates inputs without reloading the page.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Bubbling &amp; Capturing</a:t>
            </a:r>
            <a:endParaRPr/>
          </a:p>
        </p:txBody>
      </p:sp>
      <p:sp>
        <p:nvSpPr>
          <p:cNvPr id="490" name="Google Shape;490;p58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Events bubble up the DOM tree; propagation can be stopped.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Bubbling explains why parent handlers trigger on child clicks.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child.addEventListener('click', e =&gt; e.stopPropagation());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Create a parent div and child button, log event order.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Delegation</a:t>
            </a:r>
            <a:endParaRPr/>
          </a:p>
        </p:txBody>
      </p:sp>
      <p:sp>
        <p:nvSpPr>
          <p:cNvPr id="496" name="Google Shape;496;p59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Attach one event listener to a parent to handle child events.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Improves performance for large or dynamic lists.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ul.addEventListener('click', e =&gt; {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  if(e.target.tagName === 'LI') e.target.remove();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});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Implement a Todo list where clicking an item removes it.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0"/>
          <p:cNvSpPr txBox="1"/>
          <p:nvPr>
            <p:ph type="title"/>
          </p:nvPr>
        </p:nvSpPr>
        <p:spPr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 Project: Todo List</a:t>
            </a:r>
            <a:endParaRPr/>
          </a:p>
        </p:txBody>
      </p:sp>
      <p:sp>
        <p:nvSpPr>
          <p:cNvPr id="502" name="Google Shape;502;p60"/>
          <p:cNvSpPr txBox="1"/>
          <p:nvPr>
            <p:ph idx="1" type="body"/>
          </p:nvPr>
        </p:nvSpPr>
        <p:spPr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Key Point: CRUD operations combined with localStorage.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Explanation: A small project covering core DOM and event concepts.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Example: Add / Delete / Toggle Done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˗"/>
            </a:pPr>
            <a:r>
              <a:rPr lang="en-US">
                <a:solidFill>
                  <a:schemeClr val="accent4"/>
                </a:solidFill>
              </a:rPr>
              <a:t>Exercise: Build a Todo app with add, delete, mark done, and save/load from localStorage.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1"/>
          <p:cNvSpPr txBox="1"/>
          <p:nvPr>
            <p:ph type="ctrTitle"/>
          </p:nvPr>
        </p:nvSpPr>
        <p:spPr>
          <a:xfrm>
            <a:off x="914400" y="21336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508" name="Google Shape;508;p61"/>
          <p:cNvSpPr txBox="1"/>
          <p:nvPr>
            <p:ph idx="1" type="subTitle"/>
          </p:nvPr>
        </p:nvSpPr>
        <p:spPr>
          <a:xfrm>
            <a:off x="2173357" y="38199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Thank you very much!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Kendall Master 2007">
  <a:themeElements>
    <a:clrScheme name="">
      <a:dk1>
        <a:srgbClr val="000000"/>
      </a:dk1>
      <a:lt1>
        <a:srgbClr val="FFFFFF"/>
      </a:lt1>
      <a:dk2>
        <a:srgbClr val="0064E2"/>
      </a:dk2>
      <a:lt2>
        <a:srgbClr val="B5D2F5"/>
      </a:lt2>
      <a:accent1>
        <a:srgbClr val="FFB91D"/>
      </a:accent1>
      <a:accent2>
        <a:srgbClr val="F97817"/>
      </a:accent2>
      <a:accent3>
        <a:srgbClr val="FFFFFF"/>
      </a:accent3>
      <a:accent4>
        <a:srgbClr val="000000"/>
      </a:accent4>
      <a:accent5>
        <a:srgbClr val="FFD9AB"/>
      </a:accent5>
      <a:accent6>
        <a:srgbClr val="E26C14"/>
      </a:accent6>
      <a:hlink>
        <a:srgbClr val="FFE400"/>
      </a:hlink>
      <a:folHlink>
        <a:srgbClr val="A3EC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Kendall Master 2007">
  <a:themeElements>
    <a:clrScheme name="">
      <a:dk1>
        <a:srgbClr val="000000"/>
      </a:dk1>
      <a:lt1>
        <a:srgbClr val="FFFFFF"/>
      </a:lt1>
      <a:dk2>
        <a:srgbClr val="0064E2"/>
      </a:dk2>
      <a:lt2>
        <a:srgbClr val="B5D2F5"/>
      </a:lt2>
      <a:accent1>
        <a:srgbClr val="FFB91D"/>
      </a:accent1>
      <a:accent2>
        <a:srgbClr val="F97817"/>
      </a:accent2>
      <a:accent3>
        <a:srgbClr val="FFFFFF"/>
      </a:accent3>
      <a:accent4>
        <a:srgbClr val="000000"/>
      </a:accent4>
      <a:accent5>
        <a:srgbClr val="FFD9AB"/>
      </a:accent5>
      <a:accent6>
        <a:srgbClr val="E26C14"/>
      </a:accent6>
      <a:hlink>
        <a:srgbClr val="FFE400"/>
      </a:hlink>
      <a:folHlink>
        <a:srgbClr val="A3EC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2025-10-30T05:39:08Z</dcterms:created>
  <dc:creator>Nguyễn Thị Hạnh</dc:creator>
</cp:coreProperties>
</file>