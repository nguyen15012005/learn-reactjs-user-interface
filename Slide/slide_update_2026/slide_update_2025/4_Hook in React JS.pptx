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3"/>
  </p:notesMasterIdLst>
  <p:handoutMasterIdLst>
    <p:handoutMasterId r:id="rId54"/>
  </p:handoutMasterIdLst>
  <p:sldIdLst>
    <p:sldId id="256" r:id="rId5"/>
    <p:sldId id="286" r:id="rId6"/>
    <p:sldId id="287" r:id="rId7"/>
    <p:sldId id="288" r:id="rId8"/>
    <p:sldId id="282" r:id="rId9"/>
    <p:sldId id="289" r:id="rId10"/>
    <p:sldId id="290" r:id="rId11"/>
    <p:sldId id="291" r:id="rId12"/>
    <p:sldId id="293" r:id="rId13"/>
    <p:sldId id="292" r:id="rId14"/>
    <p:sldId id="294" r:id="rId15"/>
    <p:sldId id="295" r:id="rId16"/>
    <p:sldId id="297" r:id="rId17"/>
    <p:sldId id="298" r:id="rId18"/>
    <p:sldId id="299" r:id="rId19"/>
    <p:sldId id="300" r:id="rId20"/>
    <p:sldId id="301" r:id="rId21"/>
    <p:sldId id="283" r:id="rId22"/>
    <p:sldId id="302" r:id="rId23"/>
    <p:sldId id="303" r:id="rId24"/>
    <p:sldId id="307" r:id="rId25"/>
    <p:sldId id="305" r:id="rId26"/>
    <p:sldId id="308" r:id="rId27"/>
    <p:sldId id="309" r:id="rId28"/>
    <p:sldId id="310" r:id="rId29"/>
    <p:sldId id="306" r:id="rId30"/>
    <p:sldId id="311" r:id="rId31"/>
    <p:sldId id="304" r:id="rId32"/>
    <p:sldId id="312" r:id="rId33"/>
    <p:sldId id="313" r:id="rId34"/>
    <p:sldId id="314" r:id="rId35"/>
    <p:sldId id="315" r:id="rId36"/>
    <p:sldId id="316" r:id="rId37"/>
    <p:sldId id="317" r:id="rId38"/>
    <p:sldId id="325" r:id="rId39"/>
    <p:sldId id="326" r:id="rId40"/>
    <p:sldId id="327" r:id="rId41"/>
    <p:sldId id="328" r:id="rId42"/>
    <p:sldId id="329" r:id="rId43"/>
    <p:sldId id="330" r:id="rId44"/>
    <p:sldId id="284" r:id="rId45"/>
    <p:sldId id="319" r:id="rId46"/>
    <p:sldId id="320" r:id="rId47"/>
    <p:sldId id="318" r:id="rId48"/>
    <p:sldId id="321" r:id="rId49"/>
    <p:sldId id="322" r:id="rId50"/>
    <p:sldId id="323" r:id="rId51"/>
    <p:sldId id="324"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1736" autoAdjust="0"/>
  </p:normalViewPr>
  <p:slideViewPr>
    <p:cSldViewPr snapToGrid="0" showGuides="1">
      <p:cViewPr varScale="1">
        <p:scale>
          <a:sx n="57" d="100"/>
          <a:sy n="57" d="100"/>
        </p:scale>
        <p:origin x="1176" y="60"/>
      </p:cViewPr>
      <p:guideLst>
        <p:guide orient="horz" pos="2160"/>
        <p:guide pos="3840"/>
      </p:guideLst>
    </p:cSldViewPr>
  </p:slideViewPr>
  <p:notesTextViewPr>
    <p:cViewPr>
      <p:scale>
        <a:sx n="1" d="1"/>
        <a:sy n="1" d="1"/>
      </p:scale>
      <p:origin x="0" y="0"/>
    </p:cViewPr>
  </p:notesTextViewPr>
  <p:notesViewPr>
    <p:cSldViewPr snapToGrid="0" showGuides="1">
      <p:cViewPr varScale="1">
        <p:scale>
          <a:sx n="58" d="100"/>
          <a:sy n="58" d="100"/>
        </p:scale>
        <p:origin x="1974"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slide" Target="slides/slide37.xml"/><Relationship Id="rId54"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CEAAF3-9831-450B-8D59-2C09DB96C8FC}" type="datetimeFigureOut">
              <a:rPr lang="en-US"/>
              <a:t>07/Dec/2024</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834459-7356-44BF-850D-8B30C4FB3B6B}" type="slidenum">
              <a:rPr/>
              <a:t>‹#›</a:t>
            </a:fld>
            <a:endParaRPr/>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50CD79-FC16-4410-AB61-17F26E6D3BC8}" type="datetimeFigureOut">
              <a:rPr lang="en-US"/>
              <a:t>07/Dec/2024</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3C37BE-C303-496D-B5CD-85F2937540FC}" type="slidenum">
              <a:rPr/>
              <a:t>‹#›</a:t>
            </a:fld>
            <a:endParaRPr/>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react.dev/reference/react/useReducer#ive-dispatched-an-action-but-logging-gives-me-the-old-state-value" TargetMode="External"/><Relationship Id="rId2" Type="http://schemas.openxmlformats.org/officeDocument/2006/relationships/slide" Target="../slides/slide25.xml"/><Relationship Id="rId1" Type="http://schemas.openxmlformats.org/officeDocument/2006/relationships/notesMaster" Target="../notesMasters/notesMaster1.xml"/><Relationship Id="rId6" Type="http://schemas.openxmlformats.org/officeDocument/2006/relationships/hyperlink" Target="https://react.dev/reference/react-dom/flushSync" TargetMode="External"/><Relationship Id="rId5" Type="http://schemas.openxmlformats.org/officeDocument/2006/relationships/hyperlink" Target="https://react.dev/learn/queueing-a-series-of-state-updates" TargetMode="External"/><Relationship Id="rId4" Type="http://schemas.openxmlformats.org/officeDocument/2006/relationships/hyperlink" Target="https://developer.mozilla.org/en-US/docs/Web/JavaScript/Reference/Global_Objects/Object/is" TargetMode="Externa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dirty="0">
                <a:latin typeface="Arial" pitchFamily="34" charset="0"/>
                <a:cs typeface="Arial" pitchFamily="34" charset="0"/>
              </a:rPr>
              <a:t>NOTE:</a:t>
            </a:r>
          </a:p>
          <a:p>
            <a:r>
              <a:rPr lang="en-US" i="1" dirty="0">
                <a:latin typeface="Arial" pitchFamily="34" charset="0"/>
                <a:cs typeface="Arial" pitchFamily="34" charset="0"/>
              </a:rPr>
              <a:t>To change the  image on this slide, select the picture and delete it. Then click the Pictures icon in the placeholder to insert your own image.</a:t>
            </a:r>
          </a:p>
        </p:txBody>
      </p:sp>
      <p:sp>
        <p:nvSpPr>
          <p:cNvPr id="4" name="Slide Number Placeholder 3"/>
          <p:cNvSpPr>
            <a:spLocks noGrp="1"/>
          </p:cNvSpPr>
          <p:nvPr>
            <p:ph type="sldNum" sz="quarter" idx="10"/>
          </p:nvPr>
        </p:nvSpPr>
        <p:spPr/>
        <p:txBody>
          <a:bodyPr/>
          <a:lstStyle/>
          <a:p>
            <a:fld id="{0A3C37BE-C303-496D-B5CD-85F2937540FC}" type="slidenum">
              <a:rPr lang="en-US" smtClean="0"/>
              <a:t>1</a:t>
            </a:fld>
            <a:endParaRPr lang="en-US"/>
          </a:p>
        </p:txBody>
      </p:sp>
    </p:spTree>
    <p:extLst>
      <p:ext uri="{BB962C8B-B14F-4D97-AF65-F5344CB8AC3E}">
        <p14:creationId xmlns:p14="http://schemas.microsoft.com/office/powerpoint/2010/main" val="2406150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Mặc dù Hooks thường thay thế các thành phần lớp, nhưng không có kế hoạch nào để loại bỏ các lớp khỏi React</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2</a:t>
            </a:fld>
            <a:endParaRPr lang="en-US"/>
          </a:p>
        </p:txBody>
      </p:sp>
    </p:spTree>
    <p:extLst>
      <p:ext uri="{BB962C8B-B14F-4D97-AF65-F5344CB8AC3E}">
        <p14:creationId xmlns:p14="http://schemas.microsoft.com/office/powerpoint/2010/main" val="35308940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Hook hiệu ứng được sử dụng cho các hiệu ứng phụ của thành phần. Một hiệu ứng phụ của thành phần là thứ được thực thi bên ngoài phạm vi của thành phần như yêu cầu dịch vụ web. Hook hiệu ứng được định nghĩa bằng hàm useEffect từ React. useEffect chứa hai tham số:</a:t>
            </a:r>
          </a:p>
          <a:p>
            <a:r>
              <a:rPr lang="vi-VN" dirty="0"/>
              <a:t>• Một hàm thực thi hiệu ứng; ít nhất, hàm này chạy mỗi lần thành phần được hiển thị</a:t>
            </a:r>
          </a:p>
          <a:p>
            <a:r>
              <a:rPr lang="vi-VN" dirty="0"/>
              <a:t>• Một mảng tùy chọn các phụ thuộc khiến hàm hiệu ứng chạy lại khi thay đổi</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5</a:t>
            </a:fld>
            <a:endParaRPr lang="en-US"/>
          </a:p>
        </p:txBody>
      </p:sp>
    </p:spTree>
    <p:extLst>
      <p:ext uri="{BB962C8B-B14F-4D97-AF65-F5344CB8AC3E}">
        <p14:creationId xmlns:p14="http://schemas.microsoft.com/office/powerpoint/2010/main" val="32212866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7</a:t>
            </a:fld>
            <a:endParaRPr lang="en-US"/>
          </a:p>
        </p:txBody>
      </p:sp>
    </p:spTree>
    <p:extLst>
      <p:ext uri="{BB962C8B-B14F-4D97-AF65-F5344CB8AC3E}">
        <p14:creationId xmlns:p14="http://schemas.microsoft.com/office/powerpoint/2010/main" val="26767642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9</a:t>
            </a:fld>
            <a:endParaRPr lang="en-US"/>
          </a:p>
        </p:txBody>
      </p:sp>
    </p:spTree>
    <p:extLst>
      <p:ext uri="{BB962C8B-B14F-4D97-AF65-F5344CB8AC3E}">
        <p14:creationId xmlns:p14="http://schemas.microsoft.com/office/powerpoint/2010/main" val="38087986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dirty="0" err="1">
                <a:solidFill>
                  <a:srgbClr val="000000"/>
                </a:solidFill>
                <a:effectLst/>
                <a:latin typeface="CourierStd"/>
              </a:rPr>
              <a:t>useEffect</a:t>
            </a:r>
            <a:r>
              <a:rPr lang="en-US" sz="1800" b="0" i="0" dirty="0">
                <a:solidFill>
                  <a:srgbClr val="000000"/>
                </a:solidFill>
                <a:effectLst/>
                <a:latin typeface="CourierStd"/>
              </a:rPr>
              <a:t> </a:t>
            </a:r>
            <a:r>
              <a:rPr lang="en-US" sz="1800" b="0" i="0" dirty="0">
                <a:solidFill>
                  <a:srgbClr val="000000"/>
                </a:solidFill>
                <a:effectLst/>
                <a:latin typeface="MinionPro-Regular"/>
              </a:rPr>
              <a:t>has been lifted to the top level and now depends on the </a:t>
            </a:r>
            <a:r>
              <a:rPr lang="en-US" sz="1800" b="0" i="0" dirty="0">
                <a:solidFill>
                  <a:srgbClr val="000000"/>
                </a:solidFill>
                <a:effectLst/>
                <a:latin typeface="CourierStd"/>
              </a:rPr>
              <a:t>clicked </a:t>
            </a:r>
            <a:r>
              <a:rPr lang="en-US" sz="1800" b="0" i="0" dirty="0">
                <a:solidFill>
                  <a:srgbClr val="000000"/>
                </a:solidFill>
                <a:effectLst/>
                <a:latin typeface="MinionPro-Regular"/>
              </a:rPr>
              <a:t>state that is set in</a:t>
            </a:r>
            <a:br>
              <a:rPr lang="en-US" sz="1800" b="0" i="0" dirty="0">
                <a:solidFill>
                  <a:srgbClr val="000000"/>
                </a:solidFill>
                <a:effectLst/>
                <a:latin typeface="MinionPro-Regular"/>
              </a:rPr>
            </a:br>
            <a:r>
              <a:rPr lang="en-US" sz="1800" b="0" i="0" dirty="0">
                <a:solidFill>
                  <a:srgbClr val="000000"/>
                </a:solidFill>
                <a:effectLst/>
                <a:latin typeface="MinionPro-Regular"/>
              </a:rPr>
              <a:t>the handler function.</a:t>
            </a:r>
            <a:r>
              <a:rPr lang="en-US" dirty="0"/>
              <a:t> </a:t>
            </a:r>
            <a:br>
              <a:rPr lang="en-US" dirty="0"/>
            </a:br>
            <a:r>
              <a:rPr lang="vi-VN" dirty="0"/>
              <a:t>useEffect đã được nâng lên cấp cao nhất và hiện phụ thuộc vào trạng thái được nhấp được thiết lập trong hàm xử lý.</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10</a:t>
            </a:fld>
            <a:endParaRPr lang="en-US"/>
          </a:p>
        </p:txBody>
      </p:sp>
    </p:spTree>
    <p:extLst>
      <p:ext uri="{BB962C8B-B14F-4D97-AF65-F5344CB8AC3E}">
        <p14:creationId xmlns:p14="http://schemas.microsoft.com/office/powerpoint/2010/main" val="389246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Vi phạm là do useEffect được gọi có điều kiện. Nếu someProp là falsy, null được trả về từ thành phần và useEffect không bao giờ được gọi. Vì vậy, điều kiện là useEffect chỉ được gọi khi someProp là truthy.</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11</a:t>
            </a:fld>
            <a:endParaRPr lang="en-US"/>
          </a:p>
        </p:txBody>
      </p:sp>
    </p:spTree>
    <p:extLst>
      <p:ext uri="{BB962C8B-B14F-4D97-AF65-F5344CB8AC3E}">
        <p14:creationId xmlns:p14="http://schemas.microsoft.com/office/powerpoint/2010/main" val="17095518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Chúng ta đã tìm hiểu về useState Hook trong các chương trước, nhưng ở đây chúng ta sẽ xem lại và so sánh nó với một state Hook khác mà chúng ta chưa đề cập đến, useReducer. Chúng ta sẽ mở rộng thành phần PersonScore mà chúng ta đã tạo trong phần trước để khám phá các state Hook này</a:t>
            </a:r>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15</a:t>
            </a:fld>
            <a:endParaRPr lang="en-US"/>
          </a:p>
        </p:txBody>
      </p:sp>
    </p:spTree>
    <p:extLst>
      <p:ext uri="{BB962C8B-B14F-4D97-AF65-F5344CB8AC3E}">
        <p14:creationId xmlns:p14="http://schemas.microsoft.com/office/powerpoint/2010/main" val="26913971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new state is computed using the previous state, you can pass a function to </a:t>
            </a:r>
            <a:r>
              <a:rPr lang="en-US" dirty="0" err="1"/>
              <a:t>setState</a:t>
            </a:r>
            <a:r>
              <a:rPr lang="en-US" dirty="0"/>
              <a:t>. The function will receive the previous value, and return an updated value. Here’s an example of a counter component that uses both forms of </a:t>
            </a:r>
            <a:r>
              <a:rPr lang="en-US" dirty="0" err="1"/>
              <a:t>setState</a:t>
            </a:r>
            <a:r>
              <a:rPr lang="en-US" dirty="0"/>
              <a:t>:</a:t>
            </a:r>
          </a:p>
        </p:txBody>
      </p:sp>
      <p:sp>
        <p:nvSpPr>
          <p:cNvPr id="4" name="Slide Number Placeholder 3"/>
          <p:cNvSpPr>
            <a:spLocks noGrp="1"/>
          </p:cNvSpPr>
          <p:nvPr>
            <p:ph type="sldNum" sz="quarter" idx="5"/>
          </p:nvPr>
        </p:nvSpPr>
        <p:spPr/>
        <p:txBody>
          <a:bodyPr/>
          <a:lstStyle/>
          <a:p>
            <a:fld id="{0A3C37BE-C303-496D-B5CD-85F2937540FC}" type="slidenum">
              <a:rPr lang="en-US" smtClean="0"/>
              <a:t>16</a:t>
            </a:fld>
            <a:endParaRPr lang="en-US"/>
          </a:p>
        </p:txBody>
      </p:sp>
    </p:spTree>
    <p:extLst>
      <p:ext uri="{BB962C8B-B14F-4D97-AF65-F5344CB8AC3E}">
        <p14:creationId xmlns:p14="http://schemas.microsoft.com/office/powerpoint/2010/main" val="15813026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17</a:t>
            </a:fld>
            <a:endParaRPr lang="en-US"/>
          </a:p>
        </p:txBody>
      </p:sp>
    </p:spTree>
    <p:extLst>
      <p:ext uri="{BB962C8B-B14F-4D97-AF65-F5344CB8AC3E}">
        <p14:creationId xmlns:p14="http://schemas.microsoft.com/office/powerpoint/2010/main" val="31710382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20</a:t>
            </a:fld>
            <a:endParaRPr lang="en-US"/>
          </a:p>
        </p:txBody>
      </p:sp>
    </p:spTree>
    <p:extLst>
      <p:ext uri="{BB962C8B-B14F-4D97-AF65-F5344CB8AC3E}">
        <p14:creationId xmlns:p14="http://schemas.microsoft.com/office/powerpoint/2010/main" val="29308183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21</a:t>
            </a:fld>
            <a:endParaRPr lang="en-US"/>
          </a:p>
        </p:txBody>
      </p:sp>
    </p:spTree>
    <p:extLst>
      <p:ext uri="{BB962C8B-B14F-4D97-AF65-F5344CB8AC3E}">
        <p14:creationId xmlns:p14="http://schemas.microsoft.com/office/powerpoint/2010/main" val="41164978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1" i="0" dirty="0">
                <a:solidFill>
                  <a:srgbClr val="23272F"/>
                </a:solidFill>
                <a:effectLst/>
                <a:latin typeface="Optimistic Display"/>
              </a:rPr>
              <a:t>Caveats </a:t>
            </a:r>
          </a:p>
          <a:p>
            <a:pPr algn="l">
              <a:buFont typeface="Arial" panose="020B0604020202020204" pitchFamily="34" charset="0"/>
              <a:buChar char="•"/>
            </a:pPr>
            <a:r>
              <a:rPr lang="en-US" b="0" i="0" dirty="0">
                <a:solidFill>
                  <a:srgbClr val="23272F"/>
                </a:solidFill>
                <a:effectLst/>
                <a:latin typeface="Optimistic Text"/>
              </a:rPr>
              <a:t>The dispatch function </a:t>
            </a:r>
            <a:r>
              <a:rPr lang="en-US" b="1" i="0" dirty="0">
                <a:solidFill>
                  <a:srgbClr val="23272F"/>
                </a:solidFill>
                <a:effectLst/>
                <a:latin typeface="Optimistic Text"/>
              </a:rPr>
              <a:t>only updates the state variable for the </a:t>
            </a:r>
            <a:r>
              <a:rPr lang="en-US" b="1" i="1" dirty="0">
                <a:solidFill>
                  <a:srgbClr val="23272F"/>
                </a:solidFill>
                <a:effectLst/>
                <a:latin typeface="Optimistic Text"/>
              </a:rPr>
              <a:t>next</a:t>
            </a:r>
            <a:r>
              <a:rPr lang="en-US" b="1" i="0" dirty="0">
                <a:solidFill>
                  <a:srgbClr val="23272F"/>
                </a:solidFill>
                <a:effectLst/>
                <a:latin typeface="Optimistic Text"/>
              </a:rPr>
              <a:t> render</a:t>
            </a:r>
            <a:r>
              <a:rPr lang="en-US" b="0" i="0" dirty="0">
                <a:solidFill>
                  <a:srgbClr val="23272F"/>
                </a:solidFill>
                <a:effectLst/>
                <a:latin typeface="Optimistic Text"/>
              </a:rPr>
              <a:t>. If you read the state variable after calling the dispatch function, </a:t>
            </a:r>
            <a:r>
              <a:rPr lang="en-US" b="0" i="0" dirty="0">
                <a:solidFill>
                  <a:srgbClr val="23272F"/>
                </a:solidFill>
                <a:effectLst/>
                <a:latin typeface="Optimistic Text"/>
                <a:hlinkClick r:id="rId3"/>
              </a:rPr>
              <a:t>you will still get the old value</a:t>
            </a:r>
            <a:r>
              <a:rPr lang="en-US" b="0" i="0" dirty="0">
                <a:solidFill>
                  <a:srgbClr val="23272F"/>
                </a:solidFill>
                <a:effectLst/>
                <a:latin typeface="Optimistic Text"/>
              </a:rPr>
              <a:t> that was on the screen before your call.</a:t>
            </a:r>
          </a:p>
          <a:p>
            <a:pPr algn="l">
              <a:buFont typeface="Arial" panose="020B0604020202020204" pitchFamily="34" charset="0"/>
              <a:buChar char="•"/>
            </a:pPr>
            <a:r>
              <a:rPr lang="en-US" b="0" i="0" dirty="0">
                <a:solidFill>
                  <a:srgbClr val="23272F"/>
                </a:solidFill>
                <a:effectLst/>
                <a:latin typeface="Optimistic Text"/>
              </a:rPr>
              <a:t>If the new value you provide is identical to the current state, as determined by an </a:t>
            </a:r>
            <a:r>
              <a:rPr lang="en-US" b="0" i="0" dirty="0">
                <a:solidFill>
                  <a:srgbClr val="23272F"/>
                </a:solidFill>
                <a:effectLst/>
                <a:latin typeface="Optimistic Text"/>
                <a:hlinkClick r:id="rId4"/>
              </a:rPr>
              <a:t>Object.is</a:t>
            </a:r>
            <a:r>
              <a:rPr lang="en-US" b="0" i="0" dirty="0">
                <a:solidFill>
                  <a:srgbClr val="23272F"/>
                </a:solidFill>
                <a:effectLst/>
                <a:latin typeface="Optimistic Text"/>
              </a:rPr>
              <a:t> comparison, React will </a:t>
            </a:r>
            <a:r>
              <a:rPr lang="en-US" b="1" i="0" dirty="0">
                <a:solidFill>
                  <a:srgbClr val="23272F"/>
                </a:solidFill>
                <a:effectLst/>
                <a:latin typeface="Optimistic Text"/>
              </a:rPr>
              <a:t>skip re-rendering the component and its children.</a:t>
            </a:r>
            <a:r>
              <a:rPr lang="en-US" b="0" i="0" dirty="0">
                <a:solidFill>
                  <a:srgbClr val="23272F"/>
                </a:solidFill>
                <a:effectLst/>
                <a:latin typeface="Optimistic Text"/>
              </a:rPr>
              <a:t> This is an optimization. React may still need to call your component before ignoring the result, but it shouldn’t affect your code.</a:t>
            </a:r>
          </a:p>
          <a:p>
            <a:pPr algn="l">
              <a:buFont typeface="Arial" panose="020B0604020202020204" pitchFamily="34" charset="0"/>
              <a:buChar char="•"/>
            </a:pPr>
            <a:r>
              <a:rPr lang="en-US" b="0" i="0" dirty="0">
                <a:solidFill>
                  <a:srgbClr val="23272F"/>
                </a:solidFill>
                <a:effectLst/>
                <a:latin typeface="Optimistic Text"/>
              </a:rPr>
              <a:t>React </a:t>
            </a:r>
            <a:r>
              <a:rPr lang="en-US" b="0" i="0" dirty="0">
                <a:solidFill>
                  <a:srgbClr val="23272F"/>
                </a:solidFill>
                <a:effectLst/>
                <a:latin typeface="Optimistic Text"/>
                <a:hlinkClick r:id="rId5"/>
              </a:rPr>
              <a:t>batches state updates.</a:t>
            </a:r>
            <a:r>
              <a:rPr lang="en-US" b="0" i="0" dirty="0">
                <a:solidFill>
                  <a:srgbClr val="23272F"/>
                </a:solidFill>
                <a:effectLst/>
                <a:latin typeface="Optimistic Text"/>
              </a:rPr>
              <a:t> It updates the screen </a:t>
            </a:r>
            <a:r>
              <a:rPr lang="en-US" b="1" i="0" dirty="0">
                <a:solidFill>
                  <a:srgbClr val="23272F"/>
                </a:solidFill>
                <a:effectLst/>
                <a:latin typeface="Optimistic Text"/>
              </a:rPr>
              <a:t>after all the event handlers have run</a:t>
            </a:r>
            <a:r>
              <a:rPr lang="en-US" b="0" i="0" dirty="0">
                <a:solidFill>
                  <a:srgbClr val="23272F"/>
                </a:solidFill>
                <a:effectLst/>
                <a:latin typeface="Optimistic Text"/>
              </a:rPr>
              <a:t> and have called their set functions. This prevents multiple re-renders during a single event. In the rare case that you need to force React to update the screen earlier, for example to access the DOM, you can use </a:t>
            </a:r>
            <a:r>
              <a:rPr lang="en-US" b="0" i="0" dirty="0" err="1">
                <a:solidFill>
                  <a:srgbClr val="23272F"/>
                </a:solidFill>
                <a:effectLst/>
                <a:latin typeface="Optimistic Text"/>
                <a:hlinkClick r:id="rId6"/>
              </a:rPr>
              <a:t>flushSync</a:t>
            </a:r>
            <a:r>
              <a:rPr lang="en-US" b="0" i="0" dirty="0">
                <a:solidFill>
                  <a:srgbClr val="23272F"/>
                </a:solidFill>
                <a:effectLst/>
                <a:latin typeface="Optimistic Text"/>
                <a:hlinkClick r:id="rId6"/>
              </a:rPr>
              <a:t>.</a:t>
            </a:r>
            <a:endParaRPr lang="en-US" b="0" i="0" dirty="0">
              <a:solidFill>
                <a:srgbClr val="23272F"/>
              </a:solidFill>
              <a:effectLst/>
              <a:latin typeface="Optimistic Text"/>
            </a:endParaRPr>
          </a:p>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25</a:t>
            </a:fld>
            <a:endParaRPr lang="en-US"/>
          </a:p>
        </p:txBody>
      </p:sp>
    </p:spTree>
    <p:extLst>
      <p:ext uri="{BB962C8B-B14F-4D97-AF65-F5344CB8AC3E}">
        <p14:creationId xmlns:p14="http://schemas.microsoft.com/office/powerpoint/2010/main" val="6846155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29</a:t>
            </a:fld>
            <a:endParaRPr lang="en-US"/>
          </a:p>
        </p:txBody>
      </p:sp>
    </p:spTree>
    <p:extLst>
      <p:ext uri="{BB962C8B-B14F-4D97-AF65-F5344CB8AC3E}">
        <p14:creationId xmlns:p14="http://schemas.microsoft.com/office/powerpoint/2010/main" val="33449896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32</a:t>
            </a:fld>
            <a:endParaRPr lang="en-US"/>
          </a:p>
        </p:txBody>
      </p:sp>
    </p:spTree>
    <p:extLst>
      <p:ext uri="{BB962C8B-B14F-4D97-AF65-F5344CB8AC3E}">
        <p14:creationId xmlns:p14="http://schemas.microsoft.com/office/powerpoint/2010/main" val="4383887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0" i="0" dirty="0">
                <a:solidFill>
                  <a:srgbClr val="1B1B1B"/>
                </a:solidFill>
                <a:effectLst/>
                <a:latin typeface="Open Sans" panose="020B0606030504020204" pitchFamily="34" charset="0"/>
              </a:rPr>
              <a:t>Khái niệm memoization trong JavaScript được xây dựng chủ yếu trên hai khái niệm:</a:t>
            </a:r>
          </a:p>
          <a:p>
            <a:pPr algn="l">
              <a:buFont typeface="Arial" panose="020B0604020202020204" pitchFamily="34" charset="0"/>
              <a:buChar char="•"/>
            </a:pPr>
            <a:r>
              <a:rPr lang="vi-VN" b="0" i="0" dirty="0">
                <a:solidFill>
                  <a:srgbClr val="1B1B1B"/>
                </a:solidFill>
                <a:effectLst/>
                <a:latin typeface="Open Sans" panose="020B0606030504020204" pitchFamily="34" charset="0"/>
              </a:rPr>
              <a:t>Closures</a:t>
            </a:r>
          </a:p>
          <a:p>
            <a:pPr algn="l">
              <a:buFont typeface="Arial" panose="020B0604020202020204" pitchFamily="34" charset="0"/>
              <a:buChar char="•"/>
            </a:pPr>
            <a:r>
              <a:rPr lang="vi-VN" b="0" i="0" dirty="0">
                <a:solidFill>
                  <a:srgbClr val="1B1B1B"/>
                </a:solidFill>
                <a:effectLst/>
                <a:latin typeface="Open Sans" panose="020B0606030504020204" pitchFamily="34" charset="0"/>
              </a:rPr>
              <a:t>Higher Order Functions (returning functions from functions)</a:t>
            </a:r>
          </a:p>
          <a:p>
            <a:pPr algn="l">
              <a:buFont typeface="Arial" panose="020B0604020202020204" pitchFamily="34" charset="0"/>
              <a:buChar char="•"/>
            </a:pPr>
            <a:r>
              <a:rPr lang="vi-VN" b="0" i="0" dirty="0">
                <a:solidFill>
                  <a:srgbClr val="1B1B1B"/>
                </a:solidFill>
                <a:effectLst/>
                <a:latin typeface="Open Sans" panose="020B0606030504020204" pitchFamily="34" charset="0"/>
              </a:rPr>
              <a:t>Scope là nơi mà biến hoặc hàm có thể truy cập vào và sử dụng/ tham chiếu được qua tên trực tiếp. Và ở ngoài scope đó thì biến hoặc hàm đó sẽ không thể nhìn được một cách trực tiếp nữa.</a:t>
            </a:r>
          </a:p>
          <a:p>
            <a:pPr algn="l">
              <a:buFont typeface="Arial" panose="020B0604020202020204" pitchFamily="34" charset="0"/>
              <a:buChar char="•"/>
            </a:pPr>
            <a:r>
              <a:rPr lang="vi-VN" b="0" i="0" dirty="0">
                <a:solidFill>
                  <a:srgbClr val="1B1B1B"/>
                </a:solidFill>
                <a:effectLst/>
                <a:latin typeface="Open Sans" panose="020B0606030504020204" pitchFamily="34" charset="0"/>
              </a:rPr>
              <a:t>Closure là một hàm hoặc một tham chiếu (hay còn gọi là một cái bao đóng) đi kèm với cái môi trường mà nó tham chiếu đến (khá là xoắn).</a:t>
            </a:r>
          </a:p>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36</a:t>
            </a:fld>
            <a:endParaRPr lang="en-US"/>
          </a:p>
        </p:txBody>
      </p:sp>
    </p:spTree>
    <p:extLst>
      <p:ext uri="{BB962C8B-B14F-4D97-AF65-F5344CB8AC3E}">
        <p14:creationId xmlns:p14="http://schemas.microsoft.com/office/powerpoint/2010/main" val="28798328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https://viblo.asia/p/memoization-trong-react-Ljy5VjL35ra</a:t>
            </a:r>
          </a:p>
          <a:p>
            <a:endParaRPr lang="en-US" dirty="0"/>
          </a:p>
        </p:txBody>
      </p:sp>
      <p:sp>
        <p:nvSpPr>
          <p:cNvPr id="4" name="Slide Number Placeholder 3"/>
          <p:cNvSpPr>
            <a:spLocks noGrp="1"/>
          </p:cNvSpPr>
          <p:nvPr>
            <p:ph type="sldNum" sz="quarter" idx="5"/>
          </p:nvPr>
        </p:nvSpPr>
        <p:spPr/>
        <p:txBody>
          <a:bodyPr/>
          <a:lstStyle/>
          <a:p>
            <a:fld id="{0A3C37BE-C303-496D-B5CD-85F2937540FC}" type="slidenum">
              <a:rPr lang="en-US" smtClean="0"/>
              <a:t>38</a:t>
            </a:fld>
            <a:endParaRPr lang="en-US"/>
          </a:p>
        </p:txBody>
      </p:sp>
    </p:spTree>
    <p:extLst>
      <p:ext uri="{BB962C8B-B14F-4D97-AF65-F5344CB8AC3E}">
        <p14:creationId xmlns:p14="http://schemas.microsoft.com/office/powerpoint/2010/main" val="42045119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https://levelup.gitconnected.com/understanding-the-difference-between-usememo-and-usecallback-ec956adb2004</a:t>
            </a:r>
          </a:p>
          <a:p>
            <a:endParaRPr lang="en-US"/>
          </a:p>
        </p:txBody>
      </p:sp>
      <p:sp>
        <p:nvSpPr>
          <p:cNvPr id="4" name="Slide Number Placeholder 3"/>
          <p:cNvSpPr>
            <a:spLocks noGrp="1"/>
          </p:cNvSpPr>
          <p:nvPr>
            <p:ph type="sldNum" sz="quarter" idx="5"/>
          </p:nvPr>
        </p:nvSpPr>
        <p:spPr/>
        <p:txBody>
          <a:bodyPr/>
          <a:lstStyle/>
          <a:p>
            <a:fld id="{0A3C37BE-C303-496D-B5CD-85F2937540FC}" type="slidenum">
              <a:rPr lang="en-US" smtClean="0"/>
              <a:t>48</a:t>
            </a:fld>
            <a:endParaRPr lang="en-US"/>
          </a:p>
        </p:txBody>
      </p:sp>
    </p:spTree>
    <p:extLst>
      <p:ext uri="{BB962C8B-B14F-4D97-AF65-F5344CB8AC3E}">
        <p14:creationId xmlns:p14="http://schemas.microsoft.com/office/powerpoint/2010/main" val="4211780753"/>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1" name="Picture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4445" y="0"/>
            <a:ext cx="1747524" cy="2292094"/>
          </a:xfrm>
          <a:prstGeom prst="rect">
            <a:avLst/>
          </a:prstGeom>
        </p:spPr>
      </p:pic>
      <p:sp>
        <p:nvSpPr>
          <p:cNvPr id="2" name="Title 1"/>
          <p:cNvSpPr>
            <a:spLocks noGrp="1"/>
          </p:cNvSpPr>
          <p:nvPr>
            <p:ph type="ctrTitle"/>
          </p:nvPr>
        </p:nvSpPr>
        <p:spPr>
          <a:xfrm>
            <a:off x="1104900" y="2292094"/>
            <a:ext cx="1009650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898" y="4511784"/>
            <a:ext cx="10096501"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Date Placeholder 3"/>
          <p:cNvSpPr>
            <a:spLocks noGrp="1"/>
          </p:cNvSpPr>
          <p:nvPr>
            <p:ph type="dt" sz="half" idx="10"/>
          </p:nvPr>
        </p:nvSpPr>
        <p:spPr/>
        <p:txBody>
          <a:bodyPr/>
          <a:lstStyle>
            <a:lvl1pPr>
              <a:defRPr baseline="0">
                <a:solidFill>
                  <a:schemeClr val="tx1">
                    <a:lumMod val="20000"/>
                    <a:lumOff val="80000"/>
                  </a:schemeClr>
                </a:solidFill>
              </a:defRPr>
            </a:lvl1pPr>
          </a:lstStyle>
          <a:p>
            <a:fld id="{402B9795-92DC-40DC-A1CA-9A4B349D7824}" type="datetimeFigureOut">
              <a:rPr lang="en-US" smtClean="0"/>
              <a:pPr/>
              <a:t>07/Dec/2024</a:t>
            </a:fld>
            <a:endParaRPr lang="en-US" dirty="0"/>
          </a:p>
        </p:txBody>
      </p:sp>
      <p:sp>
        <p:nvSpPr>
          <p:cNvPr id="5" name="Footer Placeholder 4"/>
          <p:cNvSpPr>
            <a:spLocks noGrp="1"/>
          </p:cNvSpPr>
          <p:nvPr>
            <p:ph type="ftr" sz="quarter" idx="11"/>
          </p:nvPr>
        </p:nvSpPr>
        <p:spPr/>
        <p:txBody>
          <a:bodyPr/>
          <a:lstStyle>
            <a:lvl1pPr>
              <a:defRPr baseline="0">
                <a:solidFill>
                  <a:schemeClr val="tx1">
                    <a:lumMod val="20000"/>
                    <a:lumOff val="80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baseline="0">
                <a:solidFill>
                  <a:schemeClr val="tx1">
                    <a:lumMod val="20000"/>
                    <a:lumOff val="80000"/>
                  </a:schemeClr>
                </a:solidFill>
              </a:defRPr>
            </a:lvl1pPr>
          </a:lstStyle>
          <a:p>
            <a:fld id="{0FF54DE5-C571-48E8-A5BC-B369434E2F44}" type="slidenum">
              <a:rPr lang="en-US" smtClean="0"/>
              <a:pPr/>
              <a:t>‹#›</a:t>
            </a:fld>
            <a:endParaRPr lang="en-US"/>
          </a:p>
        </p:txBody>
      </p:sp>
    </p:spTree>
    <p:extLst>
      <p:ext uri="{BB962C8B-B14F-4D97-AF65-F5344CB8AC3E}">
        <p14:creationId xmlns:p14="http://schemas.microsoft.com/office/powerpoint/2010/main" val="1659756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07/Dec/2024</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7868768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900" y="4511784"/>
            <a:ext cx="5734050"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11" name="Picture Placeholder 10" descr="An empty placeholder to add an image. Click on the placeholder and select the image that you wish to add."/>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r>
              <a:rPr lang="en-US"/>
              <a:t>Click icon to add picture</a:t>
            </a:r>
            <a:endParaRPr/>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4" name="Group 13"/>
          <p:cNvGrpSpPr/>
          <p:nvPr/>
        </p:nvGrpSpPr>
        <p:grpSpPr>
          <a:xfrm>
            <a:off x="0" y="1143000"/>
            <a:ext cx="12192000" cy="63125"/>
            <a:chOff x="507492" y="1501519"/>
            <a:chExt cx="8129016" cy="63125"/>
          </a:xfrm>
        </p:grpSpPr>
        <p:cxnSp>
          <p:nvCxnSpPr>
            <p:cNvPr id="15" name="Straight Connector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pic>
        <p:nvPicPr>
          <p:cNvPr id="10" name="Picture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5880" y="0"/>
            <a:ext cx="1747524" cy="2292094"/>
          </a:xfrm>
          <a:prstGeom prst="rect">
            <a:avLst/>
          </a:prstGeom>
        </p:spPr>
      </p:pic>
      <p:grpSp>
        <p:nvGrpSpPr>
          <p:cNvPr id="13" name="Group 12"/>
          <p:cNvGrpSpPr/>
          <p:nvPr/>
        </p:nvGrpSpPr>
        <p:grpSpPr>
          <a:xfrm rot="10800000">
            <a:off x="0" y="5645510"/>
            <a:ext cx="12192000" cy="63125"/>
            <a:chOff x="507492" y="1501519"/>
            <a:chExt cx="8129016" cy="63125"/>
          </a:xfrm>
        </p:grpSpPr>
        <p:cxnSp>
          <p:nvCxnSpPr>
            <p:cNvPr id="17" name="Straight Connector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673943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2514600"/>
            <a:ext cx="12192000" cy="3194035"/>
            <a:chOff x="647402" y="2514600"/>
            <a:chExt cx="10838688" cy="3194035"/>
          </a:xfrm>
        </p:grpSpPr>
        <p:grpSp>
          <p:nvGrpSpPr>
            <p:cNvPr id="9" name="Group 8"/>
            <p:cNvGrpSpPr/>
            <p:nvPr/>
          </p:nvGrpSpPr>
          <p:grpSpPr>
            <a:xfrm>
              <a:off x="647402" y="2514600"/>
              <a:ext cx="10838688" cy="63125"/>
              <a:chOff x="507492" y="1501519"/>
              <a:chExt cx="8129016" cy="63125"/>
            </a:xfrm>
          </p:grpSpPr>
          <p:cxnSp>
            <p:nvCxnSpPr>
              <p:cNvPr id="14" name="Straight Connector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rot="10800000">
              <a:off x="647402" y="5645510"/>
              <a:ext cx="10838688" cy="63125"/>
              <a:chOff x="507492" y="1501519"/>
              <a:chExt cx="8129016" cy="63125"/>
            </a:xfrm>
          </p:grpSpPr>
          <p:cxnSp>
            <p:nvCxnSpPr>
              <p:cNvPr id="12" name="Straight Connector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pic>
        <p:nvPicPr>
          <p:cNvPr id="7" name="Picture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1104899" y="4655956"/>
            <a:ext cx="10071099" cy="509750"/>
          </a:xfrm>
        </p:spPr>
        <p:txBody>
          <a:bodyPr>
            <a:normAutofit/>
          </a:bodyPr>
          <a:lstStyle>
            <a:lvl1pPr marL="0" indent="0">
              <a:spcBef>
                <a:spcPts val="0"/>
              </a:spcBef>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2B9795-92DC-40DC-A1CA-9A4B349D7824}" type="datetimeFigureOut">
              <a:rPr lang="en-US"/>
              <a:t>07/Dec/2024</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6026788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104900" y="1600200"/>
            <a:ext cx="4914900" cy="4571999"/>
          </a:xfrm>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172200" y="1600200"/>
            <a:ext cx="4914900" cy="4571999"/>
          </a:xfrm>
        </p:spPr>
        <p:txBody>
          <a:bodyPr/>
          <a:lstStyle>
            <a:lvl5pPr>
              <a:defRPr/>
            </a:lvl5pPr>
            <a:lvl6pPr>
              <a:defRPr/>
            </a:lvl6pPr>
            <a:lvl7pPr>
              <a:defRPr/>
            </a:lvl7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t>07/Dec/2024</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5277910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10490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490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16611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6611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402B9795-92DC-40DC-A1CA-9A4B349D7824}" type="datetimeFigureOut">
              <a:rPr lang="en-US"/>
              <a:t>07/Dec/2024</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9710161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402B9795-92DC-40DC-A1CA-9A4B349D7824}" type="datetimeFigureOut">
              <a:rPr lang="en-US"/>
              <a:t>07/Dec/2024</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17581115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2B9795-92DC-40DC-A1CA-9A4B349D7824}" type="datetimeFigureOut">
              <a:rPr lang="en-US"/>
              <a:t>07/Dec/2024</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024169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4384548"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p:cNvSpPr>
            <a:spLocks noGrp="1"/>
          </p:cNvSpPr>
          <p:nvPr>
            <p:ph idx="1"/>
          </p:nvPr>
        </p:nvSpPr>
        <p:spPr>
          <a:xfrm>
            <a:off x="5641848" y="1600199"/>
            <a:ext cx="5445252" cy="4572001"/>
          </a:xfrm>
        </p:spPr>
        <p:txBody>
          <a:bodyPr>
            <a:normAutofit/>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t>07/Dec/2024</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7697646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3396996"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4654671" y="1600199"/>
            <a:ext cx="6430912" cy="4572001"/>
          </a:xfrm>
        </p:spPr>
        <p:txBody>
          <a:bodyPr tIns="118872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5" name="Date Placeholder 4"/>
          <p:cNvSpPr>
            <a:spLocks noGrp="1"/>
          </p:cNvSpPr>
          <p:nvPr>
            <p:ph type="dt" sz="half" idx="10"/>
          </p:nvPr>
        </p:nvSpPr>
        <p:spPr/>
        <p:txBody>
          <a:bodyPr/>
          <a:lstStyle/>
          <a:p>
            <a:fld id="{402B9795-92DC-40DC-A1CA-9A4B349D7824}" type="datetimeFigureOut">
              <a:rPr lang="en-US"/>
              <a:t>07/Dec/2024</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7696370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07/Dec/2024</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20120767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72600" y="365125"/>
            <a:ext cx="1714500" cy="5811838"/>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104900" y="365125"/>
            <a:ext cx="8098896"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07/Dec/2024</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grpSp>
        <p:nvGrpSpPr>
          <p:cNvPr id="7" name="Group 6"/>
          <p:cNvGrpSpPr/>
          <p:nvPr/>
        </p:nvGrpSpPr>
        <p:grpSpPr>
          <a:xfrm rot="5400000">
            <a:off x="6514047" y="3228843"/>
            <a:ext cx="5632704" cy="84403"/>
            <a:chOff x="1073150" y="1219201"/>
            <a:chExt cx="10058400" cy="63125"/>
          </a:xfrm>
        </p:grpSpPr>
        <p:cxnSp>
          <p:nvCxnSpPr>
            <p:cNvPr id="8" name="Straight Connector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C38A3-49C8-3939-5514-DFD2197B09C6}"/>
              </a:ext>
            </a:extLst>
          </p:cNvPr>
          <p:cNvSpPr>
            <a:spLocks noGrp="1"/>
          </p:cNvSpPr>
          <p:nvPr>
            <p:ph type="title"/>
          </p:nvPr>
        </p:nvSpPr>
        <p:spPr/>
        <p:txBody>
          <a:bodyPr/>
          <a:lstStyle/>
          <a:p>
            <a:r>
              <a:rPr lang="en-US"/>
              <a:t>Click to edit Master title style</a:t>
            </a:r>
          </a:p>
        </p:txBody>
      </p:sp>
      <p:sp>
        <p:nvSpPr>
          <p:cNvPr id="3" name="Text Placeholder 2">
            <a:extLst>
              <a:ext uri="{FF2B5EF4-FFF2-40B4-BE49-F238E27FC236}">
                <a16:creationId xmlns:a16="http://schemas.microsoft.com/office/drawing/2014/main" id="{A321ED9C-3F93-0473-3127-832B687404A4}"/>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B5189B-B69D-2360-30B6-5EAF8AC927B2}"/>
              </a:ext>
            </a:extLst>
          </p:cNvPr>
          <p:cNvSpPr>
            <a:spLocks noGrp="1"/>
          </p:cNvSpPr>
          <p:nvPr>
            <p:ph type="dt" sz="half" idx="10"/>
          </p:nvPr>
        </p:nvSpPr>
        <p:spPr/>
        <p:txBody>
          <a:bodyPr/>
          <a:lstStyle/>
          <a:p>
            <a:fld id="{E1A63BDD-BD48-499A-A2D9-DFA08F8444CC}" type="datetimeFigureOut">
              <a:rPr lang="en-US" smtClean="0"/>
              <a:t>07/Dec/2024</a:t>
            </a:fld>
            <a:endParaRPr lang="en-US"/>
          </a:p>
        </p:txBody>
      </p:sp>
      <p:sp>
        <p:nvSpPr>
          <p:cNvPr id="5" name="Footer Placeholder 4">
            <a:extLst>
              <a:ext uri="{FF2B5EF4-FFF2-40B4-BE49-F238E27FC236}">
                <a16:creationId xmlns:a16="http://schemas.microsoft.com/office/drawing/2014/main" id="{B407A681-DF48-FF54-3802-2680C559B4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5E3943-6181-007B-EE2D-020A388CAD8C}"/>
              </a:ext>
            </a:extLst>
          </p:cNvPr>
          <p:cNvSpPr>
            <a:spLocks noGrp="1"/>
          </p:cNvSpPr>
          <p:nvPr>
            <p:ph type="sldNum" sz="quarter" idx="12"/>
          </p:nvPr>
        </p:nvSpPr>
        <p:spPr/>
        <p:txBody>
          <a:bodyPr/>
          <a:lstStyle/>
          <a:p>
            <a:fld id="{C6629478-052B-42EB-8DB9-04044E8495EC}" type="slidenum">
              <a:rPr lang="en-US" smtClean="0"/>
              <a:t>‹#›</a:t>
            </a:fld>
            <a:endParaRPr lang="en-US"/>
          </a:p>
        </p:txBody>
      </p:sp>
    </p:spTree>
    <p:extLst>
      <p:ext uri="{BB962C8B-B14F-4D97-AF65-F5344CB8AC3E}">
        <p14:creationId xmlns:p14="http://schemas.microsoft.com/office/powerpoint/2010/main" val="2663728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Date Placeholder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a:defRPr sz="1200" baseline="0">
                <a:solidFill>
                  <a:schemeClr val="tx1">
                    <a:lumMod val="75000"/>
                  </a:schemeClr>
                </a:solidFill>
              </a:defRPr>
            </a:lvl1pPr>
          </a:lstStyle>
          <a:p>
            <a:fld id="{402B9795-92DC-40DC-A1CA-9A4B349D7824}" type="datetimeFigureOut">
              <a:rPr lang="en-US" smtClean="0"/>
              <a:pPr/>
              <a:t>07/Dec/2024</a:t>
            </a:fld>
            <a:endParaRPr lang="en-US"/>
          </a:p>
        </p:txBody>
      </p:sp>
      <p:sp>
        <p:nvSpPr>
          <p:cNvPr id="5" name="Footer Placeholder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a:defRPr sz="1200" baseline="0">
                <a:solidFill>
                  <a:schemeClr val="tx1">
                    <a:lumMod val="75000"/>
                  </a:schemeClr>
                </a:solidFill>
              </a:defRPr>
            </a:lvl1pPr>
          </a:lstStyle>
          <a:p>
            <a:endParaRPr lang="en-US"/>
          </a:p>
        </p:txBody>
      </p:sp>
      <p:sp>
        <p:nvSpPr>
          <p:cNvPr id="6" name="Slide Number Placeholder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r">
              <a:defRPr sz="1200" baseline="0">
                <a:solidFill>
                  <a:schemeClr val="tx1">
                    <a:lumMod val="75000"/>
                  </a:schemeClr>
                </a:solidFill>
              </a:defRPr>
            </a:lvl1pPr>
          </a:lstStyle>
          <a:p>
            <a:fld id="{0FF54DE5-C571-48E8-A5BC-B369434E2F44}" type="slidenum">
              <a:rPr lang="en-US" smtClean="0"/>
              <a:pPr/>
              <a:t>‹#›</a:t>
            </a:fld>
            <a:endParaRPr lang="en-US"/>
          </a:p>
        </p:txBody>
      </p:sp>
      <p:grpSp>
        <p:nvGrpSpPr>
          <p:cNvPr id="15" name="Group 14"/>
          <p:cNvGrpSpPr/>
          <p:nvPr/>
        </p:nvGrpSpPr>
        <p:grpSpPr>
          <a:xfrm>
            <a:off x="1103376" y="1219201"/>
            <a:ext cx="9985248" cy="84403"/>
            <a:chOff x="1073150" y="1219201"/>
            <a:chExt cx="10058400" cy="63125"/>
          </a:xfrm>
        </p:grpSpPr>
        <p:cxnSp>
          <p:nvCxnSpPr>
            <p:cNvPr id="13" name="Straight Connector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1" r:id="rId13"/>
  </p:sldLayoutIdLst>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800"/>
        </a:spcBef>
        <a:buFont typeface="Wingdings" panose="05000000000000000000" pitchFamily="2" charset="2"/>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600"/>
        </a:spcBef>
        <a:buFont typeface="Wingdings" panose="05000000000000000000" pitchFamily="2" charset="2"/>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600"/>
        </a:spcBef>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600"/>
        </a:spcBef>
        <a:buFont typeface="Wingdings" panose="05000000000000000000" pitchFamily="2" charset="2"/>
        <a:buChar char="§"/>
        <a:defRPr sz="2000" kern="1200">
          <a:solidFill>
            <a:schemeClr val="tx1"/>
          </a:solidFill>
          <a:latin typeface="+mn-lt"/>
          <a:ea typeface="+mn-ea"/>
          <a:cs typeface="+mn-cs"/>
        </a:defRPr>
      </a:lvl4pPr>
      <a:lvl5pPr marL="2057400" indent="-228600" algn="l" defTabSz="914400" rtl="0" eaLnBrk="1" latinLnBrk="0" hangingPunct="1">
        <a:lnSpc>
          <a:spcPct val="100000"/>
        </a:lnSpc>
        <a:spcBef>
          <a:spcPts val="600"/>
        </a:spcBef>
        <a:buFont typeface="Wingdings" panose="05000000000000000000" pitchFamily="2" charset="2"/>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3.tm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image" Target="../media/image4.tmp"/><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5.tmp"/><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7.tmp"/><Relationship Id="rId2" Type="http://schemas.openxmlformats.org/officeDocument/2006/relationships/image" Target="../media/image6.tmp"/><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image" Target="../media/image8.tmp"/><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image" Target="../media/image9.tmp"/><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image" Target="../media/image10.tmp"/><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ubtitle 6"/>
          <p:cNvSpPr>
            <a:spLocks noGrp="1"/>
          </p:cNvSpPr>
          <p:nvPr>
            <p:ph type="subTitle" idx="1"/>
          </p:nvPr>
        </p:nvSpPr>
        <p:spPr>
          <a:xfrm>
            <a:off x="1104900" y="4511784"/>
            <a:ext cx="5734050" cy="955565"/>
          </a:xfrm>
        </p:spPr>
        <p:txBody>
          <a:bodyPr/>
          <a:lstStyle/>
          <a:p>
            <a:r>
              <a:rPr lang="en-US" dirty="0" err="1"/>
              <a:t>Giảng</a:t>
            </a:r>
            <a:r>
              <a:rPr lang="en-US" dirty="0"/>
              <a:t> </a:t>
            </a:r>
            <a:r>
              <a:rPr lang="en-US" dirty="0" err="1"/>
              <a:t>viên</a:t>
            </a:r>
            <a:r>
              <a:rPr lang="en-US" dirty="0"/>
              <a:t>: </a:t>
            </a:r>
            <a:r>
              <a:rPr lang="en-US" dirty="0" err="1"/>
              <a:t>Từ</a:t>
            </a:r>
            <a:r>
              <a:rPr lang="en-US" dirty="0"/>
              <a:t> </a:t>
            </a:r>
            <a:r>
              <a:rPr lang="en-US" dirty="0" err="1"/>
              <a:t>Thị</a:t>
            </a:r>
            <a:r>
              <a:rPr lang="en-US" dirty="0"/>
              <a:t> Xuân </a:t>
            </a:r>
            <a:r>
              <a:rPr lang="en-US" dirty="0" err="1"/>
              <a:t>Hiền</a:t>
            </a:r>
            <a:endParaRPr lang="en-US" dirty="0"/>
          </a:p>
        </p:txBody>
      </p:sp>
      <p:pic>
        <p:nvPicPr>
          <p:cNvPr id="4" name="Picture Placeholder 3" descr="Open book on table, blurred shelves of books in background"/>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l="8895" r="8895"/>
          <a:stretch/>
        </p:blipFill>
        <p:spPr>
          <a:xfrm>
            <a:off x="6981063" y="1310656"/>
            <a:ext cx="5210937" cy="4208604"/>
          </a:xfrm>
        </p:spPr>
      </p:pic>
      <p:grpSp>
        <p:nvGrpSpPr>
          <p:cNvPr id="15" name="Group 14">
            <a:extLst>
              <a:ext uri="{FF2B5EF4-FFF2-40B4-BE49-F238E27FC236}">
                <a16:creationId xmlns:a16="http://schemas.microsoft.com/office/drawing/2014/main" id="{4D51ED84-5E96-E622-252E-09B155E63681}"/>
              </a:ext>
            </a:extLst>
          </p:cNvPr>
          <p:cNvGrpSpPr/>
          <p:nvPr/>
        </p:nvGrpSpPr>
        <p:grpSpPr>
          <a:xfrm>
            <a:off x="1049124" y="2927692"/>
            <a:ext cx="10401348" cy="1200329"/>
            <a:chOff x="871700" y="2709329"/>
            <a:chExt cx="5385037" cy="1200329"/>
          </a:xfrm>
          <a:effectLst>
            <a:reflection blurRad="6350" stA="52000" endA="300" endPos="35000" dir="5400000" sy="-100000" algn="bl" rotWithShape="0"/>
          </a:effectLst>
        </p:grpSpPr>
        <p:pic>
          <p:nvPicPr>
            <p:cNvPr id="13" name="Picture 12">
              <a:extLst>
                <a:ext uri="{FF2B5EF4-FFF2-40B4-BE49-F238E27FC236}">
                  <a16:creationId xmlns:a16="http://schemas.microsoft.com/office/drawing/2014/main" id="{52914BAE-8E30-A092-0C7D-8302CE2CB145}"/>
                </a:ext>
              </a:extLst>
            </p:cNvPr>
            <p:cNvPicPr>
              <a:picLocks noChangeAspect="1"/>
            </p:cNvPicPr>
            <p:nvPr/>
          </p:nvPicPr>
          <p:blipFill>
            <a:blip r:embed="rId4">
              <a:extLst>
                <a:ext uri="{28A0092B-C50C-407E-A947-70E740481C1C}">
                  <a14:useLocalDpi xmlns:a14="http://schemas.microsoft.com/office/drawing/2010/main" val="0"/>
                </a:ext>
              </a:extLst>
            </a:blip>
            <a:srcRect l="21349" r="19027" b="24624"/>
            <a:stretch/>
          </p:blipFill>
          <p:spPr>
            <a:xfrm>
              <a:off x="871700" y="2712616"/>
              <a:ext cx="735750" cy="1188720"/>
            </a:xfrm>
            <a:prstGeom prst="rect">
              <a:avLst/>
            </a:prstGeom>
          </p:spPr>
        </p:pic>
        <p:sp>
          <p:nvSpPr>
            <p:cNvPr id="14" name="Rectangle 13">
              <a:extLst>
                <a:ext uri="{FF2B5EF4-FFF2-40B4-BE49-F238E27FC236}">
                  <a16:creationId xmlns:a16="http://schemas.microsoft.com/office/drawing/2014/main" id="{D4251CA6-DC4D-3BE8-EB98-667D80B71479}"/>
                </a:ext>
              </a:extLst>
            </p:cNvPr>
            <p:cNvSpPr/>
            <p:nvPr/>
          </p:nvSpPr>
          <p:spPr>
            <a:xfrm>
              <a:off x="1607450" y="2709329"/>
              <a:ext cx="4649287" cy="1200329"/>
            </a:xfrm>
            <a:prstGeom prst="rect">
              <a:avLst/>
            </a:prstGeom>
            <a:solidFill>
              <a:schemeClr val="tx2"/>
            </a:solidFill>
          </p:spPr>
          <p:txBody>
            <a:bodyPr wrap="square" lIns="91440" tIns="45720" rIns="91440" bIns="45720">
              <a:spAutoFit/>
            </a:bodyPr>
            <a:lstStyle/>
            <a:p>
              <a:pPr algn="ctr"/>
              <a:r>
                <a:rPr lang="nl-NL" sz="7200" b="1" cap="none" spc="50" dirty="0">
                  <a:ln w="9525" cmpd="sng">
                    <a:solidFill>
                      <a:schemeClr val="accent1"/>
                    </a:solidFill>
                    <a:prstDash val="solid"/>
                  </a:ln>
                  <a:solidFill>
                    <a:srgbClr val="70AD47">
                      <a:tint val="1000"/>
                    </a:srgbClr>
                  </a:solidFill>
                  <a:effectLst>
                    <a:glow rad="38100">
                      <a:schemeClr val="accent1">
                        <a:alpha val="40000"/>
                      </a:schemeClr>
                    </a:glow>
                  </a:effectLst>
                  <a:latin typeface="Arial Black" panose="020B0A04020102020204" pitchFamily="34" charset="0"/>
                </a:rPr>
                <a:t>Hook in React JS</a:t>
              </a:r>
              <a:endParaRPr lang="en-US" sz="7200" b="1" cap="none" spc="50" dirty="0">
                <a:ln w="9525" cmpd="sng">
                  <a:solidFill>
                    <a:schemeClr val="accent1"/>
                  </a:solidFill>
                  <a:prstDash val="solid"/>
                </a:ln>
                <a:solidFill>
                  <a:srgbClr val="70AD47">
                    <a:tint val="1000"/>
                  </a:srgbClr>
                </a:solidFill>
                <a:effectLst>
                  <a:glow rad="38100">
                    <a:schemeClr val="accent1">
                      <a:alpha val="40000"/>
                    </a:schemeClr>
                  </a:glow>
                </a:effectLst>
                <a:latin typeface="Arial Black" panose="020B0A04020102020204" pitchFamily="34" charset="0"/>
              </a:endParaRPr>
            </a:p>
          </p:txBody>
        </p:sp>
      </p:grpSp>
      <p:sp>
        <p:nvSpPr>
          <p:cNvPr id="3" name="TextBox 2">
            <a:extLst>
              <a:ext uri="{FF2B5EF4-FFF2-40B4-BE49-F238E27FC236}">
                <a16:creationId xmlns:a16="http://schemas.microsoft.com/office/drawing/2014/main" id="{58AA3DF1-EA8A-6E32-6FF4-D8F7FD59F352}"/>
              </a:ext>
            </a:extLst>
          </p:cNvPr>
          <p:cNvSpPr txBox="1"/>
          <p:nvPr/>
        </p:nvSpPr>
        <p:spPr>
          <a:xfrm>
            <a:off x="3920553" y="1981758"/>
            <a:ext cx="3060510" cy="707886"/>
          </a:xfrm>
          <a:prstGeom prst="rect">
            <a:avLst/>
          </a:prstGeom>
          <a:noFill/>
        </p:spPr>
        <p:txBody>
          <a:bodyPr wrap="square">
            <a:spAutoFit/>
          </a:bodyPr>
          <a:lstStyle/>
          <a:p>
            <a:r>
              <a:rPr lang="nl-NL" sz="4000" b="1" cap="none" spc="50" dirty="0">
                <a:ln w="9525" cmpd="sng">
                  <a:solidFill>
                    <a:schemeClr val="accent1"/>
                  </a:solidFill>
                  <a:prstDash val="solid"/>
                </a:ln>
                <a:solidFill>
                  <a:sysClr val="windowText" lastClr="000000"/>
                </a:solidFill>
                <a:effectLst>
                  <a:glow rad="38100">
                    <a:schemeClr val="accent1">
                      <a:alpha val="40000"/>
                    </a:schemeClr>
                  </a:glow>
                </a:effectLst>
                <a:latin typeface="Arial Black" panose="020B0A04020102020204" pitchFamily="34" charset="0"/>
              </a:rPr>
              <a:t>Chương 3.</a:t>
            </a:r>
            <a:endParaRPr lang="en-US" sz="4000" dirty="0">
              <a:solidFill>
                <a:sysClr val="windowText" lastClr="000000"/>
              </a:solidFill>
            </a:endParaRPr>
          </a:p>
        </p:txBody>
      </p:sp>
    </p:spTree>
    <p:extLst>
      <p:ext uri="{BB962C8B-B14F-4D97-AF65-F5344CB8AC3E}">
        <p14:creationId xmlns:p14="http://schemas.microsoft.com/office/powerpoint/2010/main" val="16521339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FD9CA-C283-B8D5-6523-9AD0B4D3054D}"/>
              </a:ext>
            </a:extLst>
          </p:cNvPr>
          <p:cNvSpPr>
            <a:spLocks noGrp="1"/>
          </p:cNvSpPr>
          <p:nvPr>
            <p:ph type="title"/>
          </p:nvPr>
        </p:nvSpPr>
        <p:spPr/>
        <p:txBody>
          <a:bodyPr/>
          <a:lstStyle/>
          <a:p>
            <a:r>
              <a:rPr lang="en-US" dirty="0"/>
              <a:t>React Hooks overview</a:t>
            </a:r>
          </a:p>
        </p:txBody>
      </p:sp>
      <p:sp>
        <p:nvSpPr>
          <p:cNvPr id="3" name="Text Placeholder 2">
            <a:extLst>
              <a:ext uri="{FF2B5EF4-FFF2-40B4-BE49-F238E27FC236}">
                <a16:creationId xmlns:a16="http://schemas.microsoft.com/office/drawing/2014/main" id="{6F3EE02A-BB3A-82BD-A485-70D856CEA466}"/>
              </a:ext>
            </a:extLst>
          </p:cNvPr>
          <p:cNvSpPr>
            <a:spLocks noGrp="1"/>
          </p:cNvSpPr>
          <p:nvPr>
            <p:ph type="body" idx="1"/>
          </p:nvPr>
        </p:nvSpPr>
        <p:spPr>
          <a:xfrm>
            <a:off x="1104899" y="1600200"/>
            <a:ext cx="10372867" cy="4814248"/>
          </a:xfrm>
        </p:spPr>
        <p:txBody>
          <a:bodyPr>
            <a:normAutofit/>
          </a:bodyPr>
          <a:lstStyle/>
          <a:p>
            <a:r>
              <a:rPr lang="en-US" b="1" dirty="0">
                <a:solidFill>
                  <a:srgbClr val="FF0000"/>
                </a:solidFill>
              </a:rPr>
              <a:t>React Hooks </a:t>
            </a:r>
            <a:r>
              <a:rPr lang="en-US" dirty="0"/>
              <a:t>is a feature in the </a:t>
            </a:r>
            <a:r>
              <a:rPr lang="en-US" i="1" dirty="0"/>
              <a:t>React library</a:t>
            </a:r>
            <a:r>
              <a:rPr lang="en-US" dirty="0"/>
              <a:t>, introduced in React 16.8, that helps you use React features in functional components instead of just class components. </a:t>
            </a:r>
          </a:p>
          <a:p>
            <a:r>
              <a:rPr lang="en-US" b="1" dirty="0"/>
              <a:t>Hooks</a:t>
            </a:r>
            <a:r>
              <a:rPr lang="en-US" dirty="0"/>
              <a:t> in React allow the </a:t>
            </a:r>
            <a:r>
              <a:rPr lang="en-US" i="1" dirty="0">
                <a:solidFill>
                  <a:schemeClr val="tx2"/>
                </a:solidFill>
              </a:rPr>
              <a:t>functional components </a:t>
            </a:r>
            <a:r>
              <a:rPr lang="en-US" dirty="0"/>
              <a:t>to use </a:t>
            </a:r>
            <a:r>
              <a:rPr lang="en-US" b="1" dirty="0"/>
              <a:t>states</a:t>
            </a:r>
            <a:r>
              <a:rPr lang="en-US" dirty="0"/>
              <a:t> and manage side </a:t>
            </a:r>
            <a:r>
              <a:rPr lang="en-US" b="1" dirty="0"/>
              <a:t>effects</a:t>
            </a:r>
            <a:r>
              <a:rPr lang="en-US" dirty="0"/>
              <a:t>. They were first introduced in React 16.8, and let developers to hook into the state and other React features without having to write a class. </a:t>
            </a:r>
          </a:p>
          <a:p>
            <a:r>
              <a:rPr lang="en-US" dirty="0"/>
              <a:t>They provide a cleaner and more concise way to handle state and side effects in React applications.</a:t>
            </a:r>
          </a:p>
        </p:txBody>
      </p:sp>
    </p:spTree>
    <p:extLst>
      <p:ext uri="{BB962C8B-B14F-4D97-AF65-F5344CB8AC3E}">
        <p14:creationId xmlns:p14="http://schemas.microsoft.com/office/powerpoint/2010/main" val="12800998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29DBB-6349-C440-96A2-5DD13ECFC423}"/>
              </a:ext>
            </a:extLst>
          </p:cNvPr>
          <p:cNvSpPr>
            <a:spLocks noGrp="1"/>
          </p:cNvSpPr>
          <p:nvPr>
            <p:ph type="title"/>
          </p:nvPr>
        </p:nvSpPr>
        <p:spPr/>
        <p:txBody>
          <a:bodyPr/>
          <a:lstStyle/>
          <a:p>
            <a:r>
              <a:rPr lang="en-US" dirty="0"/>
              <a:t>React Hooks overview</a:t>
            </a:r>
          </a:p>
        </p:txBody>
      </p:sp>
      <p:sp>
        <p:nvSpPr>
          <p:cNvPr id="3" name="Text Placeholder 2">
            <a:extLst>
              <a:ext uri="{FF2B5EF4-FFF2-40B4-BE49-F238E27FC236}">
                <a16:creationId xmlns:a16="http://schemas.microsoft.com/office/drawing/2014/main" id="{91B5153B-4291-B1E3-839C-CA1F4D3A90CC}"/>
              </a:ext>
            </a:extLst>
          </p:cNvPr>
          <p:cNvSpPr>
            <a:spLocks noGrp="1"/>
          </p:cNvSpPr>
          <p:nvPr>
            <p:ph type="body" idx="1"/>
          </p:nvPr>
        </p:nvSpPr>
        <p:spPr/>
        <p:txBody>
          <a:bodyPr/>
          <a:lstStyle/>
          <a:p>
            <a:r>
              <a:rPr lang="en-US" b="1" dirty="0"/>
              <a:t>Hooks are backward-compatible</a:t>
            </a:r>
            <a:r>
              <a:rPr lang="en-US" dirty="0"/>
              <a:t>, which means it does not contain any breaking changes. Also, it does not replace your knowledge of React concepts.</a:t>
            </a:r>
          </a:p>
          <a:p>
            <a:r>
              <a:rPr lang="en-US" b="1" dirty="0">
                <a:solidFill>
                  <a:srgbClr val="FF0000"/>
                </a:solidFill>
              </a:rPr>
              <a:t>When to use React Hooks?</a:t>
            </a:r>
          </a:p>
          <a:p>
            <a:pPr lvl="1"/>
            <a:r>
              <a:rPr lang="en-US" dirty="0"/>
              <a:t>If you write a function component, and then you want to add some state to it, previously you do this by converting it to a class. But, now you can do it by using a Hook inside the existing function component.</a:t>
            </a:r>
          </a:p>
          <a:p>
            <a:endParaRPr lang="en-US" dirty="0"/>
          </a:p>
        </p:txBody>
      </p:sp>
    </p:spTree>
    <p:extLst>
      <p:ext uri="{BB962C8B-B14F-4D97-AF65-F5344CB8AC3E}">
        <p14:creationId xmlns:p14="http://schemas.microsoft.com/office/powerpoint/2010/main" val="16259802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0E8F6-F597-F222-36AD-BAAF25AD54E1}"/>
              </a:ext>
            </a:extLst>
          </p:cNvPr>
          <p:cNvSpPr>
            <a:spLocks noGrp="1"/>
          </p:cNvSpPr>
          <p:nvPr>
            <p:ph type="title"/>
          </p:nvPr>
        </p:nvSpPr>
        <p:spPr/>
        <p:txBody>
          <a:bodyPr/>
          <a:lstStyle/>
          <a:p>
            <a:r>
              <a:rPr lang="en-US" dirty="0"/>
              <a:t>React Hooks Installation</a:t>
            </a:r>
          </a:p>
        </p:txBody>
      </p:sp>
      <p:sp>
        <p:nvSpPr>
          <p:cNvPr id="3" name="Text Placeholder 2">
            <a:extLst>
              <a:ext uri="{FF2B5EF4-FFF2-40B4-BE49-F238E27FC236}">
                <a16:creationId xmlns:a16="http://schemas.microsoft.com/office/drawing/2014/main" id="{07B27DCF-20C8-18FC-6EF7-15F7AB7E0A8C}"/>
              </a:ext>
            </a:extLst>
          </p:cNvPr>
          <p:cNvSpPr>
            <a:spLocks noGrp="1"/>
          </p:cNvSpPr>
          <p:nvPr>
            <p:ph type="body" idx="1"/>
          </p:nvPr>
        </p:nvSpPr>
        <p:spPr>
          <a:xfrm>
            <a:off x="1104900" y="1600200"/>
            <a:ext cx="10883900" cy="4572000"/>
          </a:xfrm>
        </p:spPr>
        <p:txBody>
          <a:bodyPr/>
          <a:lstStyle/>
          <a:p>
            <a:r>
              <a:rPr lang="en-US" dirty="0"/>
              <a:t>To use React Hooks, we need to run the following commands:</a:t>
            </a:r>
          </a:p>
          <a:p>
            <a:endParaRPr lang="en-US" dirty="0"/>
          </a:p>
          <a:p>
            <a:endParaRPr lang="en-US" dirty="0"/>
          </a:p>
          <a:p>
            <a:r>
              <a:rPr lang="en-US" dirty="0"/>
              <a:t>The above command will install the latest React and React-DOM alpha versions which support React Hooks. </a:t>
            </a:r>
          </a:p>
          <a:p>
            <a:r>
              <a:rPr lang="en-US" dirty="0"/>
              <a:t>Make sure the </a:t>
            </a:r>
            <a:r>
              <a:rPr lang="en-US" i="1" dirty="0" err="1"/>
              <a:t>package.json</a:t>
            </a:r>
            <a:r>
              <a:rPr lang="en-US" i="1" dirty="0"/>
              <a:t> </a:t>
            </a:r>
            <a:r>
              <a:rPr lang="en-US" dirty="0"/>
              <a:t>file lists the React and React-DOM dependencies as given below.</a:t>
            </a:r>
          </a:p>
        </p:txBody>
      </p:sp>
      <p:sp>
        <p:nvSpPr>
          <p:cNvPr id="5" name="TextBox 4">
            <a:extLst>
              <a:ext uri="{FF2B5EF4-FFF2-40B4-BE49-F238E27FC236}">
                <a16:creationId xmlns:a16="http://schemas.microsoft.com/office/drawing/2014/main" id="{45D89807-792B-7555-1C78-8BC07409C66C}"/>
              </a:ext>
            </a:extLst>
          </p:cNvPr>
          <p:cNvSpPr txBox="1"/>
          <p:nvPr/>
        </p:nvSpPr>
        <p:spPr>
          <a:xfrm>
            <a:off x="1473199" y="2326902"/>
            <a:ext cx="8703733" cy="830997"/>
          </a:xfrm>
          <a:prstGeom prst="rect">
            <a:avLst/>
          </a:prstGeom>
          <a:noFill/>
          <a:ln>
            <a:solidFill>
              <a:schemeClr val="accent1"/>
            </a:solidFill>
          </a:ln>
        </p:spPr>
        <p:txBody>
          <a:bodyPr wrap="square">
            <a:spAutoFit/>
          </a:bodyPr>
          <a:lstStyle/>
          <a:p>
            <a:pPr algn="l">
              <a:buFont typeface="+mj-lt"/>
              <a:buAutoNum type="arabicPeriod"/>
            </a:pPr>
            <a:r>
              <a:rPr lang="en-US" sz="2400" b="1" i="0" dirty="0">
                <a:solidFill>
                  <a:srgbClr val="2B2A29"/>
                </a:solidFill>
                <a:effectLst/>
                <a:latin typeface="Montserrat" panose="00000500000000000000" pitchFamily="2" charset="0"/>
              </a:rPr>
              <a:t>$ </a:t>
            </a:r>
            <a:r>
              <a:rPr lang="en-US" sz="2400" b="1" i="0" dirty="0" err="1">
                <a:solidFill>
                  <a:srgbClr val="2B2A29"/>
                </a:solidFill>
                <a:effectLst/>
                <a:latin typeface="Montserrat" panose="00000500000000000000" pitchFamily="2" charset="0"/>
              </a:rPr>
              <a:t>npm</a:t>
            </a:r>
            <a:r>
              <a:rPr lang="en-US" sz="2400" b="1" i="0" dirty="0">
                <a:solidFill>
                  <a:srgbClr val="2B2A29"/>
                </a:solidFill>
                <a:effectLst/>
                <a:latin typeface="Montserrat" panose="00000500000000000000" pitchFamily="2" charset="0"/>
              </a:rPr>
              <a:t> install react</a:t>
            </a:r>
            <a:r>
              <a:rPr lang="en-US" sz="2400" b="1" i="0" dirty="0">
                <a:solidFill>
                  <a:srgbClr val="646464"/>
                </a:solidFill>
                <a:effectLst/>
                <a:latin typeface="Montserrat" panose="00000500000000000000" pitchFamily="2" charset="0"/>
              </a:rPr>
              <a:t>@16</a:t>
            </a:r>
            <a:r>
              <a:rPr lang="en-US" sz="2400" b="1" i="0" dirty="0">
                <a:solidFill>
                  <a:srgbClr val="2B2A29"/>
                </a:solidFill>
                <a:effectLst/>
                <a:latin typeface="Montserrat" panose="00000500000000000000" pitchFamily="2" charset="0"/>
              </a:rPr>
              <a:t>.8.</a:t>
            </a:r>
            <a:r>
              <a:rPr lang="en-US" sz="2400" b="1" i="0" dirty="0">
                <a:solidFill>
                  <a:srgbClr val="C00000"/>
                </a:solidFill>
                <a:effectLst/>
                <a:latin typeface="Montserrat" panose="00000500000000000000" pitchFamily="2" charset="0"/>
              </a:rPr>
              <a:t>0</a:t>
            </a:r>
            <a:r>
              <a:rPr lang="en-US" sz="2400" b="1" i="0" dirty="0">
                <a:solidFill>
                  <a:srgbClr val="2B2A29"/>
                </a:solidFill>
                <a:effectLst/>
                <a:latin typeface="Montserrat" panose="00000500000000000000" pitchFamily="2" charset="0"/>
              </a:rPr>
              <a:t>-alpha.</a:t>
            </a:r>
            <a:r>
              <a:rPr lang="en-US" sz="2400" b="1" i="0" dirty="0">
                <a:solidFill>
                  <a:srgbClr val="C00000"/>
                </a:solidFill>
                <a:effectLst/>
                <a:latin typeface="Montserrat" panose="00000500000000000000" pitchFamily="2" charset="0"/>
              </a:rPr>
              <a:t>1</a:t>
            </a:r>
            <a:r>
              <a:rPr lang="en-US" sz="2400" b="1" i="0" dirty="0">
                <a:solidFill>
                  <a:srgbClr val="2B2A29"/>
                </a:solidFill>
                <a:effectLst/>
                <a:latin typeface="Montserrat" panose="00000500000000000000" pitchFamily="2" charset="0"/>
              </a:rPr>
              <a:t> --save  </a:t>
            </a:r>
          </a:p>
          <a:p>
            <a:pPr algn="l">
              <a:buFont typeface="+mj-lt"/>
              <a:buAutoNum type="arabicPeriod"/>
            </a:pPr>
            <a:r>
              <a:rPr lang="en-US" sz="2400" b="1" i="0" dirty="0">
                <a:solidFill>
                  <a:srgbClr val="2B2A29"/>
                </a:solidFill>
                <a:effectLst/>
                <a:latin typeface="Montserrat" panose="00000500000000000000" pitchFamily="2" charset="0"/>
              </a:rPr>
              <a:t>$ </a:t>
            </a:r>
            <a:r>
              <a:rPr lang="en-US" sz="2400" b="1" i="0" dirty="0" err="1">
                <a:solidFill>
                  <a:srgbClr val="2B2A29"/>
                </a:solidFill>
                <a:effectLst/>
                <a:latin typeface="Montserrat" panose="00000500000000000000" pitchFamily="2" charset="0"/>
              </a:rPr>
              <a:t>npm</a:t>
            </a:r>
            <a:r>
              <a:rPr lang="en-US" sz="2400" b="1" i="0" dirty="0">
                <a:solidFill>
                  <a:srgbClr val="2B2A29"/>
                </a:solidFill>
                <a:effectLst/>
                <a:latin typeface="Montserrat" panose="00000500000000000000" pitchFamily="2" charset="0"/>
              </a:rPr>
              <a:t> install react-dom</a:t>
            </a:r>
            <a:r>
              <a:rPr lang="en-US" sz="2400" b="1" i="0" dirty="0">
                <a:solidFill>
                  <a:srgbClr val="646464"/>
                </a:solidFill>
                <a:effectLst/>
                <a:latin typeface="Montserrat" panose="00000500000000000000" pitchFamily="2" charset="0"/>
              </a:rPr>
              <a:t>@16</a:t>
            </a:r>
            <a:r>
              <a:rPr lang="en-US" sz="2400" b="1" i="0" dirty="0">
                <a:solidFill>
                  <a:srgbClr val="2B2A29"/>
                </a:solidFill>
                <a:effectLst/>
                <a:latin typeface="Montserrat" panose="00000500000000000000" pitchFamily="2" charset="0"/>
              </a:rPr>
              <a:t>.8.</a:t>
            </a:r>
            <a:r>
              <a:rPr lang="en-US" sz="2400" b="1" i="0" dirty="0">
                <a:solidFill>
                  <a:srgbClr val="C00000"/>
                </a:solidFill>
                <a:effectLst/>
                <a:latin typeface="Montserrat" panose="00000500000000000000" pitchFamily="2" charset="0"/>
              </a:rPr>
              <a:t>0</a:t>
            </a:r>
            <a:r>
              <a:rPr lang="en-US" sz="2400" b="1" i="0" dirty="0">
                <a:solidFill>
                  <a:srgbClr val="2B2A29"/>
                </a:solidFill>
                <a:effectLst/>
                <a:latin typeface="Montserrat" panose="00000500000000000000" pitchFamily="2" charset="0"/>
              </a:rPr>
              <a:t>-alpha.</a:t>
            </a:r>
            <a:r>
              <a:rPr lang="en-US" sz="2400" b="1" i="0" dirty="0">
                <a:solidFill>
                  <a:srgbClr val="C00000"/>
                </a:solidFill>
                <a:effectLst/>
                <a:latin typeface="Montserrat" panose="00000500000000000000" pitchFamily="2" charset="0"/>
              </a:rPr>
              <a:t>1</a:t>
            </a:r>
            <a:r>
              <a:rPr lang="en-US" sz="2400" b="1" i="0" dirty="0">
                <a:solidFill>
                  <a:srgbClr val="2B2A29"/>
                </a:solidFill>
                <a:effectLst/>
                <a:latin typeface="Montserrat" panose="00000500000000000000" pitchFamily="2" charset="0"/>
              </a:rPr>
              <a:t> --save  </a:t>
            </a:r>
          </a:p>
        </p:txBody>
      </p:sp>
      <p:sp>
        <p:nvSpPr>
          <p:cNvPr id="7" name="TextBox 6">
            <a:extLst>
              <a:ext uri="{FF2B5EF4-FFF2-40B4-BE49-F238E27FC236}">
                <a16:creationId xmlns:a16="http://schemas.microsoft.com/office/drawing/2014/main" id="{927B5C0A-AB23-00A7-7A6A-62D7AE92DF36}"/>
              </a:ext>
            </a:extLst>
          </p:cNvPr>
          <p:cNvSpPr txBox="1"/>
          <p:nvPr/>
        </p:nvSpPr>
        <p:spPr>
          <a:xfrm>
            <a:off x="3047240" y="5756701"/>
            <a:ext cx="6198359" cy="830997"/>
          </a:xfrm>
          <a:prstGeom prst="rect">
            <a:avLst/>
          </a:prstGeom>
          <a:noFill/>
          <a:ln>
            <a:solidFill>
              <a:schemeClr val="accent1"/>
            </a:solidFill>
          </a:ln>
        </p:spPr>
        <p:txBody>
          <a:bodyPr wrap="square">
            <a:spAutoFit/>
          </a:bodyPr>
          <a:lstStyle/>
          <a:p>
            <a:pPr algn="l">
              <a:buFont typeface="+mj-lt"/>
              <a:buAutoNum type="arabicPeriod"/>
            </a:pPr>
            <a:r>
              <a:rPr lang="en-US" sz="2400" b="1" i="0" dirty="0">
                <a:solidFill>
                  <a:srgbClr val="2B2A29"/>
                </a:solidFill>
                <a:effectLst/>
                <a:latin typeface="Montserrat" panose="00000500000000000000" pitchFamily="2" charset="0"/>
              </a:rPr>
              <a:t>"react": "^16.8.0-alpha.1",  </a:t>
            </a:r>
          </a:p>
          <a:p>
            <a:pPr algn="l">
              <a:buFont typeface="+mj-lt"/>
              <a:buAutoNum type="arabicPeriod"/>
            </a:pPr>
            <a:r>
              <a:rPr lang="en-US" sz="2400" b="1" i="0" dirty="0">
                <a:solidFill>
                  <a:srgbClr val="2B2A29"/>
                </a:solidFill>
                <a:effectLst/>
                <a:latin typeface="Montserrat" panose="00000500000000000000" pitchFamily="2" charset="0"/>
              </a:rPr>
              <a:t>"react-</a:t>
            </a:r>
            <a:r>
              <a:rPr lang="en-US" sz="2400" b="1" i="0" dirty="0" err="1">
                <a:solidFill>
                  <a:srgbClr val="2B2A29"/>
                </a:solidFill>
                <a:effectLst/>
                <a:latin typeface="Montserrat" panose="00000500000000000000" pitchFamily="2" charset="0"/>
              </a:rPr>
              <a:t>dom</a:t>
            </a:r>
            <a:r>
              <a:rPr lang="en-US" sz="2400" b="1" i="0" dirty="0">
                <a:solidFill>
                  <a:srgbClr val="2B2A29"/>
                </a:solidFill>
                <a:effectLst/>
                <a:latin typeface="Montserrat" panose="00000500000000000000" pitchFamily="2" charset="0"/>
              </a:rPr>
              <a:t>": "^16.8.0-alpha.1",  </a:t>
            </a:r>
          </a:p>
        </p:txBody>
      </p:sp>
    </p:spTree>
    <p:extLst>
      <p:ext uri="{BB962C8B-B14F-4D97-AF65-F5344CB8AC3E}">
        <p14:creationId xmlns:p14="http://schemas.microsoft.com/office/powerpoint/2010/main" val="4046800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3B17E-6BFF-DDBC-0652-A3448704F3E1}"/>
              </a:ext>
            </a:extLst>
          </p:cNvPr>
          <p:cNvSpPr>
            <a:spLocks noGrp="1"/>
          </p:cNvSpPr>
          <p:nvPr>
            <p:ph type="title"/>
          </p:nvPr>
        </p:nvSpPr>
        <p:spPr>
          <a:xfrm>
            <a:off x="1104900" y="76200"/>
            <a:ext cx="9980682" cy="1096962"/>
          </a:xfrm>
        </p:spPr>
        <p:txBody>
          <a:bodyPr/>
          <a:lstStyle/>
          <a:p>
            <a:r>
              <a:rPr lang="en-US" dirty="0"/>
              <a:t>Using the effect Hook</a:t>
            </a:r>
            <a:endParaRPr lang="nl-NL" dirty="0"/>
          </a:p>
        </p:txBody>
      </p:sp>
      <p:sp>
        <p:nvSpPr>
          <p:cNvPr id="3" name="Text Placeholder 2">
            <a:extLst>
              <a:ext uri="{FF2B5EF4-FFF2-40B4-BE49-F238E27FC236}">
                <a16:creationId xmlns:a16="http://schemas.microsoft.com/office/drawing/2014/main" id="{C766F098-A99A-463E-04FE-5D3C074084CD}"/>
              </a:ext>
            </a:extLst>
          </p:cNvPr>
          <p:cNvSpPr>
            <a:spLocks noGrp="1"/>
          </p:cNvSpPr>
          <p:nvPr>
            <p:ph type="body" idx="1"/>
          </p:nvPr>
        </p:nvSpPr>
        <p:spPr>
          <a:xfrm>
            <a:off x="1104900" y="1600200"/>
            <a:ext cx="9982200" cy="4572000"/>
          </a:xfrm>
        </p:spPr>
        <p:txBody>
          <a:bodyPr>
            <a:normAutofit/>
          </a:bodyPr>
          <a:lstStyle/>
          <a:p>
            <a:r>
              <a:rPr lang="en-US" b="1" dirty="0">
                <a:solidFill>
                  <a:srgbClr val="FF0000"/>
                </a:solidFill>
              </a:rPr>
              <a:t>The effect Hook </a:t>
            </a:r>
            <a:r>
              <a:rPr lang="en-US" dirty="0"/>
              <a:t>is used for component side effects. A component side effect is something executed outside the scope of the component such as a web service request. </a:t>
            </a:r>
          </a:p>
          <a:p>
            <a:r>
              <a:rPr lang="en-US" b="1" dirty="0"/>
              <a:t>The effect Hook </a:t>
            </a:r>
            <a:r>
              <a:rPr lang="en-US" dirty="0"/>
              <a:t>is defined using the </a:t>
            </a:r>
            <a:r>
              <a:rPr lang="en-US" b="1" i="1" dirty="0" err="1"/>
              <a:t>useEffect</a:t>
            </a:r>
            <a:r>
              <a:rPr lang="en-US" dirty="0"/>
              <a:t> function from React. </a:t>
            </a:r>
            <a:r>
              <a:rPr lang="en-US" b="1" i="1" dirty="0" err="1"/>
              <a:t>useEffect</a:t>
            </a:r>
            <a:r>
              <a:rPr lang="en-US" dirty="0"/>
              <a:t> contains </a:t>
            </a:r>
            <a:r>
              <a:rPr lang="en-US" i="1" dirty="0"/>
              <a:t>two parameters</a:t>
            </a:r>
            <a:r>
              <a:rPr lang="en-US" dirty="0"/>
              <a:t>:</a:t>
            </a:r>
          </a:p>
          <a:p>
            <a:pPr lvl="1"/>
            <a:r>
              <a:rPr lang="en-US" dirty="0"/>
              <a:t>A function that executes the effect; at a minimum, this function runs each time the component is rendered</a:t>
            </a:r>
          </a:p>
          <a:p>
            <a:pPr lvl="1"/>
            <a:r>
              <a:rPr lang="en-US" dirty="0"/>
              <a:t>An optional array of dependencies that cause the effect function to rerun when changed</a:t>
            </a:r>
          </a:p>
        </p:txBody>
      </p:sp>
    </p:spTree>
    <p:extLst>
      <p:ext uri="{BB962C8B-B14F-4D97-AF65-F5344CB8AC3E}">
        <p14:creationId xmlns:p14="http://schemas.microsoft.com/office/powerpoint/2010/main" val="12099320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D358B-5CD9-BCBB-6092-F1D8588D9182}"/>
              </a:ext>
            </a:extLst>
          </p:cNvPr>
          <p:cNvSpPr>
            <a:spLocks noGrp="1"/>
          </p:cNvSpPr>
          <p:nvPr>
            <p:ph type="title"/>
          </p:nvPr>
        </p:nvSpPr>
        <p:spPr/>
        <p:txBody>
          <a:bodyPr/>
          <a:lstStyle/>
          <a:p>
            <a:r>
              <a:rPr lang="en-US" dirty="0"/>
              <a:t>Using the effect Hook</a:t>
            </a:r>
          </a:p>
        </p:txBody>
      </p:sp>
      <p:sp>
        <p:nvSpPr>
          <p:cNvPr id="3" name="Text Placeholder 2">
            <a:extLst>
              <a:ext uri="{FF2B5EF4-FFF2-40B4-BE49-F238E27FC236}">
                <a16:creationId xmlns:a16="http://schemas.microsoft.com/office/drawing/2014/main" id="{3E7D2B8A-F3BE-E537-F709-C108FE36744F}"/>
              </a:ext>
            </a:extLst>
          </p:cNvPr>
          <p:cNvSpPr>
            <a:spLocks noGrp="1"/>
          </p:cNvSpPr>
          <p:nvPr>
            <p:ph type="body" idx="1"/>
          </p:nvPr>
        </p:nvSpPr>
        <p:spPr/>
        <p:txBody>
          <a:bodyPr/>
          <a:lstStyle/>
          <a:p>
            <a:r>
              <a:rPr lang="en-US" dirty="0"/>
              <a:t>Example of the </a:t>
            </a:r>
            <a:r>
              <a:rPr lang="en-US" b="1" i="1" dirty="0" err="1"/>
              <a:t>useEffect</a:t>
            </a:r>
            <a:r>
              <a:rPr lang="en-US" dirty="0"/>
              <a:t> Hook in a component:</a:t>
            </a:r>
          </a:p>
          <a:p>
            <a:endParaRPr lang="en-US" dirty="0"/>
          </a:p>
        </p:txBody>
      </p:sp>
      <p:sp>
        <p:nvSpPr>
          <p:cNvPr id="5" name="TextBox 4">
            <a:extLst>
              <a:ext uri="{FF2B5EF4-FFF2-40B4-BE49-F238E27FC236}">
                <a16:creationId xmlns:a16="http://schemas.microsoft.com/office/drawing/2014/main" id="{62C7BD56-F02E-E6E2-1378-6537F6EFC6FF}"/>
              </a:ext>
            </a:extLst>
          </p:cNvPr>
          <p:cNvSpPr txBox="1"/>
          <p:nvPr/>
        </p:nvSpPr>
        <p:spPr>
          <a:xfrm>
            <a:off x="1507067" y="2393371"/>
            <a:ext cx="8229600" cy="3539430"/>
          </a:xfrm>
          <a:prstGeom prst="rect">
            <a:avLst/>
          </a:prstGeom>
          <a:noFill/>
          <a:ln>
            <a:solidFill>
              <a:schemeClr val="accent1"/>
            </a:solidFill>
          </a:ln>
        </p:spPr>
        <p:txBody>
          <a:bodyPr wrap="square">
            <a:spAutoFit/>
          </a:bodyPr>
          <a:lstStyle/>
          <a:p>
            <a:r>
              <a:rPr lang="en-US" sz="2800" b="1" i="0" dirty="0">
                <a:solidFill>
                  <a:srgbClr val="12110C"/>
                </a:solidFill>
                <a:effectLst/>
                <a:latin typeface="Consolas" panose="020B0609020204030204" pitchFamily="49" charset="0"/>
              </a:rPr>
              <a:t>function </a:t>
            </a:r>
            <a:r>
              <a:rPr lang="en-US" sz="2800" b="1" i="0" dirty="0" err="1">
                <a:solidFill>
                  <a:srgbClr val="12110C"/>
                </a:solidFill>
                <a:effectLst/>
                <a:latin typeface="Consolas" panose="020B0609020204030204" pitchFamily="49" charset="0"/>
              </a:rPr>
              <a:t>SomeComponent</a:t>
            </a:r>
            <a:r>
              <a:rPr lang="en-US" sz="2800" b="1" i="0" dirty="0">
                <a:solidFill>
                  <a:srgbClr val="12110C"/>
                </a:solidFill>
                <a:effectLst/>
                <a:latin typeface="Consolas" panose="020B0609020204030204" pitchFamily="49" charset="0"/>
              </a:rPr>
              <a:t>() {</a:t>
            </a:r>
            <a:br>
              <a:rPr lang="en-US" sz="2800" b="1" i="0" dirty="0">
                <a:solidFill>
                  <a:srgbClr val="12110C"/>
                </a:solidFill>
                <a:effectLst/>
                <a:latin typeface="Consolas" panose="020B0609020204030204" pitchFamily="49" charset="0"/>
              </a:rPr>
            </a:br>
            <a:r>
              <a:rPr lang="en-US" sz="2800" b="1" i="0" dirty="0">
                <a:solidFill>
                  <a:srgbClr val="12110C"/>
                </a:solidFill>
                <a:effectLst/>
                <a:latin typeface="Consolas" panose="020B0609020204030204" pitchFamily="49" charset="0"/>
              </a:rPr>
              <a:t>    </a:t>
            </a:r>
            <a:r>
              <a:rPr lang="en-US" sz="2800" b="1" i="0" dirty="0">
                <a:solidFill>
                  <a:srgbClr val="000000"/>
                </a:solidFill>
                <a:effectLst/>
                <a:latin typeface="Consolas" panose="020B0609020204030204" pitchFamily="49" charset="0"/>
              </a:rPr>
              <a:t>function </a:t>
            </a:r>
            <a:r>
              <a:rPr lang="en-US" sz="2800" b="1" i="0" dirty="0" err="1">
                <a:solidFill>
                  <a:srgbClr val="000000"/>
                </a:solidFill>
                <a:effectLst/>
                <a:latin typeface="Consolas" panose="020B0609020204030204" pitchFamily="49" charset="0"/>
              </a:rPr>
              <a:t>someEffect</a:t>
            </a:r>
            <a:r>
              <a:rPr lang="en-US" sz="2800" b="1" i="0" dirty="0">
                <a:solidFill>
                  <a:srgbClr val="000000"/>
                </a:solidFill>
                <a:effectLst/>
                <a:latin typeface="Consolas" panose="020B0609020204030204" pitchFamily="49" charset="0"/>
              </a:rPr>
              <a:t>() {</a:t>
            </a:r>
            <a:br>
              <a:rPr lang="en-US" sz="2800" b="1" i="0" dirty="0">
                <a:solidFill>
                  <a:srgbClr val="000000"/>
                </a:solidFill>
                <a:effectLst/>
                <a:latin typeface="Consolas" panose="020B0609020204030204" pitchFamily="49" charset="0"/>
              </a:rPr>
            </a:br>
            <a:r>
              <a:rPr lang="en-US" sz="2800" b="1" i="0" dirty="0">
                <a:solidFill>
                  <a:srgbClr val="000000"/>
                </a:solidFill>
                <a:effectLst/>
                <a:latin typeface="Consolas" panose="020B0609020204030204" pitchFamily="49" charset="0"/>
              </a:rPr>
              <a:t>       console.log("Some effect");</a:t>
            </a:r>
            <a:br>
              <a:rPr lang="en-US" sz="2800" b="1" i="0" dirty="0">
                <a:solidFill>
                  <a:srgbClr val="000000"/>
                </a:solidFill>
                <a:effectLst/>
                <a:latin typeface="Consolas" panose="020B0609020204030204" pitchFamily="49" charset="0"/>
              </a:rPr>
            </a:br>
            <a:r>
              <a:rPr lang="en-US" sz="2800" b="1" i="0" dirty="0">
                <a:solidFill>
                  <a:srgbClr val="000000"/>
                </a:solidFill>
                <a:effectLst/>
                <a:latin typeface="Consolas" panose="020B0609020204030204" pitchFamily="49" charset="0"/>
              </a:rPr>
              <a:t>       }</a:t>
            </a:r>
            <a:br>
              <a:rPr lang="en-US" sz="2800" b="1" i="0" dirty="0">
                <a:solidFill>
                  <a:srgbClr val="000000"/>
                </a:solidFill>
                <a:effectLst/>
                <a:latin typeface="Consolas" panose="020B0609020204030204" pitchFamily="49" charset="0"/>
              </a:rPr>
            </a:br>
            <a:r>
              <a:rPr lang="en-US" sz="2800" b="1" i="0" dirty="0">
                <a:solidFill>
                  <a:srgbClr val="000000"/>
                </a:solidFill>
                <a:effectLst/>
                <a:latin typeface="Consolas" panose="020B0609020204030204" pitchFamily="49" charset="0"/>
              </a:rPr>
              <a:t>    </a:t>
            </a:r>
            <a:r>
              <a:rPr lang="en-US" sz="2800" b="1" i="0" dirty="0" err="1">
                <a:solidFill>
                  <a:srgbClr val="FF0000"/>
                </a:solidFill>
                <a:effectLst/>
                <a:latin typeface="Consolas" panose="020B0609020204030204" pitchFamily="49" charset="0"/>
              </a:rPr>
              <a:t>useEffect</a:t>
            </a:r>
            <a:r>
              <a:rPr lang="en-US" sz="2800" b="1" i="0" dirty="0">
                <a:solidFill>
                  <a:srgbClr val="000000"/>
                </a:solidFill>
                <a:effectLst/>
                <a:latin typeface="Consolas" panose="020B0609020204030204" pitchFamily="49" charset="0"/>
              </a:rPr>
              <a:t>(</a:t>
            </a:r>
            <a:r>
              <a:rPr lang="en-US" sz="2800" b="1" i="0" dirty="0" err="1">
                <a:solidFill>
                  <a:srgbClr val="0070C0"/>
                </a:solidFill>
                <a:effectLst/>
                <a:latin typeface="Consolas" panose="020B0609020204030204" pitchFamily="49" charset="0"/>
              </a:rPr>
              <a:t>someEffect</a:t>
            </a:r>
            <a:r>
              <a:rPr lang="en-US" sz="2800" b="1" i="0" dirty="0">
                <a:solidFill>
                  <a:srgbClr val="000000"/>
                </a:solidFill>
                <a:effectLst/>
                <a:latin typeface="Consolas" panose="020B0609020204030204" pitchFamily="49" charset="0"/>
              </a:rPr>
              <a:t>);</a:t>
            </a:r>
            <a:br>
              <a:rPr lang="en-US" sz="2800" b="1" i="0" dirty="0">
                <a:solidFill>
                  <a:srgbClr val="000000"/>
                </a:solidFill>
                <a:effectLst/>
                <a:latin typeface="Consolas" panose="020B0609020204030204" pitchFamily="49" charset="0"/>
              </a:rPr>
            </a:br>
            <a:r>
              <a:rPr lang="en-US" sz="2800" b="1" i="0" dirty="0">
                <a:solidFill>
                  <a:srgbClr val="000000"/>
                </a:solidFill>
                <a:effectLst/>
                <a:latin typeface="Consolas" panose="020B0609020204030204" pitchFamily="49" charset="0"/>
              </a:rPr>
              <a:t>        </a:t>
            </a:r>
            <a:r>
              <a:rPr lang="en-US" sz="2800" b="1" i="0" dirty="0">
                <a:solidFill>
                  <a:srgbClr val="12110C"/>
                </a:solidFill>
                <a:effectLst/>
                <a:latin typeface="Consolas" panose="020B0609020204030204" pitchFamily="49" charset="0"/>
              </a:rPr>
              <a:t>return ...</a:t>
            </a:r>
            <a:br>
              <a:rPr lang="en-US" sz="2800" b="1" i="0" dirty="0">
                <a:solidFill>
                  <a:srgbClr val="12110C"/>
                </a:solidFill>
                <a:effectLst/>
                <a:latin typeface="Consolas" panose="020B0609020204030204" pitchFamily="49" charset="0"/>
              </a:rPr>
            </a:br>
            <a:r>
              <a:rPr lang="en-US" sz="2800" b="1" i="0" dirty="0">
                <a:solidFill>
                  <a:srgbClr val="12110C"/>
                </a:solidFill>
                <a:effectLst/>
                <a:latin typeface="Consolas" panose="020B0609020204030204" pitchFamily="49" charset="0"/>
              </a:rPr>
              <a:t>}</a:t>
            </a:r>
            <a:r>
              <a:rPr lang="en-US" sz="2800" b="1" dirty="0">
                <a:latin typeface="Consolas" panose="020B0609020204030204" pitchFamily="49" charset="0"/>
              </a:rPr>
              <a:t> </a:t>
            </a:r>
            <a:br>
              <a:rPr lang="en-US" sz="2800" b="1" dirty="0">
                <a:latin typeface="Consolas" panose="020B0609020204030204" pitchFamily="49" charset="0"/>
              </a:rPr>
            </a:br>
            <a:endParaRPr lang="en-US" sz="2800" b="1" dirty="0">
              <a:latin typeface="Consolas" panose="020B0609020204030204" pitchFamily="49" charset="0"/>
            </a:endParaRPr>
          </a:p>
        </p:txBody>
      </p:sp>
    </p:spTree>
    <p:extLst>
      <p:ext uri="{BB962C8B-B14F-4D97-AF65-F5344CB8AC3E}">
        <p14:creationId xmlns:p14="http://schemas.microsoft.com/office/powerpoint/2010/main" val="25476140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153E1-4BE2-FF94-C3C3-FB699D6472C9}"/>
              </a:ext>
            </a:extLst>
          </p:cNvPr>
          <p:cNvSpPr>
            <a:spLocks noGrp="1"/>
          </p:cNvSpPr>
          <p:nvPr>
            <p:ph type="title"/>
          </p:nvPr>
        </p:nvSpPr>
        <p:spPr/>
        <p:txBody>
          <a:bodyPr/>
          <a:lstStyle/>
          <a:p>
            <a:r>
              <a:rPr lang="en-US" dirty="0"/>
              <a:t>Using the effect Hook</a:t>
            </a:r>
          </a:p>
        </p:txBody>
      </p:sp>
      <p:sp>
        <p:nvSpPr>
          <p:cNvPr id="3" name="Text Placeholder 2">
            <a:extLst>
              <a:ext uri="{FF2B5EF4-FFF2-40B4-BE49-F238E27FC236}">
                <a16:creationId xmlns:a16="http://schemas.microsoft.com/office/drawing/2014/main" id="{D1678AC6-7FC1-4FFE-E267-9B774BF09E7E}"/>
              </a:ext>
            </a:extLst>
          </p:cNvPr>
          <p:cNvSpPr>
            <a:spLocks noGrp="1"/>
          </p:cNvSpPr>
          <p:nvPr>
            <p:ph type="body" idx="1"/>
          </p:nvPr>
        </p:nvSpPr>
        <p:spPr/>
        <p:txBody>
          <a:bodyPr/>
          <a:lstStyle/>
          <a:p>
            <a:r>
              <a:rPr lang="en-US" dirty="0"/>
              <a:t>Example an anonymous effect function:</a:t>
            </a:r>
          </a:p>
          <a:p>
            <a:endParaRPr lang="en-US" dirty="0"/>
          </a:p>
        </p:txBody>
      </p:sp>
      <p:sp>
        <p:nvSpPr>
          <p:cNvPr id="5" name="TextBox 4">
            <a:extLst>
              <a:ext uri="{FF2B5EF4-FFF2-40B4-BE49-F238E27FC236}">
                <a16:creationId xmlns:a16="http://schemas.microsoft.com/office/drawing/2014/main" id="{96B1F673-32D1-7F52-F8A1-F624D91291AB}"/>
              </a:ext>
            </a:extLst>
          </p:cNvPr>
          <p:cNvSpPr txBox="1"/>
          <p:nvPr/>
        </p:nvSpPr>
        <p:spPr>
          <a:xfrm>
            <a:off x="2370665" y="2379471"/>
            <a:ext cx="6485467" cy="3163110"/>
          </a:xfrm>
          <a:prstGeom prst="rect">
            <a:avLst/>
          </a:prstGeom>
          <a:noFill/>
          <a:ln>
            <a:solidFill>
              <a:schemeClr val="accent1"/>
            </a:solidFill>
          </a:ln>
        </p:spPr>
        <p:txBody>
          <a:bodyPr wrap="square">
            <a:spAutoFit/>
          </a:bodyPr>
          <a:lstStyle/>
          <a:p>
            <a:pPr>
              <a:lnSpc>
                <a:spcPct val="120000"/>
              </a:lnSpc>
            </a:pPr>
            <a:r>
              <a:rPr lang="en-US" sz="2400" b="1" i="0" dirty="0">
                <a:solidFill>
                  <a:srgbClr val="12110C"/>
                </a:solidFill>
                <a:effectLst/>
                <a:latin typeface="Consolas" panose="020B0609020204030204" pitchFamily="49" charset="0"/>
              </a:rPr>
              <a:t>function </a:t>
            </a:r>
            <a:r>
              <a:rPr lang="en-US" sz="2400" b="1" i="0" dirty="0" err="1">
                <a:solidFill>
                  <a:srgbClr val="12110C"/>
                </a:solidFill>
                <a:effectLst/>
                <a:latin typeface="Consolas" panose="020B0609020204030204" pitchFamily="49" charset="0"/>
              </a:rPr>
              <a:t>SomeComponent</a:t>
            </a:r>
            <a:r>
              <a:rPr lang="en-US" sz="2400" b="1" i="0" dirty="0">
                <a:solidFill>
                  <a:srgbClr val="12110C"/>
                </a:solidFill>
                <a:effectLst/>
                <a:latin typeface="Consolas" panose="020B0609020204030204" pitchFamily="49" charset="0"/>
              </a:rPr>
              <a:t>() {</a:t>
            </a:r>
            <a:br>
              <a:rPr lang="en-US" sz="2400" b="1" i="0" dirty="0">
                <a:solidFill>
                  <a:srgbClr val="12110C"/>
                </a:solidFill>
                <a:effectLst/>
                <a:latin typeface="Consolas" panose="020B0609020204030204" pitchFamily="49" charset="0"/>
              </a:rPr>
            </a:br>
            <a:r>
              <a:rPr lang="en-US" sz="2400" b="1" i="0" dirty="0">
                <a:solidFill>
                  <a:srgbClr val="C00000"/>
                </a:solidFill>
                <a:effectLst/>
                <a:latin typeface="Consolas" panose="020B0609020204030204" pitchFamily="49" charset="0"/>
              </a:rPr>
              <a:t>   </a:t>
            </a:r>
            <a:r>
              <a:rPr lang="en-US" sz="2400" b="1" i="0" dirty="0" err="1">
                <a:solidFill>
                  <a:srgbClr val="C00000"/>
                </a:solidFill>
                <a:effectLst/>
                <a:latin typeface="Consolas" panose="020B0609020204030204" pitchFamily="49" charset="0"/>
              </a:rPr>
              <a:t>useEffect</a:t>
            </a:r>
            <a:r>
              <a:rPr lang="en-US" sz="2400" b="1" i="0" dirty="0">
                <a:solidFill>
                  <a:srgbClr val="000000"/>
                </a:solidFill>
                <a:effectLst/>
                <a:latin typeface="Consolas" panose="020B0609020204030204" pitchFamily="49" charset="0"/>
              </a:rPr>
              <a:t>(() </a:t>
            </a:r>
            <a:r>
              <a:rPr lang="en-US" sz="2400" b="1" i="0" dirty="0">
                <a:solidFill>
                  <a:srgbClr val="C00000"/>
                </a:solidFill>
                <a:effectLst/>
                <a:latin typeface="Consolas" panose="020B0609020204030204" pitchFamily="49" charset="0"/>
              </a:rPr>
              <a:t>=&gt;</a:t>
            </a:r>
            <a:r>
              <a:rPr lang="en-US" sz="2400" b="1" i="0" dirty="0">
                <a:solidFill>
                  <a:srgbClr val="000000"/>
                </a:solidFill>
                <a:effectLst/>
                <a:latin typeface="Consolas" panose="020B0609020204030204" pitchFamily="49" charset="0"/>
              </a:rPr>
              <a:t> {</a:t>
            </a:r>
            <a:br>
              <a:rPr lang="en-US" sz="2400" b="1" i="0" dirty="0">
                <a:solidFill>
                  <a:srgbClr val="000000"/>
                </a:solidFill>
                <a:effectLst/>
                <a:latin typeface="Consolas" panose="020B0609020204030204" pitchFamily="49" charset="0"/>
              </a:rPr>
            </a:br>
            <a:r>
              <a:rPr lang="en-US" sz="2400" b="1" i="0" dirty="0">
                <a:solidFill>
                  <a:srgbClr val="000000"/>
                </a:solidFill>
                <a:effectLst/>
                <a:latin typeface="Consolas" panose="020B0609020204030204" pitchFamily="49" charset="0"/>
              </a:rPr>
              <a:t>      console.log("Some effect");</a:t>
            </a:r>
            <a:br>
              <a:rPr lang="en-US" sz="2400" b="1" i="0" dirty="0">
                <a:solidFill>
                  <a:srgbClr val="000000"/>
                </a:solidFill>
                <a:effectLst/>
                <a:latin typeface="Consolas" panose="020B0609020204030204" pitchFamily="49" charset="0"/>
              </a:rPr>
            </a:br>
            <a:r>
              <a:rPr lang="en-US" sz="2400" b="1" i="0" dirty="0">
                <a:solidFill>
                  <a:srgbClr val="000000"/>
                </a:solidFill>
                <a:effectLst/>
                <a:latin typeface="Consolas" panose="020B0609020204030204" pitchFamily="49" charset="0"/>
              </a:rPr>
              <a:t>    });</a:t>
            </a:r>
            <a:br>
              <a:rPr lang="en-US" sz="2400" b="1" i="0" dirty="0">
                <a:solidFill>
                  <a:srgbClr val="000000"/>
                </a:solidFill>
                <a:effectLst/>
                <a:latin typeface="Consolas" panose="020B0609020204030204" pitchFamily="49" charset="0"/>
              </a:rPr>
            </a:br>
            <a:r>
              <a:rPr lang="en-US" sz="2400" b="1" i="0" dirty="0">
                <a:solidFill>
                  <a:srgbClr val="000000"/>
                </a:solidFill>
                <a:effectLst/>
                <a:latin typeface="Consolas" panose="020B0609020204030204" pitchFamily="49" charset="0"/>
              </a:rPr>
              <a:t>    </a:t>
            </a:r>
            <a:r>
              <a:rPr lang="en-US" sz="2400" b="1" i="0" dirty="0">
                <a:solidFill>
                  <a:srgbClr val="12110C"/>
                </a:solidFill>
                <a:effectLst/>
                <a:latin typeface="Consolas" panose="020B0609020204030204" pitchFamily="49" charset="0"/>
              </a:rPr>
              <a:t>return ...</a:t>
            </a:r>
            <a:br>
              <a:rPr lang="en-US" sz="2400" b="1" i="0" dirty="0">
                <a:solidFill>
                  <a:srgbClr val="12110C"/>
                </a:solidFill>
                <a:effectLst/>
                <a:latin typeface="Consolas" panose="020B0609020204030204" pitchFamily="49" charset="0"/>
              </a:rPr>
            </a:br>
            <a:r>
              <a:rPr lang="en-US" sz="2400" b="1" i="0" dirty="0">
                <a:solidFill>
                  <a:srgbClr val="12110C"/>
                </a:solidFill>
                <a:effectLst/>
                <a:latin typeface="Consolas" panose="020B0609020204030204" pitchFamily="49" charset="0"/>
              </a:rPr>
              <a:t>}</a:t>
            </a:r>
            <a:r>
              <a:rPr lang="en-US" sz="2400" b="1" dirty="0">
                <a:latin typeface="Consolas" panose="020B0609020204030204" pitchFamily="49" charset="0"/>
              </a:rPr>
              <a:t> </a:t>
            </a:r>
            <a:br>
              <a:rPr lang="en-US" sz="2400" b="1" dirty="0">
                <a:latin typeface="Consolas" panose="020B0609020204030204" pitchFamily="49" charset="0"/>
              </a:rPr>
            </a:br>
            <a:endParaRPr lang="en-US" sz="2400" b="1" dirty="0">
              <a:latin typeface="Consolas" panose="020B0609020204030204" pitchFamily="49" charset="0"/>
            </a:endParaRPr>
          </a:p>
        </p:txBody>
      </p:sp>
    </p:spTree>
    <p:extLst>
      <p:ext uri="{BB962C8B-B14F-4D97-AF65-F5344CB8AC3E}">
        <p14:creationId xmlns:p14="http://schemas.microsoft.com/office/powerpoint/2010/main" val="21395836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543C0-3DF8-8B3C-19A6-47959BDE1C6D}"/>
              </a:ext>
            </a:extLst>
          </p:cNvPr>
          <p:cNvSpPr>
            <a:spLocks noGrp="1"/>
          </p:cNvSpPr>
          <p:nvPr>
            <p:ph type="title"/>
          </p:nvPr>
        </p:nvSpPr>
        <p:spPr/>
        <p:txBody>
          <a:bodyPr/>
          <a:lstStyle/>
          <a:p>
            <a:r>
              <a:rPr lang="en-US" dirty="0"/>
              <a:t>The rules of Hooks</a:t>
            </a:r>
          </a:p>
        </p:txBody>
      </p:sp>
      <p:sp>
        <p:nvSpPr>
          <p:cNvPr id="3" name="Text Placeholder 2">
            <a:extLst>
              <a:ext uri="{FF2B5EF4-FFF2-40B4-BE49-F238E27FC236}">
                <a16:creationId xmlns:a16="http://schemas.microsoft.com/office/drawing/2014/main" id="{F6087BAC-C18A-15FC-5D56-D709D43E342E}"/>
              </a:ext>
            </a:extLst>
          </p:cNvPr>
          <p:cNvSpPr>
            <a:spLocks noGrp="1"/>
          </p:cNvSpPr>
          <p:nvPr>
            <p:ph type="body" idx="1"/>
          </p:nvPr>
        </p:nvSpPr>
        <p:spPr>
          <a:xfrm>
            <a:off x="1104900" y="1600199"/>
            <a:ext cx="9982200" cy="4766733"/>
          </a:xfrm>
        </p:spPr>
        <p:txBody>
          <a:bodyPr>
            <a:normAutofit/>
          </a:bodyPr>
          <a:lstStyle/>
          <a:p>
            <a:r>
              <a:rPr lang="en-US" dirty="0">
                <a:solidFill>
                  <a:schemeClr val="tx2"/>
                </a:solidFill>
              </a:rPr>
              <a:t>There are some rules that all Hooks, including </a:t>
            </a:r>
            <a:r>
              <a:rPr lang="en-US" b="1" i="1" dirty="0" err="1">
                <a:solidFill>
                  <a:schemeClr val="tx2"/>
                </a:solidFill>
              </a:rPr>
              <a:t>useEffect</a:t>
            </a:r>
            <a:r>
              <a:rPr lang="en-US" dirty="0">
                <a:solidFill>
                  <a:schemeClr val="tx2"/>
                </a:solidFill>
              </a:rPr>
              <a:t>, must obey:</a:t>
            </a:r>
          </a:p>
          <a:p>
            <a:pPr lvl="1"/>
            <a:r>
              <a:rPr lang="en-US" dirty="0">
                <a:solidFill>
                  <a:schemeClr val="tx2"/>
                </a:solidFill>
              </a:rPr>
              <a:t>A Hook can only be called at the top level of a function component. So, a Hook can’t be called in a loop or in a nested function such as an event handler.</a:t>
            </a:r>
          </a:p>
          <a:p>
            <a:pPr lvl="1"/>
            <a:r>
              <a:rPr lang="en-US" dirty="0">
                <a:solidFill>
                  <a:schemeClr val="tx2"/>
                </a:solidFill>
              </a:rPr>
              <a:t>A Hook can’t be called conditionally.</a:t>
            </a:r>
          </a:p>
          <a:p>
            <a:pPr lvl="1"/>
            <a:r>
              <a:rPr lang="en-US" dirty="0">
                <a:solidFill>
                  <a:schemeClr val="tx2"/>
                </a:solidFill>
              </a:rPr>
              <a:t>A Hook can only be used in function components and not class components.</a:t>
            </a:r>
          </a:p>
          <a:p>
            <a:endParaRPr lang="en-US" dirty="0"/>
          </a:p>
        </p:txBody>
      </p:sp>
    </p:spTree>
    <p:extLst>
      <p:ext uri="{BB962C8B-B14F-4D97-AF65-F5344CB8AC3E}">
        <p14:creationId xmlns:p14="http://schemas.microsoft.com/office/powerpoint/2010/main" val="18881561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6B892-81BB-7326-529A-20D9ADFFE6B3}"/>
              </a:ext>
            </a:extLst>
          </p:cNvPr>
          <p:cNvSpPr>
            <a:spLocks noGrp="1"/>
          </p:cNvSpPr>
          <p:nvPr>
            <p:ph type="title"/>
          </p:nvPr>
        </p:nvSpPr>
        <p:spPr/>
        <p:txBody>
          <a:bodyPr/>
          <a:lstStyle/>
          <a:p>
            <a:r>
              <a:rPr lang="en-US" dirty="0"/>
              <a:t>The rules of Hooks</a:t>
            </a:r>
          </a:p>
        </p:txBody>
      </p:sp>
      <p:sp>
        <p:nvSpPr>
          <p:cNvPr id="3" name="Text Placeholder 2">
            <a:extLst>
              <a:ext uri="{FF2B5EF4-FFF2-40B4-BE49-F238E27FC236}">
                <a16:creationId xmlns:a16="http://schemas.microsoft.com/office/drawing/2014/main" id="{5D7F22C8-C51E-9B46-7361-A4FAD00F34AB}"/>
              </a:ext>
            </a:extLst>
          </p:cNvPr>
          <p:cNvSpPr>
            <a:spLocks noGrp="1"/>
          </p:cNvSpPr>
          <p:nvPr>
            <p:ph type="body" idx="1"/>
          </p:nvPr>
        </p:nvSpPr>
        <p:spPr/>
        <p:txBody>
          <a:bodyPr/>
          <a:lstStyle/>
          <a:p>
            <a:r>
              <a:rPr lang="en-US" dirty="0"/>
              <a:t>Example is a violation of the rules:</a:t>
            </a:r>
          </a:p>
        </p:txBody>
      </p:sp>
      <p:sp>
        <p:nvSpPr>
          <p:cNvPr id="5" name="TextBox 4">
            <a:extLst>
              <a:ext uri="{FF2B5EF4-FFF2-40B4-BE49-F238E27FC236}">
                <a16:creationId xmlns:a16="http://schemas.microsoft.com/office/drawing/2014/main" id="{0A673197-6C4A-7DAE-2AC1-81786151008C}"/>
              </a:ext>
            </a:extLst>
          </p:cNvPr>
          <p:cNvSpPr txBox="1"/>
          <p:nvPr/>
        </p:nvSpPr>
        <p:spPr>
          <a:xfrm>
            <a:off x="795868" y="2395477"/>
            <a:ext cx="11040532" cy="3416320"/>
          </a:xfrm>
          <a:prstGeom prst="rect">
            <a:avLst/>
          </a:prstGeom>
          <a:noFill/>
          <a:ln>
            <a:solidFill>
              <a:schemeClr val="accent1"/>
            </a:solidFill>
          </a:ln>
        </p:spPr>
        <p:txBody>
          <a:bodyPr wrap="square">
            <a:spAutoFit/>
          </a:bodyPr>
          <a:lstStyle/>
          <a:p>
            <a:r>
              <a:rPr lang="en-US" sz="2400" b="1" i="0" dirty="0">
                <a:solidFill>
                  <a:srgbClr val="12110C"/>
                </a:solidFill>
                <a:effectLst/>
                <a:latin typeface="Consolas" panose="020B0609020204030204" pitchFamily="49" charset="0"/>
              </a:rPr>
              <a:t>export function </a:t>
            </a:r>
            <a:r>
              <a:rPr lang="en-US" sz="2400" b="1" i="0" dirty="0" err="1">
                <a:solidFill>
                  <a:srgbClr val="C00000"/>
                </a:solidFill>
                <a:effectLst/>
                <a:latin typeface="Consolas" panose="020B0609020204030204" pitchFamily="49" charset="0"/>
              </a:rPr>
              <a:t>AnotherComponent</a:t>
            </a:r>
            <a:r>
              <a:rPr lang="en-US" sz="2400" b="1" i="0" dirty="0">
                <a:solidFill>
                  <a:srgbClr val="12110C"/>
                </a:solidFill>
                <a:effectLst/>
                <a:latin typeface="Consolas" panose="020B0609020204030204" pitchFamily="49" charset="0"/>
              </a:rPr>
              <a:t>() {</a:t>
            </a:r>
            <a:br>
              <a:rPr lang="en-US" sz="2400" b="1" i="0" dirty="0">
                <a:solidFill>
                  <a:srgbClr val="12110C"/>
                </a:solidFill>
                <a:effectLst/>
                <a:latin typeface="Consolas" panose="020B0609020204030204" pitchFamily="49" charset="0"/>
              </a:rPr>
            </a:br>
            <a:r>
              <a:rPr lang="en-US" sz="2400" b="1" i="0" dirty="0">
                <a:solidFill>
                  <a:srgbClr val="12110C"/>
                </a:solidFill>
                <a:effectLst/>
                <a:latin typeface="Consolas" panose="020B0609020204030204" pitchFamily="49" charset="0"/>
              </a:rPr>
              <a:t>function </a:t>
            </a:r>
            <a:r>
              <a:rPr lang="en-US" sz="2400" b="1" i="0" dirty="0" err="1">
                <a:solidFill>
                  <a:srgbClr val="C00000"/>
                </a:solidFill>
                <a:effectLst/>
                <a:latin typeface="Consolas" panose="020B0609020204030204" pitchFamily="49" charset="0"/>
              </a:rPr>
              <a:t>handleClick</a:t>
            </a:r>
            <a:r>
              <a:rPr lang="en-US" sz="2400" b="1" i="0" dirty="0">
                <a:solidFill>
                  <a:srgbClr val="12110C"/>
                </a:solidFill>
                <a:effectLst/>
                <a:latin typeface="Consolas" panose="020B0609020204030204" pitchFamily="49" charset="0"/>
              </a:rPr>
              <a:t>() {</a:t>
            </a:r>
            <a:br>
              <a:rPr lang="en-US" sz="2400" b="1" i="0" dirty="0">
                <a:solidFill>
                  <a:srgbClr val="12110C"/>
                </a:solidFill>
                <a:effectLst/>
                <a:latin typeface="Consolas" panose="020B0609020204030204" pitchFamily="49" charset="0"/>
              </a:rPr>
            </a:br>
            <a:r>
              <a:rPr lang="en-US" sz="2400" b="1" i="0" dirty="0">
                <a:solidFill>
                  <a:srgbClr val="12110C"/>
                </a:solidFill>
                <a:effectLst/>
                <a:latin typeface="Consolas" panose="020B0609020204030204" pitchFamily="49" charset="0"/>
              </a:rPr>
              <a:t>     </a:t>
            </a:r>
            <a:r>
              <a:rPr lang="en-US" sz="2400" b="1" i="0" dirty="0" err="1">
                <a:solidFill>
                  <a:srgbClr val="C00000"/>
                </a:solidFill>
                <a:effectLst/>
                <a:latin typeface="Consolas" panose="020B0609020204030204" pitchFamily="49" charset="0"/>
              </a:rPr>
              <a:t>useEffect</a:t>
            </a:r>
            <a:r>
              <a:rPr lang="en-US" sz="2400" b="1" i="0" dirty="0">
                <a:solidFill>
                  <a:srgbClr val="12110C"/>
                </a:solidFill>
                <a:effectLst/>
                <a:latin typeface="Consolas" panose="020B0609020204030204" pitchFamily="49" charset="0"/>
              </a:rPr>
              <a:t>(() =&gt; {</a:t>
            </a:r>
            <a:br>
              <a:rPr lang="en-US" sz="2400" b="1" i="0" dirty="0">
                <a:solidFill>
                  <a:srgbClr val="12110C"/>
                </a:solidFill>
                <a:effectLst/>
                <a:latin typeface="Consolas" panose="020B0609020204030204" pitchFamily="49" charset="0"/>
              </a:rPr>
            </a:br>
            <a:r>
              <a:rPr lang="en-US" sz="2400" b="1" i="0" dirty="0">
                <a:solidFill>
                  <a:srgbClr val="12110C"/>
                </a:solidFill>
                <a:effectLst/>
                <a:latin typeface="Consolas" panose="020B0609020204030204" pitchFamily="49" charset="0"/>
              </a:rPr>
              <a:t>                       console.log("Some effect");</a:t>
            </a:r>
            <a:br>
              <a:rPr lang="en-US" sz="2400" b="1" i="0" dirty="0">
                <a:solidFill>
                  <a:srgbClr val="12110C"/>
                </a:solidFill>
                <a:effectLst/>
                <a:latin typeface="Consolas" panose="020B0609020204030204" pitchFamily="49" charset="0"/>
              </a:rPr>
            </a:br>
            <a:r>
              <a:rPr lang="en-US" sz="2400" b="1" i="0" dirty="0">
                <a:solidFill>
                  <a:srgbClr val="12110C"/>
                </a:solidFill>
                <a:effectLst/>
                <a:latin typeface="Consolas" panose="020B0609020204030204" pitchFamily="49" charset="0"/>
              </a:rPr>
              <a:t>				});</a:t>
            </a:r>
            <a:br>
              <a:rPr lang="en-US" sz="2400" b="1" i="0" dirty="0">
                <a:solidFill>
                  <a:srgbClr val="12110C"/>
                </a:solidFill>
                <a:effectLst/>
                <a:latin typeface="Consolas" panose="020B0609020204030204" pitchFamily="49" charset="0"/>
              </a:rPr>
            </a:br>
            <a:r>
              <a:rPr lang="en-US" sz="2400" b="1" i="0" dirty="0">
                <a:solidFill>
                  <a:srgbClr val="12110C"/>
                </a:solidFill>
                <a:effectLst/>
                <a:latin typeface="Consolas" panose="020B0609020204030204" pitchFamily="49" charset="0"/>
              </a:rPr>
              <a:t>			  }</a:t>
            </a:r>
            <a:br>
              <a:rPr lang="en-US" sz="2400" b="1" i="0" dirty="0">
                <a:solidFill>
                  <a:srgbClr val="12110C"/>
                </a:solidFill>
                <a:effectLst/>
                <a:latin typeface="Consolas" panose="020B0609020204030204" pitchFamily="49" charset="0"/>
              </a:rPr>
            </a:br>
            <a:r>
              <a:rPr lang="en-US" sz="2400" b="1" i="0" dirty="0">
                <a:solidFill>
                  <a:srgbClr val="12110C"/>
                </a:solidFill>
                <a:effectLst/>
                <a:latin typeface="Consolas" panose="020B0609020204030204" pitchFamily="49" charset="0"/>
              </a:rPr>
              <a:t>     return &lt;button </a:t>
            </a:r>
            <a:r>
              <a:rPr lang="en-US" sz="2400" b="1" i="0" dirty="0" err="1">
                <a:solidFill>
                  <a:srgbClr val="12110C"/>
                </a:solidFill>
                <a:effectLst/>
                <a:latin typeface="Consolas" panose="020B0609020204030204" pitchFamily="49" charset="0"/>
              </a:rPr>
              <a:t>onClick</a:t>
            </a:r>
            <a:r>
              <a:rPr lang="en-US" sz="2400" b="1" i="0" dirty="0">
                <a:solidFill>
                  <a:srgbClr val="12110C"/>
                </a:solidFill>
                <a:effectLst/>
                <a:latin typeface="Consolas" panose="020B0609020204030204" pitchFamily="49" charset="0"/>
              </a:rPr>
              <a:t>={</a:t>
            </a:r>
            <a:r>
              <a:rPr lang="en-US" sz="2400" b="1" i="0" dirty="0" err="1">
                <a:solidFill>
                  <a:srgbClr val="12110C"/>
                </a:solidFill>
                <a:effectLst/>
                <a:latin typeface="Consolas" panose="020B0609020204030204" pitchFamily="49" charset="0"/>
              </a:rPr>
              <a:t>handleClick</a:t>
            </a:r>
            <a:r>
              <a:rPr lang="en-US" sz="2400" b="1" i="0" dirty="0">
                <a:solidFill>
                  <a:srgbClr val="12110C"/>
                </a:solidFill>
                <a:effectLst/>
                <a:latin typeface="Consolas" panose="020B0609020204030204" pitchFamily="49" charset="0"/>
              </a:rPr>
              <a:t>}&gt;Cause effect&lt;/button&gt;;</a:t>
            </a:r>
            <a:br>
              <a:rPr lang="en-US" sz="2400" b="1" i="0" dirty="0">
                <a:solidFill>
                  <a:srgbClr val="12110C"/>
                </a:solidFill>
                <a:effectLst/>
                <a:latin typeface="Consolas" panose="020B0609020204030204" pitchFamily="49" charset="0"/>
              </a:rPr>
            </a:br>
            <a:r>
              <a:rPr lang="en-US" sz="2400" b="1" i="0" dirty="0">
                <a:solidFill>
                  <a:srgbClr val="12110C"/>
                </a:solidFill>
                <a:effectLst/>
                <a:latin typeface="Consolas" panose="020B0609020204030204" pitchFamily="49" charset="0"/>
              </a:rPr>
              <a:t>}</a:t>
            </a:r>
            <a:r>
              <a:rPr lang="en-US" sz="2400" b="1" dirty="0">
                <a:latin typeface="Consolas" panose="020B0609020204030204" pitchFamily="49" charset="0"/>
              </a:rPr>
              <a:t> </a:t>
            </a:r>
            <a:br>
              <a:rPr lang="en-US" sz="2400" b="1" dirty="0">
                <a:latin typeface="Consolas" panose="020B0609020204030204" pitchFamily="49" charset="0"/>
              </a:rPr>
            </a:br>
            <a:endParaRPr lang="en-US" sz="2400" b="1" dirty="0">
              <a:latin typeface="Consolas" panose="020B0609020204030204" pitchFamily="49" charset="0"/>
            </a:endParaRPr>
          </a:p>
        </p:txBody>
      </p:sp>
      <p:sp>
        <p:nvSpPr>
          <p:cNvPr id="7" name="TextBox 6">
            <a:extLst>
              <a:ext uri="{FF2B5EF4-FFF2-40B4-BE49-F238E27FC236}">
                <a16:creationId xmlns:a16="http://schemas.microsoft.com/office/drawing/2014/main" id="{775E2AE2-767D-F21D-992A-95AD7517504F}"/>
              </a:ext>
            </a:extLst>
          </p:cNvPr>
          <p:cNvSpPr txBox="1"/>
          <p:nvPr/>
        </p:nvSpPr>
        <p:spPr>
          <a:xfrm>
            <a:off x="795867" y="5952907"/>
            <a:ext cx="11040531" cy="400110"/>
          </a:xfrm>
          <a:prstGeom prst="rect">
            <a:avLst/>
          </a:prstGeom>
          <a:noFill/>
        </p:spPr>
        <p:txBody>
          <a:bodyPr wrap="square">
            <a:spAutoFit/>
          </a:bodyPr>
          <a:lstStyle/>
          <a:p>
            <a:r>
              <a:rPr lang="en-US" sz="2000" i="1" dirty="0">
                <a:solidFill>
                  <a:srgbClr val="C00000"/>
                </a:solidFill>
              </a:rPr>
              <a:t>This is a violation because </a:t>
            </a:r>
            <a:r>
              <a:rPr lang="en-US" sz="2000" i="1" dirty="0" err="1">
                <a:solidFill>
                  <a:srgbClr val="C00000"/>
                </a:solidFill>
              </a:rPr>
              <a:t>useEffect</a:t>
            </a:r>
            <a:r>
              <a:rPr lang="en-US" sz="2000" i="1" dirty="0">
                <a:solidFill>
                  <a:srgbClr val="C00000"/>
                </a:solidFill>
              </a:rPr>
              <a:t> is called in a handler function rather than at the top level</a:t>
            </a:r>
          </a:p>
        </p:txBody>
      </p:sp>
    </p:spTree>
    <p:extLst>
      <p:ext uri="{BB962C8B-B14F-4D97-AF65-F5344CB8AC3E}">
        <p14:creationId xmlns:p14="http://schemas.microsoft.com/office/powerpoint/2010/main" val="39011649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EEFCA-1CCC-6244-2679-39A478CD49C1}"/>
              </a:ext>
            </a:extLst>
          </p:cNvPr>
          <p:cNvSpPr>
            <a:spLocks noGrp="1"/>
          </p:cNvSpPr>
          <p:nvPr>
            <p:ph type="title"/>
          </p:nvPr>
        </p:nvSpPr>
        <p:spPr/>
        <p:txBody>
          <a:bodyPr/>
          <a:lstStyle/>
          <a:p>
            <a:r>
              <a:rPr lang="en-US" dirty="0"/>
              <a:t>The rules of Hooks</a:t>
            </a:r>
          </a:p>
        </p:txBody>
      </p:sp>
      <p:sp>
        <p:nvSpPr>
          <p:cNvPr id="3" name="Text Placeholder 2">
            <a:extLst>
              <a:ext uri="{FF2B5EF4-FFF2-40B4-BE49-F238E27FC236}">
                <a16:creationId xmlns:a16="http://schemas.microsoft.com/office/drawing/2014/main" id="{F523487D-D0A3-0ABA-2297-CD56397359F0}"/>
              </a:ext>
            </a:extLst>
          </p:cNvPr>
          <p:cNvSpPr>
            <a:spLocks noGrp="1"/>
          </p:cNvSpPr>
          <p:nvPr>
            <p:ph type="body" idx="1"/>
          </p:nvPr>
        </p:nvSpPr>
        <p:spPr/>
        <p:txBody>
          <a:bodyPr/>
          <a:lstStyle/>
          <a:p>
            <a:r>
              <a:rPr lang="en-US" dirty="0"/>
              <a:t>A corrected version is as follows:</a:t>
            </a:r>
          </a:p>
        </p:txBody>
      </p:sp>
      <p:sp>
        <p:nvSpPr>
          <p:cNvPr id="5" name="TextBox 4">
            <a:extLst>
              <a:ext uri="{FF2B5EF4-FFF2-40B4-BE49-F238E27FC236}">
                <a16:creationId xmlns:a16="http://schemas.microsoft.com/office/drawing/2014/main" id="{B03BBEB0-0E12-800E-DF4C-8CC3227DA62C}"/>
              </a:ext>
            </a:extLst>
          </p:cNvPr>
          <p:cNvSpPr txBox="1"/>
          <p:nvPr/>
        </p:nvSpPr>
        <p:spPr>
          <a:xfrm>
            <a:off x="715434" y="2083965"/>
            <a:ext cx="11087100" cy="4524315"/>
          </a:xfrm>
          <a:prstGeom prst="rect">
            <a:avLst/>
          </a:prstGeom>
          <a:noFill/>
          <a:ln>
            <a:solidFill>
              <a:schemeClr val="accent1"/>
            </a:solidFill>
          </a:ln>
        </p:spPr>
        <p:txBody>
          <a:bodyPr wrap="square">
            <a:spAutoFit/>
          </a:bodyPr>
          <a:lstStyle/>
          <a:p>
            <a:r>
              <a:rPr lang="en-US" sz="2400" b="1" i="0" dirty="0">
                <a:solidFill>
                  <a:srgbClr val="12110C"/>
                </a:solidFill>
                <a:effectLst/>
                <a:latin typeface="Consolas" panose="020B0609020204030204" pitchFamily="49" charset="0"/>
              </a:rPr>
              <a:t>export function </a:t>
            </a:r>
            <a:r>
              <a:rPr lang="en-US" sz="2400" b="1" i="0" dirty="0" err="1">
                <a:solidFill>
                  <a:srgbClr val="12110C"/>
                </a:solidFill>
                <a:effectLst/>
                <a:latin typeface="Consolas" panose="020B0609020204030204" pitchFamily="49" charset="0"/>
              </a:rPr>
              <a:t>AnotherComponent</a:t>
            </a:r>
            <a:r>
              <a:rPr lang="en-US" sz="2400" b="1" i="0" dirty="0">
                <a:solidFill>
                  <a:srgbClr val="12110C"/>
                </a:solidFill>
                <a:effectLst/>
                <a:latin typeface="Consolas" panose="020B0609020204030204" pitchFamily="49" charset="0"/>
              </a:rPr>
              <a:t>() {</a:t>
            </a:r>
            <a:br>
              <a:rPr lang="en-US" sz="2400" b="1" i="0" dirty="0">
                <a:solidFill>
                  <a:srgbClr val="12110C"/>
                </a:solidFill>
                <a:effectLst/>
                <a:latin typeface="Consolas" panose="020B0609020204030204" pitchFamily="49" charset="0"/>
              </a:rPr>
            </a:br>
            <a:r>
              <a:rPr lang="en-US" sz="2400" b="1" i="0" dirty="0">
                <a:solidFill>
                  <a:srgbClr val="12110C"/>
                </a:solidFill>
                <a:effectLst/>
                <a:latin typeface="Consolas" panose="020B0609020204030204" pitchFamily="49" charset="0"/>
              </a:rPr>
              <a:t>  const [clicked, </a:t>
            </a:r>
            <a:r>
              <a:rPr lang="en-US" sz="2400" b="1" i="0" dirty="0" err="1">
                <a:solidFill>
                  <a:srgbClr val="12110C"/>
                </a:solidFill>
                <a:effectLst/>
                <a:latin typeface="Consolas" panose="020B0609020204030204" pitchFamily="49" charset="0"/>
              </a:rPr>
              <a:t>setClicked</a:t>
            </a:r>
            <a:r>
              <a:rPr lang="en-US" sz="2400" b="1" i="0" dirty="0">
                <a:solidFill>
                  <a:srgbClr val="12110C"/>
                </a:solidFill>
                <a:effectLst/>
                <a:latin typeface="Consolas" panose="020B0609020204030204" pitchFamily="49" charset="0"/>
              </a:rPr>
              <a:t>] = useState(false);</a:t>
            </a:r>
            <a:br>
              <a:rPr lang="en-US" sz="2400" b="1" i="0" dirty="0">
                <a:solidFill>
                  <a:srgbClr val="12110C"/>
                </a:solidFill>
                <a:effectLst/>
                <a:latin typeface="Consolas" panose="020B0609020204030204" pitchFamily="49" charset="0"/>
              </a:rPr>
            </a:br>
            <a:r>
              <a:rPr lang="en-US" sz="2400" b="1" i="0" dirty="0">
                <a:solidFill>
                  <a:srgbClr val="12110C"/>
                </a:solidFill>
                <a:effectLst/>
                <a:latin typeface="Consolas" panose="020B0609020204030204" pitchFamily="49" charset="0"/>
              </a:rPr>
              <a:t>  </a:t>
            </a:r>
            <a:r>
              <a:rPr lang="en-US" sz="2400" b="1" i="0" dirty="0" err="1">
                <a:solidFill>
                  <a:srgbClr val="C00000"/>
                </a:solidFill>
                <a:effectLst/>
                <a:latin typeface="Consolas" panose="020B0609020204030204" pitchFamily="49" charset="0"/>
              </a:rPr>
              <a:t>useEffect</a:t>
            </a:r>
            <a:r>
              <a:rPr lang="en-US" sz="2400" b="1" i="0" dirty="0">
                <a:solidFill>
                  <a:srgbClr val="12110C"/>
                </a:solidFill>
                <a:effectLst/>
                <a:latin typeface="Consolas" panose="020B0609020204030204" pitchFamily="49" charset="0"/>
              </a:rPr>
              <a:t>(() =&gt; {</a:t>
            </a:r>
            <a:br>
              <a:rPr lang="en-US" sz="2400" b="1" dirty="0">
                <a:latin typeface="Consolas" panose="020B0609020204030204" pitchFamily="49" charset="0"/>
              </a:rPr>
            </a:br>
            <a:r>
              <a:rPr lang="en-US" sz="2400" b="1" dirty="0">
                <a:latin typeface="Consolas" panose="020B0609020204030204" pitchFamily="49" charset="0"/>
              </a:rPr>
              <a:t>			   </a:t>
            </a:r>
            <a:r>
              <a:rPr lang="en-US" sz="2400" b="1" i="0" dirty="0">
                <a:solidFill>
                  <a:srgbClr val="12110C"/>
                </a:solidFill>
                <a:effectLst/>
                <a:latin typeface="Consolas" panose="020B0609020204030204" pitchFamily="49" charset="0"/>
              </a:rPr>
              <a:t>if (clicked) {</a:t>
            </a:r>
            <a:br>
              <a:rPr lang="en-US" sz="2400" b="1" i="0" dirty="0">
                <a:solidFill>
                  <a:srgbClr val="12110C"/>
                </a:solidFill>
                <a:effectLst/>
                <a:latin typeface="Consolas" panose="020B0609020204030204" pitchFamily="49" charset="0"/>
              </a:rPr>
            </a:br>
            <a:r>
              <a:rPr lang="en-US" sz="2400" b="1" i="0" dirty="0">
                <a:solidFill>
                  <a:srgbClr val="12110C"/>
                </a:solidFill>
                <a:effectLst/>
                <a:latin typeface="Consolas" panose="020B0609020204030204" pitchFamily="49" charset="0"/>
              </a:rPr>
              <a:t>				console.log("Some effect");</a:t>
            </a:r>
            <a:br>
              <a:rPr lang="en-US" sz="2400" b="1" i="0" dirty="0">
                <a:solidFill>
                  <a:srgbClr val="12110C"/>
                </a:solidFill>
                <a:effectLst/>
                <a:latin typeface="Consolas" panose="020B0609020204030204" pitchFamily="49" charset="0"/>
              </a:rPr>
            </a:br>
            <a:r>
              <a:rPr lang="en-US" sz="2400" b="1" i="0" dirty="0">
                <a:solidFill>
                  <a:srgbClr val="12110C"/>
                </a:solidFill>
                <a:effectLst/>
                <a:latin typeface="Consolas" panose="020B0609020204030204" pitchFamily="49" charset="0"/>
              </a:rPr>
              <a:t>			   }</a:t>
            </a:r>
            <a:br>
              <a:rPr lang="en-US" sz="2400" b="1" i="0" dirty="0">
                <a:solidFill>
                  <a:srgbClr val="12110C"/>
                </a:solidFill>
                <a:effectLst/>
                <a:latin typeface="Consolas" panose="020B0609020204030204" pitchFamily="49" charset="0"/>
              </a:rPr>
            </a:br>
            <a:r>
              <a:rPr lang="en-US" sz="2400" b="1" i="0" dirty="0">
                <a:solidFill>
                  <a:srgbClr val="12110C"/>
                </a:solidFill>
                <a:effectLst/>
                <a:latin typeface="Consolas" panose="020B0609020204030204" pitchFamily="49" charset="0"/>
              </a:rPr>
              <a:t>			}, [clicked]);</a:t>
            </a:r>
            <a:br>
              <a:rPr lang="en-US" sz="2400" b="1" i="0" dirty="0">
                <a:solidFill>
                  <a:srgbClr val="12110C"/>
                </a:solidFill>
                <a:effectLst/>
                <a:latin typeface="Consolas" panose="020B0609020204030204" pitchFamily="49" charset="0"/>
              </a:rPr>
            </a:br>
            <a:r>
              <a:rPr lang="en-US" sz="2400" b="1" i="0" dirty="0">
                <a:solidFill>
                  <a:srgbClr val="12110C"/>
                </a:solidFill>
                <a:effectLst/>
                <a:latin typeface="Consolas" panose="020B0609020204030204" pitchFamily="49" charset="0"/>
              </a:rPr>
              <a:t>		function </a:t>
            </a:r>
            <a:r>
              <a:rPr lang="en-US" sz="2400" b="1" i="0" dirty="0" err="1">
                <a:solidFill>
                  <a:srgbClr val="12110C"/>
                </a:solidFill>
                <a:effectLst/>
                <a:latin typeface="Consolas" panose="020B0609020204030204" pitchFamily="49" charset="0"/>
              </a:rPr>
              <a:t>handleClick</a:t>
            </a:r>
            <a:r>
              <a:rPr lang="en-US" sz="2400" b="1" i="0" dirty="0">
                <a:solidFill>
                  <a:srgbClr val="12110C"/>
                </a:solidFill>
                <a:effectLst/>
                <a:latin typeface="Consolas" panose="020B0609020204030204" pitchFamily="49" charset="0"/>
              </a:rPr>
              <a:t>() {</a:t>
            </a:r>
            <a:br>
              <a:rPr lang="en-US" sz="2400" b="1" i="0" dirty="0">
                <a:solidFill>
                  <a:srgbClr val="12110C"/>
                </a:solidFill>
                <a:effectLst/>
                <a:latin typeface="Consolas" panose="020B0609020204030204" pitchFamily="49" charset="0"/>
              </a:rPr>
            </a:br>
            <a:r>
              <a:rPr lang="en-US" sz="2400" b="1" i="0" dirty="0">
                <a:solidFill>
                  <a:srgbClr val="12110C"/>
                </a:solidFill>
                <a:effectLst/>
                <a:latin typeface="Consolas" panose="020B0609020204030204" pitchFamily="49" charset="0"/>
              </a:rPr>
              <a:t>			</a:t>
            </a:r>
            <a:r>
              <a:rPr lang="en-US" sz="2400" b="1" i="0" dirty="0" err="1">
                <a:solidFill>
                  <a:srgbClr val="12110C"/>
                </a:solidFill>
                <a:effectLst/>
                <a:latin typeface="Consolas" panose="020B0609020204030204" pitchFamily="49" charset="0"/>
              </a:rPr>
              <a:t>setClicked</a:t>
            </a:r>
            <a:r>
              <a:rPr lang="en-US" sz="2400" b="1" i="0" dirty="0">
                <a:solidFill>
                  <a:srgbClr val="12110C"/>
                </a:solidFill>
                <a:effectLst/>
                <a:latin typeface="Consolas" panose="020B0609020204030204" pitchFamily="49" charset="0"/>
              </a:rPr>
              <a:t>(true);</a:t>
            </a:r>
            <a:br>
              <a:rPr lang="en-US" sz="2400" b="1" i="0" dirty="0">
                <a:solidFill>
                  <a:srgbClr val="12110C"/>
                </a:solidFill>
                <a:effectLst/>
                <a:latin typeface="Consolas" panose="020B0609020204030204" pitchFamily="49" charset="0"/>
              </a:rPr>
            </a:br>
            <a:r>
              <a:rPr lang="en-US" sz="2400" b="1" i="0" dirty="0">
                <a:solidFill>
                  <a:srgbClr val="12110C"/>
                </a:solidFill>
                <a:effectLst/>
                <a:latin typeface="Consolas" panose="020B0609020204030204" pitchFamily="49" charset="0"/>
              </a:rPr>
              <a:t>		}</a:t>
            </a:r>
            <a:br>
              <a:rPr lang="en-US" sz="2400" b="1" i="0" dirty="0">
                <a:solidFill>
                  <a:srgbClr val="12110C"/>
                </a:solidFill>
                <a:effectLst/>
                <a:latin typeface="Consolas" panose="020B0609020204030204" pitchFamily="49" charset="0"/>
              </a:rPr>
            </a:br>
            <a:r>
              <a:rPr lang="en-US" sz="2400" b="1" i="0" dirty="0">
                <a:solidFill>
                  <a:srgbClr val="12110C"/>
                </a:solidFill>
                <a:effectLst/>
                <a:latin typeface="Consolas" panose="020B0609020204030204" pitchFamily="49" charset="0"/>
              </a:rPr>
              <a:t>	return &lt;button </a:t>
            </a:r>
            <a:r>
              <a:rPr lang="en-US" sz="2400" b="1" i="0" dirty="0" err="1">
                <a:solidFill>
                  <a:srgbClr val="12110C"/>
                </a:solidFill>
                <a:effectLst/>
                <a:latin typeface="Consolas" panose="020B0609020204030204" pitchFamily="49" charset="0"/>
              </a:rPr>
              <a:t>onClick</a:t>
            </a:r>
            <a:r>
              <a:rPr lang="en-US" sz="2400" b="1" i="0" dirty="0">
                <a:solidFill>
                  <a:srgbClr val="12110C"/>
                </a:solidFill>
                <a:effectLst/>
                <a:latin typeface="Consolas" panose="020B0609020204030204" pitchFamily="49" charset="0"/>
              </a:rPr>
              <a:t>={</a:t>
            </a:r>
            <a:r>
              <a:rPr lang="en-US" sz="2400" b="1" i="0" dirty="0" err="1">
                <a:solidFill>
                  <a:srgbClr val="12110C"/>
                </a:solidFill>
                <a:effectLst/>
                <a:latin typeface="Consolas" panose="020B0609020204030204" pitchFamily="49" charset="0"/>
              </a:rPr>
              <a:t>handleClick</a:t>
            </a:r>
            <a:r>
              <a:rPr lang="en-US" sz="2400" b="1" i="0" dirty="0">
                <a:solidFill>
                  <a:srgbClr val="12110C"/>
                </a:solidFill>
                <a:effectLst/>
                <a:latin typeface="Consolas" panose="020B0609020204030204" pitchFamily="49" charset="0"/>
              </a:rPr>
              <a:t>}&gt;Cause effect&lt;/button&gt;;</a:t>
            </a:r>
            <a:br>
              <a:rPr lang="en-US" sz="2400" b="1" i="0" dirty="0">
                <a:solidFill>
                  <a:srgbClr val="12110C"/>
                </a:solidFill>
                <a:effectLst/>
                <a:latin typeface="Consolas" panose="020B0609020204030204" pitchFamily="49" charset="0"/>
              </a:rPr>
            </a:br>
            <a:r>
              <a:rPr lang="en-US" sz="2400" b="1" i="0" dirty="0">
                <a:solidFill>
                  <a:srgbClr val="12110C"/>
                </a:solidFill>
                <a:effectLst/>
                <a:latin typeface="Consolas" panose="020B0609020204030204" pitchFamily="49" charset="0"/>
              </a:rPr>
              <a:t>}</a:t>
            </a:r>
            <a:r>
              <a:rPr lang="en-US" sz="2400" b="1" dirty="0">
                <a:latin typeface="Consolas" panose="020B0609020204030204" pitchFamily="49" charset="0"/>
              </a:rPr>
              <a:t> </a:t>
            </a:r>
          </a:p>
        </p:txBody>
      </p:sp>
    </p:spTree>
    <p:extLst>
      <p:ext uri="{BB962C8B-B14F-4D97-AF65-F5344CB8AC3E}">
        <p14:creationId xmlns:p14="http://schemas.microsoft.com/office/powerpoint/2010/main" val="17196650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B33CA-DE78-0868-671D-51866F59B76A}"/>
              </a:ext>
            </a:extLst>
          </p:cNvPr>
          <p:cNvSpPr>
            <a:spLocks noGrp="1"/>
          </p:cNvSpPr>
          <p:nvPr>
            <p:ph type="title"/>
          </p:nvPr>
        </p:nvSpPr>
        <p:spPr/>
        <p:txBody>
          <a:bodyPr/>
          <a:lstStyle/>
          <a:p>
            <a:r>
              <a:rPr lang="en-US" dirty="0"/>
              <a:t>The rules of Hooks</a:t>
            </a:r>
          </a:p>
        </p:txBody>
      </p:sp>
      <p:sp>
        <p:nvSpPr>
          <p:cNvPr id="3" name="Text Placeholder 2">
            <a:extLst>
              <a:ext uri="{FF2B5EF4-FFF2-40B4-BE49-F238E27FC236}">
                <a16:creationId xmlns:a16="http://schemas.microsoft.com/office/drawing/2014/main" id="{C1389D5A-F83B-1322-8642-6786ED9574DC}"/>
              </a:ext>
            </a:extLst>
          </p:cNvPr>
          <p:cNvSpPr>
            <a:spLocks noGrp="1"/>
          </p:cNvSpPr>
          <p:nvPr>
            <p:ph type="body" idx="1"/>
          </p:nvPr>
        </p:nvSpPr>
        <p:spPr/>
        <p:txBody>
          <a:bodyPr/>
          <a:lstStyle/>
          <a:p>
            <a:r>
              <a:rPr lang="en-US" dirty="0"/>
              <a:t> Example that violates the rules of Hooks:</a:t>
            </a:r>
          </a:p>
        </p:txBody>
      </p:sp>
      <p:sp>
        <p:nvSpPr>
          <p:cNvPr id="5" name="TextBox 4">
            <a:extLst>
              <a:ext uri="{FF2B5EF4-FFF2-40B4-BE49-F238E27FC236}">
                <a16:creationId xmlns:a16="http://schemas.microsoft.com/office/drawing/2014/main" id="{9E7012A6-47E1-BA85-05B3-1E860649FDAF}"/>
              </a:ext>
            </a:extLst>
          </p:cNvPr>
          <p:cNvSpPr txBox="1"/>
          <p:nvPr/>
        </p:nvSpPr>
        <p:spPr>
          <a:xfrm>
            <a:off x="1104899" y="2118479"/>
            <a:ext cx="9980681" cy="3416320"/>
          </a:xfrm>
          <a:prstGeom prst="rect">
            <a:avLst/>
          </a:prstGeom>
          <a:noFill/>
          <a:ln>
            <a:solidFill>
              <a:schemeClr val="accent1"/>
            </a:solidFill>
          </a:ln>
        </p:spPr>
        <p:txBody>
          <a:bodyPr wrap="square">
            <a:spAutoFit/>
          </a:bodyPr>
          <a:lstStyle/>
          <a:p>
            <a:r>
              <a:rPr lang="en-US" sz="2400" b="1" i="0" dirty="0">
                <a:solidFill>
                  <a:srgbClr val="12110C"/>
                </a:solidFill>
                <a:effectLst/>
                <a:latin typeface="Consolas" panose="020B0609020204030204" pitchFamily="49" charset="0"/>
              </a:rPr>
              <a:t>function </a:t>
            </a:r>
            <a:r>
              <a:rPr lang="en-US" sz="2400" b="1" i="0" dirty="0" err="1">
                <a:solidFill>
                  <a:srgbClr val="12110C"/>
                </a:solidFill>
                <a:effectLst/>
                <a:latin typeface="Consolas" panose="020B0609020204030204" pitchFamily="49" charset="0"/>
              </a:rPr>
              <a:t>YetAnotherComponent</a:t>
            </a:r>
            <a:r>
              <a:rPr lang="en-US" sz="2400" b="1" i="0" dirty="0">
                <a:solidFill>
                  <a:srgbClr val="12110C"/>
                </a:solidFill>
                <a:effectLst/>
                <a:latin typeface="Consolas" panose="020B0609020204030204" pitchFamily="49" charset="0"/>
              </a:rPr>
              <a:t>({ </a:t>
            </a:r>
            <a:r>
              <a:rPr lang="en-US" sz="2400" b="1" i="0" dirty="0" err="1">
                <a:solidFill>
                  <a:srgbClr val="12110C"/>
                </a:solidFill>
                <a:effectLst/>
                <a:latin typeface="Consolas" panose="020B0609020204030204" pitchFamily="49" charset="0"/>
              </a:rPr>
              <a:t>someProp</a:t>
            </a:r>
            <a:r>
              <a:rPr lang="en-US" sz="2400" b="1" i="0" dirty="0">
                <a:solidFill>
                  <a:srgbClr val="12110C"/>
                </a:solidFill>
                <a:effectLst/>
                <a:latin typeface="Consolas" panose="020B0609020204030204" pitchFamily="49" charset="0"/>
              </a:rPr>
              <a:t> }) {</a:t>
            </a:r>
            <a:br>
              <a:rPr lang="en-US" sz="2400" b="1" i="0" dirty="0">
                <a:solidFill>
                  <a:srgbClr val="12110C"/>
                </a:solidFill>
                <a:effectLst/>
                <a:latin typeface="Consolas" panose="020B0609020204030204" pitchFamily="49" charset="0"/>
              </a:rPr>
            </a:br>
            <a:r>
              <a:rPr lang="en-US" sz="2400" b="1" i="0" dirty="0">
                <a:solidFill>
                  <a:srgbClr val="12110C"/>
                </a:solidFill>
                <a:effectLst/>
                <a:latin typeface="Consolas" panose="020B0609020204030204" pitchFamily="49" charset="0"/>
              </a:rPr>
              <a:t>	if (!</a:t>
            </a:r>
            <a:r>
              <a:rPr lang="en-US" sz="2400" b="1" i="0" dirty="0" err="1">
                <a:solidFill>
                  <a:srgbClr val="12110C"/>
                </a:solidFill>
                <a:effectLst/>
                <a:latin typeface="Consolas" panose="020B0609020204030204" pitchFamily="49" charset="0"/>
              </a:rPr>
              <a:t>someProp</a:t>
            </a:r>
            <a:r>
              <a:rPr lang="en-US" sz="2400" b="1" i="0" dirty="0">
                <a:solidFill>
                  <a:srgbClr val="12110C"/>
                </a:solidFill>
                <a:effectLst/>
                <a:latin typeface="Consolas" panose="020B0609020204030204" pitchFamily="49" charset="0"/>
              </a:rPr>
              <a:t>) {</a:t>
            </a:r>
            <a:br>
              <a:rPr lang="en-US" sz="2400" b="1" i="0" dirty="0">
                <a:solidFill>
                  <a:srgbClr val="12110C"/>
                </a:solidFill>
                <a:effectLst/>
                <a:latin typeface="Consolas" panose="020B0609020204030204" pitchFamily="49" charset="0"/>
              </a:rPr>
            </a:br>
            <a:r>
              <a:rPr lang="en-US" sz="2400" b="1" i="0" dirty="0">
                <a:solidFill>
                  <a:srgbClr val="12110C"/>
                </a:solidFill>
                <a:effectLst/>
                <a:latin typeface="Consolas" panose="020B0609020204030204" pitchFamily="49" charset="0"/>
              </a:rPr>
              <a:t>		return null;</a:t>
            </a:r>
            <a:br>
              <a:rPr lang="en-US" sz="2400" b="1" i="0" dirty="0">
                <a:solidFill>
                  <a:srgbClr val="12110C"/>
                </a:solidFill>
                <a:effectLst/>
                <a:latin typeface="Consolas" panose="020B0609020204030204" pitchFamily="49" charset="0"/>
              </a:rPr>
            </a:br>
            <a:r>
              <a:rPr lang="en-US" sz="2400" b="1" i="0" dirty="0">
                <a:solidFill>
                  <a:srgbClr val="12110C"/>
                </a:solidFill>
                <a:effectLst/>
                <a:latin typeface="Consolas" panose="020B0609020204030204" pitchFamily="49" charset="0"/>
              </a:rPr>
              <a:t>	}</a:t>
            </a:r>
            <a:br>
              <a:rPr lang="en-US" sz="2400" b="1" i="0" dirty="0">
                <a:solidFill>
                  <a:srgbClr val="12110C"/>
                </a:solidFill>
                <a:effectLst/>
                <a:latin typeface="Consolas" panose="020B0609020204030204" pitchFamily="49" charset="0"/>
              </a:rPr>
            </a:br>
            <a:r>
              <a:rPr lang="en-US" sz="2400" b="1" i="0" dirty="0">
                <a:solidFill>
                  <a:srgbClr val="12110C"/>
                </a:solidFill>
                <a:effectLst/>
                <a:latin typeface="Consolas" panose="020B0609020204030204" pitchFamily="49" charset="0"/>
              </a:rPr>
              <a:t>	</a:t>
            </a:r>
            <a:r>
              <a:rPr lang="en-US" sz="2400" b="1" i="0" dirty="0" err="1">
                <a:solidFill>
                  <a:srgbClr val="12110C"/>
                </a:solidFill>
                <a:effectLst/>
                <a:latin typeface="Consolas" panose="020B0609020204030204" pitchFamily="49" charset="0"/>
              </a:rPr>
              <a:t>useEffect</a:t>
            </a:r>
            <a:r>
              <a:rPr lang="en-US" sz="2400" b="1" i="0" dirty="0">
                <a:solidFill>
                  <a:srgbClr val="12110C"/>
                </a:solidFill>
                <a:effectLst/>
                <a:latin typeface="Consolas" panose="020B0609020204030204" pitchFamily="49" charset="0"/>
              </a:rPr>
              <a:t>(() =&gt; {</a:t>
            </a:r>
            <a:br>
              <a:rPr lang="en-US" sz="2400" b="1" i="0" dirty="0">
                <a:solidFill>
                  <a:srgbClr val="12110C"/>
                </a:solidFill>
                <a:effectLst/>
                <a:latin typeface="Consolas" panose="020B0609020204030204" pitchFamily="49" charset="0"/>
              </a:rPr>
            </a:br>
            <a:r>
              <a:rPr lang="en-US" sz="2400" b="1" i="0" dirty="0">
                <a:solidFill>
                  <a:srgbClr val="12110C"/>
                </a:solidFill>
                <a:effectLst/>
                <a:latin typeface="Consolas" panose="020B0609020204030204" pitchFamily="49" charset="0"/>
              </a:rPr>
              <a:t>		console.log("Some effect");</a:t>
            </a:r>
            <a:br>
              <a:rPr lang="en-US" sz="2400" b="1" i="0" dirty="0">
                <a:solidFill>
                  <a:srgbClr val="12110C"/>
                </a:solidFill>
                <a:effectLst/>
                <a:latin typeface="Consolas" panose="020B0609020204030204" pitchFamily="49" charset="0"/>
              </a:rPr>
            </a:br>
            <a:r>
              <a:rPr lang="en-US" sz="2400" b="1" i="0" dirty="0">
                <a:solidFill>
                  <a:srgbClr val="12110C"/>
                </a:solidFill>
                <a:effectLst/>
                <a:latin typeface="Consolas" panose="020B0609020204030204" pitchFamily="49" charset="0"/>
              </a:rPr>
              <a:t>	});</a:t>
            </a:r>
            <a:br>
              <a:rPr lang="en-US" sz="2400" b="1" i="0" dirty="0">
                <a:solidFill>
                  <a:srgbClr val="12110C"/>
                </a:solidFill>
                <a:effectLst/>
                <a:latin typeface="Consolas" panose="020B0609020204030204" pitchFamily="49" charset="0"/>
              </a:rPr>
            </a:br>
            <a:r>
              <a:rPr lang="en-US" sz="2400" b="1" i="0" dirty="0">
                <a:solidFill>
                  <a:srgbClr val="12110C"/>
                </a:solidFill>
                <a:effectLst/>
                <a:latin typeface="Consolas" panose="020B0609020204030204" pitchFamily="49" charset="0"/>
              </a:rPr>
              <a:t>	return ...</a:t>
            </a:r>
            <a:br>
              <a:rPr lang="en-US" sz="2400" b="1" i="0" dirty="0">
                <a:solidFill>
                  <a:srgbClr val="12110C"/>
                </a:solidFill>
                <a:effectLst/>
                <a:latin typeface="Consolas" panose="020B0609020204030204" pitchFamily="49" charset="0"/>
              </a:rPr>
            </a:br>
            <a:r>
              <a:rPr lang="en-US" sz="2400" b="1" i="0" dirty="0">
                <a:solidFill>
                  <a:srgbClr val="12110C"/>
                </a:solidFill>
                <a:effectLst/>
                <a:latin typeface="Consolas" panose="020B0609020204030204" pitchFamily="49" charset="0"/>
              </a:rPr>
              <a:t>}</a:t>
            </a:r>
            <a:r>
              <a:rPr lang="en-US" sz="2400" b="1" dirty="0">
                <a:latin typeface="Consolas" panose="020B0609020204030204" pitchFamily="49" charset="0"/>
              </a:rPr>
              <a:t> </a:t>
            </a:r>
          </a:p>
        </p:txBody>
      </p:sp>
    </p:spTree>
    <p:extLst>
      <p:ext uri="{BB962C8B-B14F-4D97-AF65-F5344CB8AC3E}">
        <p14:creationId xmlns:p14="http://schemas.microsoft.com/office/powerpoint/2010/main" val="34122429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2466E-B5CA-A387-F24A-1D28D0035799}"/>
              </a:ext>
            </a:extLst>
          </p:cNvPr>
          <p:cNvSpPr>
            <a:spLocks noGrp="1"/>
          </p:cNvSpPr>
          <p:nvPr>
            <p:ph type="title"/>
          </p:nvPr>
        </p:nvSpPr>
        <p:spPr/>
        <p:txBody>
          <a:bodyPr/>
          <a:lstStyle/>
          <a:p>
            <a:r>
              <a:rPr lang="en-US" dirty="0"/>
              <a:t>Effect cleanup</a:t>
            </a:r>
          </a:p>
        </p:txBody>
      </p:sp>
      <p:sp>
        <p:nvSpPr>
          <p:cNvPr id="3" name="Text Placeholder 2">
            <a:extLst>
              <a:ext uri="{FF2B5EF4-FFF2-40B4-BE49-F238E27FC236}">
                <a16:creationId xmlns:a16="http://schemas.microsoft.com/office/drawing/2014/main" id="{A8FDB183-AD25-BB7A-03BE-7112C175A875}"/>
              </a:ext>
            </a:extLst>
          </p:cNvPr>
          <p:cNvSpPr>
            <a:spLocks noGrp="1"/>
          </p:cNvSpPr>
          <p:nvPr>
            <p:ph type="body" idx="1"/>
          </p:nvPr>
        </p:nvSpPr>
        <p:spPr>
          <a:xfrm>
            <a:off x="1104900" y="1600200"/>
            <a:ext cx="9980682" cy="4572000"/>
          </a:xfrm>
        </p:spPr>
        <p:txBody>
          <a:bodyPr/>
          <a:lstStyle/>
          <a:p>
            <a:r>
              <a:rPr lang="en-US" b="1" dirty="0">
                <a:solidFill>
                  <a:srgbClr val="C00000"/>
                </a:solidFill>
              </a:rPr>
              <a:t>Cleanup logic </a:t>
            </a:r>
            <a:r>
              <a:rPr lang="en-US" dirty="0"/>
              <a:t>ensures nothing is left that could cause a memory leak. An effect can return a function that performs cleanup logic when the component is unmounted.</a:t>
            </a:r>
          </a:p>
          <a:p>
            <a:r>
              <a:rPr lang="en-US" dirty="0"/>
              <a:t>Example </a:t>
            </a:r>
          </a:p>
        </p:txBody>
      </p:sp>
      <p:sp>
        <p:nvSpPr>
          <p:cNvPr id="5" name="TextBox 4">
            <a:extLst>
              <a:ext uri="{FF2B5EF4-FFF2-40B4-BE49-F238E27FC236}">
                <a16:creationId xmlns:a16="http://schemas.microsoft.com/office/drawing/2014/main" id="{3EDB3952-5238-DBB8-ECF1-E6286D264CAC}"/>
              </a:ext>
            </a:extLst>
          </p:cNvPr>
          <p:cNvSpPr txBox="1"/>
          <p:nvPr/>
        </p:nvSpPr>
        <p:spPr>
          <a:xfrm>
            <a:off x="2912533" y="3182918"/>
            <a:ext cx="8991599" cy="3416320"/>
          </a:xfrm>
          <a:prstGeom prst="rect">
            <a:avLst/>
          </a:prstGeom>
          <a:noFill/>
          <a:ln>
            <a:solidFill>
              <a:schemeClr val="accent1"/>
            </a:solidFill>
          </a:ln>
        </p:spPr>
        <p:txBody>
          <a:bodyPr wrap="square">
            <a:spAutoFit/>
          </a:bodyPr>
          <a:lstStyle/>
          <a:p>
            <a:r>
              <a:rPr lang="en-US" sz="2400" b="0" i="0" dirty="0">
                <a:solidFill>
                  <a:srgbClr val="12110C"/>
                </a:solidFill>
                <a:effectLst/>
                <a:latin typeface="Consolas" panose="020B0609020204030204" pitchFamily="49" charset="0"/>
              </a:rPr>
              <a:t>function </a:t>
            </a:r>
            <a:r>
              <a:rPr lang="en-US" sz="2400" b="0" i="0" dirty="0" err="1">
                <a:solidFill>
                  <a:srgbClr val="12110C"/>
                </a:solidFill>
                <a:effectLst/>
                <a:latin typeface="Consolas" panose="020B0609020204030204" pitchFamily="49" charset="0"/>
              </a:rPr>
              <a:t>ExampleComponent</a:t>
            </a:r>
            <a:r>
              <a:rPr lang="en-US" sz="2400" b="0" i="0" dirty="0">
                <a:solidFill>
                  <a:srgbClr val="12110C"/>
                </a:solidFill>
                <a:effectLst/>
                <a:latin typeface="Consolas" panose="020B0609020204030204" pitchFamily="49" charset="0"/>
              </a:rPr>
              <a:t>({</a:t>
            </a:r>
            <a:r>
              <a:rPr lang="en-US" sz="2400" b="0" i="0" dirty="0" err="1">
                <a:solidFill>
                  <a:srgbClr val="12110C"/>
                </a:solidFill>
                <a:effectLst/>
                <a:latin typeface="Consolas" panose="020B0609020204030204" pitchFamily="49" charset="0"/>
              </a:rPr>
              <a:t>onClickAnywhere</a:t>
            </a:r>
            <a:r>
              <a:rPr lang="en-US" sz="2400" b="0" i="0" dirty="0">
                <a:solidFill>
                  <a:srgbClr val="12110C"/>
                </a:solidFill>
                <a:effectLst/>
                <a:latin typeface="Consolas" panose="020B0609020204030204" pitchFamily="49" charset="0"/>
              </a:rPr>
              <a:t>}) {</a:t>
            </a:r>
            <a:br>
              <a:rPr lang="en-US" sz="2400" b="0" i="0" dirty="0">
                <a:solidFill>
                  <a:srgbClr val="12110C"/>
                </a:solidFill>
                <a:effectLst/>
                <a:latin typeface="Consolas" panose="020B0609020204030204" pitchFamily="49" charset="0"/>
              </a:rPr>
            </a:br>
            <a:r>
              <a:rPr lang="en-US" sz="2400" b="0" i="0" dirty="0">
                <a:solidFill>
                  <a:srgbClr val="12110C"/>
                </a:solidFill>
                <a:effectLst/>
                <a:latin typeface="Consolas" panose="020B0609020204030204" pitchFamily="49" charset="0"/>
              </a:rPr>
              <a:t>    </a:t>
            </a:r>
            <a:r>
              <a:rPr lang="en-US" sz="2400" b="1" i="0" dirty="0" err="1">
                <a:solidFill>
                  <a:srgbClr val="C00000"/>
                </a:solidFill>
                <a:effectLst/>
                <a:latin typeface="Consolas" panose="020B0609020204030204" pitchFamily="49" charset="0"/>
              </a:rPr>
              <a:t>useEffect</a:t>
            </a:r>
            <a:r>
              <a:rPr lang="en-US" sz="2400" b="0" i="0" dirty="0">
                <a:solidFill>
                  <a:srgbClr val="12110C"/>
                </a:solidFill>
                <a:effectLst/>
                <a:latin typeface="Consolas" panose="020B0609020204030204" pitchFamily="49" charset="0"/>
              </a:rPr>
              <a:t>(() =&gt; {</a:t>
            </a:r>
            <a:br>
              <a:rPr lang="en-US" sz="2400" b="0" i="0" dirty="0">
                <a:solidFill>
                  <a:srgbClr val="12110C"/>
                </a:solidFill>
                <a:effectLst/>
                <a:latin typeface="Consolas" panose="020B0609020204030204" pitchFamily="49" charset="0"/>
              </a:rPr>
            </a:br>
            <a:r>
              <a:rPr lang="en-US" sz="2400" b="0" i="0" dirty="0">
                <a:solidFill>
                  <a:srgbClr val="12110C"/>
                </a:solidFill>
                <a:effectLst/>
                <a:latin typeface="Consolas" panose="020B0609020204030204" pitchFamily="49" charset="0"/>
              </a:rPr>
              <a:t>    function </a:t>
            </a:r>
            <a:r>
              <a:rPr lang="en-US" sz="2400" b="0" i="0" dirty="0" err="1">
                <a:solidFill>
                  <a:srgbClr val="12110C"/>
                </a:solidFill>
                <a:effectLst/>
                <a:latin typeface="Consolas" panose="020B0609020204030204" pitchFamily="49" charset="0"/>
              </a:rPr>
              <a:t>handleClick</a:t>
            </a:r>
            <a:r>
              <a:rPr lang="en-US" sz="2400" b="0" i="0" dirty="0">
                <a:solidFill>
                  <a:srgbClr val="12110C"/>
                </a:solidFill>
                <a:effectLst/>
                <a:latin typeface="Consolas" panose="020B0609020204030204" pitchFamily="49" charset="0"/>
              </a:rPr>
              <a:t>() {</a:t>
            </a:r>
            <a:br>
              <a:rPr lang="en-US" sz="2400" b="0" i="0" dirty="0">
                <a:solidFill>
                  <a:srgbClr val="12110C"/>
                </a:solidFill>
                <a:effectLst/>
                <a:latin typeface="Consolas" panose="020B0609020204030204" pitchFamily="49" charset="0"/>
              </a:rPr>
            </a:br>
            <a:r>
              <a:rPr lang="en-US" sz="2400" b="0" i="0" dirty="0">
                <a:solidFill>
                  <a:srgbClr val="12110C"/>
                </a:solidFill>
                <a:effectLst/>
                <a:latin typeface="Consolas" panose="020B0609020204030204" pitchFamily="49" charset="0"/>
              </a:rPr>
              <a:t>      </a:t>
            </a:r>
            <a:r>
              <a:rPr lang="en-US" sz="2400" b="0" i="0" dirty="0" err="1">
                <a:solidFill>
                  <a:srgbClr val="12110C"/>
                </a:solidFill>
                <a:effectLst/>
                <a:latin typeface="Consolas" panose="020B0609020204030204" pitchFamily="49" charset="0"/>
              </a:rPr>
              <a:t>onClickAnywhere</a:t>
            </a:r>
            <a:r>
              <a:rPr lang="en-US" sz="2400" b="0" i="0" dirty="0">
                <a:solidFill>
                  <a:srgbClr val="12110C"/>
                </a:solidFill>
                <a:effectLst/>
                <a:latin typeface="Consolas" panose="020B0609020204030204" pitchFamily="49" charset="0"/>
              </a:rPr>
              <a:t>();</a:t>
            </a:r>
            <a:br>
              <a:rPr lang="en-US" sz="2400" b="0" i="0" dirty="0">
                <a:solidFill>
                  <a:srgbClr val="12110C"/>
                </a:solidFill>
                <a:effectLst/>
                <a:latin typeface="Consolas" panose="020B0609020204030204" pitchFamily="49" charset="0"/>
              </a:rPr>
            </a:br>
            <a:r>
              <a:rPr lang="en-US" sz="2400" b="0" i="0" dirty="0">
                <a:solidFill>
                  <a:srgbClr val="12110C"/>
                </a:solidFill>
                <a:effectLst/>
                <a:latin typeface="Consolas" panose="020B0609020204030204" pitchFamily="49" charset="0"/>
              </a:rPr>
              <a:t>    }</a:t>
            </a:r>
            <a:br>
              <a:rPr lang="en-US" sz="2400" b="0" i="0" dirty="0">
                <a:solidFill>
                  <a:srgbClr val="12110C"/>
                </a:solidFill>
                <a:effectLst/>
                <a:latin typeface="Consolas" panose="020B0609020204030204" pitchFamily="49" charset="0"/>
              </a:rPr>
            </a:br>
            <a:r>
              <a:rPr lang="en-US" sz="2400" b="0" i="0" dirty="0">
                <a:solidFill>
                  <a:srgbClr val="12110C"/>
                </a:solidFill>
                <a:effectLst/>
                <a:latin typeface="Consolas" panose="020B0609020204030204" pitchFamily="49" charset="0"/>
              </a:rPr>
              <a:t>    </a:t>
            </a:r>
            <a:r>
              <a:rPr lang="en-US" sz="2400" b="0" i="0" dirty="0" err="1">
                <a:solidFill>
                  <a:srgbClr val="12110C"/>
                </a:solidFill>
                <a:effectLst/>
                <a:latin typeface="Consolas" panose="020B0609020204030204" pitchFamily="49" charset="0"/>
              </a:rPr>
              <a:t>document.addEventListener</a:t>
            </a:r>
            <a:r>
              <a:rPr lang="en-US" sz="2400" b="0" i="0" dirty="0">
                <a:solidFill>
                  <a:srgbClr val="12110C"/>
                </a:solidFill>
                <a:effectLst/>
                <a:latin typeface="Consolas" panose="020B0609020204030204" pitchFamily="49" charset="0"/>
              </a:rPr>
              <a:t>("click", </a:t>
            </a:r>
            <a:r>
              <a:rPr lang="en-US" sz="2400" b="0" i="0" dirty="0" err="1">
                <a:solidFill>
                  <a:srgbClr val="12110C"/>
                </a:solidFill>
                <a:effectLst/>
                <a:latin typeface="Consolas" panose="020B0609020204030204" pitchFamily="49" charset="0"/>
              </a:rPr>
              <a:t>handleClick</a:t>
            </a:r>
            <a:r>
              <a:rPr lang="en-US" sz="2400" b="0" i="0" dirty="0">
                <a:solidFill>
                  <a:srgbClr val="12110C"/>
                </a:solidFill>
                <a:effectLst/>
                <a:latin typeface="Consolas" panose="020B0609020204030204" pitchFamily="49" charset="0"/>
              </a:rPr>
              <a:t>);</a:t>
            </a:r>
            <a:br>
              <a:rPr lang="en-US" sz="2400" b="0" i="0" dirty="0">
                <a:solidFill>
                  <a:srgbClr val="12110C"/>
                </a:solidFill>
                <a:effectLst/>
                <a:latin typeface="Consolas" panose="020B0609020204030204" pitchFamily="49" charset="0"/>
              </a:rPr>
            </a:br>
            <a:r>
              <a:rPr lang="en-US" sz="2400" b="0" i="0" dirty="0">
                <a:solidFill>
                  <a:srgbClr val="12110C"/>
                </a:solidFill>
                <a:effectLst/>
                <a:latin typeface="Consolas" panose="020B0609020204030204" pitchFamily="49" charset="0"/>
              </a:rPr>
              <a:t>  });</a:t>
            </a:r>
            <a:br>
              <a:rPr lang="en-US" sz="2400" b="0" i="0" dirty="0">
                <a:solidFill>
                  <a:srgbClr val="12110C"/>
                </a:solidFill>
                <a:effectLst/>
                <a:latin typeface="Consolas" panose="020B0609020204030204" pitchFamily="49" charset="0"/>
              </a:rPr>
            </a:br>
            <a:r>
              <a:rPr lang="en-US" sz="2400" b="0" i="0" dirty="0">
                <a:solidFill>
                  <a:srgbClr val="12110C"/>
                </a:solidFill>
                <a:effectLst/>
                <a:latin typeface="Consolas" panose="020B0609020204030204" pitchFamily="49" charset="0"/>
              </a:rPr>
              <a:t>  return ...</a:t>
            </a:r>
            <a:br>
              <a:rPr lang="en-US" sz="2400" b="0" i="0" dirty="0">
                <a:solidFill>
                  <a:srgbClr val="12110C"/>
                </a:solidFill>
                <a:effectLst/>
                <a:latin typeface="Consolas" panose="020B0609020204030204" pitchFamily="49" charset="0"/>
              </a:rPr>
            </a:br>
            <a:r>
              <a:rPr lang="en-US" sz="2400" b="0" i="0" dirty="0">
                <a:solidFill>
                  <a:srgbClr val="12110C"/>
                </a:solidFill>
                <a:effectLst/>
                <a:latin typeface="Consolas" panose="020B0609020204030204" pitchFamily="49" charset="0"/>
              </a:rPr>
              <a:t>}</a:t>
            </a:r>
            <a:r>
              <a:rPr lang="en-US" sz="2400" dirty="0">
                <a:latin typeface="Consolas" panose="020B0609020204030204" pitchFamily="49" charset="0"/>
              </a:rPr>
              <a:t>  </a:t>
            </a:r>
          </a:p>
        </p:txBody>
      </p:sp>
    </p:spTree>
    <p:extLst>
      <p:ext uri="{BB962C8B-B14F-4D97-AF65-F5344CB8AC3E}">
        <p14:creationId xmlns:p14="http://schemas.microsoft.com/office/powerpoint/2010/main" val="27768303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A03E5-A269-EF2A-C0B1-B4B49FD01E7B}"/>
              </a:ext>
            </a:extLst>
          </p:cNvPr>
          <p:cNvSpPr>
            <a:spLocks noGrp="1"/>
          </p:cNvSpPr>
          <p:nvPr>
            <p:ph type="title"/>
          </p:nvPr>
        </p:nvSpPr>
        <p:spPr/>
        <p:txBody>
          <a:bodyPr/>
          <a:lstStyle/>
          <a:p>
            <a:r>
              <a:rPr lang="en-US" dirty="0"/>
              <a:t>Effect cleanup</a:t>
            </a:r>
          </a:p>
        </p:txBody>
      </p:sp>
      <p:sp>
        <p:nvSpPr>
          <p:cNvPr id="3" name="Text Placeholder 2">
            <a:extLst>
              <a:ext uri="{FF2B5EF4-FFF2-40B4-BE49-F238E27FC236}">
                <a16:creationId xmlns:a16="http://schemas.microsoft.com/office/drawing/2014/main" id="{1CBB6DC2-E2ED-7F5D-64FB-BD353C95A4F0}"/>
              </a:ext>
            </a:extLst>
          </p:cNvPr>
          <p:cNvSpPr>
            <a:spLocks noGrp="1"/>
          </p:cNvSpPr>
          <p:nvPr>
            <p:ph type="body" idx="1"/>
          </p:nvPr>
        </p:nvSpPr>
        <p:spPr/>
        <p:txBody>
          <a:bodyPr/>
          <a:lstStyle/>
          <a:p>
            <a:r>
              <a:rPr lang="en-US" dirty="0"/>
              <a:t>The preceding effect function attaches an event handler to the document element. </a:t>
            </a:r>
          </a:p>
          <a:p>
            <a:r>
              <a:rPr lang="en-US" dirty="0"/>
              <a:t>The event handler is never </a:t>
            </a:r>
            <a:r>
              <a:rPr lang="en-US" dirty="0" err="1"/>
              <a:t>detatched</a:t>
            </a:r>
            <a:r>
              <a:rPr lang="en-US" dirty="0"/>
              <a:t> though, so multiple event handlers will become attached to the document element as the effect is rerun. </a:t>
            </a:r>
          </a:p>
        </p:txBody>
      </p:sp>
    </p:spTree>
    <p:extLst>
      <p:ext uri="{BB962C8B-B14F-4D97-AF65-F5344CB8AC3E}">
        <p14:creationId xmlns:p14="http://schemas.microsoft.com/office/powerpoint/2010/main" val="41110847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602F2-506B-F4CC-762B-C5A28DF8119D}"/>
              </a:ext>
            </a:extLst>
          </p:cNvPr>
          <p:cNvSpPr>
            <a:spLocks noGrp="1"/>
          </p:cNvSpPr>
          <p:nvPr>
            <p:ph type="title"/>
          </p:nvPr>
        </p:nvSpPr>
        <p:spPr/>
        <p:txBody>
          <a:bodyPr/>
          <a:lstStyle/>
          <a:p>
            <a:r>
              <a:rPr lang="en-US" dirty="0"/>
              <a:t>Effect cleanup</a:t>
            </a:r>
          </a:p>
        </p:txBody>
      </p:sp>
      <p:sp>
        <p:nvSpPr>
          <p:cNvPr id="3" name="Text Placeholder 2">
            <a:extLst>
              <a:ext uri="{FF2B5EF4-FFF2-40B4-BE49-F238E27FC236}">
                <a16:creationId xmlns:a16="http://schemas.microsoft.com/office/drawing/2014/main" id="{5C888B9E-5C88-848C-BB3B-A1E533ABC38B}"/>
              </a:ext>
            </a:extLst>
          </p:cNvPr>
          <p:cNvSpPr>
            <a:spLocks noGrp="1"/>
          </p:cNvSpPr>
          <p:nvPr>
            <p:ph type="body" idx="1"/>
          </p:nvPr>
        </p:nvSpPr>
        <p:spPr/>
        <p:txBody>
          <a:bodyPr/>
          <a:lstStyle/>
          <a:p>
            <a:r>
              <a:rPr lang="en-US" dirty="0"/>
              <a:t>This problem is resolved by returning a cleanup function that detaches the event handler as follows</a:t>
            </a:r>
          </a:p>
          <a:p>
            <a:endParaRPr lang="en-US" dirty="0"/>
          </a:p>
        </p:txBody>
      </p:sp>
      <p:sp>
        <p:nvSpPr>
          <p:cNvPr id="5" name="TextBox 4">
            <a:extLst>
              <a:ext uri="{FF2B5EF4-FFF2-40B4-BE49-F238E27FC236}">
                <a16:creationId xmlns:a16="http://schemas.microsoft.com/office/drawing/2014/main" id="{BEC1345E-FEDF-506A-9E3E-9C9D6FBE3E80}"/>
              </a:ext>
            </a:extLst>
          </p:cNvPr>
          <p:cNvSpPr txBox="1"/>
          <p:nvPr/>
        </p:nvSpPr>
        <p:spPr>
          <a:xfrm>
            <a:off x="1104900" y="2623110"/>
            <a:ext cx="9980682" cy="4154984"/>
          </a:xfrm>
          <a:prstGeom prst="rect">
            <a:avLst/>
          </a:prstGeom>
          <a:noFill/>
        </p:spPr>
        <p:txBody>
          <a:bodyPr wrap="square">
            <a:spAutoFit/>
          </a:bodyPr>
          <a:lstStyle/>
          <a:p>
            <a:r>
              <a:rPr lang="en-US" sz="2400" b="1" i="0" dirty="0">
                <a:solidFill>
                  <a:srgbClr val="12110C"/>
                </a:solidFill>
                <a:effectLst/>
                <a:latin typeface="CourierStd"/>
              </a:rPr>
              <a:t>function </a:t>
            </a:r>
            <a:r>
              <a:rPr lang="en-US" sz="2400" b="1" i="0" dirty="0" err="1">
                <a:solidFill>
                  <a:srgbClr val="12110C"/>
                </a:solidFill>
                <a:effectLst/>
                <a:latin typeface="CourierStd"/>
              </a:rPr>
              <a:t>ExampleComponent</a:t>
            </a:r>
            <a:r>
              <a:rPr lang="en-US" sz="2400" b="1" i="0" dirty="0">
                <a:solidFill>
                  <a:srgbClr val="12110C"/>
                </a:solidFill>
                <a:effectLst/>
                <a:latin typeface="CourierStd"/>
              </a:rPr>
              <a:t>({ </a:t>
            </a:r>
            <a:r>
              <a:rPr lang="en-US" sz="2400" b="1" i="0" dirty="0" err="1">
                <a:solidFill>
                  <a:srgbClr val="12110C"/>
                </a:solidFill>
                <a:effectLst/>
                <a:latin typeface="CourierStd"/>
              </a:rPr>
              <a:t>onClickAnywhere</a:t>
            </a:r>
            <a:r>
              <a:rPr lang="en-US" sz="2400" b="1" i="0" dirty="0">
                <a:solidFill>
                  <a:srgbClr val="12110C"/>
                </a:solidFill>
                <a:effectLst/>
                <a:latin typeface="CourierStd"/>
              </a:rPr>
              <a:t> }) {</a:t>
            </a:r>
            <a:br>
              <a:rPr lang="en-US" sz="2400" b="1" i="0" dirty="0">
                <a:solidFill>
                  <a:srgbClr val="12110C"/>
                </a:solidFill>
                <a:effectLst/>
                <a:latin typeface="CourierStd"/>
              </a:rPr>
            </a:br>
            <a:r>
              <a:rPr lang="en-US" sz="2400" b="1" i="0" dirty="0">
                <a:solidFill>
                  <a:srgbClr val="12110C"/>
                </a:solidFill>
                <a:effectLst/>
                <a:latin typeface="CourierStd"/>
              </a:rPr>
              <a:t>   </a:t>
            </a:r>
            <a:r>
              <a:rPr lang="en-US" sz="2400" b="1" i="0" dirty="0" err="1">
                <a:solidFill>
                  <a:srgbClr val="12110C"/>
                </a:solidFill>
                <a:effectLst/>
                <a:latin typeface="CourierStd"/>
              </a:rPr>
              <a:t>useEffect</a:t>
            </a:r>
            <a:r>
              <a:rPr lang="en-US" sz="2400" b="1" i="0" dirty="0">
                <a:solidFill>
                  <a:srgbClr val="12110C"/>
                </a:solidFill>
                <a:effectLst/>
                <a:latin typeface="CourierStd"/>
              </a:rPr>
              <a:t>(() =&gt; {</a:t>
            </a:r>
            <a:br>
              <a:rPr lang="en-US" sz="2400" b="1" i="0" dirty="0">
                <a:solidFill>
                  <a:srgbClr val="12110C"/>
                </a:solidFill>
                <a:effectLst/>
                <a:latin typeface="CourierStd"/>
              </a:rPr>
            </a:br>
            <a:r>
              <a:rPr lang="en-US" sz="2400" b="1" i="0" dirty="0">
                <a:solidFill>
                  <a:srgbClr val="12110C"/>
                </a:solidFill>
                <a:effectLst/>
                <a:latin typeface="CourierStd"/>
              </a:rPr>
              <a:t>   function </a:t>
            </a:r>
            <a:r>
              <a:rPr lang="en-US" sz="2400" b="1" i="0" dirty="0" err="1">
                <a:solidFill>
                  <a:srgbClr val="12110C"/>
                </a:solidFill>
                <a:effectLst/>
                <a:latin typeface="CourierStd"/>
              </a:rPr>
              <a:t>handleClick</a:t>
            </a:r>
            <a:r>
              <a:rPr lang="en-US" sz="2400" b="1" i="0" dirty="0">
                <a:solidFill>
                  <a:srgbClr val="12110C"/>
                </a:solidFill>
                <a:effectLst/>
                <a:latin typeface="CourierStd"/>
              </a:rPr>
              <a:t>() {</a:t>
            </a:r>
            <a:br>
              <a:rPr lang="en-US" sz="2400" b="1" i="0" dirty="0">
                <a:solidFill>
                  <a:srgbClr val="12110C"/>
                </a:solidFill>
                <a:effectLst/>
                <a:latin typeface="CourierStd"/>
              </a:rPr>
            </a:br>
            <a:r>
              <a:rPr lang="en-US" sz="2400" b="1" i="0" dirty="0">
                <a:solidFill>
                  <a:srgbClr val="12110C"/>
                </a:solidFill>
                <a:effectLst/>
                <a:latin typeface="CourierStd"/>
              </a:rPr>
              <a:t>       </a:t>
            </a:r>
            <a:r>
              <a:rPr lang="en-US" sz="2400" b="1" i="0" dirty="0" err="1">
                <a:solidFill>
                  <a:srgbClr val="12110C"/>
                </a:solidFill>
                <a:effectLst/>
                <a:latin typeface="CourierStd"/>
              </a:rPr>
              <a:t>onClickAnywhere</a:t>
            </a:r>
            <a:r>
              <a:rPr lang="en-US" sz="2400" b="1" i="0" dirty="0">
                <a:solidFill>
                  <a:srgbClr val="12110C"/>
                </a:solidFill>
                <a:effectLst/>
                <a:latin typeface="CourierStd"/>
              </a:rPr>
              <a:t>();</a:t>
            </a:r>
            <a:br>
              <a:rPr lang="en-US" sz="2400" b="1" i="0" dirty="0">
                <a:solidFill>
                  <a:srgbClr val="12110C"/>
                </a:solidFill>
                <a:effectLst/>
                <a:latin typeface="CourierStd"/>
              </a:rPr>
            </a:br>
            <a:r>
              <a:rPr lang="en-US" sz="2400" b="1" i="0" dirty="0">
                <a:solidFill>
                  <a:srgbClr val="12110C"/>
                </a:solidFill>
                <a:effectLst/>
                <a:latin typeface="CourierStd"/>
              </a:rPr>
              <a:t>   }</a:t>
            </a:r>
            <a:br>
              <a:rPr lang="en-US" sz="2400" b="1" i="0" dirty="0">
                <a:solidFill>
                  <a:srgbClr val="12110C"/>
                </a:solidFill>
                <a:effectLst/>
                <a:latin typeface="CourierStd"/>
              </a:rPr>
            </a:br>
            <a:r>
              <a:rPr lang="en-US" sz="2400" b="1" i="0" dirty="0">
                <a:solidFill>
                  <a:srgbClr val="12110C"/>
                </a:solidFill>
                <a:effectLst/>
                <a:latin typeface="CourierStd"/>
              </a:rPr>
              <a:t>   </a:t>
            </a:r>
            <a:r>
              <a:rPr lang="en-US" sz="2400" b="1" i="0" dirty="0" err="1">
                <a:solidFill>
                  <a:srgbClr val="12110C"/>
                </a:solidFill>
                <a:effectLst/>
                <a:latin typeface="CourierStd"/>
              </a:rPr>
              <a:t>document.addEventListener</a:t>
            </a:r>
            <a:r>
              <a:rPr lang="en-US" sz="2400" b="1" i="0" dirty="0">
                <a:solidFill>
                  <a:srgbClr val="12110C"/>
                </a:solidFill>
                <a:effectLst/>
                <a:latin typeface="CourierStd"/>
              </a:rPr>
              <a:t>("click", listener);</a:t>
            </a:r>
            <a:br>
              <a:rPr lang="en-US" sz="2400" b="1" i="0" dirty="0">
                <a:solidFill>
                  <a:srgbClr val="12110C"/>
                </a:solidFill>
                <a:effectLst/>
                <a:latin typeface="CourierStd"/>
              </a:rPr>
            </a:br>
            <a:r>
              <a:rPr lang="en-US" sz="2400" b="1" i="0" dirty="0">
                <a:solidFill>
                  <a:srgbClr val="12110C"/>
                </a:solidFill>
                <a:effectLst/>
                <a:latin typeface="CourierStd"/>
              </a:rPr>
              <a:t>   </a:t>
            </a:r>
            <a:r>
              <a:rPr lang="en-US" sz="2400" b="1" i="0" dirty="0">
                <a:solidFill>
                  <a:srgbClr val="000000"/>
                </a:solidFill>
                <a:effectLst/>
                <a:latin typeface="CourierStd-Bold"/>
              </a:rPr>
              <a:t>return function cleanup() {</a:t>
            </a:r>
            <a:br>
              <a:rPr lang="en-US" sz="2400" b="1" i="0" dirty="0">
                <a:solidFill>
                  <a:srgbClr val="000000"/>
                </a:solidFill>
                <a:effectLst/>
                <a:latin typeface="CourierStd-Bold"/>
              </a:rPr>
            </a:br>
            <a:r>
              <a:rPr lang="en-US" sz="2400" b="1" i="0" dirty="0">
                <a:solidFill>
                  <a:srgbClr val="000000"/>
                </a:solidFill>
                <a:effectLst/>
                <a:latin typeface="CourierStd-Bold"/>
              </a:rPr>
              <a:t>   </a:t>
            </a:r>
            <a:r>
              <a:rPr lang="en-US" sz="2400" b="1" i="0" dirty="0" err="1">
                <a:solidFill>
                  <a:srgbClr val="000000"/>
                </a:solidFill>
                <a:effectLst/>
                <a:latin typeface="CourierStd-Bold"/>
              </a:rPr>
              <a:t>document.removeEventListener</a:t>
            </a:r>
            <a:r>
              <a:rPr lang="en-US" sz="2400" b="1" i="0" dirty="0">
                <a:solidFill>
                  <a:srgbClr val="000000"/>
                </a:solidFill>
                <a:effectLst/>
                <a:latin typeface="CourierStd-Bold"/>
              </a:rPr>
              <a:t>("click", listener);};</a:t>
            </a:r>
            <a:br>
              <a:rPr lang="en-US" sz="2400" b="1" i="0" dirty="0">
                <a:solidFill>
                  <a:srgbClr val="000000"/>
                </a:solidFill>
                <a:effectLst/>
                <a:latin typeface="CourierStd-Bold"/>
              </a:rPr>
            </a:br>
            <a:r>
              <a:rPr lang="en-US" sz="2400" b="1" i="0" dirty="0">
                <a:solidFill>
                  <a:srgbClr val="000000"/>
                </a:solidFill>
                <a:effectLst/>
                <a:latin typeface="CourierStd-Bold"/>
              </a:rPr>
              <a:t>   </a:t>
            </a:r>
            <a:r>
              <a:rPr lang="en-US" sz="2400" b="1" i="0" dirty="0">
                <a:solidFill>
                  <a:srgbClr val="12110C"/>
                </a:solidFill>
                <a:effectLst/>
                <a:latin typeface="CourierStd"/>
              </a:rPr>
              <a:t>});</a:t>
            </a:r>
            <a:br>
              <a:rPr lang="en-US" sz="2400" b="1" i="0" dirty="0">
                <a:solidFill>
                  <a:srgbClr val="12110C"/>
                </a:solidFill>
                <a:effectLst/>
                <a:latin typeface="CourierStd"/>
              </a:rPr>
            </a:br>
            <a:r>
              <a:rPr lang="en-US" sz="2400" b="1" i="0" dirty="0">
                <a:solidFill>
                  <a:srgbClr val="12110C"/>
                </a:solidFill>
                <a:effectLst/>
                <a:latin typeface="CourierStd"/>
              </a:rPr>
              <a:t>   return ...;</a:t>
            </a:r>
            <a:br>
              <a:rPr lang="en-US" sz="2400" b="1" i="0" dirty="0">
                <a:solidFill>
                  <a:srgbClr val="12110C"/>
                </a:solidFill>
                <a:effectLst/>
                <a:latin typeface="CourierStd"/>
              </a:rPr>
            </a:br>
            <a:r>
              <a:rPr lang="en-US" sz="2400" b="1" i="0" dirty="0">
                <a:solidFill>
                  <a:srgbClr val="12110C"/>
                </a:solidFill>
                <a:effectLst/>
                <a:latin typeface="CourierStd"/>
              </a:rPr>
              <a:t>}</a:t>
            </a:r>
            <a:r>
              <a:rPr lang="en-US" sz="2400" b="1" dirty="0"/>
              <a:t> </a:t>
            </a:r>
          </a:p>
        </p:txBody>
      </p:sp>
    </p:spTree>
    <p:extLst>
      <p:ext uri="{BB962C8B-B14F-4D97-AF65-F5344CB8AC3E}">
        <p14:creationId xmlns:p14="http://schemas.microsoft.com/office/powerpoint/2010/main" val="7630938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06899-8306-3647-B6FA-F2AFD887FC88}"/>
              </a:ext>
            </a:extLst>
          </p:cNvPr>
          <p:cNvSpPr>
            <a:spLocks noGrp="1"/>
          </p:cNvSpPr>
          <p:nvPr>
            <p:ph type="title"/>
          </p:nvPr>
        </p:nvSpPr>
        <p:spPr/>
        <p:txBody>
          <a:bodyPr/>
          <a:lstStyle/>
          <a:p>
            <a:r>
              <a:rPr lang="en-US" dirty="0"/>
              <a:t>Using state Hooks</a:t>
            </a:r>
          </a:p>
        </p:txBody>
      </p:sp>
      <p:sp>
        <p:nvSpPr>
          <p:cNvPr id="3" name="Text Placeholder 2">
            <a:extLst>
              <a:ext uri="{FF2B5EF4-FFF2-40B4-BE49-F238E27FC236}">
                <a16:creationId xmlns:a16="http://schemas.microsoft.com/office/drawing/2014/main" id="{F41ABC5C-5517-D835-1870-0F7613030087}"/>
              </a:ext>
            </a:extLst>
          </p:cNvPr>
          <p:cNvSpPr>
            <a:spLocks noGrp="1"/>
          </p:cNvSpPr>
          <p:nvPr>
            <p:ph type="body" idx="1"/>
          </p:nvPr>
        </p:nvSpPr>
        <p:spPr/>
        <p:txBody>
          <a:bodyPr/>
          <a:lstStyle/>
          <a:p>
            <a:r>
              <a:rPr lang="en-US" b="1" dirty="0">
                <a:solidFill>
                  <a:srgbClr val="C00000"/>
                </a:solidFill>
              </a:rPr>
              <a:t>Hook state </a:t>
            </a:r>
            <a:r>
              <a:rPr lang="en-US" dirty="0"/>
              <a:t>is the new way of declaring a </a:t>
            </a:r>
            <a:r>
              <a:rPr lang="en-US" b="1" dirty="0"/>
              <a:t>state</a:t>
            </a:r>
            <a:r>
              <a:rPr lang="en-US" dirty="0"/>
              <a:t> in </a:t>
            </a:r>
            <a:r>
              <a:rPr lang="en-US" b="1" dirty="0"/>
              <a:t>React app</a:t>
            </a:r>
            <a:r>
              <a:rPr lang="en-US" dirty="0"/>
              <a:t>. </a:t>
            </a:r>
            <a:r>
              <a:rPr lang="en-US" b="1" dirty="0"/>
              <a:t>Hook</a:t>
            </a:r>
            <a:r>
              <a:rPr lang="en-US" dirty="0"/>
              <a:t> uses </a:t>
            </a:r>
            <a:r>
              <a:rPr lang="en-US" b="1" dirty="0"/>
              <a:t>useState() </a:t>
            </a:r>
            <a:r>
              <a:rPr lang="en-US" dirty="0"/>
              <a:t>functional component for setting and retrieving state. </a:t>
            </a:r>
          </a:p>
          <a:p>
            <a:r>
              <a:rPr lang="en-US" b="1" dirty="0"/>
              <a:t>State Hooks </a:t>
            </a:r>
            <a:r>
              <a:rPr lang="en-US" dirty="0"/>
              <a:t>stores and provide access to the information.</a:t>
            </a:r>
          </a:p>
          <a:p>
            <a:r>
              <a:rPr lang="en-US" dirty="0"/>
              <a:t>To add state in Components we use:</a:t>
            </a:r>
          </a:p>
          <a:p>
            <a:pPr lvl="1"/>
            <a:r>
              <a:rPr lang="en-US" b="1" i="1" dirty="0">
                <a:solidFill>
                  <a:srgbClr val="C00000"/>
                </a:solidFill>
              </a:rPr>
              <a:t>useState</a:t>
            </a:r>
            <a:r>
              <a:rPr lang="en-US" dirty="0"/>
              <a:t> Hook: useState Hooks provides state variable with direct update access.</a:t>
            </a:r>
          </a:p>
          <a:p>
            <a:pPr lvl="1"/>
            <a:r>
              <a:rPr lang="en-US" b="1" i="1" dirty="0">
                <a:solidFill>
                  <a:srgbClr val="C00000"/>
                </a:solidFill>
              </a:rPr>
              <a:t>useReducer</a:t>
            </a:r>
            <a:r>
              <a:rPr lang="en-US" dirty="0"/>
              <a:t> Hook: useReducer Hook provides a state variable along with the update logic in reducer function.</a:t>
            </a:r>
          </a:p>
          <a:p>
            <a:endParaRPr lang="en-US" dirty="0"/>
          </a:p>
        </p:txBody>
      </p:sp>
    </p:spTree>
    <p:extLst>
      <p:ext uri="{BB962C8B-B14F-4D97-AF65-F5344CB8AC3E}">
        <p14:creationId xmlns:p14="http://schemas.microsoft.com/office/powerpoint/2010/main" val="17305427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59A91-28F4-3B25-3C29-E885BEC7F983}"/>
              </a:ext>
            </a:extLst>
          </p:cNvPr>
          <p:cNvSpPr>
            <a:spLocks noGrp="1"/>
          </p:cNvSpPr>
          <p:nvPr>
            <p:ph type="title"/>
          </p:nvPr>
        </p:nvSpPr>
        <p:spPr/>
        <p:txBody>
          <a:bodyPr/>
          <a:lstStyle/>
          <a:p>
            <a:r>
              <a:rPr lang="en-US" dirty="0"/>
              <a:t>Using state Hooks - </a:t>
            </a:r>
            <a:r>
              <a:rPr lang="en-US" dirty="0" err="1"/>
              <a:t>useState</a:t>
            </a:r>
            <a:endParaRPr lang="en-US" dirty="0"/>
          </a:p>
        </p:txBody>
      </p:sp>
      <p:sp>
        <p:nvSpPr>
          <p:cNvPr id="3" name="Text Placeholder 2">
            <a:extLst>
              <a:ext uri="{FF2B5EF4-FFF2-40B4-BE49-F238E27FC236}">
                <a16:creationId xmlns:a16="http://schemas.microsoft.com/office/drawing/2014/main" id="{CE21ECB8-006C-1F78-A0DF-6DE99ED41670}"/>
              </a:ext>
            </a:extLst>
          </p:cNvPr>
          <p:cNvSpPr>
            <a:spLocks noGrp="1"/>
          </p:cNvSpPr>
          <p:nvPr>
            <p:ph type="body" idx="1"/>
          </p:nvPr>
        </p:nvSpPr>
        <p:spPr/>
        <p:txBody>
          <a:bodyPr>
            <a:normAutofit lnSpcReduction="10000"/>
          </a:bodyPr>
          <a:lstStyle/>
          <a:p>
            <a:r>
              <a:rPr lang="en-US" b="1" dirty="0">
                <a:solidFill>
                  <a:srgbClr val="C00000"/>
                </a:solidFill>
              </a:rPr>
              <a:t>Using useState</a:t>
            </a:r>
            <a:r>
              <a:rPr lang="en-US" dirty="0"/>
              <a:t>: allows state to be defined in a variable. The syntax for </a:t>
            </a:r>
            <a:r>
              <a:rPr lang="en-US" b="1" i="1" dirty="0"/>
              <a:t>useState</a:t>
            </a:r>
            <a:r>
              <a:rPr lang="en-US" dirty="0"/>
              <a:t> is as follows</a:t>
            </a:r>
          </a:p>
          <a:p>
            <a:endParaRPr lang="en-US" dirty="0"/>
          </a:p>
          <a:p>
            <a:r>
              <a:rPr lang="en-US" dirty="0"/>
              <a:t>Example: </a:t>
            </a:r>
          </a:p>
          <a:p>
            <a:pPr lvl="1"/>
            <a:r>
              <a:rPr lang="vi-VN" i="1" dirty="0"/>
              <a:t>useState(0)</a:t>
            </a:r>
            <a:r>
              <a:rPr lang="vi-VN" dirty="0"/>
              <a:t>:Tạo một state ban đầu với giá trị là 0.</a:t>
            </a:r>
            <a:endParaRPr lang="en-US" dirty="0"/>
          </a:p>
          <a:p>
            <a:pPr lvl="1"/>
            <a:r>
              <a:rPr lang="vi-VN" i="1" dirty="0"/>
              <a:t>useState</a:t>
            </a:r>
            <a:r>
              <a:rPr lang="vi-VN" dirty="0"/>
              <a:t> trả về một mảng gồm 2 phần tử: giá trị hiện tại (count) và một hàm để cập nhật giá trị (setCount).</a:t>
            </a:r>
            <a:endParaRPr lang="en-US" dirty="0"/>
          </a:p>
          <a:p>
            <a:pPr lvl="1"/>
            <a:r>
              <a:rPr lang="vi-VN" i="1" dirty="0"/>
              <a:t>setCount(newValue):</a:t>
            </a:r>
            <a:r>
              <a:rPr lang="en-US" i="1" dirty="0"/>
              <a:t> </a:t>
            </a:r>
            <a:r>
              <a:rPr lang="vi-VN" dirty="0"/>
              <a:t>Được dùng để cập nhật giá trị của state count.</a:t>
            </a:r>
            <a:r>
              <a:rPr lang="en-US" dirty="0"/>
              <a:t> </a:t>
            </a:r>
          </a:p>
          <a:p>
            <a:pPr lvl="1"/>
            <a:r>
              <a:rPr lang="vi-VN" dirty="0"/>
              <a:t>Các nút điều khiển (onClick):</a:t>
            </a:r>
            <a:r>
              <a:rPr lang="en-US" dirty="0"/>
              <a:t> </a:t>
            </a:r>
            <a:r>
              <a:rPr lang="vi-VN" dirty="0"/>
              <a:t>Gọi hàm </a:t>
            </a:r>
            <a:r>
              <a:rPr lang="vi-VN" b="1" dirty="0"/>
              <a:t>setCount</a:t>
            </a:r>
            <a:r>
              <a:rPr lang="vi-VN" dirty="0"/>
              <a:t> để tăng, giảm hoặc đặt lại giá trị count.</a:t>
            </a:r>
            <a:endParaRPr lang="en-US" dirty="0"/>
          </a:p>
          <a:p>
            <a:pPr lvl="1"/>
            <a:endParaRPr lang="en-US" dirty="0"/>
          </a:p>
        </p:txBody>
      </p:sp>
      <p:sp>
        <p:nvSpPr>
          <p:cNvPr id="5" name="TextBox 4">
            <a:extLst>
              <a:ext uri="{FF2B5EF4-FFF2-40B4-BE49-F238E27FC236}">
                <a16:creationId xmlns:a16="http://schemas.microsoft.com/office/drawing/2014/main" id="{8099C2AB-BCAD-EFA7-BD15-8C5665BA2B98}"/>
              </a:ext>
            </a:extLst>
          </p:cNvPr>
          <p:cNvSpPr txBox="1"/>
          <p:nvPr/>
        </p:nvSpPr>
        <p:spPr>
          <a:xfrm>
            <a:off x="1590975" y="2598003"/>
            <a:ext cx="8823026" cy="461665"/>
          </a:xfrm>
          <a:prstGeom prst="rect">
            <a:avLst/>
          </a:prstGeom>
          <a:noFill/>
          <a:ln>
            <a:solidFill>
              <a:schemeClr val="accent1"/>
            </a:solidFill>
          </a:ln>
        </p:spPr>
        <p:txBody>
          <a:bodyPr wrap="square">
            <a:spAutoFit/>
          </a:bodyPr>
          <a:lstStyle/>
          <a:p>
            <a:r>
              <a:rPr lang="en-US" sz="2400" b="1" i="0" dirty="0">
                <a:solidFill>
                  <a:srgbClr val="C00000"/>
                </a:solidFill>
                <a:effectLst/>
                <a:latin typeface="Consolas" panose="020B0609020204030204" pitchFamily="49" charset="0"/>
              </a:rPr>
              <a:t>const [state, </a:t>
            </a:r>
            <a:r>
              <a:rPr lang="en-US" sz="2400" b="1" i="0" dirty="0" err="1">
                <a:solidFill>
                  <a:srgbClr val="C00000"/>
                </a:solidFill>
                <a:effectLst/>
                <a:latin typeface="Consolas" panose="020B0609020204030204" pitchFamily="49" charset="0"/>
              </a:rPr>
              <a:t>setState</a:t>
            </a:r>
            <a:r>
              <a:rPr lang="en-US" sz="2400" b="1" i="0" dirty="0">
                <a:solidFill>
                  <a:srgbClr val="C00000"/>
                </a:solidFill>
                <a:effectLst/>
                <a:latin typeface="Consolas" panose="020B0609020204030204" pitchFamily="49" charset="0"/>
              </a:rPr>
              <a:t>] = useState(</a:t>
            </a:r>
            <a:r>
              <a:rPr lang="en-US" sz="2400" b="1" i="0" dirty="0" err="1">
                <a:solidFill>
                  <a:srgbClr val="C00000"/>
                </a:solidFill>
                <a:effectLst/>
                <a:latin typeface="Consolas" panose="020B0609020204030204" pitchFamily="49" charset="0"/>
              </a:rPr>
              <a:t>initialState</a:t>
            </a:r>
            <a:r>
              <a:rPr lang="en-US" sz="2400" b="1" i="0" dirty="0">
                <a:solidFill>
                  <a:srgbClr val="C00000"/>
                </a:solidFill>
                <a:effectLst/>
                <a:latin typeface="Consolas" panose="020B0609020204030204" pitchFamily="49" charset="0"/>
              </a:rPr>
              <a:t>);</a:t>
            </a:r>
            <a:endParaRPr lang="en-US" sz="2400" b="1" dirty="0">
              <a:solidFill>
                <a:srgbClr val="C00000"/>
              </a:solidFill>
              <a:latin typeface="Consolas" panose="020B0609020204030204" pitchFamily="49" charset="0"/>
            </a:endParaRPr>
          </a:p>
        </p:txBody>
      </p:sp>
    </p:spTree>
    <p:extLst>
      <p:ext uri="{BB962C8B-B14F-4D97-AF65-F5344CB8AC3E}">
        <p14:creationId xmlns:p14="http://schemas.microsoft.com/office/powerpoint/2010/main" val="24302688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00700-E618-1966-A743-B576519F4E57}"/>
              </a:ext>
            </a:extLst>
          </p:cNvPr>
          <p:cNvSpPr>
            <a:spLocks noGrp="1"/>
          </p:cNvSpPr>
          <p:nvPr>
            <p:ph type="title"/>
          </p:nvPr>
        </p:nvSpPr>
        <p:spPr/>
        <p:txBody>
          <a:bodyPr/>
          <a:lstStyle/>
          <a:p>
            <a:r>
              <a:rPr lang="en-US" dirty="0"/>
              <a:t>Using state Hooks - </a:t>
            </a:r>
            <a:r>
              <a:rPr lang="en-US" dirty="0" err="1"/>
              <a:t>useState</a:t>
            </a:r>
            <a:r>
              <a:rPr lang="en-US" dirty="0"/>
              <a:t> </a:t>
            </a:r>
          </a:p>
        </p:txBody>
      </p:sp>
      <p:sp>
        <p:nvSpPr>
          <p:cNvPr id="7" name="TextBox 6">
            <a:extLst>
              <a:ext uri="{FF2B5EF4-FFF2-40B4-BE49-F238E27FC236}">
                <a16:creationId xmlns:a16="http://schemas.microsoft.com/office/drawing/2014/main" id="{A4AA3F8C-C869-DD33-4B45-425D5C108FC9}"/>
              </a:ext>
            </a:extLst>
          </p:cNvPr>
          <p:cNvSpPr txBox="1"/>
          <p:nvPr/>
        </p:nvSpPr>
        <p:spPr>
          <a:xfrm>
            <a:off x="884766" y="1400290"/>
            <a:ext cx="10968567" cy="5262979"/>
          </a:xfrm>
          <a:prstGeom prst="rect">
            <a:avLst/>
          </a:prstGeom>
          <a:noFill/>
          <a:ln>
            <a:solidFill>
              <a:schemeClr val="accent1"/>
            </a:solidFill>
          </a:ln>
        </p:spPr>
        <p:txBody>
          <a:bodyPr wrap="square">
            <a:spAutoFit/>
          </a:bodyPr>
          <a:lstStyle/>
          <a:p>
            <a:r>
              <a:rPr lang="en-US" sz="2400" b="1" dirty="0">
                <a:latin typeface="Consolas" panose="020B0609020204030204" pitchFamily="49" charset="0"/>
              </a:rPr>
              <a:t>import React, { useState } from 'react';</a:t>
            </a:r>
          </a:p>
          <a:p>
            <a:r>
              <a:rPr lang="en-US" sz="2400" b="1" dirty="0">
                <a:latin typeface="Consolas" panose="020B0609020204030204" pitchFamily="49" charset="0"/>
              </a:rPr>
              <a:t>function Counter() {</a:t>
            </a:r>
          </a:p>
          <a:p>
            <a:r>
              <a:rPr lang="en-US" sz="2400" b="1" dirty="0">
                <a:latin typeface="Consolas" panose="020B0609020204030204" pitchFamily="49" charset="0"/>
              </a:rPr>
              <a:t>  // Khai </a:t>
            </a:r>
            <a:r>
              <a:rPr lang="en-US" sz="2400" b="1" dirty="0" err="1">
                <a:latin typeface="Consolas" panose="020B0609020204030204" pitchFamily="49" charset="0"/>
              </a:rPr>
              <a:t>báo</a:t>
            </a:r>
            <a:r>
              <a:rPr lang="en-US" sz="2400" b="1" dirty="0">
                <a:latin typeface="Consolas" panose="020B0609020204030204" pitchFamily="49" charset="0"/>
              </a:rPr>
              <a:t> </a:t>
            </a:r>
            <a:r>
              <a:rPr lang="en-US" sz="2400" b="1" dirty="0" err="1">
                <a:latin typeface="Consolas" panose="020B0609020204030204" pitchFamily="49" charset="0"/>
              </a:rPr>
              <a:t>một</a:t>
            </a:r>
            <a:r>
              <a:rPr lang="en-US" sz="2400" b="1" dirty="0">
                <a:latin typeface="Consolas" panose="020B0609020204030204" pitchFamily="49" charset="0"/>
              </a:rPr>
              <a:t> state </a:t>
            </a:r>
            <a:r>
              <a:rPr lang="en-US" sz="2400" b="1" dirty="0" err="1">
                <a:latin typeface="Consolas" panose="020B0609020204030204" pitchFamily="49" charset="0"/>
              </a:rPr>
              <a:t>mới</a:t>
            </a:r>
            <a:r>
              <a:rPr lang="en-US" sz="2400" b="1" dirty="0">
                <a:latin typeface="Consolas" panose="020B0609020204030204" pitchFamily="49" charset="0"/>
              </a:rPr>
              <a:t>, </a:t>
            </a:r>
            <a:r>
              <a:rPr lang="en-US" sz="2400" b="1" dirty="0" err="1">
                <a:latin typeface="Consolas" panose="020B0609020204030204" pitchFamily="49" charset="0"/>
              </a:rPr>
              <a:t>gọi</a:t>
            </a:r>
            <a:r>
              <a:rPr lang="en-US" sz="2400" b="1" dirty="0">
                <a:latin typeface="Consolas" panose="020B0609020204030204" pitchFamily="49" charset="0"/>
              </a:rPr>
              <a:t> </a:t>
            </a:r>
            <a:r>
              <a:rPr lang="en-US" sz="2400" b="1" dirty="0" err="1">
                <a:latin typeface="Consolas" panose="020B0609020204030204" pitchFamily="49" charset="0"/>
              </a:rPr>
              <a:t>nó</a:t>
            </a:r>
            <a:r>
              <a:rPr lang="en-US" sz="2400" b="1" dirty="0">
                <a:latin typeface="Consolas" panose="020B0609020204030204" pitchFamily="49" charset="0"/>
              </a:rPr>
              <a:t> </a:t>
            </a:r>
            <a:r>
              <a:rPr lang="en-US" sz="2400" b="1" dirty="0" err="1">
                <a:latin typeface="Consolas" panose="020B0609020204030204" pitchFamily="49" charset="0"/>
              </a:rPr>
              <a:t>là</a:t>
            </a:r>
            <a:r>
              <a:rPr lang="en-US" sz="2400" b="1" dirty="0">
                <a:latin typeface="Consolas" panose="020B0609020204030204" pitchFamily="49" charset="0"/>
              </a:rPr>
              <a:t> "count"</a:t>
            </a:r>
          </a:p>
          <a:p>
            <a:r>
              <a:rPr lang="en-US" sz="2400" b="1" dirty="0">
                <a:latin typeface="Consolas" panose="020B0609020204030204" pitchFamily="49" charset="0"/>
              </a:rPr>
              <a:t>  const [count, </a:t>
            </a:r>
            <a:r>
              <a:rPr lang="en-US" sz="2400" b="1" dirty="0" err="1">
                <a:latin typeface="Consolas" panose="020B0609020204030204" pitchFamily="49" charset="0"/>
              </a:rPr>
              <a:t>setCount</a:t>
            </a:r>
            <a:r>
              <a:rPr lang="en-US" sz="2400" b="1" dirty="0">
                <a:latin typeface="Consolas" panose="020B0609020204030204" pitchFamily="49" charset="0"/>
              </a:rPr>
              <a:t>] = useState(0);</a:t>
            </a:r>
          </a:p>
          <a:p>
            <a:r>
              <a:rPr lang="en-US" sz="2400" b="1" dirty="0">
                <a:latin typeface="Consolas" panose="020B0609020204030204" pitchFamily="49" charset="0"/>
              </a:rPr>
              <a:t>  return (</a:t>
            </a:r>
          </a:p>
          <a:p>
            <a:r>
              <a:rPr lang="en-US" sz="2400" b="1" dirty="0">
                <a:latin typeface="Consolas" panose="020B0609020204030204" pitchFamily="49" charset="0"/>
              </a:rPr>
              <a:t>    &lt;div&gt;</a:t>
            </a:r>
          </a:p>
          <a:p>
            <a:r>
              <a:rPr lang="en-US" sz="2400" b="1" dirty="0">
                <a:latin typeface="Consolas" panose="020B0609020204030204" pitchFamily="49" charset="0"/>
              </a:rPr>
              <a:t>      &lt;h1&gt;</a:t>
            </a:r>
            <a:r>
              <a:rPr lang="en-US" sz="2400" b="1" dirty="0" err="1">
                <a:latin typeface="Consolas" panose="020B0609020204030204" pitchFamily="49" charset="0"/>
              </a:rPr>
              <a:t>Giá</a:t>
            </a:r>
            <a:r>
              <a:rPr lang="en-US" sz="2400" b="1" dirty="0">
                <a:latin typeface="Consolas" panose="020B0609020204030204" pitchFamily="49" charset="0"/>
              </a:rPr>
              <a:t> </a:t>
            </a:r>
            <a:r>
              <a:rPr lang="en-US" sz="2400" b="1" dirty="0" err="1">
                <a:latin typeface="Consolas" panose="020B0609020204030204" pitchFamily="49" charset="0"/>
              </a:rPr>
              <a:t>trị</a:t>
            </a:r>
            <a:r>
              <a:rPr lang="en-US" sz="2400" b="1" dirty="0">
                <a:latin typeface="Consolas" panose="020B0609020204030204" pitchFamily="49" charset="0"/>
              </a:rPr>
              <a:t> </a:t>
            </a:r>
            <a:r>
              <a:rPr lang="en-US" sz="2400" b="1" dirty="0" err="1">
                <a:latin typeface="Consolas" panose="020B0609020204030204" pitchFamily="49" charset="0"/>
              </a:rPr>
              <a:t>hiện</a:t>
            </a:r>
            <a:r>
              <a:rPr lang="en-US" sz="2400" b="1" dirty="0">
                <a:latin typeface="Consolas" panose="020B0609020204030204" pitchFamily="49" charset="0"/>
              </a:rPr>
              <a:t> </a:t>
            </a:r>
            <a:r>
              <a:rPr lang="en-US" sz="2400" b="1" dirty="0" err="1">
                <a:latin typeface="Consolas" panose="020B0609020204030204" pitchFamily="49" charset="0"/>
              </a:rPr>
              <a:t>tại</a:t>
            </a:r>
            <a:r>
              <a:rPr lang="en-US" sz="2400" b="1" dirty="0">
                <a:latin typeface="Consolas" panose="020B0609020204030204" pitchFamily="49" charset="0"/>
              </a:rPr>
              <a:t>: {count}&lt;/h1&gt;</a:t>
            </a:r>
          </a:p>
          <a:p>
            <a:r>
              <a:rPr lang="en-US" sz="2400" b="1" dirty="0">
                <a:latin typeface="Consolas" panose="020B0609020204030204" pitchFamily="49" charset="0"/>
              </a:rPr>
              <a:t>      &lt;button </a:t>
            </a:r>
            <a:r>
              <a:rPr lang="en-US" sz="2400" b="1" dirty="0" err="1">
                <a:latin typeface="Consolas" panose="020B0609020204030204" pitchFamily="49" charset="0"/>
              </a:rPr>
              <a:t>onClick</a:t>
            </a:r>
            <a:r>
              <a:rPr lang="en-US" sz="2400" b="1" dirty="0">
                <a:latin typeface="Consolas" panose="020B0609020204030204" pitchFamily="49" charset="0"/>
              </a:rPr>
              <a:t>={() =&gt; </a:t>
            </a:r>
            <a:r>
              <a:rPr lang="en-US" sz="2400" b="1" dirty="0" err="1">
                <a:latin typeface="Consolas" panose="020B0609020204030204" pitchFamily="49" charset="0"/>
              </a:rPr>
              <a:t>setCount</a:t>
            </a:r>
            <a:r>
              <a:rPr lang="en-US" sz="2400" b="1" dirty="0">
                <a:latin typeface="Consolas" panose="020B0609020204030204" pitchFamily="49" charset="0"/>
              </a:rPr>
              <a:t>(count + 1)}&gt;</a:t>
            </a:r>
            <a:r>
              <a:rPr lang="en-US" sz="2400" b="1" dirty="0" err="1">
                <a:latin typeface="Consolas" panose="020B0609020204030204" pitchFamily="49" charset="0"/>
              </a:rPr>
              <a:t>Tăng</a:t>
            </a:r>
            <a:r>
              <a:rPr lang="en-US" sz="2400" b="1" dirty="0">
                <a:latin typeface="Consolas" panose="020B0609020204030204" pitchFamily="49" charset="0"/>
              </a:rPr>
              <a:t>&lt;/button&gt;</a:t>
            </a:r>
          </a:p>
          <a:p>
            <a:r>
              <a:rPr lang="en-US" sz="2400" b="1" dirty="0">
                <a:latin typeface="Consolas" panose="020B0609020204030204" pitchFamily="49" charset="0"/>
              </a:rPr>
              <a:t>      &lt;button </a:t>
            </a:r>
            <a:r>
              <a:rPr lang="en-US" sz="2400" b="1" dirty="0" err="1">
                <a:latin typeface="Consolas" panose="020B0609020204030204" pitchFamily="49" charset="0"/>
              </a:rPr>
              <a:t>onClick</a:t>
            </a:r>
            <a:r>
              <a:rPr lang="en-US" sz="2400" b="1" dirty="0">
                <a:latin typeface="Consolas" panose="020B0609020204030204" pitchFamily="49" charset="0"/>
              </a:rPr>
              <a:t>={() =&gt; </a:t>
            </a:r>
            <a:r>
              <a:rPr lang="en-US" sz="2400" b="1" dirty="0" err="1">
                <a:latin typeface="Consolas" panose="020B0609020204030204" pitchFamily="49" charset="0"/>
              </a:rPr>
              <a:t>setCount</a:t>
            </a:r>
            <a:r>
              <a:rPr lang="en-US" sz="2400" b="1" dirty="0">
                <a:latin typeface="Consolas" panose="020B0609020204030204" pitchFamily="49" charset="0"/>
              </a:rPr>
              <a:t>(count - 1)}&gt;</a:t>
            </a:r>
            <a:r>
              <a:rPr lang="en-US" sz="2400" b="1" dirty="0" err="1">
                <a:latin typeface="Consolas" panose="020B0609020204030204" pitchFamily="49" charset="0"/>
              </a:rPr>
              <a:t>Giảm</a:t>
            </a:r>
            <a:r>
              <a:rPr lang="en-US" sz="2400" b="1" dirty="0">
                <a:latin typeface="Consolas" panose="020B0609020204030204" pitchFamily="49" charset="0"/>
              </a:rPr>
              <a:t>&lt;/button&gt;</a:t>
            </a:r>
          </a:p>
          <a:p>
            <a:r>
              <a:rPr lang="en-US" sz="2400" b="1" dirty="0">
                <a:latin typeface="Consolas" panose="020B0609020204030204" pitchFamily="49" charset="0"/>
              </a:rPr>
              <a:t>      &lt;button </a:t>
            </a:r>
            <a:r>
              <a:rPr lang="en-US" sz="2400" b="1" dirty="0" err="1">
                <a:latin typeface="Consolas" panose="020B0609020204030204" pitchFamily="49" charset="0"/>
              </a:rPr>
              <a:t>onClick</a:t>
            </a:r>
            <a:r>
              <a:rPr lang="en-US" sz="2400" b="1" dirty="0">
                <a:latin typeface="Consolas" panose="020B0609020204030204" pitchFamily="49" charset="0"/>
              </a:rPr>
              <a:t>={() =&gt; </a:t>
            </a:r>
            <a:r>
              <a:rPr lang="en-US" sz="2400" b="1" dirty="0" err="1">
                <a:latin typeface="Consolas" panose="020B0609020204030204" pitchFamily="49" charset="0"/>
              </a:rPr>
              <a:t>setCount</a:t>
            </a:r>
            <a:r>
              <a:rPr lang="en-US" sz="2400" b="1" dirty="0">
                <a:latin typeface="Consolas" panose="020B0609020204030204" pitchFamily="49" charset="0"/>
              </a:rPr>
              <a:t>(0)}&gt;Reset&lt;/button&gt;</a:t>
            </a:r>
          </a:p>
          <a:p>
            <a:r>
              <a:rPr lang="en-US" sz="2400" b="1" dirty="0">
                <a:latin typeface="Consolas" panose="020B0609020204030204" pitchFamily="49" charset="0"/>
              </a:rPr>
              <a:t>    &lt;/div&gt;</a:t>
            </a:r>
          </a:p>
          <a:p>
            <a:r>
              <a:rPr lang="en-US" sz="2400" b="1" dirty="0">
                <a:latin typeface="Consolas" panose="020B0609020204030204" pitchFamily="49" charset="0"/>
              </a:rPr>
              <a:t>  );</a:t>
            </a:r>
          </a:p>
          <a:p>
            <a:r>
              <a:rPr lang="en-US" sz="2400" b="1" dirty="0">
                <a:latin typeface="Consolas" panose="020B0609020204030204" pitchFamily="49" charset="0"/>
              </a:rPr>
              <a:t>}</a:t>
            </a:r>
          </a:p>
          <a:p>
            <a:r>
              <a:rPr lang="en-US" sz="2400" b="1" dirty="0">
                <a:latin typeface="Consolas" panose="020B0609020204030204" pitchFamily="49" charset="0"/>
              </a:rPr>
              <a:t>export default Counter;</a:t>
            </a:r>
          </a:p>
        </p:txBody>
      </p:sp>
    </p:spTree>
    <p:extLst>
      <p:ext uri="{BB962C8B-B14F-4D97-AF65-F5344CB8AC3E}">
        <p14:creationId xmlns:p14="http://schemas.microsoft.com/office/powerpoint/2010/main" val="13045507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C0C36-9437-83EA-66E7-D6EF01A97269}"/>
              </a:ext>
            </a:extLst>
          </p:cNvPr>
          <p:cNvSpPr>
            <a:spLocks noGrp="1"/>
          </p:cNvSpPr>
          <p:nvPr>
            <p:ph type="title"/>
          </p:nvPr>
        </p:nvSpPr>
        <p:spPr/>
        <p:txBody>
          <a:bodyPr/>
          <a:lstStyle/>
          <a:p>
            <a:r>
              <a:rPr lang="en-US" dirty="0"/>
              <a:t>Using state Hooks - </a:t>
            </a:r>
            <a:r>
              <a:rPr lang="en-US" dirty="0" err="1"/>
              <a:t>useReducer</a:t>
            </a:r>
            <a:endParaRPr lang="en-US" dirty="0"/>
          </a:p>
        </p:txBody>
      </p:sp>
      <p:sp>
        <p:nvSpPr>
          <p:cNvPr id="3" name="Text Placeholder 2">
            <a:extLst>
              <a:ext uri="{FF2B5EF4-FFF2-40B4-BE49-F238E27FC236}">
                <a16:creationId xmlns:a16="http://schemas.microsoft.com/office/drawing/2014/main" id="{6277E9DB-8C26-1189-15A5-A314F18E2A82}"/>
              </a:ext>
            </a:extLst>
          </p:cNvPr>
          <p:cNvSpPr>
            <a:spLocks noGrp="1"/>
          </p:cNvSpPr>
          <p:nvPr>
            <p:ph type="body" idx="1"/>
          </p:nvPr>
        </p:nvSpPr>
        <p:spPr/>
        <p:txBody>
          <a:bodyPr/>
          <a:lstStyle/>
          <a:p>
            <a:r>
              <a:rPr lang="en-US" b="1" dirty="0">
                <a:solidFill>
                  <a:srgbClr val="C00000"/>
                </a:solidFill>
              </a:rPr>
              <a:t>Using </a:t>
            </a:r>
            <a:r>
              <a:rPr lang="en-US" b="1" i="0" dirty="0">
                <a:solidFill>
                  <a:srgbClr val="C00000"/>
                </a:solidFill>
                <a:effectLst/>
                <a:latin typeface="Arial" panose="020B0604020202020204" pitchFamily="34" charset="0"/>
              </a:rPr>
              <a:t>useReducer </a:t>
            </a:r>
            <a:r>
              <a:rPr lang="en-US" b="0" i="0" dirty="0">
                <a:solidFill>
                  <a:srgbClr val="4D5156"/>
                </a:solidFill>
                <a:effectLst/>
                <a:latin typeface="Arial" panose="020B0604020202020204" pitchFamily="34" charset="0"/>
              </a:rPr>
              <a:t>is very similar to useState , but it lets you move the state update logic from event handlers into a single function outside of your component</a:t>
            </a:r>
          </a:p>
          <a:p>
            <a:r>
              <a:rPr lang="en-US" b="1" i="1" dirty="0">
                <a:solidFill>
                  <a:srgbClr val="4D5156"/>
                </a:solidFill>
                <a:effectLst/>
                <a:latin typeface="Arial" panose="020B0604020202020204" pitchFamily="34" charset="0"/>
              </a:rPr>
              <a:t>useReducer</a:t>
            </a:r>
            <a:r>
              <a:rPr lang="en-US" b="0" i="0" dirty="0">
                <a:solidFill>
                  <a:srgbClr val="4D5156"/>
                </a:solidFill>
                <a:effectLst/>
                <a:latin typeface="Arial" panose="020B0604020202020204" pitchFamily="34" charset="0"/>
              </a:rPr>
              <a:t> is an alternative method of managing state. It uses a reducer function for state changes, which takes in the current state value and returns the new state value.</a:t>
            </a:r>
          </a:p>
          <a:p>
            <a:r>
              <a:rPr lang="en-US" dirty="0"/>
              <a:t>Example: </a:t>
            </a:r>
          </a:p>
        </p:txBody>
      </p:sp>
      <p:sp>
        <p:nvSpPr>
          <p:cNvPr id="7" name="TextBox 6">
            <a:extLst>
              <a:ext uri="{FF2B5EF4-FFF2-40B4-BE49-F238E27FC236}">
                <a16:creationId xmlns:a16="http://schemas.microsoft.com/office/drawing/2014/main" id="{0A07009A-D852-840B-7B09-7D09D2791E5F}"/>
              </a:ext>
            </a:extLst>
          </p:cNvPr>
          <p:cNvSpPr txBox="1"/>
          <p:nvPr/>
        </p:nvSpPr>
        <p:spPr>
          <a:xfrm>
            <a:off x="1104900" y="5295900"/>
            <a:ext cx="10554460" cy="461665"/>
          </a:xfrm>
          <a:prstGeom prst="rect">
            <a:avLst/>
          </a:prstGeom>
          <a:noFill/>
          <a:ln>
            <a:solidFill>
              <a:schemeClr val="accent1"/>
            </a:solidFill>
          </a:ln>
        </p:spPr>
        <p:txBody>
          <a:bodyPr wrap="square">
            <a:spAutoFit/>
          </a:bodyPr>
          <a:lstStyle/>
          <a:p>
            <a:r>
              <a:rPr lang="en-US" sz="2400" b="1" i="0" dirty="0">
                <a:solidFill>
                  <a:srgbClr val="12110C"/>
                </a:solidFill>
                <a:effectLst/>
                <a:latin typeface="Consolas" panose="020B0609020204030204" pitchFamily="49" charset="0"/>
              </a:rPr>
              <a:t>const [state, dispatch] = useReducer(</a:t>
            </a:r>
            <a:r>
              <a:rPr lang="en-US" sz="2400" b="1" i="0" dirty="0">
                <a:solidFill>
                  <a:srgbClr val="C00000"/>
                </a:solidFill>
                <a:effectLst/>
                <a:latin typeface="Consolas" panose="020B0609020204030204" pitchFamily="49" charset="0"/>
              </a:rPr>
              <a:t>reducer</a:t>
            </a:r>
            <a:r>
              <a:rPr lang="en-US" sz="2400" b="1" i="0" dirty="0">
                <a:solidFill>
                  <a:srgbClr val="12110C"/>
                </a:solidFill>
                <a:effectLst/>
                <a:latin typeface="Consolas" panose="020B0609020204030204" pitchFamily="49" charset="0"/>
              </a:rPr>
              <a:t>, </a:t>
            </a:r>
            <a:r>
              <a:rPr lang="en-US" sz="2400" b="1" i="0" dirty="0" err="1">
                <a:solidFill>
                  <a:srgbClr val="12110C"/>
                </a:solidFill>
                <a:effectLst/>
                <a:latin typeface="Consolas" panose="020B0609020204030204" pitchFamily="49" charset="0"/>
              </a:rPr>
              <a:t>initialState</a:t>
            </a:r>
            <a:r>
              <a:rPr lang="en-US" sz="2400" b="1" i="0" dirty="0">
                <a:solidFill>
                  <a:srgbClr val="12110C"/>
                </a:solidFill>
                <a:effectLst/>
                <a:latin typeface="Consolas" panose="020B0609020204030204" pitchFamily="49" charset="0"/>
              </a:rPr>
              <a:t>);</a:t>
            </a:r>
            <a:r>
              <a:rPr lang="en-US" sz="2400" b="1" dirty="0">
                <a:latin typeface="Consolas" panose="020B0609020204030204" pitchFamily="49" charset="0"/>
              </a:rPr>
              <a:t> </a:t>
            </a:r>
          </a:p>
        </p:txBody>
      </p:sp>
    </p:spTree>
    <p:extLst>
      <p:ext uri="{BB962C8B-B14F-4D97-AF65-F5344CB8AC3E}">
        <p14:creationId xmlns:p14="http://schemas.microsoft.com/office/powerpoint/2010/main" val="13568909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2CD54-54B0-671D-A12A-4606DAEE3718}"/>
              </a:ext>
            </a:extLst>
          </p:cNvPr>
          <p:cNvSpPr>
            <a:spLocks noGrp="1"/>
          </p:cNvSpPr>
          <p:nvPr>
            <p:ph type="title"/>
          </p:nvPr>
        </p:nvSpPr>
        <p:spPr/>
        <p:txBody>
          <a:bodyPr/>
          <a:lstStyle/>
          <a:p>
            <a:r>
              <a:rPr lang="en-US" dirty="0"/>
              <a:t>Using state Hooks - </a:t>
            </a:r>
            <a:r>
              <a:rPr lang="en-US" dirty="0" err="1"/>
              <a:t>useReducer</a:t>
            </a:r>
            <a:endParaRPr lang="en-US" dirty="0"/>
          </a:p>
        </p:txBody>
      </p:sp>
      <p:sp>
        <p:nvSpPr>
          <p:cNvPr id="3" name="Text Placeholder 2">
            <a:extLst>
              <a:ext uri="{FF2B5EF4-FFF2-40B4-BE49-F238E27FC236}">
                <a16:creationId xmlns:a16="http://schemas.microsoft.com/office/drawing/2014/main" id="{3E44238F-0A3B-059E-4179-9750281A08B4}"/>
              </a:ext>
            </a:extLst>
          </p:cNvPr>
          <p:cNvSpPr>
            <a:spLocks noGrp="1"/>
          </p:cNvSpPr>
          <p:nvPr>
            <p:ph type="body" idx="1"/>
          </p:nvPr>
        </p:nvSpPr>
        <p:spPr>
          <a:xfrm>
            <a:off x="1104900" y="1600200"/>
            <a:ext cx="10363200" cy="4572000"/>
          </a:xfrm>
        </p:spPr>
        <p:txBody>
          <a:bodyPr/>
          <a:lstStyle/>
          <a:p>
            <a:r>
              <a:rPr lang="en-US" b="1" dirty="0">
                <a:solidFill>
                  <a:srgbClr val="C00000"/>
                </a:solidFill>
              </a:rPr>
              <a:t>useReducer</a:t>
            </a:r>
            <a:r>
              <a:rPr lang="en-US" dirty="0"/>
              <a:t> is usually preferable to </a:t>
            </a:r>
            <a:r>
              <a:rPr lang="en-US" b="1" dirty="0"/>
              <a:t>useState</a:t>
            </a:r>
            <a:r>
              <a:rPr lang="en-US" dirty="0"/>
              <a:t> when you have complex state logic that involves multiple sub-values or when the next state depends on the previous one.</a:t>
            </a:r>
          </a:p>
          <a:p>
            <a:r>
              <a:rPr lang="en-US" b="1" dirty="0" err="1"/>
              <a:t>useReducer</a:t>
            </a:r>
            <a:r>
              <a:rPr lang="en-US" dirty="0"/>
              <a:t> is a React Hook that lets you add a reducer to your component, lets you optimize performance for components that trigger deep updates because you can pass dispatch down instead of callbacks.</a:t>
            </a:r>
          </a:p>
        </p:txBody>
      </p:sp>
    </p:spTree>
    <p:extLst>
      <p:ext uri="{BB962C8B-B14F-4D97-AF65-F5344CB8AC3E}">
        <p14:creationId xmlns:p14="http://schemas.microsoft.com/office/powerpoint/2010/main" val="41767334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7B3D3-88E9-8312-34E1-7977A076AC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81B022-B609-25DE-EAE7-59730A1E5814}"/>
              </a:ext>
            </a:extLst>
          </p:cNvPr>
          <p:cNvSpPr>
            <a:spLocks noGrp="1"/>
          </p:cNvSpPr>
          <p:nvPr>
            <p:ph type="title"/>
          </p:nvPr>
        </p:nvSpPr>
        <p:spPr/>
        <p:txBody>
          <a:bodyPr/>
          <a:lstStyle/>
          <a:p>
            <a:r>
              <a:rPr lang="en-US" dirty="0"/>
              <a:t>Using state Hooks - </a:t>
            </a:r>
            <a:r>
              <a:rPr lang="en-US" dirty="0" err="1"/>
              <a:t>useReducer</a:t>
            </a:r>
            <a:r>
              <a:rPr lang="en-US" dirty="0"/>
              <a:t> </a:t>
            </a:r>
          </a:p>
        </p:txBody>
      </p:sp>
      <p:sp>
        <p:nvSpPr>
          <p:cNvPr id="3" name="Text Placeholder 2">
            <a:extLst>
              <a:ext uri="{FF2B5EF4-FFF2-40B4-BE49-F238E27FC236}">
                <a16:creationId xmlns:a16="http://schemas.microsoft.com/office/drawing/2014/main" id="{17EE3BC4-C044-4F7A-2A29-A01B7E350E8E}"/>
              </a:ext>
            </a:extLst>
          </p:cNvPr>
          <p:cNvSpPr>
            <a:spLocks noGrp="1"/>
          </p:cNvSpPr>
          <p:nvPr>
            <p:ph type="body" idx="1"/>
          </p:nvPr>
        </p:nvSpPr>
        <p:spPr/>
        <p:txBody>
          <a:bodyPr/>
          <a:lstStyle/>
          <a:p>
            <a:r>
              <a:rPr lang="en-US" dirty="0"/>
              <a:t>Example: Here’s the counter example from the </a:t>
            </a:r>
            <a:r>
              <a:rPr lang="en-US" b="1" dirty="0"/>
              <a:t>useState</a:t>
            </a:r>
            <a:r>
              <a:rPr lang="en-US" dirty="0"/>
              <a:t> section, rewritten to use a </a:t>
            </a:r>
            <a:r>
              <a:rPr lang="en-US" b="1" dirty="0"/>
              <a:t>reducer</a:t>
            </a:r>
            <a:r>
              <a:rPr lang="en-US" dirty="0"/>
              <a:t>:</a:t>
            </a:r>
          </a:p>
        </p:txBody>
      </p:sp>
      <p:sp>
        <p:nvSpPr>
          <p:cNvPr id="5" name="Rectangle 2">
            <a:extLst>
              <a:ext uri="{FF2B5EF4-FFF2-40B4-BE49-F238E27FC236}">
                <a16:creationId xmlns:a16="http://schemas.microsoft.com/office/drawing/2014/main" id="{405684B4-54EB-A1EB-828B-30105A34CFEF}"/>
              </a:ext>
            </a:extLst>
          </p:cNvPr>
          <p:cNvSpPr>
            <a:spLocks noChangeArrowheads="1"/>
          </p:cNvSpPr>
          <p:nvPr/>
        </p:nvSpPr>
        <p:spPr bwMode="auto">
          <a:xfrm>
            <a:off x="1274233" y="2795364"/>
            <a:ext cx="9811349" cy="357020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236538" marR="0" lvl="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2"/>
                </a:solidFill>
                <a:effectLst/>
                <a:latin typeface="source-code-pro"/>
              </a:rPr>
              <a:t>const </a:t>
            </a:r>
            <a:r>
              <a:rPr kumimoji="0" lang="en-US" altLang="en-US" sz="2800" b="1" i="0" u="none" strike="noStrike" cap="none" normalizeH="0" baseline="0" dirty="0" err="1">
                <a:ln>
                  <a:noFill/>
                </a:ln>
                <a:solidFill>
                  <a:schemeClr val="tx2"/>
                </a:solidFill>
                <a:effectLst/>
                <a:latin typeface="source-code-pro"/>
              </a:rPr>
              <a:t>initialState</a:t>
            </a:r>
            <a:r>
              <a:rPr kumimoji="0" lang="en-US" altLang="en-US" sz="2800" b="1" i="0" u="none" strike="noStrike" cap="none" normalizeH="0" baseline="0" dirty="0">
                <a:ln>
                  <a:noFill/>
                </a:ln>
                <a:solidFill>
                  <a:schemeClr val="tx2"/>
                </a:solidFill>
                <a:effectLst/>
                <a:latin typeface="source-code-pro"/>
              </a:rPr>
              <a:t> = {count: 0}; </a:t>
            </a:r>
          </a:p>
          <a:p>
            <a:pPr marL="236538" marR="0" lvl="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2"/>
                </a:solidFill>
                <a:effectLst/>
                <a:latin typeface="source-code-pro"/>
              </a:rPr>
              <a:t>function </a:t>
            </a:r>
            <a:r>
              <a:rPr kumimoji="0" lang="en-US" altLang="en-US" sz="2800" b="1" i="0" u="none" strike="noStrike" cap="none" normalizeH="0" baseline="0" dirty="0">
                <a:ln>
                  <a:noFill/>
                </a:ln>
                <a:solidFill>
                  <a:srgbClr val="C00000"/>
                </a:solidFill>
                <a:effectLst/>
                <a:latin typeface="source-code-pro"/>
              </a:rPr>
              <a:t>reducer</a:t>
            </a:r>
            <a:r>
              <a:rPr kumimoji="0" lang="en-US" altLang="en-US" sz="2800" b="1" i="0" u="none" strike="noStrike" cap="none" normalizeH="0" baseline="0" dirty="0">
                <a:ln>
                  <a:noFill/>
                </a:ln>
                <a:solidFill>
                  <a:schemeClr val="tx2"/>
                </a:solidFill>
                <a:effectLst/>
                <a:latin typeface="source-code-pro"/>
              </a:rPr>
              <a:t>(state, action) { </a:t>
            </a:r>
          </a:p>
          <a:p>
            <a:pPr marL="236538" marR="0" lvl="0" algn="l" defTabSz="914400" rtl="0" eaLnBrk="0" fontAlgn="base" latinLnBrk="0" hangingPunct="0">
              <a:lnSpc>
                <a:spcPct val="100000"/>
              </a:lnSpc>
              <a:spcBef>
                <a:spcPct val="0"/>
              </a:spcBef>
              <a:spcAft>
                <a:spcPct val="0"/>
              </a:spcAft>
              <a:buClrTx/>
              <a:buSzTx/>
              <a:buFontTx/>
              <a:buNone/>
              <a:tabLst/>
            </a:pPr>
            <a:r>
              <a:rPr lang="en-US" altLang="en-US" sz="2800" b="1" dirty="0">
                <a:solidFill>
                  <a:schemeClr val="tx2"/>
                </a:solidFill>
                <a:latin typeface="source-code-pro"/>
              </a:rPr>
              <a:t>	</a:t>
            </a:r>
            <a:r>
              <a:rPr kumimoji="0" lang="en-US" altLang="en-US" sz="2800" b="1" i="0" u="none" strike="noStrike" cap="none" normalizeH="0" baseline="0" dirty="0">
                <a:ln>
                  <a:noFill/>
                </a:ln>
                <a:solidFill>
                  <a:schemeClr val="tx2"/>
                </a:solidFill>
                <a:effectLst/>
                <a:latin typeface="source-code-pro"/>
              </a:rPr>
              <a:t>switch (</a:t>
            </a:r>
            <a:r>
              <a:rPr kumimoji="0" lang="en-US" altLang="en-US" sz="2800" b="1" i="0" u="none" strike="noStrike" cap="none" normalizeH="0" baseline="0" dirty="0" err="1">
                <a:ln>
                  <a:noFill/>
                </a:ln>
                <a:solidFill>
                  <a:schemeClr val="tx2"/>
                </a:solidFill>
                <a:effectLst/>
                <a:latin typeface="source-code-pro"/>
              </a:rPr>
              <a:t>action.type</a:t>
            </a:r>
            <a:r>
              <a:rPr kumimoji="0" lang="en-US" altLang="en-US" sz="2800" b="1" i="0" u="none" strike="noStrike" cap="none" normalizeH="0" baseline="0" dirty="0">
                <a:ln>
                  <a:noFill/>
                </a:ln>
                <a:solidFill>
                  <a:schemeClr val="tx2"/>
                </a:solidFill>
                <a:effectLst/>
                <a:latin typeface="source-code-pro"/>
              </a:rPr>
              <a:t>) { </a:t>
            </a:r>
          </a:p>
          <a:p>
            <a:pPr marL="236538" marR="0" lvl="0" algn="l" defTabSz="914400" rtl="0" eaLnBrk="0" fontAlgn="base" latinLnBrk="0" hangingPunct="0">
              <a:lnSpc>
                <a:spcPct val="100000"/>
              </a:lnSpc>
              <a:spcBef>
                <a:spcPct val="0"/>
              </a:spcBef>
              <a:spcAft>
                <a:spcPct val="0"/>
              </a:spcAft>
              <a:buClrTx/>
              <a:buSzTx/>
              <a:buFontTx/>
              <a:buNone/>
              <a:tabLst/>
            </a:pPr>
            <a:r>
              <a:rPr lang="en-US" altLang="en-US" sz="2800" b="1" dirty="0">
                <a:solidFill>
                  <a:schemeClr val="tx2"/>
                </a:solidFill>
                <a:latin typeface="source-code-pro"/>
              </a:rPr>
              <a:t>		</a:t>
            </a:r>
            <a:r>
              <a:rPr kumimoji="0" lang="en-US" altLang="en-US" sz="2800" b="1" i="0" u="none" strike="noStrike" cap="none" normalizeH="0" baseline="0" dirty="0">
                <a:ln>
                  <a:noFill/>
                </a:ln>
                <a:solidFill>
                  <a:schemeClr val="tx2"/>
                </a:solidFill>
                <a:effectLst/>
                <a:latin typeface="source-code-pro"/>
              </a:rPr>
              <a:t>case 'increment': return {count: </a:t>
            </a:r>
            <a:r>
              <a:rPr kumimoji="0" lang="en-US" altLang="en-US" sz="2800" b="1" i="0" u="none" strike="noStrike" cap="none" normalizeH="0" baseline="0" dirty="0" err="1">
                <a:ln>
                  <a:noFill/>
                </a:ln>
                <a:solidFill>
                  <a:schemeClr val="tx2"/>
                </a:solidFill>
                <a:effectLst/>
                <a:latin typeface="source-code-pro"/>
              </a:rPr>
              <a:t>state.count</a:t>
            </a:r>
            <a:r>
              <a:rPr kumimoji="0" lang="en-US" altLang="en-US" sz="2800" b="1" i="0" u="none" strike="noStrike" cap="none" normalizeH="0" baseline="0" dirty="0">
                <a:ln>
                  <a:noFill/>
                </a:ln>
                <a:solidFill>
                  <a:schemeClr val="tx2"/>
                </a:solidFill>
                <a:effectLst/>
                <a:latin typeface="source-code-pro"/>
              </a:rPr>
              <a:t> + 1}; </a:t>
            </a:r>
          </a:p>
          <a:p>
            <a:pPr marL="236538" marR="0" lvl="0" algn="l" defTabSz="914400" rtl="0" eaLnBrk="0" fontAlgn="base" latinLnBrk="0" hangingPunct="0">
              <a:lnSpc>
                <a:spcPct val="100000"/>
              </a:lnSpc>
              <a:spcBef>
                <a:spcPct val="0"/>
              </a:spcBef>
              <a:spcAft>
                <a:spcPct val="0"/>
              </a:spcAft>
              <a:buClrTx/>
              <a:buSzTx/>
              <a:buFontTx/>
              <a:buNone/>
              <a:tabLst/>
            </a:pPr>
            <a:r>
              <a:rPr lang="en-US" altLang="en-US" sz="2800" b="1" dirty="0">
                <a:solidFill>
                  <a:schemeClr val="tx2"/>
                </a:solidFill>
                <a:latin typeface="source-code-pro"/>
              </a:rPr>
              <a:t>		</a:t>
            </a:r>
            <a:r>
              <a:rPr kumimoji="0" lang="en-US" altLang="en-US" sz="2800" b="1" i="0" u="none" strike="noStrike" cap="none" normalizeH="0" baseline="0" dirty="0">
                <a:ln>
                  <a:noFill/>
                </a:ln>
                <a:solidFill>
                  <a:schemeClr val="tx2"/>
                </a:solidFill>
                <a:effectLst/>
                <a:latin typeface="source-code-pro"/>
              </a:rPr>
              <a:t>case 'decrement': return {count: </a:t>
            </a:r>
            <a:r>
              <a:rPr kumimoji="0" lang="en-US" altLang="en-US" sz="2800" b="1" i="0" u="none" strike="noStrike" cap="none" normalizeH="0" baseline="0" dirty="0" err="1">
                <a:ln>
                  <a:noFill/>
                </a:ln>
                <a:solidFill>
                  <a:schemeClr val="tx2"/>
                </a:solidFill>
                <a:effectLst/>
                <a:latin typeface="source-code-pro"/>
              </a:rPr>
              <a:t>state.count</a:t>
            </a:r>
            <a:r>
              <a:rPr kumimoji="0" lang="en-US" altLang="en-US" sz="2800" b="1" i="0" u="none" strike="noStrike" cap="none" normalizeH="0" baseline="0" dirty="0">
                <a:ln>
                  <a:noFill/>
                </a:ln>
                <a:solidFill>
                  <a:schemeClr val="tx2"/>
                </a:solidFill>
                <a:effectLst/>
                <a:latin typeface="source-code-pro"/>
              </a:rPr>
              <a:t> - 1}; 	default: throw new Error(); </a:t>
            </a:r>
          </a:p>
          <a:p>
            <a:pPr marL="236538" marR="0" lvl="0" algn="l" defTabSz="914400" rtl="0" eaLnBrk="0" fontAlgn="base" latinLnBrk="0" hangingPunct="0">
              <a:lnSpc>
                <a:spcPct val="100000"/>
              </a:lnSpc>
              <a:spcBef>
                <a:spcPct val="0"/>
              </a:spcBef>
              <a:spcAft>
                <a:spcPct val="0"/>
              </a:spcAft>
              <a:buClrTx/>
              <a:buSzTx/>
              <a:buFontTx/>
              <a:buNone/>
              <a:tabLst/>
            </a:pPr>
            <a:r>
              <a:rPr lang="en-US" altLang="en-US" sz="2800" b="1" dirty="0">
                <a:solidFill>
                  <a:schemeClr val="tx2"/>
                </a:solidFill>
                <a:latin typeface="source-code-pro"/>
              </a:rPr>
              <a:t>	</a:t>
            </a:r>
            <a:r>
              <a:rPr kumimoji="0" lang="en-US" altLang="en-US" sz="2800" b="1" i="0" u="none" strike="noStrike" cap="none" normalizeH="0" baseline="0" dirty="0">
                <a:ln>
                  <a:noFill/>
                </a:ln>
                <a:solidFill>
                  <a:schemeClr val="tx2"/>
                </a:solidFill>
                <a:effectLst/>
                <a:latin typeface="source-code-pro"/>
              </a:rPr>
              <a:t>}</a:t>
            </a:r>
          </a:p>
          <a:p>
            <a:pPr marL="236538" marR="0" lvl="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chemeClr val="tx2"/>
                </a:solidFill>
                <a:effectLst/>
                <a:latin typeface="source-code-pro"/>
              </a:rPr>
              <a:t> }</a:t>
            </a:r>
            <a:r>
              <a:rPr kumimoji="0" lang="en-US" altLang="en-US" sz="3600" b="1" i="0" u="none" strike="noStrike" cap="none" normalizeH="0" baseline="0" dirty="0">
                <a:ln>
                  <a:noFill/>
                </a:ln>
                <a:solidFill>
                  <a:schemeClr val="tx2"/>
                </a:solidFill>
                <a:effectLst/>
              </a:rPr>
              <a:t> </a:t>
            </a:r>
            <a:endParaRPr kumimoji="0" lang="en-US" altLang="en-US" sz="5400" b="1" i="0" u="none" strike="noStrike" cap="none" normalizeH="0" baseline="0" dirty="0">
              <a:ln>
                <a:noFill/>
              </a:ln>
              <a:solidFill>
                <a:schemeClr val="tx2"/>
              </a:solidFill>
              <a:effectLst/>
              <a:latin typeface="Arial" panose="020B0604020202020204" pitchFamily="34" charset="0"/>
            </a:endParaRPr>
          </a:p>
        </p:txBody>
      </p:sp>
    </p:spTree>
    <p:extLst>
      <p:ext uri="{BB962C8B-B14F-4D97-AF65-F5344CB8AC3E}">
        <p14:creationId xmlns:p14="http://schemas.microsoft.com/office/powerpoint/2010/main" val="34874855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DE503-EF5F-070A-0711-9E0A3BE04C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679707-A7AB-01BA-F084-5CC8965BA61C}"/>
              </a:ext>
            </a:extLst>
          </p:cNvPr>
          <p:cNvSpPr>
            <a:spLocks noGrp="1"/>
          </p:cNvSpPr>
          <p:nvPr>
            <p:ph type="title"/>
          </p:nvPr>
        </p:nvSpPr>
        <p:spPr/>
        <p:txBody>
          <a:bodyPr/>
          <a:lstStyle/>
          <a:p>
            <a:r>
              <a:rPr lang="en-US" dirty="0"/>
              <a:t>Using state Hooks - </a:t>
            </a:r>
            <a:r>
              <a:rPr lang="en-US" dirty="0" err="1"/>
              <a:t>useReducer</a:t>
            </a:r>
            <a:r>
              <a:rPr lang="en-US" dirty="0"/>
              <a:t> </a:t>
            </a:r>
          </a:p>
        </p:txBody>
      </p:sp>
      <p:sp>
        <p:nvSpPr>
          <p:cNvPr id="3" name="Text Placeholder 2">
            <a:extLst>
              <a:ext uri="{FF2B5EF4-FFF2-40B4-BE49-F238E27FC236}">
                <a16:creationId xmlns:a16="http://schemas.microsoft.com/office/drawing/2014/main" id="{F8D757DB-7412-645A-B053-756CCE831F00}"/>
              </a:ext>
            </a:extLst>
          </p:cNvPr>
          <p:cNvSpPr>
            <a:spLocks noGrp="1"/>
          </p:cNvSpPr>
          <p:nvPr>
            <p:ph type="body" idx="1"/>
          </p:nvPr>
        </p:nvSpPr>
        <p:spPr/>
        <p:txBody>
          <a:bodyPr/>
          <a:lstStyle/>
          <a:p>
            <a:r>
              <a:rPr lang="en-US" dirty="0">
                <a:solidFill>
                  <a:schemeClr val="tx2"/>
                </a:solidFill>
              </a:rPr>
              <a:t>Example: Here’s the counter example from the </a:t>
            </a:r>
            <a:r>
              <a:rPr lang="en-US" b="1" dirty="0">
                <a:solidFill>
                  <a:schemeClr val="tx2"/>
                </a:solidFill>
              </a:rPr>
              <a:t>useState</a:t>
            </a:r>
            <a:r>
              <a:rPr lang="en-US" dirty="0">
                <a:solidFill>
                  <a:schemeClr val="tx2"/>
                </a:solidFill>
              </a:rPr>
              <a:t> section, rewritten to use a </a:t>
            </a:r>
            <a:r>
              <a:rPr lang="en-US" b="1" dirty="0">
                <a:solidFill>
                  <a:schemeClr val="tx2"/>
                </a:solidFill>
              </a:rPr>
              <a:t>reducer</a:t>
            </a:r>
            <a:r>
              <a:rPr lang="en-US" dirty="0">
                <a:solidFill>
                  <a:schemeClr val="tx2"/>
                </a:solidFill>
              </a:rPr>
              <a:t>:</a:t>
            </a:r>
          </a:p>
        </p:txBody>
      </p:sp>
      <p:sp>
        <p:nvSpPr>
          <p:cNvPr id="4" name="Rectangle 1">
            <a:extLst>
              <a:ext uri="{FF2B5EF4-FFF2-40B4-BE49-F238E27FC236}">
                <a16:creationId xmlns:a16="http://schemas.microsoft.com/office/drawing/2014/main" id="{EAC56F9D-5D7B-C236-912C-2A4232114D3B}"/>
              </a:ext>
            </a:extLst>
          </p:cNvPr>
          <p:cNvSpPr>
            <a:spLocks noChangeArrowheads="1"/>
          </p:cNvSpPr>
          <p:nvPr/>
        </p:nvSpPr>
        <p:spPr bwMode="auto">
          <a:xfrm>
            <a:off x="224365" y="2696858"/>
            <a:ext cx="11628968" cy="270843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169863" marR="0" lvl="0" algn="l" defTabSz="914400" rtl="0" eaLnBrk="0" fontAlgn="base" latinLnBrk="0" hangingPunct="0">
              <a:lnSpc>
                <a:spcPct val="100000"/>
              </a:lnSpc>
              <a:spcBef>
                <a:spcPct val="0"/>
              </a:spcBef>
              <a:spcAft>
                <a:spcPct val="0"/>
              </a:spcAft>
              <a:buClrTx/>
              <a:buSzTx/>
              <a:buFontTx/>
              <a:buNone/>
            </a:pPr>
            <a:r>
              <a:rPr kumimoji="0" lang="en-US" altLang="en-US" sz="2800" i="0" u="none" strike="noStrike" cap="none" normalizeH="0" baseline="0" dirty="0">
                <a:ln>
                  <a:noFill/>
                </a:ln>
                <a:solidFill>
                  <a:srgbClr val="C00000"/>
                </a:solidFill>
                <a:effectLst/>
                <a:latin typeface="source-code-pro"/>
              </a:rPr>
              <a:t>function</a:t>
            </a:r>
            <a:r>
              <a:rPr kumimoji="0" lang="en-US" altLang="en-US" sz="2800" i="0" u="none" strike="noStrike" cap="none" normalizeH="0" baseline="0" dirty="0">
                <a:ln>
                  <a:noFill/>
                </a:ln>
                <a:solidFill>
                  <a:srgbClr val="FFFFFF"/>
                </a:solidFill>
                <a:effectLst/>
                <a:latin typeface="source-code-pro"/>
              </a:rPr>
              <a:t> </a:t>
            </a:r>
            <a:r>
              <a:rPr kumimoji="0" lang="en-US" altLang="en-US" sz="2800" i="0" u="none" strike="noStrike" cap="none" normalizeH="0" baseline="0" dirty="0">
                <a:ln>
                  <a:noFill/>
                </a:ln>
                <a:solidFill>
                  <a:srgbClr val="0070C0"/>
                </a:solidFill>
                <a:effectLst/>
                <a:latin typeface="source-code-pro"/>
              </a:rPr>
              <a:t>Counter() {</a:t>
            </a:r>
            <a:r>
              <a:rPr kumimoji="0" lang="en-US" altLang="en-US" sz="2800" i="0" u="none" strike="noStrike" cap="none" normalizeH="0" baseline="0" dirty="0">
                <a:ln>
                  <a:noFill/>
                </a:ln>
                <a:solidFill>
                  <a:srgbClr val="FFFFFF"/>
                </a:solidFill>
                <a:effectLst/>
                <a:latin typeface="source-code-pro"/>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dirty="0">
                <a:solidFill>
                  <a:srgbClr val="FFFFFF"/>
                </a:solidFill>
                <a:latin typeface="source-code-pro"/>
              </a:rPr>
              <a:t>	</a:t>
            </a:r>
            <a:r>
              <a:rPr kumimoji="0" lang="en-US" altLang="en-US" sz="2800" i="0" u="none" strike="noStrike" cap="none" normalizeH="0" baseline="0" dirty="0">
                <a:ln>
                  <a:noFill/>
                </a:ln>
                <a:solidFill>
                  <a:schemeClr val="tx2"/>
                </a:solidFill>
                <a:effectLst/>
                <a:latin typeface="source-code-pro"/>
              </a:rPr>
              <a:t>const</a:t>
            </a:r>
            <a:r>
              <a:rPr kumimoji="0" lang="en-US" altLang="en-US" sz="2800" i="0" u="none" strike="noStrike" cap="none" normalizeH="0" baseline="0" dirty="0">
                <a:ln>
                  <a:noFill/>
                </a:ln>
                <a:solidFill>
                  <a:srgbClr val="FFFFFF"/>
                </a:solidFill>
                <a:effectLst/>
                <a:latin typeface="source-code-pro"/>
              </a:rPr>
              <a:t> </a:t>
            </a:r>
            <a:r>
              <a:rPr kumimoji="0" lang="en-US" altLang="en-US" sz="2800" i="0" u="none" strike="noStrike" cap="none" normalizeH="0" baseline="0" dirty="0">
                <a:ln>
                  <a:noFill/>
                </a:ln>
                <a:solidFill>
                  <a:srgbClr val="0070C0"/>
                </a:solidFill>
                <a:effectLst/>
                <a:latin typeface="source-code-pro"/>
              </a:rPr>
              <a:t>[</a:t>
            </a:r>
            <a:r>
              <a:rPr kumimoji="0" lang="en-US" altLang="en-US" sz="2800" i="0" u="none" strike="noStrike" cap="none" normalizeH="0" baseline="0" dirty="0">
                <a:ln>
                  <a:noFill/>
                </a:ln>
                <a:effectLst/>
                <a:latin typeface="source-code-pro"/>
              </a:rPr>
              <a:t>state, dispatch</a:t>
            </a:r>
            <a:r>
              <a:rPr kumimoji="0" lang="en-US" altLang="en-US" sz="2800" i="0" u="none" strike="noStrike" cap="none" normalizeH="0" baseline="0" dirty="0">
                <a:ln>
                  <a:noFill/>
                </a:ln>
                <a:solidFill>
                  <a:srgbClr val="0070C0"/>
                </a:solidFill>
                <a:effectLst/>
                <a:latin typeface="source-code-pro"/>
              </a:rPr>
              <a:t>] =</a:t>
            </a:r>
            <a:r>
              <a:rPr kumimoji="0" lang="en-US" altLang="en-US" sz="2800" i="0" u="none" strike="noStrike" cap="none" normalizeH="0" baseline="0" dirty="0">
                <a:ln>
                  <a:noFill/>
                </a:ln>
                <a:solidFill>
                  <a:srgbClr val="FFFFFF"/>
                </a:solidFill>
                <a:effectLst/>
                <a:latin typeface="source-code-pro"/>
              </a:rPr>
              <a:t> </a:t>
            </a:r>
            <a:r>
              <a:rPr kumimoji="0" lang="en-US" altLang="en-US" sz="2800" b="1" i="0" u="none" strike="noStrike" cap="none" normalizeH="0" baseline="0" dirty="0" err="1">
                <a:ln>
                  <a:noFill/>
                </a:ln>
                <a:solidFill>
                  <a:srgbClr val="C00000"/>
                </a:solidFill>
                <a:effectLst/>
                <a:latin typeface="source-code-pro"/>
              </a:rPr>
              <a:t>useReducer</a:t>
            </a:r>
            <a:r>
              <a:rPr kumimoji="0" lang="en-US" altLang="en-US" sz="2800" i="0" u="none" strike="noStrike" cap="none" normalizeH="0" baseline="0" dirty="0">
                <a:ln>
                  <a:noFill/>
                </a:ln>
                <a:solidFill>
                  <a:schemeClr val="tx2"/>
                </a:solidFill>
                <a:effectLst/>
                <a:latin typeface="source-code-pro"/>
              </a:rPr>
              <a:t>(reducer</a:t>
            </a:r>
            <a:r>
              <a:rPr kumimoji="0" lang="en-US" altLang="en-US" sz="2800" i="0" u="none" strike="noStrike" cap="none" normalizeH="0" baseline="0" dirty="0">
                <a:ln>
                  <a:noFill/>
                </a:ln>
                <a:solidFill>
                  <a:srgbClr val="88C6BE"/>
                </a:solidFill>
                <a:effectLst/>
                <a:latin typeface="source-code-pro"/>
              </a:rPr>
              <a:t>,</a:t>
            </a:r>
            <a:r>
              <a:rPr kumimoji="0" lang="en-US" altLang="en-US" sz="2800" i="0" u="none" strike="noStrike" cap="none" normalizeH="0" baseline="0" dirty="0">
                <a:ln>
                  <a:noFill/>
                </a:ln>
                <a:solidFill>
                  <a:srgbClr val="FFFFFF"/>
                </a:solidFill>
                <a:effectLst/>
                <a:latin typeface="source-code-pro"/>
              </a:rPr>
              <a:t> </a:t>
            </a:r>
            <a:r>
              <a:rPr kumimoji="0" lang="en-US" altLang="en-US" sz="2800" i="0" u="none" strike="noStrike" cap="none" normalizeH="0" baseline="0" dirty="0" err="1">
                <a:ln>
                  <a:noFill/>
                </a:ln>
                <a:solidFill>
                  <a:srgbClr val="FFFFFF"/>
                </a:solidFill>
                <a:effectLst/>
                <a:latin typeface="source-code-pro"/>
              </a:rPr>
              <a:t>i</a:t>
            </a:r>
            <a:r>
              <a:rPr kumimoji="0" lang="en-US" altLang="en-US" sz="2800" i="0" u="none" strike="noStrike" cap="none" normalizeH="0" baseline="0" dirty="0" err="1">
                <a:ln>
                  <a:noFill/>
                </a:ln>
                <a:solidFill>
                  <a:schemeClr val="tx2"/>
                </a:solidFill>
                <a:effectLst/>
                <a:latin typeface="source-code-pro"/>
              </a:rPr>
              <a:t>nitialState</a:t>
            </a:r>
            <a:r>
              <a:rPr kumimoji="0" lang="en-US" altLang="en-US" sz="2800" i="0" u="none" strike="noStrike" cap="none" normalizeH="0" baseline="0" dirty="0">
                <a:ln>
                  <a:noFill/>
                </a:ln>
                <a:solidFill>
                  <a:schemeClr val="tx2"/>
                </a:solidFill>
                <a:effectLst/>
                <a:latin typeface="source-code-pro"/>
              </a:rPr>
              <a:t>);</a:t>
            </a:r>
            <a:r>
              <a:rPr kumimoji="0" lang="en-US" altLang="en-US" sz="2800" i="0" u="none" strike="noStrike" cap="none" normalizeH="0" baseline="0" dirty="0">
                <a:ln>
                  <a:noFill/>
                </a:ln>
                <a:solidFill>
                  <a:srgbClr val="FFFFFF"/>
                </a:solidFill>
                <a:effectLst/>
                <a:latin typeface="source-code-pro"/>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dirty="0">
                <a:solidFill>
                  <a:srgbClr val="FFFFFF"/>
                </a:solidFill>
                <a:latin typeface="source-code-pro"/>
              </a:rPr>
              <a:t>	</a:t>
            </a:r>
            <a:r>
              <a:rPr kumimoji="0" lang="en-US" altLang="en-US" sz="2800" i="0" u="none" strike="noStrike" cap="none" normalizeH="0" baseline="0" dirty="0">
                <a:ln>
                  <a:noFill/>
                </a:ln>
                <a:solidFill>
                  <a:schemeClr val="tx2"/>
                </a:solidFill>
                <a:effectLst/>
                <a:latin typeface="source-code-pro"/>
              </a:rPr>
              <a:t>return</a:t>
            </a:r>
            <a:r>
              <a:rPr kumimoji="0" lang="en-US" altLang="en-US" sz="2800" i="0" u="none" strike="noStrike" cap="none" normalizeH="0" baseline="0" dirty="0">
                <a:ln>
                  <a:noFill/>
                </a:ln>
                <a:solidFill>
                  <a:srgbClr val="FFFFFF"/>
                </a:solidFill>
                <a:effectLst/>
                <a:latin typeface="source-code-pro"/>
              </a:rPr>
              <a:t> </a:t>
            </a:r>
            <a:r>
              <a:rPr kumimoji="0" lang="en-US" altLang="en-US" sz="2800" i="0" u="none" strike="noStrike" cap="none" normalizeH="0" baseline="0" dirty="0">
                <a:ln>
                  <a:noFill/>
                </a:ln>
                <a:solidFill>
                  <a:schemeClr val="tx2"/>
                </a:solidFill>
                <a:effectLst/>
                <a:latin typeface="source-code-pro"/>
              </a:rPr>
              <a:t>( &lt;&gt; Count: {</a:t>
            </a:r>
            <a:r>
              <a:rPr kumimoji="0" lang="en-US" altLang="en-US" sz="2800" i="0" u="none" strike="noStrike" cap="none" normalizeH="0" baseline="0" dirty="0" err="1">
                <a:ln>
                  <a:noFill/>
                </a:ln>
                <a:solidFill>
                  <a:schemeClr val="tx2"/>
                </a:solidFill>
                <a:effectLst/>
                <a:latin typeface="source-code-pro"/>
              </a:rPr>
              <a:t>state.count</a:t>
            </a:r>
            <a:r>
              <a:rPr kumimoji="0" lang="en-US" altLang="en-US" sz="2800" i="0" u="none" strike="noStrike" cap="none" normalizeH="0" baseline="0" dirty="0">
                <a:ln>
                  <a:noFill/>
                </a:ln>
                <a:solidFill>
                  <a:schemeClr val="tx2"/>
                </a:solidFill>
                <a:effectLst/>
                <a:latin typeface="source-code-pro"/>
              </a:rPr>
              <a:t>}</a:t>
            </a:r>
            <a:r>
              <a:rPr kumimoji="0" lang="en-US" altLang="en-US" sz="2800" i="0" u="none" strike="noStrike" cap="none" normalizeH="0" baseline="0" dirty="0">
                <a:ln>
                  <a:noFill/>
                </a:ln>
                <a:solidFill>
                  <a:srgbClr val="FFFFFF"/>
                </a:solidFill>
                <a:effectLst/>
                <a:latin typeface="source-code-pro"/>
              </a:rPr>
              <a:t> </a:t>
            </a:r>
          </a:p>
          <a:p>
            <a:pPr lvl="2" eaLnBrk="0" fontAlgn="base" hangingPunct="0">
              <a:spcBef>
                <a:spcPct val="0"/>
              </a:spcBef>
              <a:spcAft>
                <a:spcPct val="0"/>
              </a:spcAft>
            </a:pPr>
            <a:r>
              <a:rPr kumimoji="0" lang="en-US" altLang="en-US" sz="2800" i="0" u="none" strike="noStrike" cap="none" normalizeH="0" baseline="0" dirty="0">
                <a:ln>
                  <a:noFill/>
                </a:ln>
                <a:solidFill>
                  <a:schemeClr val="tx2"/>
                </a:solidFill>
                <a:effectLst/>
                <a:latin typeface="source-code-pro"/>
              </a:rPr>
              <a:t>&lt;</a:t>
            </a:r>
            <a:r>
              <a:rPr kumimoji="0" lang="en-US" altLang="en-US" sz="2800" i="0" u="none" strike="noStrike" cap="none" normalizeH="0" baseline="0" dirty="0">
                <a:ln>
                  <a:noFill/>
                </a:ln>
                <a:solidFill>
                  <a:srgbClr val="C00000"/>
                </a:solidFill>
                <a:effectLst/>
                <a:latin typeface="source-code-pro"/>
              </a:rPr>
              <a:t>button</a:t>
            </a:r>
            <a:r>
              <a:rPr kumimoji="0" lang="en-US" altLang="en-US" sz="2800" i="0" u="none" strike="noStrike" cap="none" normalizeH="0" baseline="0" dirty="0">
                <a:ln>
                  <a:noFill/>
                </a:ln>
                <a:solidFill>
                  <a:srgbClr val="FC929E"/>
                </a:solidFill>
                <a:effectLst/>
                <a:latin typeface="source-code-pro"/>
              </a:rPr>
              <a:t> </a:t>
            </a:r>
            <a:r>
              <a:rPr kumimoji="0" lang="en-US" altLang="en-US" sz="2800" i="0" u="none" strike="noStrike" cap="none" normalizeH="0" baseline="0" dirty="0" err="1">
                <a:ln>
                  <a:noFill/>
                </a:ln>
                <a:solidFill>
                  <a:srgbClr val="002060"/>
                </a:solidFill>
                <a:effectLst/>
                <a:latin typeface="source-code-pro"/>
              </a:rPr>
              <a:t>onClick</a:t>
            </a:r>
            <a:r>
              <a:rPr kumimoji="0" lang="en-US" altLang="en-US" sz="2800" i="0" u="none" strike="noStrike" cap="none" normalizeH="0" baseline="0" dirty="0">
                <a:ln>
                  <a:noFill/>
                </a:ln>
                <a:solidFill>
                  <a:srgbClr val="0070C0"/>
                </a:solidFill>
                <a:effectLst/>
                <a:latin typeface="source-code-pro"/>
              </a:rPr>
              <a:t>={() =&gt; dispatch({type</a:t>
            </a:r>
            <a:r>
              <a:rPr kumimoji="0" lang="en-US" altLang="en-US" sz="2800" i="0" u="none" strike="noStrike" cap="none" normalizeH="0" baseline="0" dirty="0">
                <a:ln>
                  <a:noFill/>
                </a:ln>
                <a:solidFill>
                  <a:srgbClr val="D7DEEA"/>
                </a:solidFill>
                <a:effectLst/>
                <a:latin typeface="source-code-pro"/>
              </a:rPr>
              <a:t>:</a:t>
            </a:r>
            <a:r>
              <a:rPr kumimoji="0" lang="en-US" altLang="en-US" sz="2800" i="0" u="none" strike="noStrike" cap="none" normalizeH="0" baseline="0" dirty="0">
                <a:ln>
                  <a:noFill/>
                </a:ln>
                <a:solidFill>
                  <a:srgbClr val="FC929E"/>
                </a:solidFill>
                <a:effectLst/>
                <a:latin typeface="source-code-pro"/>
              </a:rPr>
              <a:t> </a:t>
            </a:r>
            <a:r>
              <a:rPr kumimoji="0" lang="en-US" altLang="en-US" sz="2800" i="0" u="none" strike="noStrike" cap="none" normalizeH="0" baseline="0" dirty="0">
                <a:ln>
                  <a:noFill/>
                </a:ln>
                <a:solidFill>
                  <a:srgbClr val="002060"/>
                </a:solidFill>
                <a:effectLst/>
                <a:latin typeface="source-code-pro"/>
              </a:rPr>
              <a:t>'decrement</a:t>
            </a:r>
            <a:r>
              <a:rPr kumimoji="0" lang="en-US" altLang="en-US" sz="2800" i="0" u="none" strike="noStrike" cap="none" normalizeH="0" baseline="0" dirty="0">
                <a:ln>
                  <a:noFill/>
                </a:ln>
                <a:solidFill>
                  <a:srgbClr val="C00000"/>
                </a:solidFill>
                <a:effectLst/>
                <a:latin typeface="source-code-pro"/>
              </a:rPr>
              <a:t>'})}&gt;-&lt;/button&gt; </a:t>
            </a:r>
          </a:p>
          <a:p>
            <a:pPr lvl="2" eaLnBrk="0" fontAlgn="base" hangingPunct="0">
              <a:spcBef>
                <a:spcPct val="0"/>
              </a:spcBef>
              <a:spcAft>
                <a:spcPct val="0"/>
              </a:spcAft>
            </a:pPr>
            <a:r>
              <a:rPr kumimoji="0" lang="en-US" altLang="en-US" sz="2800" i="0" u="none" strike="noStrike" cap="none" normalizeH="0" baseline="0" dirty="0">
                <a:ln>
                  <a:noFill/>
                </a:ln>
                <a:solidFill>
                  <a:srgbClr val="C00000"/>
                </a:solidFill>
                <a:effectLst/>
                <a:latin typeface="source-code-pro"/>
              </a:rPr>
              <a:t>&lt;button </a:t>
            </a:r>
            <a:r>
              <a:rPr kumimoji="0" lang="en-US" altLang="en-US" sz="2800" i="0" u="none" strike="noStrike" cap="none" normalizeH="0" baseline="0" dirty="0" err="1">
                <a:ln>
                  <a:noFill/>
                </a:ln>
                <a:solidFill>
                  <a:srgbClr val="7030A0"/>
                </a:solidFill>
                <a:effectLst/>
                <a:latin typeface="source-code-pro"/>
              </a:rPr>
              <a:t>onClick</a:t>
            </a:r>
            <a:r>
              <a:rPr kumimoji="0" lang="en-US" altLang="en-US" sz="2800" i="0" u="none" strike="noStrike" cap="none" normalizeH="0" baseline="0" dirty="0">
                <a:ln>
                  <a:noFill/>
                </a:ln>
                <a:solidFill>
                  <a:srgbClr val="0070C0"/>
                </a:solidFill>
                <a:effectLst/>
                <a:latin typeface="source-code-pro"/>
              </a:rPr>
              <a:t>={() =&gt; dispatch({type:</a:t>
            </a:r>
            <a:r>
              <a:rPr kumimoji="0" lang="en-US" altLang="en-US" sz="2800" i="0" u="none" strike="noStrike" cap="none" normalizeH="0" baseline="0" dirty="0">
                <a:ln>
                  <a:noFill/>
                </a:ln>
                <a:solidFill>
                  <a:srgbClr val="FC929E"/>
                </a:solidFill>
                <a:effectLst/>
                <a:latin typeface="source-code-pro"/>
              </a:rPr>
              <a:t> </a:t>
            </a:r>
            <a:r>
              <a:rPr kumimoji="0" lang="en-US" altLang="en-US" sz="2800" i="0" u="none" strike="noStrike" cap="none" normalizeH="0" baseline="0" dirty="0">
                <a:ln>
                  <a:noFill/>
                </a:ln>
                <a:solidFill>
                  <a:srgbClr val="7030A0"/>
                </a:solidFill>
                <a:effectLst/>
                <a:latin typeface="source-code-pro"/>
              </a:rPr>
              <a:t>'increment</a:t>
            </a:r>
            <a:r>
              <a:rPr kumimoji="0" lang="en-US" altLang="en-US" sz="2800" i="0" u="none" strike="noStrike" cap="none" normalizeH="0" baseline="0" dirty="0">
                <a:ln>
                  <a:noFill/>
                </a:ln>
                <a:solidFill>
                  <a:srgbClr val="0070C0"/>
                </a:solidFill>
                <a:effectLst/>
                <a:latin typeface="source-code-pro"/>
              </a:rPr>
              <a:t>'})}&gt;</a:t>
            </a:r>
            <a:r>
              <a:rPr kumimoji="0" lang="en-US" altLang="en-US" sz="2800" i="0" u="none" strike="noStrike" cap="none" normalizeH="0" baseline="0" dirty="0">
                <a:ln>
                  <a:noFill/>
                </a:ln>
                <a:solidFill>
                  <a:srgbClr val="FFFFFF"/>
                </a:solidFill>
                <a:effectLst/>
                <a:latin typeface="source-code-pro"/>
              </a:rPr>
              <a:t>+</a:t>
            </a:r>
            <a:r>
              <a:rPr kumimoji="0" lang="en-US" altLang="en-US" sz="2800" i="0" u="none" strike="noStrike" cap="none" normalizeH="0" baseline="0" dirty="0">
                <a:ln>
                  <a:noFill/>
                </a:ln>
                <a:solidFill>
                  <a:srgbClr val="FF0000"/>
                </a:solidFill>
                <a:effectLst/>
                <a:latin typeface="source-code-pro"/>
              </a:rPr>
              <a:t>&lt;/button&gt;</a:t>
            </a:r>
            <a:r>
              <a:rPr kumimoji="0" lang="en-US" altLang="en-US" sz="2800" i="0" u="none" strike="noStrike" cap="none" normalizeH="0" baseline="0" dirty="0">
                <a:ln>
                  <a:noFill/>
                </a:ln>
                <a:solidFill>
                  <a:srgbClr val="FFFFFF"/>
                </a:solidFill>
                <a:effectLst/>
                <a:latin typeface="source-code-pro"/>
              </a:rPr>
              <a:t> </a:t>
            </a:r>
            <a:r>
              <a:rPr kumimoji="0" lang="en-US" altLang="en-US" sz="2800" i="0" u="none" strike="noStrike" cap="none" normalizeH="0" baseline="0" dirty="0">
                <a:ln>
                  <a:noFill/>
                </a:ln>
                <a:solidFill>
                  <a:srgbClr val="0070C0"/>
                </a:solidFill>
                <a:effectLst/>
                <a:latin typeface="source-code-pro"/>
              </a:rPr>
              <a:t>&lt;/&gt; ); </a:t>
            </a:r>
            <a:endParaRPr lang="en-US" altLang="en-US" sz="2800" dirty="0">
              <a:solidFill>
                <a:srgbClr val="0070C0"/>
              </a:solidFill>
              <a:latin typeface="source-code-pro"/>
            </a:endParaRPr>
          </a:p>
          <a:p>
            <a:pPr marL="169863" lvl="2" eaLnBrk="0" fontAlgn="base" hangingPunct="0">
              <a:spcBef>
                <a:spcPct val="0"/>
              </a:spcBef>
              <a:spcAft>
                <a:spcPct val="0"/>
              </a:spcAft>
            </a:pPr>
            <a:r>
              <a:rPr kumimoji="0" lang="en-US" altLang="en-US" sz="2800" i="0" u="none" strike="noStrike" cap="none" normalizeH="0" baseline="0" dirty="0">
                <a:ln>
                  <a:noFill/>
                </a:ln>
                <a:solidFill>
                  <a:srgbClr val="0070C0"/>
                </a:solidFill>
                <a:effectLst/>
                <a:latin typeface="source-code-pro"/>
              </a:rPr>
              <a:t>}</a:t>
            </a:r>
            <a:r>
              <a:rPr kumimoji="0" lang="en-US" altLang="en-US" sz="3600" i="0" u="none" strike="noStrike" cap="none" normalizeH="0" baseline="0" dirty="0">
                <a:ln>
                  <a:noFill/>
                </a:ln>
                <a:solidFill>
                  <a:srgbClr val="0070C0"/>
                </a:solidFill>
                <a:effectLst/>
              </a:rPr>
              <a:t> </a:t>
            </a:r>
            <a:endParaRPr kumimoji="0" lang="en-US" altLang="en-US" sz="5400" i="0" u="none" strike="noStrike" cap="none" normalizeH="0" baseline="0" dirty="0">
              <a:ln>
                <a:noFill/>
              </a:ln>
              <a:solidFill>
                <a:srgbClr val="0070C0"/>
              </a:solidFill>
              <a:effectLst/>
              <a:latin typeface="Arial" panose="020B0604020202020204" pitchFamily="34" charset="0"/>
            </a:endParaRPr>
          </a:p>
        </p:txBody>
      </p:sp>
    </p:spTree>
    <p:extLst>
      <p:ext uri="{BB962C8B-B14F-4D97-AF65-F5344CB8AC3E}">
        <p14:creationId xmlns:p14="http://schemas.microsoft.com/office/powerpoint/2010/main" val="35405193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2A111-6286-C0E4-B142-6D889668B3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8EC4BC-BF92-832C-CC10-53754C151D52}"/>
              </a:ext>
            </a:extLst>
          </p:cNvPr>
          <p:cNvSpPr>
            <a:spLocks noGrp="1"/>
          </p:cNvSpPr>
          <p:nvPr>
            <p:ph type="title"/>
          </p:nvPr>
        </p:nvSpPr>
        <p:spPr/>
        <p:txBody>
          <a:bodyPr/>
          <a:lstStyle/>
          <a:p>
            <a:r>
              <a:rPr lang="en-US" dirty="0"/>
              <a:t>Using state Hooks - </a:t>
            </a:r>
            <a:r>
              <a:rPr lang="en-US" dirty="0" err="1"/>
              <a:t>useReducer</a:t>
            </a:r>
            <a:r>
              <a:rPr lang="en-US" dirty="0"/>
              <a:t> </a:t>
            </a:r>
          </a:p>
        </p:txBody>
      </p:sp>
      <p:sp>
        <p:nvSpPr>
          <p:cNvPr id="3" name="Text Placeholder 2">
            <a:extLst>
              <a:ext uri="{FF2B5EF4-FFF2-40B4-BE49-F238E27FC236}">
                <a16:creationId xmlns:a16="http://schemas.microsoft.com/office/drawing/2014/main" id="{53DF6588-FCAB-B621-2352-8C215CE96795}"/>
              </a:ext>
            </a:extLst>
          </p:cNvPr>
          <p:cNvSpPr>
            <a:spLocks noGrp="1"/>
          </p:cNvSpPr>
          <p:nvPr>
            <p:ph type="body" idx="1"/>
          </p:nvPr>
        </p:nvSpPr>
        <p:spPr/>
        <p:txBody>
          <a:bodyPr>
            <a:normAutofit/>
          </a:bodyPr>
          <a:lstStyle/>
          <a:p>
            <a:r>
              <a:rPr lang="en-US" b="1" dirty="0">
                <a:solidFill>
                  <a:srgbClr val="FF0000"/>
                </a:solidFill>
              </a:rPr>
              <a:t>Parameters </a:t>
            </a:r>
          </a:p>
          <a:p>
            <a:pPr lvl="1"/>
            <a:r>
              <a:rPr lang="en-US" b="1" dirty="0"/>
              <a:t>reducer</a:t>
            </a:r>
            <a:r>
              <a:rPr lang="en-US" dirty="0"/>
              <a:t>: The reducer function that specifies how the state gets updated. It must be pure, should take the state and action as arguments, and should return the next state. State and action can be of any types.</a:t>
            </a:r>
          </a:p>
          <a:p>
            <a:pPr lvl="1"/>
            <a:r>
              <a:rPr lang="en-US" b="1" dirty="0" err="1"/>
              <a:t>initialArg</a:t>
            </a:r>
            <a:r>
              <a:rPr lang="en-US" dirty="0"/>
              <a:t>: The value from which the initial state is calculated. It can be a value of any type. How the initial state is calculated from it depends on the next </a:t>
            </a:r>
            <a:r>
              <a:rPr lang="en-US" dirty="0" err="1"/>
              <a:t>init</a:t>
            </a:r>
            <a:r>
              <a:rPr lang="en-US" dirty="0"/>
              <a:t> argument.</a:t>
            </a:r>
          </a:p>
          <a:p>
            <a:pPr lvl="1"/>
            <a:r>
              <a:rPr lang="en-US" dirty="0"/>
              <a:t>optional </a:t>
            </a:r>
            <a:r>
              <a:rPr lang="en-US" b="1" dirty="0" err="1"/>
              <a:t>init</a:t>
            </a:r>
            <a:r>
              <a:rPr lang="en-US" dirty="0"/>
              <a:t>: The initializer function that should return the initial state. If it’s not specified, the initial state is set to </a:t>
            </a:r>
            <a:r>
              <a:rPr lang="en-US" dirty="0" err="1"/>
              <a:t>initialArg</a:t>
            </a:r>
            <a:r>
              <a:rPr lang="en-US" dirty="0"/>
              <a:t>. Otherwise, the initial state is set to the result of calling </a:t>
            </a:r>
            <a:r>
              <a:rPr lang="en-US" dirty="0" err="1"/>
              <a:t>init</a:t>
            </a:r>
            <a:r>
              <a:rPr lang="en-US" dirty="0"/>
              <a:t>(</a:t>
            </a:r>
            <a:r>
              <a:rPr lang="en-US" dirty="0" err="1"/>
              <a:t>initialArg</a:t>
            </a:r>
            <a:r>
              <a:rPr lang="en-US" dirty="0"/>
              <a:t>).</a:t>
            </a:r>
          </a:p>
        </p:txBody>
      </p:sp>
    </p:spTree>
    <p:extLst>
      <p:ext uri="{BB962C8B-B14F-4D97-AF65-F5344CB8AC3E}">
        <p14:creationId xmlns:p14="http://schemas.microsoft.com/office/powerpoint/2010/main" val="10462424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04242-2AF3-1B3F-38B7-8D58797B0F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995424-7581-1262-E30E-4605D754D119}"/>
              </a:ext>
            </a:extLst>
          </p:cNvPr>
          <p:cNvSpPr>
            <a:spLocks noGrp="1"/>
          </p:cNvSpPr>
          <p:nvPr>
            <p:ph type="title"/>
          </p:nvPr>
        </p:nvSpPr>
        <p:spPr/>
        <p:txBody>
          <a:bodyPr/>
          <a:lstStyle/>
          <a:p>
            <a:r>
              <a:rPr lang="en-US" dirty="0"/>
              <a:t>Using state Hooks - </a:t>
            </a:r>
            <a:r>
              <a:rPr lang="en-US" dirty="0" err="1"/>
              <a:t>useReducer</a:t>
            </a:r>
            <a:r>
              <a:rPr lang="en-US" dirty="0"/>
              <a:t> </a:t>
            </a:r>
          </a:p>
        </p:txBody>
      </p:sp>
      <p:sp>
        <p:nvSpPr>
          <p:cNvPr id="3" name="Text Placeholder 2">
            <a:extLst>
              <a:ext uri="{FF2B5EF4-FFF2-40B4-BE49-F238E27FC236}">
                <a16:creationId xmlns:a16="http://schemas.microsoft.com/office/drawing/2014/main" id="{D4853C65-F554-C3C5-3F25-6F25B90EC94A}"/>
              </a:ext>
            </a:extLst>
          </p:cNvPr>
          <p:cNvSpPr>
            <a:spLocks noGrp="1"/>
          </p:cNvSpPr>
          <p:nvPr>
            <p:ph type="body" idx="1"/>
          </p:nvPr>
        </p:nvSpPr>
        <p:spPr/>
        <p:txBody>
          <a:bodyPr/>
          <a:lstStyle/>
          <a:p>
            <a:r>
              <a:rPr lang="en-US" b="1" dirty="0">
                <a:solidFill>
                  <a:srgbClr val="FF0000"/>
                </a:solidFill>
              </a:rPr>
              <a:t>Returns: </a:t>
            </a:r>
            <a:r>
              <a:rPr lang="en-US" dirty="0" err="1"/>
              <a:t>useReducer</a:t>
            </a:r>
            <a:r>
              <a:rPr lang="en-US" dirty="0"/>
              <a:t> returns an array with exactly two values:</a:t>
            </a:r>
          </a:p>
          <a:p>
            <a:pPr lvl="1"/>
            <a:r>
              <a:rPr lang="en-US" b="1" dirty="0"/>
              <a:t>The current state</a:t>
            </a:r>
            <a:r>
              <a:rPr lang="en-US" dirty="0"/>
              <a:t>. During the first render, it’s set to </a:t>
            </a:r>
            <a:r>
              <a:rPr lang="en-US" dirty="0" err="1"/>
              <a:t>init</a:t>
            </a:r>
            <a:r>
              <a:rPr lang="en-US" dirty="0"/>
              <a:t>(</a:t>
            </a:r>
            <a:r>
              <a:rPr lang="en-US" dirty="0" err="1"/>
              <a:t>initialArg</a:t>
            </a:r>
            <a:r>
              <a:rPr lang="en-US" dirty="0"/>
              <a:t>) or </a:t>
            </a:r>
            <a:r>
              <a:rPr lang="en-US" dirty="0" err="1"/>
              <a:t>initialArg</a:t>
            </a:r>
            <a:r>
              <a:rPr lang="en-US" dirty="0"/>
              <a:t> (if there’s no </a:t>
            </a:r>
            <a:r>
              <a:rPr lang="en-US" dirty="0" err="1"/>
              <a:t>init</a:t>
            </a:r>
            <a:r>
              <a:rPr lang="en-US" dirty="0"/>
              <a:t>).</a:t>
            </a:r>
          </a:p>
          <a:p>
            <a:pPr lvl="1"/>
            <a:r>
              <a:rPr lang="en-US" b="1" dirty="0"/>
              <a:t>The dispatch function </a:t>
            </a:r>
            <a:r>
              <a:rPr lang="en-US" dirty="0"/>
              <a:t>that lets you update the state to a different value and trigger a re-render.</a:t>
            </a:r>
          </a:p>
        </p:txBody>
      </p:sp>
    </p:spTree>
    <p:extLst>
      <p:ext uri="{BB962C8B-B14F-4D97-AF65-F5344CB8AC3E}">
        <p14:creationId xmlns:p14="http://schemas.microsoft.com/office/powerpoint/2010/main" val="5553298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58595-2849-3633-EB23-064822E8F2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80E8F7-92D5-CA46-8071-D00796600552}"/>
              </a:ext>
            </a:extLst>
          </p:cNvPr>
          <p:cNvSpPr>
            <a:spLocks noGrp="1"/>
          </p:cNvSpPr>
          <p:nvPr>
            <p:ph type="title"/>
          </p:nvPr>
        </p:nvSpPr>
        <p:spPr/>
        <p:txBody>
          <a:bodyPr/>
          <a:lstStyle/>
          <a:p>
            <a:r>
              <a:rPr lang="en-US" dirty="0"/>
              <a:t>Using state Hooks - </a:t>
            </a:r>
            <a:r>
              <a:rPr lang="en-US" dirty="0" err="1"/>
              <a:t>useReducer</a:t>
            </a:r>
            <a:r>
              <a:rPr lang="en-US" dirty="0"/>
              <a:t> </a:t>
            </a:r>
          </a:p>
        </p:txBody>
      </p:sp>
      <p:sp>
        <p:nvSpPr>
          <p:cNvPr id="3" name="Text Placeholder 2">
            <a:extLst>
              <a:ext uri="{FF2B5EF4-FFF2-40B4-BE49-F238E27FC236}">
                <a16:creationId xmlns:a16="http://schemas.microsoft.com/office/drawing/2014/main" id="{AE3AD470-AA19-D24F-CDCF-EF94F4856E8C}"/>
              </a:ext>
            </a:extLst>
          </p:cNvPr>
          <p:cNvSpPr>
            <a:spLocks noGrp="1"/>
          </p:cNvSpPr>
          <p:nvPr>
            <p:ph type="body" idx="1"/>
          </p:nvPr>
        </p:nvSpPr>
        <p:spPr/>
        <p:txBody>
          <a:bodyPr/>
          <a:lstStyle/>
          <a:p>
            <a:r>
              <a:rPr lang="en-US" b="1" dirty="0">
                <a:solidFill>
                  <a:srgbClr val="FF0000"/>
                </a:solidFill>
              </a:rPr>
              <a:t>dispatch function </a:t>
            </a:r>
          </a:p>
          <a:p>
            <a:pPr lvl="1"/>
            <a:r>
              <a:rPr lang="en-US" dirty="0"/>
              <a:t>The dispatch function returned by </a:t>
            </a:r>
            <a:r>
              <a:rPr lang="en-US" b="1" dirty="0" err="1"/>
              <a:t>useReducer</a:t>
            </a:r>
            <a:r>
              <a:rPr lang="en-US" dirty="0"/>
              <a:t> lets you update the state to a different value and trigger a re-render. </a:t>
            </a:r>
          </a:p>
          <a:p>
            <a:pPr lvl="1"/>
            <a:r>
              <a:rPr lang="en-US" dirty="0"/>
              <a:t>We need to pass the action as the only argument to the dispatch function:</a:t>
            </a:r>
          </a:p>
        </p:txBody>
      </p:sp>
      <p:sp>
        <p:nvSpPr>
          <p:cNvPr id="6" name="TextBox 5">
            <a:extLst>
              <a:ext uri="{FF2B5EF4-FFF2-40B4-BE49-F238E27FC236}">
                <a16:creationId xmlns:a16="http://schemas.microsoft.com/office/drawing/2014/main" id="{A53D6D01-C754-5859-B3C2-75172896EC18}"/>
              </a:ext>
            </a:extLst>
          </p:cNvPr>
          <p:cNvSpPr txBox="1"/>
          <p:nvPr/>
        </p:nvSpPr>
        <p:spPr>
          <a:xfrm>
            <a:off x="558041" y="3886200"/>
            <a:ext cx="11074400" cy="2250040"/>
          </a:xfrm>
          <a:prstGeom prst="rect">
            <a:avLst/>
          </a:prstGeom>
          <a:noFill/>
          <a:ln>
            <a:solidFill>
              <a:schemeClr val="accent1"/>
            </a:solidFill>
          </a:ln>
        </p:spPr>
        <p:txBody>
          <a:bodyPr wrap="square">
            <a:spAutoFit/>
          </a:bodyPr>
          <a:lstStyle/>
          <a:p>
            <a:pPr algn="l">
              <a:lnSpc>
                <a:spcPct val="150000"/>
              </a:lnSpc>
            </a:pPr>
            <a:r>
              <a:rPr lang="en-US" sz="2400" b="1" i="0" dirty="0">
                <a:solidFill>
                  <a:srgbClr val="FF0000"/>
                </a:solidFill>
                <a:effectLst/>
                <a:latin typeface="Source Code Pro" panose="020B0509030403020204" pitchFamily="49" charset="0"/>
              </a:rPr>
              <a:t>const</a:t>
            </a:r>
            <a:r>
              <a:rPr lang="en-US" sz="2400" b="1" i="0" dirty="0">
                <a:solidFill>
                  <a:srgbClr val="23272F"/>
                </a:solidFill>
                <a:effectLst/>
                <a:latin typeface="Source Code Pro" panose="020B0509030403020204" pitchFamily="49" charset="0"/>
              </a:rPr>
              <a:t> [state, dispatch] = </a:t>
            </a:r>
            <a:r>
              <a:rPr lang="en-US" sz="2400" b="1" i="0" dirty="0" err="1">
                <a:solidFill>
                  <a:srgbClr val="0070C0"/>
                </a:solidFill>
                <a:effectLst/>
                <a:latin typeface="Source Code Pro" panose="020B0509030403020204" pitchFamily="49" charset="0"/>
              </a:rPr>
              <a:t>useReducer</a:t>
            </a:r>
            <a:r>
              <a:rPr lang="en-US" sz="2400" b="1" i="0" dirty="0">
                <a:solidFill>
                  <a:srgbClr val="23272F"/>
                </a:solidFill>
                <a:effectLst/>
                <a:latin typeface="Source Code Pro" panose="020B0509030403020204" pitchFamily="49" charset="0"/>
              </a:rPr>
              <a:t>(reducer, { age: 42 });</a:t>
            </a:r>
            <a:br>
              <a:rPr lang="en-US" sz="2400" b="1" i="0" dirty="0">
                <a:solidFill>
                  <a:srgbClr val="23272F"/>
                </a:solidFill>
                <a:effectLst/>
                <a:latin typeface="Source Code Pro" panose="020B0509030403020204" pitchFamily="49" charset="0"/>
              </a:rPr>
            </a:br>
            <a:r>
              <a:rPr lang="en-US" sz="2400" b="1" i="0" dirty="0">
                <a:solidFill>
                  <a:srgbClr val="FF0000"/>
                </a:solidFill>
                <a:effectLst/>
                <a:latin typeface="Source Code Pro" panose="020B0509030403020204" pitchFamily="49" charset="0"/>
              </a:rPr>
              <a:t>function</a:t>
            </a:r>
            <a:r>
              <a:rPr lang="en-US" sz="2400" b="1" i="0" dirty="0">
                <a:solidFill>
                  <a:srgbClr val="23272F"/>
                </a:solidFill>
                <a:effectLst/>
                <a:latin typeface="Source Code Pro" panose="020B0509030403020204" pitchFamily="49" charset="0"/>
              </a:rPr>
              <a:t> </a:t>
            </a:r>
            <a:r>
              <a:rPr lang="en-US" sz="2400" b="1" i="0" dirty="0" err="1">
                <a:solidFill>
                  <a:srgbClr val="0070C0"/>
                </a:solidFill>
                <a:effectLst/>
                <a:latin typeface="Source Code Pro" panose="020B0509030403020204" pitchFamily="49" charset="0"/>
              </a:rPr>
              <a:t>handleClick</a:t>
            </a:r>
            <a:r>
              <a:rPr lang="en-US" sz="2400" b="1" i="0" dirty="0">
                <a:solidFill>
                  <a:srgbClr val="23272F"/>
                </a:solidFill>
                <a:effectLst/>
                <a:latin typeface="Source Code Pro" panose="020B0509030403020204" pitchFamily="49" charset="0"/>
              </a:rPr>
              <a:t>() {</a:t>
            </a:r>
            <a:br>
              <a:rPr lang="en-US" sz="2400" b="1" i="0" dirty="0">
                <a:solidFill>
                  <a:srgbClr val="23272F"/>
                </a:solidFill>
                <a:effectLst/>
                <a:latin typeface="Source Code Pro" panose="020B0509030403020204" pitchFamily="49" charset="0"/>
              </a:rPr>
            </a:br>
            <a:r>
              <a:rPr lang="en-US" sz="2400" b="1" i="0" dirty="0">
                <a:solidFill>
                  <a:srgbClr val="0070C0"/>
                </a:solidFill>
                <a:effectLst/>
                <a:latin typeface="Source Code Pro" panose="020B0509030403020204" pitchFamily="49" charset="0"/>
              </a:rPr>
              <a:t>dispatch</a:t>
            </a:r>
            <a:r>
              <a:rPr lang="en-US" sz="2400" b="1" i="0" dirty="0">
                <a:solidFill>
                  <a:srgbClr val="23272F"/>
                </a:solidFill>
                <a:effectLst/>
                <a:latin typeface="Source Code Pro" panose="020B0509030403020204" pitchFamily="49" charset="0"/>
              </a:rPr>
              <a:t>({ type: '</a:t>
            </a:r>
            <a:r>
              <a:rPr lang="en-US" sz="2400" b="1" i="0" dirty="0" err="1">
                <a:solidFill>
                  <a:srgbClr val="23272F"/>
                </a:solidFill>
                <a:effectLst/>
                <a:latin typeface="Source Code Pro" panose="020B0509030403020204" pitchFamily="49" charset="0"/>
              </a:rPr>
              <a:t>incremented_age</a:t>
            </a:r>
            <a:r>
              <a:rPr lang="en-US" sz="2400" b="1" i="0" dirty="0">
                <a:solidFill>
                  <a:srgbClr val="23272F"/>
                </a:solidFill>
                <a:effectLst/>
                <a:latin typeface="Source Code Pro" panose="020B0509030403020204" pitchFamily="49" charset="0"/>
              </a:rPr>
              <a:t>' });</a:t>
            </a:r>
            <a:br>
              <a:rPr lang="en-US" sz="2400" b="1" i="0" dirty="0">
                <a:solidFill>
                  <a:srgbClr val="23272F"/>
                </a:solidFill>
                <a:effectLst/>
                <a:latin typeface="Source Code Pro" panose="020B0509030403020204" pitchFamily="49" charset="0"/>
              </a:rPr>
            </a:br>
            <a:r>
              <a:rPr lang="en-US" sz="2400" b="1" i="0" dirty="0">
                <a:solidFill>
                  <a:srgbClr val="23272F"/>
                </a:solidFill>
                <a:effectLst/>
                <a:latin typeface="Source Code Pro" panose="020B0509030403020204" pitchFamily="49" charset="0"/>
              </a:rPr>
              <a:t>// ...</a:t>
            </a:r>
          </a:p>
        </p:txBody>
      </p:sp>
    </p:spTree>
    <p:extLst>
      <p:ext uri="{BB962C8B-B14F-4D97-AF65-F5344CB8AC3E}">
        <p14:creationId xmlns:p14="http://schemas.microsoft.com/office/powerpoint/2010/main" val="41947304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D5C4E-2CAC-26CE-E807-79EC05FDA5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2D6862-EE1B-9416-6B83-DE25160C6441}"/>
              </a:ext>
            </a:extLst>
          </p:cNvPr>
          <p:cNvSpPr>
            <a:spLocks noGrp="1"/>
          </p:cNvSpPr>
          <p:nvPr>
            <p:ph type="title"/>
          </p:nvPr>
        </p:nvSpPr>
        <p:spPr/>
        <p:txBody>
          <a:bodyPr/>
          <a:lstStyle/>
          <a:p>
            <a:r>
              <a:rPr lang="en-US" dirty="0"/>
              <a:t>Using state Hooks - </a:t>
            </a:r>
            <a:r>
              <a:rPr lang="en-US" dirty="0" err="1"/>
              <a:t>useReducer</a:t>
            </a:r>
            <a:r>
              <a:rPr lang="en-US" dirty="0"/>
              <a:t> </a:t>
            </a:r>
          </a:p>
        </p:txBody>
      </p:sp>
      <p:sp>
        <p:nvSpPr>
          <p:cNvPr id="3" name="Text Placeholder 2">
            <a:extLst>
              <a:ext uri="{FF2B5EF4-FFF2-40B4-BE49-F238E27FC236}">
                <a16:creationId xmlns:a16="http://schemas.microsoft.com/office/drawing/2014/main" id="{AF012DDF-3F25-2262-09FF-0FDFCE5E1B19}"/>
              </a:ext>
            </a:extLst>
          </p:cNvPr>
          <p:cNvSpPr>
            <a:spLocks noGrp="1"/>
          </p:cNvSpPr>
          <p:nvPr>
            <p:ph type="body" idx="1"/>
          </p:nvPr>
        </p:nvSpPr>
        <p:spPr/>
        <p:txBody>
          <a:bodyPr/>
          <a:lstStyle/>
          <a:p>
            <a:r>
              <a:rPr lang="en-US" b="1" dirty="0">
                <a:solidFill>
                  <a:srgbClr val="FF0000"/>
                </a:solidFill>
              </a:rPr>
              <a:t>dispatch function </a:t>
            </a:r>
          </a:p>
          <a:p>
            <a:pPr lvl="1"/>
            <a:r>
              <a:rPr lang="en-US" dirty="0"/>
              <a:t>React will set the next state to the result of calling the reducer function you’ve provided with the current state and the action you’ve passed to dispatch.</a:t>
            </a:r>
          </a:p>
          <a:p>
            <a:pPr lvl="1"/>
            <a:r>
              <a:rPr lang="en-US" b="1" dirty="0">
                <a:solidFill>
                  <a:srgbClr val="0070C0"/>
                </a:solidFill>
              </a:rPr>
              <a:t>Parameters</a:t>
            </a:r>
            <a:r>
              <a:rPr lang="en-US" dirty="0"/>
              <a:t> </a:t>
            </a:r>
          </a:p>
          <a:p>
            <a:pPr lvl="2"/>
            <a:r>
              <a:rPr lang="en-US" sz="2400" b="1" dirty="0"/>
              <a:t>action</a:t>
            </a:r>
            <a:r>
              <a:rPr lang="en-US" sz="2400" dirty="0"/>
              <a:t>: The action performed by the user. It can be a value of any type. By convention, an action is usually an object with a type property identifying it and, optionally, other properties with additional information.</a:t>
            </a:r>
          </a:p>
          <a:p>
            <a:pPr lvl="1"/>
            <a:r>
              <a:rPr lang="en-US" b="1" dirty="0">
                <a:solidFill>
                  <a:srgbClr val="0070C0"/>
                </a:solidFill>
              </a:rPr>
              <a:t>Returns: </a:t>
            </a:r>
            <a:r>
              <a:rPr lang="en-US" dirty="0"/>
              <a:t>dispatch functions do not have a return value.</a:t>
            </a:r>
          </a:p>
        </p:txBody>
      </p:sp>
    </p:spTree>
    <p:extLst>
      <p:ext uri="{BB962C8B-B14F-4D97-AF65-F5344CB8AC3E}">
        <p14:creationId xmlns:p14="http://schemas.microsoft.com/office/powerpoint/2010/main" val="15489984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0C61F-C3DD-9581-14FC-BFC5049546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3D05B3-EA1A-2ADD-090B-59009669C4ED}"/>
              </a:ext>
            </a:extLst>
          </p:cNvPr>
          <p:cNvSpPr>
            <a:spLocks noGrp="1"/>
          </p:cNvSpPr>
          <p:nvPr>
            <p:ph type="title"/>
          </p:nvPr>
        </p:nvSpPr>
        <p:spPr/>
        <p:txBody>
          <a:bodyPr/>
          <a:lstStyle/>
          <a:p>
            <a:r>
              <a:rPr lang="en-US" dirty="0"/>
              <a:t>Using state Hooks - </a:t>
            </a:r>
            <a:r>
              <a:rPr lang="en-US" dirty="0" err="1"/>
              <a:t>useReducer</a:t>
            </a:r>
            <a:r>
              <a:rPr lang="en-US" dirty="0"/>
              <a:t> </a:t>
            </a:r>
          </a:p>
        </p:txBody>
      </p:sp>
      <p:sp>
        <p:nvSpPr>
          <p:cNvPr id="3" name="Text Placeholder 2">
            <a:extLst>
              <a:ext uri="{FF2B5EF4-FFF2-40B4-BE49-F238E27FC236}">
                <a16:creationId xmlns:a16="http://schemas.microsoft.com/office/drawing/2014/main" id="{4A311D39-DDF8-B932-3025-3612EE16EE0C}"/>
              </a:ext>
            </a:extLst>
          </p:cNvPr>
          <p:cNvSpPr>
            <a:spLocks noGrp="1"/>
          </p:cNvSpPr>
          <p:nvPr>
            <p:ph type="body" idx="1"/>
          </p:nvPr>
        </p:nvSpPr>
        <p:spPr/>
        <p:txBody>
          <a:bodyPr/>
          <a:lstStyle/>
          <a:p>
            <a:r>
              <a:rPr lang="en-US" b="1" dirty="0">
                <a:solidFill>
                  <a:srgbClr val="FF0000"/>
                </a:solidFill>
              </a:rPr>
              <a:t>Adding a reducer to a component</a:t>
            </a:r>
            <a:r>
              <a:rPr lang="en-US" dirty="0"/>
              <a:t>: Call </a:t>
            </a:r>
            <a:r>
              <a:rPr lang="en-US" b="1" dirty="0" err="1"/>
              <a:t>useReducer</a:t>
            </a:r>
            <a:r>
              <a:rPr lang="en-US" dirty="0"/>
              <a:t> at the </a:t>
            </a:r>
            <a:r>
              <a:rPr lang="en-US" b="1" dirty="0"/>
              <a:t>top level </a:t>
            </a:r>
            <a:r>
              <a:rPr lang="en-US" dirty="0"/>
              <a:t>of your component to manage state with a reducer.</a:t>
            </a:r>
          </a:p>
          <a:p>
            <a:endParaRPr lang="en-US" dirty="0"/>
          </a:p>
        </p:txBody>
      </p:sp>
      <p:sp>
        <p:nvSpPr>
          <p:cNvPr id="5" name="TextBox 4">
            <a:extLst>
              <a:ext uri="{FF2B5EF4-FFF2-40B4-BE49-F238E27FC236}">
                <a16:creationId xmlns:a16="http://schemas.microsoft.com/office/drawing/2014/main" id="{F9AC8FB0-E260-6A0C-8C01-2671A47C10F9}"/>
              </a:ext>
            </a:extLst>
          </p:cNvPr>
          <p:cNvSpPr txBox="1"/>
          <p:nvPr/>
        </p:nvSpPr>
        <p:spPr>
          <a:xfrm>
            <a:off x="752395" y="2701709"/>
            <a:ext cx="10685692" cy="3164136"/>
          </a:xfrm>
          <a:prstGeom prst="rect">
            <a:avLst/>
          </a:prstGeom>
          <a:noFill/>
          <a:ln>
            <a:solidFill>
              <a:schemeClr val="accent1"/>
            </a:solidFill>
          </a:ln>
        </p:spPr>
        <p:txBody>
          <a:bodyPr wrap="square">
            <a:spAutoFit/>
          </a:bodyPr>
          <a:lstStyle/>
          <a:p>
            <a:pPr algn="l">
              <a:lnSpc>
                <a:spcPct val="120000"/>
              </a:lnSpc>
            </a:pPr>
            <a:r>
              <a:rPr lang="en-US" sz="2400" b="1" i="0" dirty="0">
                <a:solidFill>
                  <a:srgbClr val="FF0000"/>
                </a:solidFill>
                <a:effectLst/>
                <a:latin typeface="Source Code Pro" panose="020B0509030403020204" pitchFamily="49" charset="0"/>
              </a:rPr>
              <a:t>import</a:t>
            </a:r>
            <a:r>
              <a:rPr lang="en-US" sz="2400" b="1" i="0" dirty="0">
                <a:solidFill>
                  <a:srgbClr val="23272F"/>
                </a:solidFill>
                <a:effectLst/>
                <a:latin typeface="Source Code Pro" panose="020B0509030403020204" pitchFamily="49" charset="0"/>
              </a:rPr>
              <a:t> { </a:t>
            </a:r>
            <a:r>
              <a:rPr lang="en-US" sz="2400" b="1" i="0" dirty="0" err="1">
                <a:solidFill>
                  <a:srgbClr val="23272F"/>
                </a:solidFill>
                <a:effectLst/>
                <a:latin typeface="Source Code Pro" panose="020B0509030403020204" pitchFamily="49" charset="0"/>
              </a:rPr>
              <a:t>useReducer</a:t>
            </a:r>
            <a:r>
              <a:rPr lang="en-US" sz="2400" b="1" i="0" dirty="0">
                <a:solidFill>
                  <a:srgbClr val="23272F"/>
                </a:solidFill>
                <a:effectLst/>
                <a:latin typeface="Source Code Pro" panose="020B0509030403020204" pitchFamily="49" charset="0"/>
              </a:rPr>
              <a:t> } from 'react';</a:t>
            </a:r>
          </a:p>
          <a:p>
            <a:pPr algn="l">
              <a:lnSpc>
                <a:spcPct val="120000"/>
              </a:lnSpc>
            </a:pPr>
            <a:r>
              <a:rPr lang="en-US" sz="2400" b="1" i="0" dirty="0">
                <a:solidFill>
                  <a:srgbClr val="FF0000"/>
                </a:solidFill>
                <a:effectLst/>
                <a:latin typeface="Source Code Pro" panose="020B0509030403020204" pitchFamily="49" charset="0"/>
              </a:rPr>
              <a:t>function</a:t>
            </a:r>
            <a:r>
              <a:rPr lang="en-US" sz="2400" b="1" i="0" dirty="0">
                <a:solidFill>
                  <a:srgbClr val="23272F"/>
                </a:solidFill>
                <a:effectLst/>
                <a:latin typeface="Source Code Pro" panose="020B0509030403020204" pitchFamily="49" charset="0"/>
              </a:rPr>
              <a:t> </a:t>
            </a:r>
            <a:r>
              <a:rPr lang="en-US" sz="2400" b="1" i="0" dirty="0">
                <a:solidFill>
                  <a:srgbClr val="7030A0"/>
                </a:solidFill>
                <a:effectLst/>
                <a:latin typeface="Source Code Pro" panose="020B0509030403020204" pitchFamily="49" charset="0"/>
              </a:rPr>
              <a:t>reducer</a:t>
            </a:r>
            <a:r>
              <a:rPr lang="en-US" sz="2400" b="1" i="0" dirty="0">
                <a:solidFill>
                  <a:srgbClr val="23272F"/>
                </a:solidFill>
                <a:effectLst/>
                <a:latin typeface="Source Code Pro" panose="020B0509030403020204" pitchFamily="49" charset="0"/>
              </a:rPr>
              <a:t>(state, action) {</a:t>
            </a:r>
          </a:p>
          <a:p>
            <a:pPr algn="l">
              <a:lnSpc>
                <a:spcPct val="120000"/>
              </a:lnSpc>
            </a:pPr>
            <a:r>
              <a:rPr lang="en-US" sz="2400" b="1" i="0" dirty="0">
                <a:solidFill>
                  <a:srgbClr val="23272F"/>
                </a:solidFill>
                <a:effectLst/>
                <a:latin typeface="Source Code Pro" panose="020B0509030403020204" pitchFamily="49" charset="0"/>
              </a:rPr>
              <a:t>// ...</a:t>
            </a:r>
          </a:p>
          <a:p>
            <a:pPr algn="l">
              <a:lnSpc>
                <a:spcPct val="120000"/>
              </a:lnSpc>
            </a:pPr>
            <a:r>
              <a:rPr lang="en-US" sz="2400" b="1" i="0" dirty="0">
                <a:solidFill>
                  <a:srgbClr val="23272F"/>
                </a:solidFill>
                <a:effectLst/>
                <a:latin typeface="Source Code Pro" panose="020B0509030403020204" pitchFamily="49" charset="0"/>
              </a:rPr>
              <a:t>}</a:t>
            </a:r>
          </a:p>
          <a:p>
            <a:pPr algn="l">
              <a:lnSpc>
                <a:spcPct val="120000"/>
              </a:lnSpc>
            </a:pPr>
            <a:r>
              <a:rPr lang="en-US" sz="2400" b="1" i="0" dirty="0">
                <a:solidFill>
                  <a:srgbClr val="FF0000"/>
                </a:solidFill>
                <a:effectLst/>
                <a:latin typeface="Source Code Pro" panose="020B0509030403020204" pitchFamily="49" charset="0"/>
              </a:rPr>
              <a:t>function</a:t>
            </a:r>
            <a:r>
              <a:rPr lang="en-US" sz="2400" b="1" i="0" dirty="0">
                <a:solidFill>
                  <a:srgbClr val="23272F"/>
                </a:solidFill>
                <a:effectLst/>
                <a:latin typeface="Source Code Pro" panose="020B0509030403020204" pitchFamily="49" charset="0"/>
              </a:rPr>
              <a:t> </a:t>
            </a:r>
            <a:r>
              <a:rPr lang="en-US" sz="2400" b="1" i="0" dirty="0" err="1">
                <a:solidFill>
                  <a:srgbClr val="7030A0"/>
                </a:solidFill>
                <a:effectLst/>
                <a:latin typeface="Source Code Pro" panose="020B0509030403020204" pitchFamily="49" charset="0"/>
              </a:rPr>
              <a:t>MyComponent</a:t>
            </a:r>
            <a:r>
              <a:rPr lang="en-US" sz="2400" b="1" i="0" dirty="0">
                <a:solidFill>
                  <a:srgbClr val="23272F"/>
                </a:solidFill>
                <a:effectLst/>
                <a:latin typeface="Source Code Pro" panose="020B0509030403020204" pitchFamily="49" charset="0"/>
              </a:rPr>
              <a:t>() {</a:t>
            </a:r>
          </a:p>
          <a:p>
            <a:pPr algn="l">
              <a:lnSpc>
                <a:spcPct val="120000"/>
              </a:lnSpc>
            </a:pPr>
            <a:r>
              <a:rPr lang="en-US" sz="2400" b="1" i="0" dirty="0">
                <a:solidFill>
                  <a:srgbClr val="FF0000"/>
                </a:solidFill>
                <a:effectLst/>
                <a:latin typeface="Source Code Pro" panose="020B0509030403020204" pitchFamily="49" charset="0"/>
              </a:rPr>
              <a:t>const</a:t>
            </a:r>
            <a:r>
              <a:rPr lang="en-US" sz="2400" b="1" i="0" dirty="0">
                <a:solidFill>
                  <a:srgbClr val="23272F"/>
                </a:solidFill>
                <a:effectLst/>
                <a:latin typeface="Source Code Pro" panose="020B0509030403020204" pitchFamily="49" charset="0"/>
              </a:rPr>
              <a:t> [</a:t>
            </a:r>
            <a:r>
              <a:rPr lang="en-US" sz="2400" b="1" i="0" dirty="0">
                <a:solidFill>
                  <a:srgbClr val="0070C0"/>
                </a:solidFill>
                <a:effectLst/>
                <a:latin typeface="Source Code Pro" panose="020B0509030403020204" pitchFamily="49" charset="0"/>
              </a:rPr>
              <a:t>state</a:t>
            </a:r>
            <a:r>
              <a:rPr lang="en-US" sz="2400" b="1" i="0" dirty="0">
                <a:solidFill>
                  <a:srgbClr val="23272F"/>
                </a:solidFill>
                <a:effectLst/>
                <a:latin typeface="Source Code Pro" panose="020B0509030403020204" pitchFamily="49" charset="0"/>
              </a:rPr>
              <a:t>, dispatch] = </a:t>
            </a:r>
            <a:r>
              <a:rPr lang="en-US" sz="2400" b="1" i="0" dirty="0" err="1">
                <a:solidFill>
                  <a:srgbClr val="7030A0"/>
                </a:solidFill>
                <a:effectLst/>
                <a:latin typeface="Source Code Pro" panose="020B0509030403020204" pitchFamily="49" charset="0"/>
              </a:rPr>
              <a:t>useReducer</a:t>
            </a:r>
            <a:r>
              <a:rPr lang="en-US" sz="2400" b="1" i="0" dirty="0">
                <a:solidFill>
                  <a:srgbClr val="23272F"/>
                </a:solidFill>
                <a:effectLst/>
                <a:latin typeface="Source Code Pro" panose="020B0509030403020204" pitchFamily="49" charset="0"/>
              </a:rPr>
              <a:t>(</a:t>
            </a:r>
            <a:r>
              <a:rPr lang="en-US" sz="2400" b="1" i="0" dirty="0">
                <a:solidFill>
                  <a:srgbClr val="0070C0"/>
                </a:solidFill>
                <a:effectLst/>
                <a:latin typeface="Source Code Pro" panose="020B0509030403020204" pitchFamily="49" charset="0"/>
              </a:rPr>
              <a:t>reducer</a:t>
            </a:r>
            <a:r>
              <a:rPr lang="en-US" sz="2400" b="1" i="0" dirty="0">
                <a:solidFill>
                  <a:srgbClr val="23272F"/>
                </a:solidFill>
                <a:effectLst/>
                <a:latin typeface="Source Code Pro" panose="020B0509030403020204" pitchFamily="49" charset="0"/>
              </a:rPr>
              <a:t>, {age: 42});</a:t>
            </a:r>
            <a:br>
              <a:rPr lang="en-US" sz="2400" b="1" i="0" dirty="0">
                <a:solidFill>
                  <a:srgbClr val="23272F"/>
                </a:solidFill>
                <a:effectLst/>
                <a:latin typeface="Source Code Pro" panose="020B0509030403020204" pitchFamily="49" charset="0"/>
              </a:rPr>
            </a:br>
            <a:r>
              <a:rPr lang="en-US" sz="2400" b="1" i="0" dirty="0">
                <a:solidFill>
                  <a:srgbClr val="23272F"/>
                </a:solidFill>
                <a:effectLst/>
                <a:latin typeface="Source Code Pro" panose="020B0509030403020204" pitchFamily="49" charset="0"/>
              </a:rPr>
              <a:t>// ...</a:t>
            </a:r>
          </a:p>
        </p:txBody>
      </p:sp>
    </p:spTree>
    <p:extLst>
      <p:ext uri="{BB962C8B-B14F-4D97-AF65-F5344CB8AC3E}">
        <p14:creationId xmlns:p14="http://schemas.microsoft.com/office/powerpoint/2010/main" val="2236211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C416C-2FA1-E07A-D953-D618FCC42DDD}"/>
              </a:ext>
            </a:extLst>
          </p:cNvPr>
          <p:cNvSpPr>
            <a:spLocks noGrp="1"/>
          </p:cNvSpPr>
          <p:nvPr>
            <p:ph type="title"/>
          </p:nvPr>
        </p:nvSpPr>
        <p:spPr/>
        <p:txBody>
          <a:bodyPr/>
          <a:lstStyle/>
          <a:p>
            <a:r>
              <a:rPr lang="en-US" dirty="0"/>
              <a:t>Using state Hooks - </a:t>
            </a:r>
            <a:r>
              <a:rPr lang="en-US" dirty="0" err="1"/>
              <a:t>useReducer</a:t>
            </a:r>
            <a:r>
              <a:rPr lang="en-US" dirty="0"/>
              <a:t> </a:t>
            </a:r>
          </a:p>
        </p:txBody>
      </p:sp>
      <p:sp>
        <p:nvSpPr>
          <p:cNvPr id="3" name="Text Placeholder 2">
            <a:extLst>
              <a:ext uri="{FF2B5EF4-FFF2-40B4-BE49-F238E27FC236}">
                <a16:creationId xmlns:a16="http://schemas.microsoft.com/office/drawing/2014/main" id="{5F11C4D0-DD90-F473-7A2F-BF76B4411FE2}"/>
              </a:ext>
            </a:extLst>
          </p:cNvPr>
          <p:cNvSpPr>
            <a:spLocks noGrp="1"/>
          </p:cNvSpPr>
          <p:nvPr>
            <p:ph type="body" idx="1"/>
          </p:nvPr>
        </p:nvSpPr>
        <p:spPr>
          <a:xfrm>
            <a:off x="1104900" y="1600200"/>
            <a:ext cx="10121900" cy="4572000"/>
          </a:xfrm>
        </p:spPr>
        <p:txBody>
          <a:bodyPr/>
          <a:lstStyle/>
          <a:p>
            <a:r>
              <a:rPr lang="en-US" b="1" dirty="0">
                <a:solidFill>
                  <a:srgbClr val="FF0000"/>
                </a:solidFill>
              </a:rPr>
              <a:t>Adding a reducer to a component</a:t>
            </a:r>
            <a:endParaRPr lang="en-US" dirty="0"/>
          </a:p>
          <a:p>
            <a:pPr lvl="1"/>
            <a:r>
              <a:rPr lang="en-US" b="1" dirty="0" err="1">
                <a:solidFill>
                  <a:srgbClr val="7030A0"/>
                </a:solidFill>
              </a:rPr>
              <a:t>useReducer</a:t>
            </a:r>
            <a:r>
              <a:rPr lang="en-US" dirty="0"/>
              <a:t> returns an array with exactly two items:</a:t>
            </a:r>
          </a:p>
          <a:p>
            <a:pPr lvl="2"/>
            <a:r>
              <a:rPr lang="en-US" sz="2400" dirty="0"/>
              <a:t>The </a:t>
            </a:r>
            <a:r>
              <a:rPr lang="en-US" sz="2400" b="1" dirty="0">
                <a:solidFill>
                  <a:srgbClr val="0070C0"/>
                </a:solidFill>
              </a:rPr>
              <a:t>current state </a:t>
            </a:r>
            <a:r>
              <a:rPr lang="en-US" sz="2400" dirty="0"/>
              <a:t>of this state variable, initially set to the initial state you provided.</a:t>
            </a:r>
          </a:p>
          <a:p>
            <a:pPr lvl="2"/>
            <a:r>
              <a:rPr lang="en-US" sz="2400" dirty="0"/>
              <a:t>The </a:t>
            </a:r>
            <a:r>
              <a:rPr lang="en-US" sz="2400" b="1" dirty="0">
                <a:solidFill>
                  <a:srgbClr val="0070C0"/>
                </a:solidFill>
              </a:rPr>
              <a:t>dispatch function </a:t>
            </a:r>
            <a:r>
              <a:rPr lang="en-US" sz="2400" dirty="0"/>
              <a:t>that lets you change it in response to interaction.</a:t>
            </a:r>
          </a:p>
          <a:p>
            <a:pPr lvl="1"/>
            <a:r>
              <a:rPr lang="en-US" dirty="0"/>
              <a:t>To update what’s on the screen, call </a:t>
            </a:r>
            <a:r>
              <a:rPr lang="en-US" b="1" dirty="0"/>
              <a:t>dispatch</a:t>
            </a:r>
            <a:r>
              <a:rPr lang="en-US" dirty="0"/>
              <a:t> with an object representing what the user did, called an action:</a:t>
            </a:r>
          </a:p>
        </p:txBody>
      </p:sp>
      <p:sp>
        <p:nvSpPr>
          <p:cNvPr id="5" name="TextBox 4">
            <a:extLst>
              <a:ext uri="{FF2B5EF4-FFF2-40B4-BE49-F238E27FC236}">
                <a16:creationId xmlns:a16="http://schemas.microsoft.com/office/drawing/2014/main" id="{97F9915A-08C5-64A7-0A03-88D545905AF3}"/>
              </a:ext>
            </a:extLst>
          </p:cNvPr>
          <p:cNvSpPr txBox="1"/>
          <p:nvPr/>
        </p:nvSpPr>
        <p:spPr>
          <a:xfrm>
            <a:off x="1845734" y="5121910"/>
            <a:ext cx="9239848" cy="1200329"/>
          </a:xfrm>
          <a:prstGeom prst="rect">
            <a:avLst/>
          </a:prstGeom>
          <a:noFill/>
          <a:ln>
            <a:solidFill>
              <a:schemeClr val="accent1"/>
            </a:solidFill>
          </a:ln>
        </p:spPr>
        <p:txBody>
          <a:bodyPr wrap="square">
            <a:spAutoFit/>
          </a:bodyPr>
          <a:lstStyle/>
          <a:p>
            <a:pPr algn="l"/>
            <a:r>
              <a:rPr lang="en-US" sz="2400" b="1" i="0" dirty="0">
                <a:solidFill>
                  <a:srgbClr val="FF0000"/>
                </a:solidFill>
                <a:effectLst/>
                <a:latin typeface="Source Code Pro" panose="020B0509030403020204" pitchFamily="49" charset="0"/>
              </a:rPr>
              <a:t>function</a:t>
            </a:r>
            <a:r>
              <a:rPr lang="en-US" sz="2400" b="1" i="0" dirty="0">
                <a:solidFill>
                  <a:srgbClr val="23272F"/>
                </a:solidFill>
                <a:effectLst/>
                <a:latin typeface="Source Code Pro" panose="020B0509030403020204" pitchFamily="49" charset="0"/>
              </a:rPr>
              <a:t> </a:t>
            </a:r>
            <a:r>
              <a:rPr lang="en-US" sz="2400" b="1" i="0" dirty="0" err="1">
                <a:solidFill>
                  <a:srgbClr val="7030A0"/>
                </a:solidFill>
                <a:effectLst/>
                <a:latin typeface="Source Code Pro" panose="020B0509030403020204" pitchFamily="49" charset="0"/>
              </a:rPr>
              <a:t>handleClick</a:t>
            </a:r>
            <a:r>
              <a:rPr lang="en-US" sz="2400" b="1" i="0" dirty="0">
                <a:solidFill>
                  <a:srgbClr val="23272F"/>
                </a:solidFill>
                <a:effectLst/>
                <a:latin typeface="Source Code Pro" panose="020B0509030403020204" pitchFamily="49" charset="0"/>
              </a:rPr>
              <a:t>() {</a:t>
            </a:r>
          </a:p>
          <a:p>
            <a:pPr algn="l"/>
            <a:r>
              <a:rPr lang="en-US" sz="2400" b="1" i="0" dirty="0">
                <a:solidFill>
                  <a:srgbClr val="23272F"/>
                </a:solidFill>
                <a:effectLst/>
                <a:latin typeface="Source Code Pro" panose="020B0509030403020204" pitchFamily="49" charset="0"/>
              </a:rPr>
              <a:t>	</a:t>
            </a:r>
            <a:r>
              <a:rPr lang="en-US" sz="2400" b="1" i="0" dirty="0">
                <a:solidFill>
                  <a:srgbClr val="FF0000"/>
                </a:solidFill>
                <a:effectLst/>
                <a:latin typeface="Source Code Pro" panose="020B0509030403020204" pitchFamily="49" charset="0"/>
              </a:rPr>
              <a:t>dispatch</a:t>
            </a:r>
            <a:r>
              <a:rPr lang="en-US" sz="2400" b="1" i="0" dirty="0">
                <a:solidFill>
                  <a:srgbClr val="23272F"/>
                </a:solidFill>
                <a:effectLst/>
                <a:latin typeface="Source Code Pro" panose="020B0509030403020204" pitchFamily="49" charset="0"/>
              </a:rPr>
              <a:t>({ </a:t>
            </a:r>
            <a:r>
              <a:rPr lang="en-US" sz="2400" b="1" i="0" dirty="0">
                <a:solidFill>
                  <a:srgbClr val="7030A0"/>
                </a:solidFill>
                <a:effectLst/>
                <a:latin typeface="Source Code Pro" panose="020B0509030403020204" pitchFamily="49" charset="0"/>
              </a:rPr>
              <a:t>type</a:t>
            </a:r>
            <a:r>
              <a:rPr lang="en-US" sz="2400" b="1" i="0" dirty="0">
                <a:solidFill>
                  <a:srgbClr val="23272F"/>
                </a:solidFill>
                <a:effectLst/>
                <a:latin typeface="Source Code Pro" panose="020B0509030403020204" pitchFamily="49" charset="0"/>
              </a:rPr>
              <a:t>: '</a:t>
            </a:r>
            <a:r>
              <a:rPr lang="en-US" sz="2400" b="1" i="0" dirty="0" err="1">
                <a:solidFill>
                  <a:srgbClr val="23272F"/>
                </a:solidFill>
                <a:effectLst/>
                <a:latin typeface="Source Code Pro" panose="020B0509030403020204" pitchFamily="49" charset="0"/>
              </a:rPr>
              <a:t>incremented_age</a:t>
            </a:r>
            <a:r>
              <a:rPr lang="en-US" sz="2400" b="1" i="0" dirty="0">
                <a:solidFill>
                  <a:srgbClr val="23272F"/>
                </a:solidFill>
                <a:effectLst/>
                <a:latin typeface="Source Code Pro" panose="020B0509030403020204" pitchFamily="49" charset="0"/>
              </a:rPr>
              <a:t>' });</a:t>
            </a:r>
          </a:p>
          <a:p>
            <a:pPr algn="l"/>
            <a:r>
              <a:rPr lang="en-US" sz="2400" b="1" i="0" dirty="0">
                <a:solidFill>
                  <a:srgbClr val="23272F"/>
                </a:solidFill>
                <a:effectLst/>
                <a:latin typeface="Source Code Pro" panose="020B0509030403020204" pitchFamily="49" charset="0"/>
              </a:rPr>
              <a:t>}</a:t>
            </a:r>
          </a:p>
        </p:txBody>
      </p:sp>
    </p:spTree>
    <p:extLst>
      <p:ext uri="{BB962C8B-B14F-4D97-AF65-F5344CB8AC3E}">
        <p14:creationId xmlns:p14="http://schemas.microsoft.com/office/powerpoint/2010/main" val="40532392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496C8-72BD-A7CB-2171-F18A47B379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E6DF2F-8841-A70A-4321-F10EEEA9B727}"/>
              </a:ext>
            </a:extLst>
          </p:cNvPr>
          <p:cNvSpPr>
            <a:spLocks noGrp="1"/>
          </p:cNvSpPr>
          <p:nvPr>
            <p:ph type="title"/>
          </p:nvPr>
        </p:nvSpPr>
        <p:spPr/>
        <p:txBody>
          <a:bodyPr/>
          <a:lstStyle/>
          <a:p>
            <a:r>
              <a:rPr lang="en-US" dirty="0"/>
              <a:t>Using state Hooks - </a:t>
            </a:r>
            <a:r>
              <a:rPr lang="en-US" dirty="0" err="1"/>
              <a:t>useReducer</a:t>
            </a:r>
            <a:r>
              <a:rPr lang="en-US" dirty="0"/>
              <a:t> </a:t>
            </a:r>
          </a:p>
        </p:txBody>
      </p:sp>
      <p:sp>
        <p:nvSpPr>
          <p:cNvPr id="3" name="Text Placeholder 2">
            <a:extLst>
              <a:ext uri="{FF2B5EF4-FFF2-40B4-BE49-F238E27FC236}">
                <a16:creationId xmlns:a16="http://schemas.microsoft.com/office/drawing/2014/main" id="{7048E4AB-A55D-B0D9-7A97-46B3D128E266}"/>
              </a:ext>
            </a:extLst>
          </p:cNvPr>
          <p:cNvSpPr>
            <a:spLocks noGrp="1"/>
          </p:cNvSpPr>
          <p:nvPr>
            <p:ph type="body" idx="1"/>
          </p:nvPr>
        </p:nvSpPr>
        <p:spPr/>
        <p:txBody>
          <a:bodyPr/>
          <a:lstStyle/>
          <a:p>
            <a:r>
              <a:rPr lang="en-US" b="1" dirty="0"/>
              <a:t>React</a:t>
            </a:r>
            <a:r>
              <a:rPr lang="en-US" dirty="0"/>
              <a:t> will pass the current state and the action to reducer function, reducer will calculate and return the next state. React will store that next state, render your component with it, and update the UI.</a:t>
            </a:r>
          </a:p>
        </p:txBody>
      </p:sp>
      <p:sp>
        <p:nvSpPr>
          <p:cNvPr id="7" name="TextBox 6">
            <a:extLst>
              <a:ext uri="{FF2B5EF4-FFF2-40B4-BE49-F238E27FC236}">
                <a16:creationId xmlns:a16="http://schemas.microsoft.com/office/drawing/2014/main" id="{5CB356FB-DD7D-8359-2B66-CDC54113D9D4}"/>
              </a:ext>
            </a:extLst>
          </p:cNvPr>
          <p:cNvSpPr txBox="1"/>
          <p:nvPr/>
        </p:nvSpPr>
        <p:spPr>
          <a:xfrm>
            <a:off x="1354667" y="3429000"/>
            <a:ext cx="9730915" cy="3163110"/>
          </a:xfrm>
          <a:prstGeom prst="rect">
            <a:avLst/>
          </a:prstGeom>
          <a:noFill/>
          <a:ln>
            <a:solidFill>
              <a:schemeClr val="accent1"/>
            </a:solidFill>
          </a:ln>
        </p:spPr>
        <p:txBody>
          <a:bodyPr wrap="square">
            <a:spAutoFit/>
          </a:bodyPr>
          <a:lstStyle/>
          <a:p>
            <a:pPr>
              <a:lnSpc>
                <a:spcPct val="120000"/>
              </a:lnSpc>
            </a:pPr>
            <a:r>
              <a:rPr lang="en-US" sz="2400" dirty="0">
                <a:solidFill>
                  <a:srgbClr val="FF0000"/>
                </a:solidFill>
                <a:latin typeface="Consolas" panose="020B0609020204030204" pitchFamily="49" charset="0"/>
              </a:rPr>
              <a:t>import</a:t>
            </a:r>
            <a:r>
              <a:rPr lang="en-US" sz="2400" dirty="0">
                <a:latin typeface="Consolas" panose="020B0609020204030204" pitchFamily="49" charset="0"/>
              </a:rPr>
              <a:t> { </a:t>
            </a:r>
            <a:r>
              <a:rPr lang="en-US" sz="2400" dirty="0" err="1">
                <a:latin typeface="Consolas" panose="020B0609020204030204" pitchFamily="49" charset="0"/>
              </a:rPr>
              <a:t>useReducer</a:t>
            </a:r>
            <a:r>
              <a:rPr lang="en-US" sz="2400" dirty="0">
                <a:latin typeface="Consolas" panose="020B0609020204030204" pitchFamily="49" charset="0"/>
              </a:rPr>
              <a:t> } </a:t>
            </a:r>
            <a:r>
              <a:rPr lang="en-US" sz="2400" dirty="0">
                <a:solidFill>
                  <a:srgbClr val="FF0000"/>
                </a:solidFill>
                <a:latin typeface="Consolas" panose="020B0609020204030204" pitchFamily="49" charset="0"/>
              </a:rPr>
              <a:t>from</a:t>
            </a:r>
            <a:r>
              <a:rPr lang="en-US" sz="2400" dirty="0">
                <a:latin typeface="Consolas" panose="020B0609020204030204" pitchFamily="49" charset="0"/>
              </a:rPr>
              <a:t> 'react’;</a:t>
            </a:r>
          </a:p>
          <a:p>
            <a:pPr>
              <a:lnSpc>
                <a:spcPct val="120000"/>
              </a:lnSpc>
            </a:pPr>
            <a:r>
              <a:rPr lang="en-US" sz="2400" dirty="0">
                <a:solidFill>
                  <a:srgbClr val="FF0000"/>
                </a:solidFill>
                <a:latin typeface="Consolas" panose="020B0609020204030204" pitchFamily="49" charset="0"/>
              </a:rPr>
              <a:t>function</a:t>
            </a:r>
            <a:r>
              <a:rPr lang="en-US" sz="2400" dirty="0">
                <a:latin typeface="Consolas" panose="020B0609020204030204" pitchFamily="49" charset="0"/>
              </a:rPr>
              <a:t> </a:t>
            </a:r>
            <a:r>
              <a:rPr lang="en-US" sz="2400" dirty="0">
                <a:solidFill>
                  <a:srgbClr val="7030A0"/>
                </a:solidFill>
                <a:latin typeface="Consolas" panose="020B0609020204030204" pitchFamily="49" charset="0"/>
              </a:rPr>
              <a:t>reducer</a:t>
            </a:r>
            <a:r>
              <a:rPr lang="en-US" sz="2400" dirty="0">
                <a:latin typeface="Consolas" panose="020B0609020204030204" pitchFamily="49" charset="0"/>
              </a:rPr>
              <a:t>(state, action) {  </a:t>
            </a:r>
          </a:p>
          <a:p>
            <a:pPr>
              <a:lnSpc>
                <a:spcPct val="120000"/>
              </a:lnSpc>
            </a:pPr>
            <a:r>
              <a:rPr lang="en-US" sz="2400" dirty="0">
                <a:latin typeface="Consolas" panose="020B0609020204030204" pitchFamily="49" charset="0"/>
              </a:rPr>
              <a:t>	if (</a:t>
            </a:r>
            <a:r>
              <a:rPr lang="en-US" sz="2400" dirty="0" err="1">
                <a:latin typeface="Consolas" panose="020B0609020204030204" pitchFamily="49" charset="0"/>
              </a:rPr>
              <a:t>action.type</a:t>
            </a:r>
            <a:r>
              <a:rPr lang="en-US" sz="2400" dirty="0">
                <a:latin typeface="Consolas" panose="020B0609020204030204" pitchFamily="49" charset="0"/>
              </a:rPr>
              <a:t> === '</a:t>
            </a:r>
            <a:r>
              <a:rPr lang="en-US" sz="2400" dirty="0" err="1">
                <a:latin typeface="Consolas" panose="020B0609020204030204" pitchFamily="49" charset="0"/>
              </a:rPr>
              <a:t>incremented_age</a:t>
            </a:r>
            <a:r>
              <a:rPr lang="en-US" sz="2400" dirty="0">
                <a:latin typeface="Consolas" panose="020B0609020204030204" pitchFamily="49" charset="0"/>
              </a:rPr>
              <a:t>') {    </a:t>
            </a:r>
          </a:p>
          <a:p>
            <a:pPr>
              <a:lnSpc>
                <a:spcPct val="120000"/>
              </a:lnSpc>
            </a:pPr>
            <a:r>
              <a:rPr lang="en-US" sz="2400" dirty="0">
                <a:solidFill>
                  <a:srgbClr val="FF0000"/>
                </a:solidFill>
                <a:latin typeface="Consolas" panose="020B0609020204030204" pitchFamily="49" charset="0"/>
              </a:rPr>
              <a:t>		return</a:t>
            </a:r>
            <a:r>
              <a:rPr lang="en-US" sz="2400" dirty="0">
                <a:latin typeface="Consolas" panose="020B0609020204030204" pitchFamily="49" charset="0"/>
              </a:rPr>
              <a:t> {age: </a:t>
            </a:r>
            <a:r>
              <a:rPr lang="en-US" sz="2400" dirty="0" err="1">
                <a:latin typeface="Consolas" panose="020B0609020204030204" pitchFamily="49" charset="0"/>
              </a:rPr>
              <a:t>state.age</a:t>
            </a:r>
            <a:r>
              <a:rPr lang="en-US" sz="2400" dirty="0">
                <a:latin typeface="Consolas" panose="020B0609020204030204" pitchFamily="49" charset="0"/>
              </a:rPr>
              <a:t> + 1};  </a:t>
            </a:r>
          </a:p>
          <a:p>
            <a:pPr>
              <a:lnSpc>
                <a:spcPct val="120000"/>
              </a:lnSpc>
            </a:pPr>
            <a:r>
              <a:rPr lang="en-US" sz="2400" dirty="0">
                <a:latin typeface="Consolas" panose="020B0609020204030204" pitchFamily="49" charset="0"/>
              </a:rPr>
              <a:t>	}  </a:t>
            </a:r>
          </a:p>
          <a:p>
            <a:pPr>
              <a:lnSpc>
                <a:spcPct val="120000"/>
              </a:lnSpc>
            </a:pPr>
            <a:r>
              <a:rPr lang="en-US" sz="2400" dirty="0">
                <a:latin typeface="Consolas" panose="020B0609020204030204" pitchFamily="49" charset="0"/>
              </a:rPr>
              <a:t>	</a:t>
            </a:r>
            <a:r>
              <a:rPr lang="en-US" sz="2400" dirty="0">
                <a:solidFill>
                  <a:srgbClr val="FF0000"/>
                </a:solidFill>
                <a:latin typeface="Consolas" panose="020B0609020204030204" pitchFamily="49" charset="0"/>
              </a:rPr>
              <a:t>throw</a:t>
            </a:r>
            <a:r>
              <a:rPr lang="en-US" sz="2400" dirty="0">
                <a:latin typeface="Consolas" panose="020B0609020204030204" pitchFamily="49" charset="0"/>
              </a:rPr>
              <a:t> Error('Unknown action.’);</a:t>
            </a:r>
          </a:p>
          <a:p>
            <a:pPr>
              <a:lnSpc>
                <a:spcPct val="120000"/>
              </a:lnSpc>
            </a:pPr>
            <a:r>
              <a:rPr lang="en-US" sz="2400" dirty="0">
                <a:latin typeface="Consolas" panose="020B0609020204030204" pitchFamily="49" charset="0"/>
              </a:rPr>
              <a:t>}</a:t>
            </a:r>
          </a:p>
        </p:txBody>
      </p:sp>
    </p:spTree>
    <p:extLst>
      <p:ext uri="{BB962C8B-B14F-4D97-AF65-F5344CB8AC3E}">
        <p14:creationId xmlns:p14="http://schemas.microsoft.com/office/powerpoint/2010/main" val="38416299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5E490-FAF4-9331-EC50-CF07D67DA2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346F4A-CD3D-E3D0-5322-3D44935F7C4C}"/>
              </a:ext>
            </a:extLst>
          </p:cNvPr>
          <p:cNvSpPr>
            <a:spLocks noGrp="1"/>
          </p:cNvSpPr>
          <p:nvPr>
            <p:ph type="title"/>
          </p:nvPr>
        </p:nvSpPr>
        <p:spPr/>
        <p:txBody>
          <a:bodyPr/>
          <a:lstStyle/>
          <a:p>
            <a:r>
              <a:rPr lang="en-US" dirty="0"/>
              <a:t>Using state Hooks - </a:t>
            </a:r>
            <a:r>
              <a:rPr lang="en-US" dirty="0" err="1"/>
              <a:t>useReducer</a:t>
            </a:r>
            <a:r>
              <a:rPr lang="en-US" dirty="0"/>
              <a:t> </a:t>
            </a:r>
          </a:p>
        </p:txBody>
      </p:sp>
      <p:sp>
        <p:nvSpPr>
          <p:cNvPr id="5" name="TextBox 4">
            <a:extLst>
              <a:ext uri="{FF2B5EF4-FFF2-40B4-BE49-F238E27FC236}">
                <a16:creationId xmlns:a16="http://schemas.microsoft.com/office/drawing/2014/main" id="{2223DDFA-44A0-6FE7-A2FA-B8740F8193C8}"/>
              </a:ext>
            </a:extLst>
          </p:cNvPr>
          <p:cNvSpPr txBox="1"/>
          <p:nvPr/>
        </p:nvSpPr>
        <p:spPr>
          <a:xfrm>
            <a:off x="738717" y="1708202"/>
            <a:ext cx="10713047" cy="4154984"/>
          </a:xfrm>
          <a:prstGeom prst="rect">
            <a:avLst/>
          </a:prstGeom>
          <a:noFill/>
          <a:ln>
            <a:solidFill>
              <a:schemeClr val="accent1"/>
            </a:solidFill>
          </a:ln>
        </p:spPr>
        <p:txBody>
          <a:bodyPr wrap="square">
            <a:spAutoFit/>
          </a:bodyPr>
          <a:lstStyle/>
          <a:p>
            <a:r>
              <a:rPr lang="en-US" sz="2400" b="1" dirty="0">
                <a:solidFill>
                  <a:srgbClr val="FF0000"/>
                </a:solidFill>
                <a:latin typeface="Consolas" panose="020B0609020204030204" pitchFamily="49" charset="0"/>
              </a:rPr>
              <a:t>export default function </a:t>
            </a:r>
            <a:r>
              <a:rPr lang="en-US" sz="2400" b="1" dirty="0">
                <a:solidFill>
                  <a:srgbClr val="0070C0"/>
                </a:solidFill>
                <a:latin typeface="Consolas" panose="020B0609020204030204" pitchFamily="49" charset="0"/>
              </a:rPr>
              <a:t>Counter</a:t>
            </a:r>
            <a:r>
              <a:rPr lang="en-US" sz="2400" b="1" dirty="0">
                <a:latin typeface="Consolas" panose="020B0609020204030204" pitchFamily="49" charset="0"/>
              </a:rPr>
              <a:t>() {  </a:t>
            </a:r>
          </a:p>
          <a:p>
            <a:r>
              <a:rPr lang="en-US" sz="2400" b="1" dirty="0">
                <a:latin typeface="Consolas" panose="020B0609020204030204" pitchFamily="49" charset="0"/>
              </a:rPr>
              <a:t>	</a:t>
            </a:r>
            <a:r>
              <a:rPr lang="en-US" sz="2400" b="1" dirty="0">
                <a:solidFill>
                  <a:srgbClr val="FF0000"/>
                </a:solidFill>
                <a:latin typeface="Consolas" panose="020B0609020204030204" pitchFamily="49" charset="0"/>
              </a:rPr>
              <a:t>const</a:t>
            </a:r>
            <a:r>
              <a:rPr lang="en-US" sz="2400" b="1" dirty="0">
                <a:latin typeface="Consolas" panose="020B0609020204030204" pitchFamily="49" charset="0"/>
              </a:rPr>
              <a:t> [state, dispatch] = </a:t>
            </a:r>
            <a:r>
              <a:rPr lang="en-US" sz="2400" b="1" dirty="0" err="1">
                <a:solidFill>
                  <a:srgbClr val="7030A0"/>
                </a:solidFill>
                <a:latin typeface="Consolas" panose="020B0609020204030204" pitchFamily="49" charset="0"/>
              </a:rPr>
              <a:t>useReducer</a:t>
            </a:r>
            <a:r>
              <a:rPr lang="en-US" sz="2400" b="1" dirty="0">
                <a:latin typeface="Consolas" panose="020B0609020204030204" pitchFamily="49" charset="0"/>
              </a:rPr>
              <a:t>(reducer, {age:42 });  </a:t>
            </a:r>
          </a:p>
          <a:p>
            <a:r>
              <a:rPr lang="en-US" sz="2400" b="1" dirty="0">
                <a:latin typeface="Consolas" panose="020B0609020204030204" pitchFamily="49" charset="0"/>
              </a:rPr>
              <a:t>	</a:t>
            </a:r>
            <a:r>
              <a:rPr lang="en-US" sz="2400" b="1" dirty="0">
                <a:solidFill>
                  <a:srgbClr val="FF0000"/>
                </a:solidFill>
                <a:latin typeface="Consolas" panose="020B0609020204030204" pitchFamily="49" charset="0"/>
              </a:rPr>
              <a:t>return</a:t>
            </a:r>
            <a:r>
              <a:rPr lang="en-US" sz="2400" b="1" dirty="0">
                <a:latin typeface="Consolas" panose="020B0609020204030204" pitchFamily="49" charset="0"/>
              </a:rPr>
              <a:t> (&lt;&gt;</a:t>
            </a:r>
          </a:p>
          <a:p>
            <a:r>
              <a:rPr lang="en-US" sz="2400" b="1" dirty="0">
                <a:latin typeface="Consolas" panose="020B0609020204030204" pitchFamily="49" charset="0"/>
              </a:rPr>
              <a:t>		&lt;button </a:t>
            </a:r>
            <a:r>
              <a:rPr lang="en-US" sz="2400" b="1" dirty="0" err="1">
                <a:latin typeface="Consolas" panose="020B0609020204030204" pitchFamily="49" charset="0"/>
              </a:rPr>
              <a:t>onClick</a:t>
            </a:r>
            <a:r>
              <a:rPr lang="en-US" sz="2400" b="1" dirty="0">
                <a:latin typeface="Consolas" panose="020B0609020204030204" pitchFamily="49" charset="0"/>
              </a:rPr>
              <a:t>={() =&gt;{</a:t>
            </a:r>
          </a:p>
          <a:p>
            <a:r>
              <a:rPr lang="en-US" sz="2400" b="1" dirty="0">
                <a:latin typeface="Consolas" panose="020B0609020204030204" pitchFamily="49" charset="0"/>
              </a:rPr>
              <a:t>			</a:t>
            </a:r>
            <a:r>
              <a:rPr lang="en-US" sz="2400" b="1" dirty="0">
                <a:solidFill>
                  <a:srgbClr val="7030A0"/>
                </a:solidFill>
                <a:latin typeface="Consolas" panose="020B0609020204030204" pitchFamily="49" charset="0"/>
              </a:rPr>
              <a:t>dispatch</a:t>
            </a:r>
            <a:r>
              <a:rPr lang="en-US" sz="2400" b="1" dirty="0">
                <a:latin typeface="Consolas" panose="020B0609020204030204" pitchFamily="49" charset="0"/>
              </a:rPr>
              <a:t>({ type:	'</a:t>
            </a:r>
            <a:r>
              <a:rPr lang="en-US" sz="2400" b="1" dirty="0" err="1">
                <a:latin typeface="Consolas" panose="020B0609020204030204" pitchFamily="49" charset="0"/>
              </a:rPr>
              <a:t>incremented_age</a:t>
            </a:r>
            <a:r>
              <a:rPr lang="en-US" sz="2400" b="1" dirty="0">
                <a:latin typeface="Consolas" panose="020B0609020204030204" pitchFamily="49" charset="0"/>
              </a:rPr>
              <a:t>' })      </a:t>
            </a:r>
          </a:p>
          <a:p>
            <a:r>
              <a:rPr lang="en-US" sz="2400" b="1" dirty="0">
                <a:latin typeface="Consolas" panose="020B0609020204030204" pitchFamily="49" charset="0"/>
              </a:rPr>
              <a:t>			}}&gt;        </a:t>
            </a:r>
          </a:p>
          <a:p>
            <a:r>
              <a:rPr lang="en-US" sz="2400" b="1" dirty="0">
                <a:latin typeface="Consolas" panose="020B0609020204030204" pitchFamily="49" charset="0"/>
              </a:rPr>
              <a:t>			Increment age      </a:t>
            </a:r>
          </a:p>
          <a:p>
            <a:r>
              <a:rPr lang="en-US" sz="2400" b="1" dirty="0">
                <a:latin typeface="Consolas" panose="020B0609020204030204" pitchFamily="49" charset="0"/>
              </a:rPr>
              <a:t>		&lt;/button&gt;      </a:t>
            </a:r>
          </a:p>
          <a:p>
            <a:r>
              <a:rPr lang="en-US" sz="2400" b="1" dirty="0">
                <a:latin typeface="Consolas" panose="020B0609020204030204" pitchFamily="49" charset="0"/>
              </a:rPr>
              <a:t>		&lt;p&gt;Hello! You are {</a:t>
            </a:r>
            <a:r>
              <a:rPr lang="en-US" sz="2400" b="1" dirty="0" err="1">
                <a:latin typeface="Consolas" panose="020B0609020204030204" pitchFamily="49" charset="0"/>
              </a:rPr>
              <a:t>state.age</a:t>
            </a:r>
            <a:r>
              <a:rPr lang="en-US" sz="2400" b="1" dirty="0">
                <a:latin typeface="Consolas" panose="020B0609020204030204" pitchFamily="49" charset="0"/>
              </a:rPr>
              <a:t>}.&lt;/p&gt;    </a:t>
            </a:r>
          </a:p>
          <a:p>
            <a:r>
              <a:rPr lang="en-US" sz="2400" b="1" dirty="0">
                <a:latin typeface="Consolas" panose="020B0609020204030204" pitchFamily="49" charset="0"/>
              </a:rPr>
              <a:t>	&lt;/&gt;  );</a:t>
            </a:r>
          </a:p>
          <a:p>
            <a:r>
              <a:rPr lang="en-US" sz="2400" b="1" dirty="0">
                <a:latin typeface="Consolas" panose="020B0609020204030204" pitchFamily="49" charset="0"/>
              </a:rPr>
              <a:t>}</a:t>
            </a:r>
          </a:p>
        </p:txBody>
      </p:sp>
    </p:spTree>
    <p:extLst>
      <p:ext uri="{BB962C8B-B14F-4D97-AF65-F5344CB8AC3E}">
        <p14:creationId xmlns:p14="http://schemas.microsoft.com/office/powerpoint/2010/main" val="24554776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16045-D0F3-D078-A0CA-4AB546E026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D969A2-C167-E68C-E7D1-0F90CE5515BC}"/>
              </a:ext>
            </a:extLst>
          </p:cNvPr>
          <p:cNvSpPr>
            <a:spLocks noGrp="1"/>
          </p:cNvSpPr>
          <p:nvPr>
            <p:ph type="title"/>
          </p:nvPr>
        </p:nvSpPr>
        <p:spPr/>
        <p:txBody>
          <a:bodyPr/>
          <a:lstStyle/>
          <a:p>
            <a:r>
              <a:rPr lang="en-US" dirty="0"/>
              <a:t>Using state Hooks - </a:t>
            </a:r>
            <a:r>
              <a:rPr lang="en-US" dirty="0" err="1"/>
              <a:t>useReducer</a:t>
            </a:r>
            <a:r>
              <a:rPr lang="en-US" dirty="0"/>
              <a:t> </a:t>
            </a:r>
          </a:p>
        </p:txBody>
      </p:sp>
      <p:sp>
        <p:nvSpPr>
          <p:cNvPr id="3" name="Text Placeholder 2">
            <a:extLst>
              <a:ext uri="{FF2B5EF4-FFF2-40B4-BE49-F238E27FC236}">
                <a16:creationId xmlns:a16="http://schemas.microsoft.com/office/drawing/2014/main" id="{4D17C8FE-C608-2E33-6C86-1FD75A8DF644}"/>
              </a:ext>
            </a:extLst>
          </p:cNvPr>
          <p:cNvSpPr>
            <a:spLocks noGrp="1"/>
          </p:cNvSpPr>
          <p:nvPr>
            <p:ph type="body" idx="1"/>
          </p:nvPr>
        </p:nvSpPr>
        <p:spPr/>
        <p:txBody>
          <a:bodyPr/>
          <a:lstStyle/>
          <a:p>
            <a:r>
              <a:rPr lang="en-US" b="1" dirty="0">
                <a:solidFill>
                  <a:srgbClr val="FF0000"/>
                </a:solidFill>
              </a:rPr>
              <a:t>Writing the reducer function</a:t>
            </a:r>
          </a:p>
          <a:p>
            <a:pPr lvl="1"/>
            <a:r>
              <a:rPr lang="en-US" b="1" dirty="0"/>
              <a:t>Declare a reducer function</a:t>
            </a:r>
            <a:r>
              <a:rPr lang="en-US" dirty="0"/>
              <a:t>: </a:t>
            </a:r>
          </a:p>
          <a:p>
            <a:pPr lvl="1"/>
            <a:endParaRPr lang="en-US" dirty="0"/>
          </a:p>
          <a:p>
            <a:pPr lvl="1"/>
            <a:endParaRPr lang="en-US" dirty="0"/>
          </a:p>
          <a:p>
            <a:pPr lvl="1"/>
            <a:endParaRPr lang="en-US" dirty="0"/>
          </a:p>
          <a:p>
            <a:pPr lvl="1"/>
            <a:endParaRPr lang="en-US" dirty="0"/>
          </a:p>
          <a:p>
            <a:pPr lvl="1"/>
            <a:r>
              <a:rPr lang="en-US" dirty="0"/>
              <a:t>Then you need to fill in the code that will calculate and return the next state. By convention, it is common to write it as a switch statement. For each case in the switch, calculate and return some next state.</a:t>
            </a:r>
          </a:p>
        </p:txBody>
      </p:sp>
      <p:sp>
        <p:nvSpPr>
          <p:cNvPr id="5" name="TextBox 4">
            <a:extLst>
              <a:ext uri="{FF2B5EF4-FFF2-40B4-BE49-F238E27FC236}">
                <a16:creationId xmlns:a16="http://schemas.microsoft.com/office/drawing/2014/main" id="{A569CD24-DB46-FE55-B34A-F0D5583A5839}"/>
              </a:ext>
            </a:extLst>
          </p:cNvPr>
          <p:cNvSpPr txBox="1"/>
          <p:nvPr/>
        </p:nvSpPr>
        <p:spPr>
          <a:xfrm>
            <a:off x="1753958" y="2828835"/>
            <a:ext cx="8682566" cy="1200329"/>
          </a:xfrm>
          <a:prstGeom prst="rect">
            <a:avLst/>
          </a:prstGeom>
          <a:noFill/>
          <a:ln>
            <a:solidFill>
              <a:schemeClr val="accent1"/>
            </a:solidFill>
          </a:ln>
        </p:spPr>
        <p:txBody>
          <a:bodyPr wrap="square">
            <a:spAutoFit/>
          </a:bodyPr>
          <a:lstStyle/>
          <a:p>
            <a:pPr algn="l"/>
            <a:r>
              <a:rPr lang="en-US" sz="2400" b="1" i="0" dirty="0">
                <a:solidFill>
                  <a:srgbClr val="FF0000"/>
                </a:solidFill>
                <a:effectLst/>
                <a:latin typeface="Source Code Pro" panose="020B0509030403020204" pitchFamily="49" charset="0"/>
              </a:rPr>
              <a:t>function</a:t>
            </a:r>
            <a:r>
              <a:rPr lang="en-US" sz="2400" b="1" i="0" dirty="0">
                <a:solidFill>
                  <a:srgbClr val="23272F"/>
                </a:solidFill>
                <a:effectLst/>
                <a:latin typeface="Source Code Pro" panose="020B0509030403020204" pitchFamily="49" charset="0"/>
              </a:rPr>
              <a:t> </a:t>
            </a:r>
            <a:r>
              <a:rPr lang="en-US" sz="2400" b="1" i="0" dirty="0">
                <a:solidFill>
                  <a:srgbClr val="7030A0"/>
                </a:solidFill>
                <a:effectLst/>
                <a:latin typeface="Source Code Pro" panose="020B0509030403020204" pitchFamily="49" charset="0"/>
              </a:rPr>
              <a:t>reducer</a:t>
            </a:r>
            <a:r>
              <a:rPr lang="en-US" sz="2400" b="1" i="0" dirty="0">
                <a:solidFill>
                  <a:srgbClr val="23272F"/>
                </a:solidFill>
                <a:effectLst/>
                <a:latin typeface="Source Code Pro" panose="020B0509030403020204" pitchFamily="49" charset="0"/>
              </a:rPr>
              <a:t>(state, action) {</a:t>
            </a:r>
          </a:p>
          <a:p>
            <a:pPr algn="l"/>
            <a:r>
              <a:rPr lang="en-US" sz="2400" b="1" i="0" dirty="0">
                <a:solidFill>
                  <a:srgbClr val="23272F"/>
                </a:solidFill>
                <a:effectLst/>
                <a:latin typeface="Source Code Pro" panose="020B0509030403020204" pitchFamily="49" charset="0"/>
              </a:rPr>
              <a:t>	// ...</a:t>
            </a:r>
            <a:br>
              <a:rPr lang="en-US" sz="2400" b="1" i="0" dirty="0">
                <a:solidFill>
                  <a:srgbClr val="23272F"/>
                </a:solidFill>
                <a:effectLst/>
                <a:latin typeface="Source Code Pro" panose="020B0509030403020204" pitchFamily="49" charset="0"/>
              </a:rPr>
            </a:br>
            <a:r>
              <a:rPr lang="en-US" sz="2400" b="1" i="0" dirty="0">
                <a:solidFill>
                  <a:srgbClr val="23272F"/>
                </a:solidFill>
                <a:effectLst/>
                <a:latin typeface="Source Code Pro" panose="020B0509030403020204" pitchFamily="49" charset="0"/>
              </a:rPr>
              <a:t>}</a:t>
            </a:r>
          </a:p>
        </p:txBody>
      </p:sp>
    </p:spTree>
    <p:extLst>
      <p:ext uri="{BB962C8B-B14F-4D97-AF65-F5344CB8AC3E}">
        <p14:creationId xmlns:p14="http://schemas.microsoft.com/office/powerpoint/2010/main" val="1519738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B5EF0-6ED4-968F-7F65-6F5EA3A0C6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C5311A-4048-0E0E-D68E-D90B2E7CC145}"/>
              </a:ext>
            </a:extLst>
          </p:cNvPr>
          <p:cNvSpPr>
            <a:spLocks noGrp="1"/>
          </p:cNvSpPr>
          <p:nvPr>
            <p:ph type="title"/>
          </p:nvPr>
        </p:nvSpPr>
        <p:spPr/>
        <p:txBody>
          <a:bodyPr/>
          <a:lstStyle/>
          <a:p>
            <a:r>
              <a:rPr lang="en-US" dirty="0"/>
              <a:t>Using state Hooks - </a:t>
            </a:r>
            <a:r>
              <a:rPr lang="en-US" dirty="0" err="1"/>
              <a:t>useReducer</a:t>
            </a:r>
            <a:r>
              <a:rPr lang="en-US" dirty="0"/>
              <a:t> </a:t>
            </a:r>
          </a:p>
        </p:txBody>
      </p:sp>
      <p:sp>
        <p:nvSpPr>
          <p:cNvPr id="3" name="Text Placeholder 2">
            <a:extLst>
              <a:ext uri="{FF2B5EF4-FFF2-40B4-BE49-F238E27FC236}">
                <a16:creationId xmlns:a16="http://schemas.microsoft.com/office/drawing/2014/main" id="{76A03FFA-AA31-6637-0893-2AD1EA54D316}"/>
              </a:ext>
            </a:extLst>
          </p:cNvPr>
          <p:cNvSpPr>
            <a:spLocks noGrp="1"/>
          </p:cNvSpPr>
          <p:nvPr>
            <p:ph type="body" idx="1"/>
          </p:nvPr>
        </p:nvSpPr>
        <p:spPr/>
        <p:txBody>
          <a:bodyPr/>
          <a:lstStyle/>
          <a:p>
            <a:r>
              <a:rPr lang="en-US" b="1" dirty="0">
                <a:solidFill>
                  <a:srgbClr val="FF0000"/>
                </a:solidFill>
              </a:rPr>
              <a:t>Writing the reducer function</a:t>
            </a:r>
          </a:p>
          <a:p>
            <a:endParaRPr lang="en-US" dirty="0"/>
          </a:p>
        </p:txBody>
      </p:sp>
      <p:sp>
        <p:nvSpPr>
          <p:cNvPr id="5" name="TextBox 4">
            <a:extLst>
              <a:ext uri="{FF2B5EF4-FFF2-40B4-BE49-F238E27FC236}">
                <a16:creationId xmlns:a16="http://schemas.microsoft.com/office/drawing/2014/main" id="{92C4A1B4-A779-1681-832B-B4EBD6668051}"/>
              </a:ext>
            </a:extLst>
          </p:cNvPr>
          <p:cNvSpPr txBox="1"/>
          <p:nvPr/>
        </p:nvSpPr>
        <p:spPr>
          <a:xfrm>
            <a:off x="1676399" y="2321341"/>
            <a:ext cx="7298267" cy="3607334"/>
          </a:xfrm>
          <a:prstGeom prst="rect">
            <a:avLst/>
          </a:prstGeom>
          <a:noFill/>
          <a:ln>
            <a:solidFill>
              <a:schemeClr val="accent1"/>
            </a:solidFill>
          </a:ln>
        </p:spPr>
        <p:txBody>
          <a:bodyPr wrap="square">
            <a:spAutoFit/>
          </a:bodyPr>
          <a:lstStyle/>
          <a:p>
            <a:pPr algn="l">
              <a:lnSpc>
                <a:spcPct val="120000"/>
              </a:lnSpc>
            </a:pPr>
            <a:r>
              <a:rPr lang="en-US" sz="2400" b="1" i="0" dirty="0">
                <a:solidFill>
                  <a:srgbClr val="FF0000"/>
                </a:solidFill>
                <a:effectLst/>
                <a:latin typeface="Source Code Pro" panose="020B0509030403020204" pitchFamily="49" charset="0"/>
              </a:rPr>
              <a:t>function reducer</a:t>
            </a:r>
            <a:r>
              <a:rPr lang="en-US" sz="2400" b="1" i="0" dirty="0">
                <a:solidFill>
                  <a:srgbClr val="23272F"/>
                </a:solidFill>
                <a:effectLst/>
                <a:latin typeface="Source Code Pro" panose="020B0509030403020204" pitchFamily="49" charset="0"/>
              </a:rPr>
              <a:t>(state, action) {</a:t>
            </a:r>
            <a:br>
              <a:rPr lang="en-US" sz="2400" b="1" i="0" dirty="0">
                <a:solidFill>
                  <a:srgbClr val="23272F"/>
                </a:solidFill>
                <a:effectLst/>
                <a:latin typeface="Source Code Pro" panose="020B0509030403020204" pitchFamily="49" charset="0"/>
              </a:rPr>
            </a:br>
            <a:r>
              <a:rPr lang="en-US" sz="2400" b="1" i="0" dirty="0">
                <a:solidFill>
                  <a:srgbClr val="23272F"/>
                </a:solidFill>
                <a:effectLst/>
                <a:latin typeface="Source Code Pro" panose="020B0509030403020204" pitchFamily="49" charset="0"/>
              </a:rPr>
              <a:t>	</a:t>
            </a:r>
            <a:r>
              <a:rPr lang="en-US" sz="2400" b="1" i="0" dirty="0">
                <a:solidFill>
                  <a:srgbClr val="FF0000"/>
                </a:solidFill>
                <a:effectLst/>
                <a:latin typeface="Source Code Pro" panose="020B0509030403020204" pitchFamily="49" charset="0"/>
              </a:rPr>
              <a:t>switch</a:t>
            </a:r>
            <a:r>
              <a:rPr lang="en-US" sz="2400" b="1" i="0" dirty="0">
                <a:solidFill>
                  <a:srgbClr val="23272F"/>
                </a:solidFill>
                <a:effectLst/>
                <a:latin typeface="Source Code Pro" panose="020B0509030403020204" pitchFamily="49" charset="0"/>
              </a:rPr>
              <a:t> (</a:t>
            </a:r>
            <a:r>
              <a:rPr lang="en-US" sz="2400" b="1" i="0" dirty="0" err="1">
                <a:solidFill>
                  <a:srgbClr val="23272F"/>
                </a:solidFill>
                <a:effectLst/>
                <a:latin typeface="Source Code Pro" panose="020B0509030403020204" pitchFamily="49" charset="0"/>
              </a:rPr>
              <a:t>action.type</a:t>
            </a:r>
            <a:r>
              <a:rPr lang="en-US" sz="2400" b="1" i="0" dirty="0">
                <a:solidFill>
                  <a:srgbClr val="23272F"/>
                </a:solidFill>
                <a:effectLst/>
                <a:latin typeface="Source Code Pro" panose="020B0509030403020204" pitchFamily="49" charset="0"/>
              </a:rPr>
              <a:t>) {</a:t>
            </a:r>
            <a:br>
              <a:rPr lang="en-US" sz="2400" b="1" i="0" dirty="0">
                <a:solidFill>
                  <a:srgbClr val="23272F"/>
                </a:solidFill>
                <a:effectLst/>
                <a:latin typeface="Source Code Pro" panose="020B0509030403020204" pitchFamily="49" charset="0"/>
              </a:rPr>
            </a:br>
            <a:r>
              <a:rPr lang="en-US" sz="2400" b="1" i="0" dirty="0">
                <a:solidFill>
                  <a:srgbClr val="23272F"/>
                </a:solidFill>
                <a:effectLst/>
                <a:latin typeface="Source Code Pro" panose="020B0509030403020204" pitchFamily="49" charset="0"/>
              </a:rPr>
              <a:t>		</a:t>
            </a:r>
            <a:r>
              <a:rPr lang="en-US" sz="2400" b="1" i="0" dirty="0">
                <a:solidFill>
                  <a:srgbClr val="FF0000"/>
                </a:solidFill>
                <a:effectLst/>
                <a:latin typeface="Source Code Pro" panose="020B0509030403020204" pitchFamily="49" charset="0"/>
              </a:rPr>
              <a:t>case</a:t>
            </a:r>
            <a:r>
              <a:rPr lang="en-US" sz="2400" b="1" i="0" dirty="0">
                <a:solidFill>
                  <a:srgbClr val="23272F"/>
                </a:solidFill>
                <a:effectLst/>
                <a:latin typeface="Source Code Pro" panose="020B0509030403020204" pitchFamily="49" charset="0"/>
              </a:rPr>
              <a:t> '</a:t>
            </a:r>
            <a:r>
              <a:rPr lang="en-US" sz="2400" b="1" i="0" dirty="0" err="1">
                <a:solidFill>
                  <a:srgbClr val="23272F"/>
                </a:solidFill>
                <a:effectLst/>
                <a:latin typeface="Source Code Pro" panose="020B0509030403020204" pitchFamily="49" charset="0"/>
              </a:rPr>
              <a:t>incremented_age</a:t>
            </a:r>
            <a:r>
              <a:rPr lang="en-US" sz="2400" b="1" i="0" dirty="0">
                <a:solidFill>
                  <a:srgbClr val="23272F"/>
                </a:solidFill>
                <a:effectLst/>
                <a:latin typeface="Source Code Pro" panose="020B0509030403020204" pitchFamily="49" charset="0"/>
              </a:rPr>
              <a:t>': {</a:t>
            </a:r>
            <a:br>
              <a:rPr lang="en-US" sz="2400" b="1" i="0" dirty="0">
                <a:solidFill>
                  <a:srgbClr val="23272F"/>
                </a:solidFill>
                <a:effectLst/>
                <a:latin typeface="Source Code Pro" panose="020B0509030403020204" pitchFamily="49" charset="0"/>
              </a:rPr>
            </a:br>
            <a:r>
              <a:rPr lang="en-US" sz="2400" b="1" i="0" dirty="0">
                <a:solidFill>
                  <a:srgbClr val="23272F"/>
                </a:solidFill>
                <a:effectLst/>
                <a:latin typeface="Source Code Pro" panose="020B0509030403020204" pitchFamily="49" charset="0"/>
              </a:rPr>
              <a:t>			</a:t>
            </a:r>
            <a:r>
              <a:rPr lang="en-US" sz="2400" b="1" i="0" dirty="0">
                <a:solidFill>
                  <a:srgbClr val="FF0000"/>
                </a:solidFill>
                <a:effectLst/>
                <a:latin typeface="Source Code Pro" panose="020B0509030403020204" pitchFamily="49" charset="0"/>
              </a:rPr>
              <a:t>return</a:t>
            </a:r>
            <a:r>
              <a:rPr lang="en-US" sz="2400" b="1" i="0" dirty="0">
                <a:solidFill>
                  <a:srgbClr val="23272F"/>
                </a:solidFill>
                <a:effectLst/>
                <a:latin typeface="Source Code Pro" panose="020B0509030403020204" pitchFamily="49" charset="0"/>
              </a:rPr>
              <a:t> {</a:t>
            </a:r>
            <a:br>
              <a:rPr lang="en-US" sz="2400" b="1" i="0" dirty="0">
                <a:solidFill>
                  <a:srgbClr val="23272F"/>
                </a:solidFill>
                <a:effectLst/>
                <a:latin typeface="Source Code Pro" panose="020B0509030403020204" pitchFamily="49" charset="0"/>
              </a:rPr>
            </a:br>
            <a:r>
              <a:rPr lang="en-US" sz="2400" b="1" i="0" dirty="0">
                <a:solidFill>
                  <a:srgbClr val="23272F"/>
                </a:solidFill>
                <a:effectLst/>
                <a:latin typeface="Source Code Pro" panose="020B0509030403020204" pitchFamily="49" charset="0"/>
              </a:rPr>
              <a:t>				</a:t>
            </a:r>
            <a:r>
              <a:rPr lang="en-US" sz="2400" b="1" i="0" dirty="0">
                <a:solidFill>
                  <a:srgbClr val="0070C0"/>
                </a:solidFill>
                <a:effectLst/>
                <a:latin typeface="Source Code Pro" panose="020B0509030403020204" pitchFamily="49" charset="0"/>
              </a:rPr>
              <a:t>name</a:t>
            </a:r>
            <a:r>
              <a:rPr lang="en-US" sz="2400" b="1" i="0" dirty="0">
                <a:solidFill>
                  <a:srgbClr val="23272F"/>
                </a:solidFill>
                <a:effectLst/>
                <a:latin typeface="Source Code Pro" panose="020B0509030403020204" pitchFamily="49" charset="0"/>
              </a:rPr>
              <a:t>: state.name,</a:t>
            </a:r>
            <a:br>
              <a:rPr lang="en-US" sz="2400" b="1" i="0" dirty="0">
                <a:solidFill>
                  <a:srgbClr val="23272F"/>
                </a:solidFill>
                <a:effectLst/>
                <a:latin typeface="Source Code Pro" panose="020B0509030403020204" pitchFamily="49" charset="0"/>
              </a:rPr>
            </a:br>
            <a:r>
              <a:rPr lang="en-US" sz="2400" b="1" i="0" dirty="0">
                <a:solidFill>
                  <a:srgbClr val="23272F"/>
                </a:solidFill>
                <a:effectLst/>
                <a:latin typeface="Source Code Pro" panose="020B0509030403020204" pitchFamily="49" charset="0"/>
              </a:rPr>
              <a:t>				</a:t>
            </a:r>
            <a:r>
              <a:rPr lang="en-US" sz="2400" b="1" i="0" dirty="0">
                <a:solidFill>
                  <a:srgbClr val="0070C0"/>
                </a:solidFill>
                <a:effectLst/>
                <a:latin typeface="Source Code Pro" panose="020B0509030403020204" pitchFamily="49" charset="0"/>
              </a:rPr>
              <a:t>age</a:t>
            </a:r>
            <a:r>
              <a:rPr lang="en-US" sz="2400" b="1" i="0" dirty="0">
                <a:solidFill>
                  <a:srgbClr val="23272F"/>
                </a:solidFill>
                <a:effectLst/>
                <a:latin typeface="Source Code Pro" panose="020B0509030403020204" pitchFamily="49" charset="0"/>
              </a:rPr>
              <a:t>: </a:t>
            </a:r>
            <a:r>
              <a:rPr lang="en-US" sz="2400" b="1" i="0" dirty="0" err="1">
                <a:solidFill>
                  <a:srgbClr val="23272F"/>
                </a:solidFill>
                <a:effectLst/>
                <a:latin typeface="Source Code Pro" panose="020B0509030403020204" pitchFamily="49" charset="0"/>
              </a:rPr>
              <a:t>state.age</a:t>
            </a:r>
            <a:r>
              <a:rPr lang="en-US" sz="2400" b="1" i="0" dirty="0">
                <a:solidFill>
                  <a:srgbClr val="23272F"/>
                </a:solidFill>
                <a:effectLst/>
                <a:latin typeface="Source Code Pro" panose="020B0509030403020204" pitchFamily="49" charset="0"/>
              </a:rPr>
              <a:t> + 1</a:t>
            </a:r>
            <a:br>
              <a:rPr lang="en-US" sz="2400" b="1" i="0" dirty="0">
                <a:solidFill>
                  <a:srgbClr val="23272F"/>
                </a:solidFill>
                <a:effectLst/>
                <a:latin typeface="Source Code Pro" panose="020B0509030403020204" pitchFamily="49" charset="0"/>
              </a:rPr>
            </a:br>
            <a:r>
              <a:rPr lang="en-US" sz="2400" b="1" i="0" dirty="0">
                <a:solidFill>
                  <a:srgbClr val="23272F"/>
                </a:solidFill>
                <a:effectLst/>
                <a:latin typeface="Source Code Pro" panose="020B0509030403020204" pitchFamily="49" charset="0"/>
              </a:rPr>
              <a:t>			};</a:t>
            </a:r>
            <a:br>
              <a:rPr lang="en-US" sz="2400" b="1" i="0" dirty="0">
                <a:solidFill>
                  <a:srgbClr val="23272F"/>
                </a:solidFill>
                <a:effectLst/>
                <a:latin typeface="Source Code Pro" panose="020B0509030403020204" pitchFamily="49" charset="0"/>
              </a:rPr>
            </a:br>
            <a:r>
              <a:rPr lang="en-US" sz="2400" b="1" i="0" dirty="0">
                <a:solidFill>
                  <a:srgbClr val="23272F"/>
                </a:solidFill>
                <a:effectLst/>
                <a:latin typeface="Source Code Pro" panose="020B0509030403020204" pitchFamily="49" charset="0"/>
              </a:rPr>
              <a:t>		}</a:t>
            </a:r>
          </a:p>
        </p:txBody>
      </p:sp>
    </p:spTree>
    <p:extLst>
      <p:ext uri="{BB962C8B-B14F-4D97-AF65-F5344CB8AC3E}">
        <p14:creationId xmlns:p14="http://schemas.microsoft.com/office/powerpoint/2010/main" val="42772163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7B976-04C4-667F-6D3D-79283E4196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43C17C-1220-9EA1-E527-3887B1A4A0D4}"/>
              </a:ext>
            </a:extLst>
          </p:cNvPr>
          <p:cNvSpPr>
            <a:spLocks noGrp="1"/>
          </p:cNvSpPr>
          <p:nvPr>
            <p:ph type="title"/>
          </p:nvPr>
        </p:nvSpPr>
        <p:spPr/>
        <p:txBody>
          <a:bodyPr/>
          <a:lstStyle/>
          <a:p>
            <a:r>
              <a:rPr lang="en-US" dirty="0"/>
              <a:t>Using state Hooks - </a:t>
            </a:r>
            <a:r>
              <a:rPr lang="en-US" dirty="0" err="1"/>
              <a:t>useReducer</a:t>
            </a:r>
            <a:r>
              <a:rPr lang="en-US" dirty="0"/>
              <a:t> </a:t>
            </a:r>
          </a:p>
        </p:txBody>
      </p:sp>
      <p:sp>
        <p:nvSpPr>
          <p:cNvPr id="3" name="Text Placeholder 2">
            <a:extLst>
              <a:ext uri="{FF2B5EF4-FFF2-40B4-BE49-F238E27FC236}">
                <a16:creationId xmlns:a16="http://schemas.microsoft.com/office/drawing/2014/main" id="{305DBA04-A4B2-246F-5EC4-1EADFBB1BD52}"/>
              </a:ext>
            </a:extLst>
          </p:cNvPr>
          <p:cNvSpPr>
            <a:spLocks noGrp="1"/>
          </p:cNvSpPr>
          <p:nvPr>
            <p:ph type="body" idx="1"/>
          </p:nvPr>
        </p:nvSpPr>
        <p:spPr/>
        <p:txBody>
          <a:bodyPr/>
          <a:lstStyle/>
          <a:p>
            <a:r>
              <a:rPr lang="en-US" b="1" dirty="0">
                <a:solidFill>
                  <a:srgbClr val="FF0000"/>
                </a:solidFill>
              </a:rPr>
              <a:t>Writing the reducer function</a:t>
            </a:r>
          </a:p>
          <a:p>
            <a:endParaRPr lang="en-US" dirty="0"/>
          </a:p>
        </p:txBody>
      </p:sp>
      <p:sp>
        <p:nvSpPr>
          <p:cNvPr id="5" name="TextBox 4">
            <a:extLst>
              <a:ext uri="{FF2B5EF4-FFF2-40B4-BE49-F238E27FC236}">
                <a16:creationId xmlns:a16="http://schemas.microsoft.com/office/drawing/2014/main" id="{F257561C-5D3C-4C69-C2A7-A150D6EA3EA2}"/>
              </a:ext>
            </a:extLst>
          </p:cNvPr>
          <p:cNvSpPr txBox="1"/>
          <p:nvPr/>
        </p:nvSpPr>
        <p:spPr>
          <a:xfrm>
            <a:off x="1104900" y="2321341"/>
            <a:ext cx="9664699" cy="4050532"/>
          </a:xfrm>
          <a:prstGeom prst="rect">
            <a:avLst/>
          </a:prstGeom>
          <a:noFill/>
          <a:ln>
            <a:solidFill>
              <a:schemeClr val="accent1"/>
            </a:solidFill>
          </a:ln>
        </p:spPr>
        <p:txBody>
          <a:bodyPr wrap="square">
            <a:spAutoFit/>
          </a:bodyPr>
          <a:lstStyle/>
          <a:p>
            <a:pPr marL="508000" algn="l">
              <a:lnSpc>
                <a:spcPct val="120000"/>
              </a:lnSpc>
            </a:pPr>
            <a:r>
              <a:rPr lang="en-US" sz="2400" b="1" i="0" dirty="0">
                <a:solidFill>
                  <a:srgbClr val="FF0000"/>
                </a:solidFill>
                <a:effectLst/>
                <a:latin typeface="Source Code Pro" panose="020B0509030403020204" pitchFamily="49" charset="0"/>
              </a:rPr>
              <a:t>case </a:t>
            </a:r>
            <a:r>
              <a:rPr lang="en-US" sz="2400" b="1" i="0" dirty="0">
                <a:solidFill>
                  <a:schemeClr val="tx2"/>
                </a:solidFill>
                <a:effectLst/>
                <a:latin typeface="Source Code Pro" panose="020B0509030403020204" pitchFamily="49" charset="0"/>
              </a:rPr>
              <a:t>'</a:t>
            </a:r>
            <a:r>
              <a:rPr lang="en-US" sz="2400" b="1" i="0" dirty="0" err="1">
                <a:solidFill>
                  <a:schemeClr val="tx2"/>
                </a:solidFill>
                <a:effectLst/>
                <a:latin typeface="Source Code Pro" panose="020B0509030403020204" pitchFamily="49" charset="0"/>
              </a:rPr>
              <a:t>changed_name</a:t>
            </a:r>
            <a:r>
              <a:rPr lang="en-US" sz="2400" b="1" i="0" dirty="0">
                <a:solidFill>
                  <a:schemeClr val="tx2"/>
                </a:solidFill>
                <a:effectLst/>
                <a:latin typeface="Source Code Pro" panose="020B0509030403020204" pitchFamily="49" charset="0"/>
              </a:rPr>
              <a:t>': </a:t>
            </a:r>
            <a:r>
              <a:rPr lang="en-US" sz="2400" b="1" i="0" dirty="0">
                <a:solidFill>
                  <a:srgbClr val="FF0000"/>
                </a:solidFill>
                <a:effectLst/>
                <a:latin typeface="Source Code Pro" panose="020B0509030403020204" pitchFamily="49" charset="0"/>
              </a:rPr>
              <a:t>{</a:t>
            </a:r>
          </a:p>
          <a:p>
            <a:pPr marL="508000" algn="l">
              <a:lnSpc>
                <a:spcPct val="120000"/>
              </a:lnSpc>
            </a:pPr>
            <a:r>
              <a:rPr lang="en-US" sz="2400" b="1" i="0" dirty="0">
                <a:solidFill>
                  <a:srgbClr val="FF0000"/>
                </a:solidFill>
                <a:effectLst/>
                <a:latin typeface="Source Code Pro" panose="020B0509030403020204" pitchFamily="49" charset="0"/>
              </a:rPr>
              <a:t>      return {</a:t>
            </a:r>
          </a:p>
          <a:p>
            <a:pPr marL="508000" algn="l">
              <a:lnSpc>
                <a:spcPct val="120000"/>
              </a:lnSpc>
            </a:pPr>
            <a:r>
              <a:rPr lang="en-US" sz="2400" b="1" i="0" dirty="0">
                <a:solidFill>
                  <a:srgbClr val="0070C0"/>
                </a:solidFill>
                <a:effectLst/>
                <a:latin typeface="Source Code Pro" panose="020B0509030403020204" pitchFamily="49" charset="0"/>
              </a:rPr>
              <a:t>        name: </a:t>
            </a:r>
            <a:r>
              <a:rPr lang="en-US" sz="2400" b="1" i="0" dirty="0" err="1">
                <a:solidFill>
                  <a:schemeClr val="tx2"/>
                </a:solidFill>
                <a:effectLst/>
                <a:latin typeface="Source Code Pro" panose="020B0509030403020204" pitchFamily="49" charset="0"/>
              </a:rPr>
              <a:t>action</a:t>
            </a:r>
            <a:r>
              <a:rPr lang="en-US" sz="2400" b="1" i="0" dirty="0" err="1">
                <a:solidFill>
                  <a:srgbClr val="0070C0"/>
                </a:solidFill>
                <a:effectLst/>
                <a:latin typeface="Source Code Pro" panose="020B0509030403020204" pitchFamily="49" charset="0"/>
              </a:rPr>
              <a:t>.nextName</a:t>
            </a:r>
            <a:r>
              <a:rPr lang="en-US" sz="2400" b="1" i="0" dirty="0">
                <a:solidFill>
                  <a:srgbClr val="0070C0"/>
                </a:solidFill>
                <a:effectLst/>
                <a:latin typeface="Source Code Pro" panose="020B0509030403020204" pitchFamily="49" charset="0"/>
              </a:rPr>
              <a:t>,</a:t>
            </a:r>
          </a:p>
          <a:p>
            <a:pPr marL="508000" algn="l">
              <a:lnSpc>
                <a:spcPct val="120000"/>
              </a:lnSpc>
            </a:pPr>
            <a:r>
              <a:rPr lang="en-US" sz="2400" b="1" i="0" dirty="0">
                <a:solidFill>
                  <a:srgbClr val="0070C0"/>
                </a:solidFill>
                <a:effectLst/>
                <a:latin typeface="Source Code Pro" panose="020B0509030403020204" pitchFamily="49" charset="0"/>
              </a:rPr>
              <a:t>        age: </a:t>
            </a:r>
            <a:r>
              <a:rPr lang="en-US" sz="2400" b="1" i="0" dirty="0" err="1">
                <a:solidFill>
                  <a:schemeClr val="tx2"/>
                </a:solidFill>
                <a:effectLst/>
                <a:latin typeface="Source Code Pro" panose="020B0509030403020204" pitchFamily="49" charset="0"/>
              </a:rPr>
              <a:t>state</a:t>
            </a:r>
            <a:r>
              <a:rPr lang="en-US" sz="2400" b="1" i="0" dirty="0" err="1">
                <a:solidFill>
                  <a:srgbClr val="0070C0"/>
                </a:solidFill>
                <a:effectLst/>
                <a:latin typeface="Source Code Pro" panose="020B0509030403020204" pitchFamily="49" charset="0"/>
              </a:rPr>
              <a:t>.age</a:t>
            </a:r>
            <a:endParaRPr lang="en-US" sz="2400" b="1" i="0" dirty="0">
              <a:solidFill>
                <a:srgbClr val="0070C0"/>
              </a:solidFill>
              <a:effectLst/>
              <a:latin typeface="Source Code Pro" panose="020B0509030403020204" pitchFamily="49" charset="0"/>
            </a:endParaRPr>
          </a:p>
          <a:p>
            <a:pPr marL="508000" algn="l">
              <a:lnSpc>
                <a:spcPct val="120000"/>
              </a:lnSpc>
            </a:pPr>
            <a:r>
              <a:rPr lang="en-US" sz="2400" b="1" i="0" dirty="0">
                <a:solidFill>
                  <a:schemeClr val="tx2"/>
                </a:solidFill>
                <a:effectLst/>
                <a:latin typeface="Source Code Pro" panose="020B0509030403020204" pitchFamily="49" charset="0"/>
              </a:rPr>
              <a:t>      };</a:t>
            </a:r>
          </a:p>
          <a:p>
            <a:pPr marL="508000" algn="l">
              <a:lnSpc>
                <a:spcPct val="120000"/>
              </a:lnSpc>
            </a:pPr>
            <a:r>
              <a:rPr lang="en-US" sz="2400" b="1" i="0" dirty="0">
                <a:solidFill>
                  <a:schemeClr val="tx2"/>
                </a:solidFill>
                <a:effectLst/>
                <a:latin typeface="Source Code Pro" panose="020B0509030403020204" pitchFamily="49" charset="0"/>
              </a:rPr>
              <a:t>    }</a:t>
            </a:r>
          </a:p>
          <a:p>
            <a:pPr marL="508000" algn="l">
              <a:lnSpc>
                <a:spcPct val="120000"/>
              </a:lnSpc>
            </a:pPr>
            <a:r>
              <a:rPr lang="en-US" sz="2400" b="1" i="0" dirty="0">
                <a:solidFill>
                  <a:schemeClr val="tx2"/>
                </a:solidFill>
                <a:effectLst/>
                <a:latin typeface="Source Code Pro" panose="020B0509030403020204" pitchFamily="49" charset="0"/>
              </a:rPr>
              <a:t>  }</a:t>
            </a:r>
          </a:p>
          <a:p>
            <a:pPr marL="508000" algn="l">
              <a:lnSpc>
                <a:spcPct val="120000"/>
              </a:lnSpc>
            </a:pPr>
            <a:r>
              <a:rPr lang="en-US" sz="2400" b="1" i="0" dirty="0">
                <a:solidFill>
                  <a:srgbClr val="FF0000"/>
                </a:solidFill>
                <a:effectLst/>
                <a:latin typeface="Source Code Pro" panose="020B0509030403020204" pitchFamily="49" charset="0"/>
              </a:rPr>
              <a:t>  throw </a:t>
            </a:r>
            <a:r>
              <a:rPr lang="en-US" sz="2400" b="1" i="0" dirty="0">
                <a:solidFill>
                  <a:schemeClr val="tx2"/>
                </a:solidFill>
                <a:effectLst/>
                <a:latin typeface="Source Code Pro" panose="020B0509030403020204" pitchFamily="49" charset="0"/>
              </a:rPr>
              <a:t>Error('Unknown action: ' + </a:t>
            </a:r>
            <a:r>
              <a:rPr lang="en-US" sz="2400" b="1" i="0" dirty="0" err="1">
                <a:solidFill>
                  <a:schemeClr val="tx2"/>
                </a:solidFill>
                <a:effectLst/>
                <a:latin typeface="Source Code Pro" panose="020B0509030403020204" pitchFamily="49" charset="0"/>
              </a:rPr>
              <a:t>action.type</a:t>
            </a:r>
            <a:r>
              <a:rPr lang="en-US" sz="2400" b="1" i="0" dirty="0">
                <a:solidFill>
                  <a:schemeClr val="tx2"/>
                </a:solidFill>
                <a:effectLst/>
                <a:latin typeface="Source Code Pro" panose="020B0509030403020204" pitchFamily="49" charset="0"/>
              </a:rPr>
              <a:t>);</a:t>
            </a:r>
          </a:p>
          <a:p>
            <a:pPr marL="508000" algn="l">
              <a:lnSpc>
                <a:spcPct val="120000"/>
              </a:lnSpc>
            </a:pPr>
            <a:r>
              <a:rPr lang="en-US" sz="2400" b="1" i="0" dirty="0">
                <a:solidFill>
                  <a:srgbClr val="FF0000"/>
                </a:solidFill>
                <a:effectLst/>
                <a:latin typeface="Source Code Pro" panose="020B0509030403020204" pitchFamily="49" charset="0"/>
              </a:rPr>
              <a:t>}</a:t>
            </a:r>
            <a:endParaRPr lang="en-US" sz="2400" b="1" i="0" dirty="0">
              <a:solidFill>
                <a:srgbClr val="23272F"/>
              </a:solidFill>
              <a:effectLst/>
              <a:latin typeface="Source Code Pro" panose="020B0509030403020204" pitchFamily="49" charset="0"/>
            </a:endParaRPr>
          </a:p>
        </p:txBody>
      </p:sp>
    </p:spTree>
    <p:extLst>
      <p:ext uri="{BB962C8B-B14F-4D97-AF65-F5344CB8AC3E}">
        <p14:creationId xmlns:p14="http://schemas.microsoft.com/office/powerpoint/2010/main" val="32615359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B9AFC-711D-9200-5DCD-012224DA837E}"/>
              </a:ext>
            </a:extLst>
          </p:cNvPr>
          <p:cNvSpPr>
            <a:spLocks noGrp="1"/>
          </p:cNvSpPr>
          <p:nvPr>
            <p:ph type="title"/>
          </p:nvPr>
        </p:nvSpPr>
        <p:spPr/>
        <p:txBody>
          <a:bodyPr/>
          <a:lstStyle/>
          <a:p>
            <a:r>
              <a:rPr lang="en-US" dirty="0"/>
              <a:t>Using state Hooks - </a:t>
            </a:r>
            <a:r>
              <a:rPr lang="en-US" dirty="0" err="1"/>
              <a:t>useReducer</a:t>
            </a:r>
            <a:r>
              <a:rPr lang="en-US" dirty="0"/>
              <a:t> </a:t>
            </a:r>
          </a:p>
        </p:txBody>
      </p:sp>
      <p:sp>
        <p:nvSpPr>
          <p:cNvPr id="3" name="Text Placeholder 2">
            <a:extLst>
              <a:ext uri="{FF2B5EF4-FFF2-40B4-BE49-F238E27FC236}">
                <a16:creationId xmlns:a16="http://schemas.microsoft.com/office/drawing/2014/main" id="{1EB40A69-BEB5-6621-964B-2EC6CCF7EA4B}"/>
              </a:ext>
            </a:extLst>
          </p:cNvPr>
          <p:cNvSpPr>
            <a:spLocks noGrp="1"/>
          </p:cNvSpPr>
          <p:nvPr>
            <p:ph type="body" idx="1"/>
          </p:nvPr>
        </p:nvSpPr>
        <p:spPr>
          <a:xfrm>
            <a:off x="1104900" y="1600200"/>
            <a:ext cx="10528300" cy="4572000"/>
          </a:xfrm>
        </p:spPr>
        <p:txBody>
          <a:bodyPr/>
          <a:lstStyle/>
          <a:p>
            <a:r>
              <a:rPr lang="en-US" b="1" dirty="0">
                <a:solidFill>
                  <a:srgbClr val="FF0000"/>
                </a:solidFill>
              </a:rPr>
              <a:t>Writing the reducer function</a:t>
            </a:r>
          </a:p>
          <a:p>
            <a:pPr lvl="1"/>
            <a:r>
              <a:rPr lang="en-US" b="1" dirty="0"/>
              <a:t>Actions</a:t>
            </a:r>
            <a:r>
              <a:rPr lang="en-US" dirty="0"/>
              <a:t> can have any shape. By convention, passing objects with a type property identifying the action is common. It should include the minimal necessary information that the reducer needs to compute the next state.</a:t>
            </a:r>
          </a:p>
        </p:txBody>
      </p:sp>
      <p:sp>
        <p:nvSpPr>
          <p:cNvPr id="5" name="TextBox 4">
            <a:extLst>
              <a:ext uri="{FF2B5EF4-FFF2-40B4-BE49-F238E27FC236}">
                <a16:creationId xmlns:a16="http://schemas.microsoft.com/office/drawing/2014/main" id="{1182FE92-B847-3A28-FE94-A2245F18B12D}"/>
              </a:ext>
            </a:extLst>
          </p:cNvPr>
          <p:cNvSpPr txBox="1"/>
          <p:nvPr/>
        </p:nvSpPr>
        <p:spPr>
          <a:xfrm>
            <a:off x="1316566" y="3435102"/>
            <a:ext cx="10104967" cy="3164136"/>
          </a:xfrm>
          <a:prstGeom prst="rect">
            <a:avLst/>
          </a:prstGeom>
          <a:noFill/>
          <a:ln>
            <a:solidFill>
              <a:schemeClr val="accent1"/>
            </a:solidFill>
          </a:ln>
        </p:spPr>
        <p:txBody>
          <a:bodyPr wrap="square">
            <a:spAutoFit/>
          </a:bodyPr>
          <a:lstStyle/>
          <a:p>
            <a:pPr algn="l">
              <a:lnSpc>
                <a:spcPct val="120000"/>
              </a:lnSpc>
            </a:pPr>
            <a:r>
              <a:rPr lang="en-US" sz="2400" b="1" i="0" dirty="0">
                <a:solidFill>
                  <a:srgbClr val="FF0000"/>
                </a:solidFill>
                <a:effectLst/>
                <a:latin typeface="Source Code Pro" panose="020B0509030403020204" pitchFamily="49" charset="0"/>
              </a:rPr>
              <a:t>function</a:t>
            </a:r>
            <a:r>
              <a:rPr lang="en-US" sz="2400" b="1" i="0" dirty="0">
                <a:solidFill>
                  <a:srgbClr val="23272F"/>
                </a:solidFill>
                <a:effectLst/>
                <a:latin typeface="Source Code Pro" panose="020B0509030403020204" pitchFamily="49" charset="0"/>
              </a:rPr>
              <a:t> </a:t>
            </a:r>
            <a:r>
              <a:rPr lang="en-US" sz="2400" b="1" i="0" dirty="0">
                <a:solidFill>
                  <a:srgbClr val="7030A0"/>
                </a:solidFill>
                <a:effectLst/>
                <a:latin typeface="Source Code Pro" panose="020B0509030403020204" pitchFamily="49" charset="0"/>
              </a:rPr>
              <a:t>Form() </a:t>
            </a:r>
            <a:r>
              <a:rPr lang="en-US" sz="2400" b="1" i="0" dirty="0">
                <a:solidFill>
                  <a:srgbClr val="23272F"/>
                </a:solidFill>
                <a:effectLst/>
                <a:latin typeface="Source Code Pro" panose="020B0509030403020204" pitchFamily="49" charset="0"/>
              </a:rPr>
              <a:t>{</a:t>
            </a:r>
            <a:br>
              <a:rPr lang="en-US" sz="2400" b="1" i="0" dirty="0">
                <a:solidFill>
                  <a:srgbClr val="23272F"/>
                </a:solidFill>
                <a:effectLst/>
                <a:latin typeface="Source Code Pro" panose="020B0509030403020204" pitchFamily="49" charset="0"/>
              </a:rPr>
            </a:br>
            <a:r>
              <a:rPr lang="en-US" sz="2400" b="1" i="0" dirty="0">
                <a:solidFill>
                  <a:srgbClr val="23272F"/>
                </a:solidFill>
                <a:effectLst/>
                <a:latin typeface="Source Code Pro" panose="020B0509030403020204" pitchFamily="49" charset="0"/>
              </a:rPr>
              <a:t>	</a:t>
            </a:r>
            <a:r>
              <a:rPr lang="en-US" sz="2400" b="1" i="0" dirty="0">
                <a:solidFill>
                  <a:srgbClr val="FF0000"/>
                </a:solidFill>
                <a:effectLst/>
                <a:latin typeface="Source Code Pro" panose="020B0509030403020204" pitchFamily="49" charset="0"/>
              </a:rPr>
              <a:t>const</a:t>
            </a:r>
            <a:r>
              <a:rPr lang="en-US" sz="2400" b="1" i="0" dirty="0">
                <a:solidFill>
                  <a:srgbClr val="23272F"/>
                </a:solidFill>
                <a:effectLst/>
                <a:latin typeface="Source Code Pro" panose="020B0509030403020204" pitchFamily="49" charset="0"/>
              </a:rPr>
              <a:t> [state, dispatch] = </a:t>
            </a:r>
            <a:r>
              <a:rPr lang="en-US" sz="2400" b="1" i="0" dirty="0" err="1">
                <a:solidFill>
                  <a:srgbClr val="23272F"/>
                </a:solidFill>
                <a:effectLst/>
                <a:latin typeface="Source Code Pro" panose="020B0509030403020204" pitchFamily="49" charset="0"/>
              </a:rPr>
              <a:t>useReducer</a:t>
            </a:r>
            <a:r>
              <a:rPr lang="en-US" sz="2400" b="1" i="0" dirty="0">
                <a:solidFill>
                  <a:srgbClr val="23272F"/>
                </a:solidFill>
                <a:effectLst/>
                <a:latin typeface="Source Code Pro" panose="020B0509030403020204" pitchFamily="49" charset="0"/>
              </a:rPr>
              <a:t>(reducer, { 					</a:t>
            </a:r>
            <a:r>
              <a:rPr lang="en-US" sz="2400" b="1" i="0" dirty="0">
                <a:solidFill>
                  <a:srgbClr val="0070C0"/>
                </a:solidFill>
                <a:effectLst/>
                <a:latin typeface="Source Code Pro" panose="020B0509030403020204" pitchFamily="49" charset="0"/>
              </a:rPr>
              <a:t>name</a:t>
            </a:r>
            <a:r>
              <a:rPr lang="en-US" sz="2400" b="1" i="0" dirty="0">
                <a:solidFill>
                  <a:srgbClr val="23272F"/>
                </a:solidFill>
                <a:effectLst/>
                <a:latin typeface="Source Code Pro" panose="020B0509030403020204" pitchFamily="49" charset="0"/>
              </a:rPr>
              <a:t>: 'Taylor', </a:t>
            </a:r>
            <a:r>
              <a:rPr lang="en-US" sz="2400" b="1" i="0" dirty="0">
                <a:solidFill>
                  <a:srgbClr val="0070C0"/>
                </a:solidFill>
                <a:effectLst/>
                <a:latin typeface="Source Code Pro" panose="020B0509030403020204" pitchFamily="49" charset="0"/>
              </a:rPr>
              <a:t>age</a:t>
            </a:r>
            <a:r>
              <a:rPr lang="en-US" sz="2400" b="1" i="0" dirty="0">
                <a:solidFill>
                  <a:srgbClr val="23272F"/>
                </a:solidFill>
                <a:effectLst/>
                <a:latin typeface="Source Code Pro" panose="020B0509030403020204" pitchFamily="49" charset="0"/>
              </a:rPr>
              <a:t>: 42 </a:t>
            </a:r>
          </a:p>
          <a:p>
            <a:pPr algn="l">
              <a:lnSpc>
                <a:spcPct val="120000"/>
              </a:lnSpc>
            </a:pPr>
            <a:r>
              <a:rPr lang="en-US" sz="2400" b="1" dirty="0">
                <a:solidFill>
                  <a:srgbClr val="23272F"/>
                </a:solidFill>
                <a:latin typeface="Source Code Pro" panose="020B0509030403020204" pitchFamily="49" charset="0"/>
              </a:rPr>
              <a:t>					</a:t>
            </a:r>
            <a:r>
              <a:rPr lang="en-US" sz="2400" b="1" i="0" dirty="0">
                <a:solidFill>
                  <a:srgbClr val="23272F"/>
                </a:solidFill>
                <a:effectLst/>
                <a:latin typeface="Source Code Pro" panose="020B0509030403020204" pitchFamily="49" charset="0"/>
              </a:rPr>
              <a:t>});</a:t>
            </a:r>
            <a:br>
              <a:rPr lang="en-US" sz="2400" b="1" i="0" dirty="0">
                <a:solidFill>
                  <a:srgbClr val="23272F"/>
                </a:solidFill>
                <a:effectLst/>
                <a:latin typeface="Source Code Pro" panose="020B0509030403020204" pitchFamily="49" charset="0"/>
              </a:rPr>
            </a:br>
            <a:r>
              <a:rPr lang="en-US" sz="2400" b="1" i="0" dirty="0">
                <a:solidFill>
                  <a:srgbClr val="FF0000"/>
                </a:solidFill>
                <a:effectLst/>
                <a:latin typeface="Source Code Pro" panose="020B0509030403020204" pitchFamily="49" charset="0"/>
              </a:rPr>
              <a:t>function</a:t>
            </a:r>
            <a:r>
              <a:rPr lang="en-US" sz="2400" b="1" i="0" dirty="0">
                <a:solidFill>
                  <a:srgbClr val="23272F"/>
                </a:solidFill>
                <a:effectLst/>
                <a:latin typeface="Source Code Pro" panose="020B0509030403020204" pitchFamily="49" charset="0"/>
              </a:rPr>
              <a:t> </a:t>
            </a:r>
            <a:r>
              <a:rPr lang="en-US" sz="2400" b="1" i="0" dirty="0" err="1">
                <a:solidFill>
                  <a:srgbClr val="7030A0"/>
                </a:solidFill>
                <a:effectLst/>
                <a:latin typeface="Source Code Pro" panose="020B0509030403020204" pitchFamily="49" charset="0"/>
              </a:rPr>
              <a:t>handleButtonClick</a:t>
            </a:r>
            <a:r>
              <a:rPr lang="en-US" sz="2400" b="1" i="0" dirty="0">
                <a:solidFill>
                  <a:srgbClr val="7030A0"/>
                </a:solidFill>
                <a:effectLst/>
                <a:latin typeface="Source Code Pro" panose="020B0509030403020204" pitchFamily="49" charset="0"/>
              </a:rPr>
              <a:t>() </a:t>
            </a:r>
            <a:r>
              <a:rPr lang="en-US" sz="2400" b="1" i="0" dirty="0">
                <a:solidFill>
                  <a:srgbClr val="23272F"/>
                </a:solidFill>
                <a:effectLst/>
                <a:latin typeface="Source Code Pro" panose="020B0509030403020204" pitchFamily="49" charset="0"/>
              </a:rPr>
              <a:t>{</a:t>
            </a:r>
            <a:br>
              <a:rPr lang="en-US" sz="2400" b="1" i="0" dirty="0">
                <a:solidFill>
                  <a:srgbClr val="23272F"/>
                </a:solidFill>
                <a:effectLst/>
                <a:latin typeface="Source Code Pro" panose="020B0509030403020204" pitchFamily="49" charset="0"/>
              </a:rPr>
            </a:br>
            <a:r>
              <a:rPr lang="en-US" sz="2400" b="1" i="0" dirty="0">
                <a:solidFill>
                  <a:srgbClr val="23272F"/>
                </a:solidFill>
                <a:effectLst/>
                <a:latin typeface="Source Code Pro" panose="020B0509030403020204" pitchFamily="49" charset="0"/>
              </a:rPr>
              <a:t>	dispatch({ </a:t>
            </a:r>
            <a:r>
              <a:rPr lang="en-US" sz="2400" b="1" i="0" dirty="0">
                <a:solidFill>
                  <a:srgbClr val="0070C0"/>
                </a:solidFill>
                <a:effectLst/>
                <a:latin typeface="Source Code Pro" panose="020B0509030403020204" pitchFamily="49" charset="0"/>
              </a:rPr>
              <a:t>type</a:t>
            </a:r>
            <a:r>
              <a:rPr lang="en-US" sz="2400" b="1" i="0" dirty="0">
                <a:solidFill>
                  <a:srgbClr val="23272F"/>
                </a:solidFill>
                <a:effectLst/>
                <a:latin typeface="Source Code Pro" panose="020B0509030403020204" pitchFamily="49" charset="0"/>
              </a:rPr>
              <a:t>: '</a:t>
            </a:r>
            <a:r>
              <a:rPr lang="en-US" sz="2400" b="1" i="0" dirty="0" err="1">
                <a:solidFill>
                  <a:srgbClr val="23272F"/>
                </a:solidFill>
                <a:effectLst/>
                <a:latin typeface="Source Code Pro" panose="020B0509030403020204" pitchFamily="49" charset="0"/>
              </a:rPr>
              <a:t>incremented_age</a:t>
            </a:r>
            <a:r>
              <a:rPr lang="en-US" sz="2400" b="1" i="0" dirty="0">
                <a:solidFill>
                  <a:srgbClr val="23272F"/>
                </a:solidFill>
                <a:effectLst/>
                <a:latin typeface="Source Code Pro" panose="020B0509030403020204" pitchFamily="49" charset="0"/>
              </a:rPr>
              <a:t>' });</a:t>
            </a:r>
            <a:br>
              <a:rPr lang="en-US" sz="2400" b="1" i="0" dirty="0">
                <a:solidFill>
                  <a:srgbClr val="23272F"/>
                </a:solidFill>
                <a:effectLst/>
                <a:latin typeface="Source Code Pro" panose="020B0509030403020204" pitchFamily="49" charset="0"/>
              </a:rPr>
            </a:br>
            <a:r>
              <a:rPr lang="en-US" sz="2400" b="1" i="0" dirty="0">
                <a:solidFill>
                  <a:srgbClr val="23272F"/>
                </a:solidFill>
                <a:effectLst/>
                <a:latin typeface="Source Code Pro" panose="020B0509030403020204" pitchFamily="49" charset="0"/>
              </a:rPr>
              <a:t>}</a:t>
            </a:r>
          </a:p>
        </p:txBody>
      </p:sp>
    </p:spTree>
    <p:extLst>
      <p:ext uri="{BB962C8B-B14F-4D97-AF65-F5344CB8AC3E}">
        <p14:creationId xmlns:p14="http://schemas.microsoft.com/office/powerpoint/2010/main" val="30572918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4CE2F-2339-AECD-DB54-F694C62264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938821-62F4-5924-DFC1-9003198D0FF4}"/>
              </a:ext>
            </a:extLst>
          </p:cNvPr>
          <p:cNvSpPr>
            <a:spLocks noGrp="1"/>
          </p:cNvSpPr>
          <p:nvPr>
            <p:ph type="title"/>
          </p:nvPr>
        </p:nvSpPr>
        <p:spPr/>
        <p:txBody>
          <a:bodyPr/>
          <a:lstStyle/>
          <a:p>
            <a:r>
              <a:rPr lang="en-US" dirty="0"/>
              <a:t>Using state Hooks - </a:t>
            </a:r>
            <a:r>
              <a:rPr lang="en-US" dirty="0" err="1"/>
              <a:t>useReducer</a:t>
            </a:r>
            <a:r>
              <a:rPr lang="en-US" dirty="0"/>
              <a:t> </a:t>
            </a:r>
          </a:p>
        </p:txBody>
      </p:sp>
      <p:sp>
        <p:nvSpPr>
          <p:cNvPr id="3" name="Text Placeholder 2">
            <a:extLst>
              <a:ext uri="{FF2B5EF4-FFF2-40B4-BE49-F238E27FC236}">
                <a16:creationId xmlns:a16="http://schemas.microsoft.com/office/drawing/2014/main" id="{DA6D7780-DAF5-079B-8521-6B2E13916001}"/>
              </a:ext>
            </a:extLst>
          </p:cNvPr>
          <p:cNvSpPr>
            <a:spLocks noGrp="1"/>
          </p:cNvSpPr>
          <p:nvPr>
            <p:ph type="body" idx="1"/>
          </p:nvPr>
        </p:nvSpPr>
        <p:spPr/>
        <p:txBody>
          <a:bodyPr/>
          <a:lstStyle/>
          <a:p>
            <a:r>
              <a:rPr lang="en-US" b="1" dirty="0">
                <a:solidFill>
                  <a:srgbClr val="FF0000"/>
                </a:solidFill>
              </a:rPr>
              <a:t>Writing the reducer function</a:t>
            </a:r>
          </a:p>
        </p:txBody>
      </p:sp>
      <p:sp>
        <p:nvSpPr>
          <p:cNvPr id="6" name="TextBox 5">
            <a:extLst>
              <a:ext uri="{FF2B5EF4-FFF2-40B4-BE49-F238E27FC236}">
                <a16:creationId xmlns:a16="http://schemas.microsoft.com/office/drawing/2014/main" id="{D6EC17A6-F226-0717-600A-E199F7F7C9BC}"/>
              </a:ext>
            </a:extLst>
          </p:cNvPr>
          <p:cNvSpPr txBox="1"/>
          <p:nvPr/>
        </p:nvSpPr>
        <p:spPr>
          <a:xfrm>
            <a:off x="1371600" y="2478881"/>
            <a:ext cx="9713981" cy="3674852"/>
          </a:xfrm>
          <a:prstGeom prst="rect">
            <a:avLst/>
          </a:prstGeom>
          <a:noFill/>
          <a:ln>
            <a:solidFill>
              <a:schemeClr val="accent1"/>
            </a:solidFill>
          </a:ln>
        </p:spPr>
        <p:txBody>
          <a:bodyPr wrap="square">
            <a:spAutoFit/>
          </a:bodyPr>
          <a:lstStyle/>
          <a:p>
            <a:pPr algn="l">
              <a:lnSpc>
                <a:spcPct val="120000"/>
              </a:lnSpc>
            </a:pPr>
            <a:r>
              <a:rPr lang="en-US" sz="2800" b="1" i="0" dirty="0">
                <a:solidFill>
                  <a:srgbClr val="FF0000"/>
                </a:solidFill>
                <a:effectLst/>
                <a:latin typeface="Consolas" panose="020B0609020204030204" pitchFamily="49" charset="0"/>
              </a:rPr>
              <a:t>function</a:t>
            </a:r>
            <a:r>
              <a:rPr lang="en-US" sz="2800" b="1" i="0" dirty="0">
                <a:solidFill>
                  <a:srgbClr val="23272F"/>
                </a:solidFill>
                <a:effectLst/>
                <a:latin typeface="Consolas" panose="020B0609020204030204" pitchFamily="49" charset="0"/>
              </a:rPr>
              <a:t> </a:t>
            </a:r>
            <a:r>
              <a:rPr lang="en-US" sz="2800" b="1" i="0" dirty="0" err="1">
                <a:solidFill>
                  <a:srgbClr val="7030A0"/>
                </a:solidFill>
                <a:effectLst/>
                <a:latin typeface="Consolas" panose="020B0609020204030204" pitchFamily="49" charset="0"/>
              </a:rPr>
              <a:t>handleInputChange</a:t>
            </a:r>
            <a:r>
              <a:rPr lang="en-US" sz="2800" b="1" i="0" dirty="0">
                <a:solidFill>
                  <a:srgbClr val="23272F"/>
                </a:solidFill>
                <a:effectLst/>
                <a:latin typeface="Consolas" panose="020B0609020204030204" pitchFamily="49" charset="0"/>
              </a:rPr>
              <a:t>(e) {</a:t>
            </a:r>
            <a:br>
              <a:rPr lang="en-US" sz="2800" b="1" i="0" dirty="0">
                <a:solidFill>
                  <a:srgbClr val="23272F"/>
                </a:solidFill>
                <a:effectLst/>
                <a:latin typeface="Consolas" panose="020B0609020204030204" pitchFamily="49" charset="0"/>
              </a:rPr>
            </a:br>
            <a:r>
              <a:rPr lang="en-US" sz="2800" b="1" i="0" dirty="0">
                <a:solidFill>
                  <a:srgbClr val="23272F"/>
                </a:solidFill>
                <a:effectLst/>
                <a:latin typeface="Consolas" panose="020B0609020204030204" pitchFamily="49" charset="0"/>
              </a:rPr>
              <a:t>	dispatch({</a:t>
            </a:r>
            <a:br>
              <a:rPr lang="en-US" sz="2800" b="1" i="0" dirty="0">
                <a:solidFill>
                  <a:srgbClr val="23272F"/>
                </a:solidFill>
                <a:effectLst/>
                <a:latin typeface="Consolas" panose="020B0609020204030204" pitchFamily="49" charset="0"/>
              </a:rPr>
            </a:br>
            <a:r>
              <a:rPr lang="en-US" sz="2800" b="1" i="0" dirty="0">
                <a:solidFill>
                  <a:srgbClr val="23272F"/>
                </a:solidFill>
                <a:effectLst/>
                <a:latin typeface="Consolas" panose="020B0609020204030204" pitchFamily="49" charset="0"/>
              </a:rPr>
              <a:t>		</a:t>
            </a:r>
            <a:r>
              <a:rPr lang="en-US" sz="2800" b="1" i="0" dirty="0">
                <a:solidFill>
                  <a:srgbClr val="0070C0"/>
                </a:solidFill>
                <a:effectLst/>
                <a:latin typeface="Consolas" panose="020B0609020204030204" pitchFamily="49" charset="0"/>
              </a:rPr>
              <a:t>type</a:t>
            </a:r>
            <a:r>
              <a:rPr lang="en-US" sz="2800" b="1" i="0" dirty="0">
                <a:solidFill>
                  <a:srgbClr val="23272F"/>
                </a:solidFill>
                <a:effectLst/>
                <a:latin typeface="Consolas" panose="020B0609020204030204" pitchFamily="49" charset="0"/>
              </a:rPr>
              <a:t>: '</a:t>
            </a:r>
            <a:r>
              <a:rPr lang="en-US" sz="2800" b="1" i="0" dirty="0" err="1">
                <a:solidFill>
                  <a:srgbClr val="23272F"/>
                </a:solidFill>
                <a:effectLst/>
                <a:latin typeface="Consolas" panose="020B0609020204030204" pitchFamily="49" charset="0"/>
              </a:rPr>
              <a:t>changed_name</a:t>
            </a:r>
            <a:r>
              <a:rPr lang="en-US" sz="2800" b="1" i="0" dirty="0">
                <a:solidFill>
                  <a:srgbClr val="23272F"/>
                </a:solidFill>
                <a:effectLst/>
                <a:latin typeface="Consolas" panose="020B0609020204030204" pitchFamily="49" charset="0"/>
              </a:rPr>
              <a:t>’,</a:t>
            </a:r>
            <a:br>
              <a:rPr lang="en-US" sz="2800" b="1" i="0" dirty="0">
                <a:solidFill>
                  <a:srgbClr val="23272F"/>
                </a:solidFill>
                <a:effectLst/>
                <a:latin typeface="Consolas" panose="020B0609020204030204" pitchFamily="49" charset="0"/>
              </a:rPr>
            </a:br>
            <a:r>
              <a:rPr lang="en-US" sz="2800" b="1" i="0" dirty="0">
                <a:solidFill>
                  <a:srgbClr val="23272F"/>
                </a:solidFill>
                <a:effectLst/>
                <a:latin typeface="Consolas" panose="020B0609020204030204" pitchFamily="49" charset="0"/>
              </a:rPr>
              <a:t>		</a:t>
            </a:r>
            <a:r>
              <a:rPr lang="en-US" sz="2800" b="1" i="0" dirty="0" err="1">
                <a:solidFill>
                  <a:srgbClr val="0070C0"/>
                </a:solidFill>
                <a:effectLst/>
                <a:latin typeface="Consolas" panose="020B0609020204030204" pitchFamily="49" charset="0"/>
              </a:rPr>
              <a:t>nextName</a:t>
            </a:r>
            <a:r>
              <a:rPr lang="en-US" sz="2800" b="1" i="0" dirty="0">
                <a:solidFill>
                  <a:srgbClr val="23272F"/>
                </a:solidFill>
                <a:effectLst/>
                <a:latin typeface="Consolas" panose="020B0609020204030204" pitchFamily="49" charset="0"/>
              </a:rPr>
              <a:t>: </a:t>
            </a:r>
            <a:r>
              <a:rPr lang="en-US" sz="2800" b="1" i="0" dirty="0" err="1">
                <a:solidFill>
                  <a:srgbClr val="23272F"/>
                </a:solidFill>
                <a:effectLst/>
                <a:latin typeface="Consolas" panose="020B0609020204030204" pitchFamily="49" charset="0"/>
              </a:rPr>
              <a:t>e.</a:t>
            </a:r>
            <a:r>
              <a:rPr lang="en-US" sz="2800" b="1" i="0" dirty="0" err="1">
                <a:solidFill>
                  <a:srgbClr val="0070C0"/>
                </a:solidFill>
                <a:effectLst/>
                <a:latin typeface="Consolas" panose="020B0609020204030204" pitchFamily="49" charset="0"/>
              </a:rPr>
              <a:t>target.value</a:t>
            </a:r>
            <a:br>
              <a:rPr lang="en-US" sz="2800" b="1" i="0" dirty="0">
                <a:solidFill>
                  <a:srgbClr val="23272F"/>
                </a:solidFill>
                <a:effectLst/>
                <a:latin typeface="Consolas" panose="020B0609020204030204" pitchFamily="49" charset="0"/>
              </a:rPr>
            </a:br>
            <a:r>
              <a:rPr lang="en-US" sz="2800" b="1" i="0" dirty="0">
                <a:solidFill>
                  <a:srgbClr val="23272F"/>
                </a:solidFill>
                <a:effectLst/>
                <a:latin typeface="Consolas" panose="020B0609020204030204" pitchFamily="49" charset="0"/>
              </a:rPr>
              <a:t>	});</a:t>
            </a:r>
            <a:br>
              <a:rPr lang="en-US" sz="2800" b="1" i="0" dirty="0">
                <a:solidFill>
                  <a:srgbClr val="23272F"/>
                </a:solidFill>
                <a:effectLst/>
                <a:latin typeface="Consolas" panose="020B0609020204030204" pitchFamily="49" charset="0"/>
              </a:rPr>
            </a:br>
            <a:r>
              <a:rPr lang="en-US" sz="2800" b="1" i="0" dirty="0">
                <a:solidFill>
                  <a:srgbClr val="23272F"/>
                </a:solidFill>
                <a:effectLst/>
                <a:latin typeface="Consolas" panose="020B0609020204030204" pitchFamily="49" charset="0"/>
              </a:rPr>
              <a:t>}</a:t>
            </a:r>
            <a:br>
              <a:rPr lang="en-US" sz="2800" b="1" i="0" dirty="0">
                <a:solidFill>
                  <a:srgbClr val="23272F"/>
                </a:solidFill>
                <a:effectLst/>
                <a:latin typeface="Consolas" panose="020B0609020204030204" pitchFamily="49" charset="0"/>
              </a:rPr>
            </a:br>
            <a:r>
              <a:rPr lang="en-US" sz="2800" b="1" i="0" dirty="0">
                <a:solidFill>
                  <a:srgbClr val="23272F"/>
                </a:solidFill>
                <a:effectLst/>
                <a:latin typeface="Consolas" panose="020B0609020204030204" pitchFamily="49" charset="0"/>
              </a:rPr>
              <a:t>// ...</a:t>
            </a:r>
          </a:p>
        </p:txBody>
      </p:sp>
    </p:spTree>
    <p:extLst>
      <p:ext uri="{BB962C8B-B14F-4D97-AF65-F5344CB8AC3E}">
        <p14:creationId xmlns:p14="http://schemas.microsoft.com/office/powerpoint/2010/main" val="41151083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9EA98-D52C-E2C1-183E-A0E4FE28DB7F}"/>
              </a:ext>
            </a:extLst>
          </p:cNvPr>
          <p:cNvSpPr>
            <a:spLocks noGrp="1"/>
          </p:cNvSpPr>
          <p:nvPr>
            <p:ph type="title"/>
          </p:nvPr>
        </p:nvSpPr>
        <p:spPr/>
        <p:txBody>
          <a:bodyPr/>
          <a:lstStyle/>
          <a:p>
            <a:r>
              <a:rPr lang="en-US" sz="3600" b="1" dirty="0" err="1"/>
              <a:t>React's</a:t>
            </a:r>
            <a:r>
              <a:rPr lang="en-US" sz="3600" b="1" dirty="0"/>
              <a:t> </a:t>
            </a:r>
            <a:r>
              <a:rPr lang="en-US" sz="3600" b="1" dirty="0" err="1"/>
              <a:t>memoization</a:t>
            </a:r>
            <a:endParaRPr lang="en-US" dirty="0"/>
          </a:p>
        </p:txBody>
      </p:sp>
      <p:sp>
        <p:nvSpPr>
          <p:cNvPr id="3" name="Text Placeholder 2">
            <a:extLst>
              <a:ext uri="{FF2B5EF4-FFF2-40B4-BE49-F238E27FC236}">
                <a16:creationId xmlns:a16="http://schemas.microsoft.com/office/drawing/2014/main" id="{E765D9EF-7449-3792-7D6E-42DF7474A5BC}"/>
              </a:ext>
            </a:extLst>
          </p:cNvPr>
          <p:cNvSpPr>
            <a:spLocks noGrp="1"/>
          </p:cNvSpPr>
          <p:nvPr>
            <p:ph type="body" idx="1"/>
          </p:nvPr>
        </p:nvSpPr>
        <p:spPr/>
        <p:txBody>
          <a:bodyPr/>
          <a:lstStyle/>
          <a:p>
            <a:r>
              <a:rPr lang="vi-VN" b="1" dirty="0">
                <a:solidFill>
                  <a:srgbClr val="FF0000"/>
                </a:solidFill>
              </a:rPr>
              <a:t>Memoization</a:t>
            </a:r>
            <a:r>
              <a:rPr lang="vi-VN" dirty="0"/>
              <a:t> là một kỹ thuật tối ưu hóa, giúp tăng tốc các ứng dụng bằng cách lưu trữ kết quả của các lệnh gọi hàm (mà các hàm này được gọi là </a:t>
            </a:r>
            <a:r>
              <a:rPr lang="vi-VN" b="1" dirty="0"/>
              <a:t>expensive function</a:t>
            </a:r>
            <a:r>
              <a:rPr lang="vi-VN" dirty="0"/>
              <a:t>) và trả về kết quả được lưu trong bộ nhớ cache khi có cùng một đầu vào yêu cầu (đã được thực thi ít nhất 1 lần trước đó rồi).</a:t>
            </a:r>
            <a:endParaRPr lang="en-US" dirty="0"/>
          </a:p>
          <a:p>
            <a:r>
              <a:rPr lang="en-US" b="1" i="1" dirty="0">
                <a:solidFill>
                  <a:srgbClr val="FF0000"/>
                </a:solidFill>
              </a:rPr>
              <a:t>expensive function</a:t>
            </a:r>
            <a:r>
              <a:rPr lang="en-US" dirty="0"/>
              <a:t>: </a:t>
            </a:r>
            <a:r>
              <a:rPr lang="vi-VN" dirty="0"/>
              <a:t>là gọi một hàm tiêu thụ khối lượng lớn của hai tài nguyên</a:t>
            </a:r>
            <a:r>
              <a:rPr lang="en-US" dirty="0"/>
              <a:t> (</a:t>
            </a:r>
            <a:r>
              <a:rPr lang="en-US" b="1" dirty="0" err="1"/>
              <a:t>thời</a:t>
            </a:r>
            <a:r>
              <a:rPr lang="en-US" b="1" dirty="0"/>
              <a:t> </a:t>
            </a:r>
            <a:r>
              <a:rPr lang="en-US" b="1" dirty="0" err="1"/>
              <a:t>gian</a:t>
            </a:r>
            <a:r>
              <a:rPr lang="en-US" b="1" dirty="0"/>
              <a:t> </a:t>
            </a:r>
            <a:r>
              <a:rPr lang="en-US" b="1" dirty="0" err="1"/>
              <a:t>và</a:t>
            </a:r>
            <a:r>
              <a:rPr lang="en-US" b="1" dirty="0"/>
              <a:t> </a:t>
            </a:r>
            <a:r>
              <a:rPr lang="en-US" b="1" dirty="0" err="1"/>
              <a:t>bộ</a:t>
            </a:r>
            <a:r>
              <a:rPr lang="en-US" b="1" dirty="0"/>
              <a:t> </a:t>
            </a:r>
            <a:r>
              <a:rPr lang="en-US" b="1" dirty="0" err="1"/>
              <a:t>nhớ</a:t>
            </a:r>
            <a:r>
              <a:rPr lang="en-US" dirty="0"/>
              <a:t>)</a:t>
            </a:r>
            <a:r>
              <a:rPr lang="vi-VN" dirty="0"/>
              <a:t> này trong khi thực hiện do tính toán nặng</a:t>
            </a:r>
            <a:endParaRPr lang="en-US" dirty="0"/>
          </a:p>
        </p:txBody>
      </p:sp>
    </p:spTree>
    <p:extLst>
      <p:ext uri="{BB962C8B-B14F-4D97-AF65-F5344CB8AC3E}">
        <p14:creationId xmlns:p14="http://schemas.microsoft.com/office/powerpoint/2010/main" val="21816267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C37B2-9DD4-5C08-04B6-C85191896F81}"/>
              </a:ext>
            </a:extLst>
          </p:cNvPr>
          <p:cNvSpPr>
            <a:spLocks noGrp="1"/>
          </p:cNvSpPr>
          <p:nvPr>
            <p:ph type="title"/>
          </p:nvPr>
        </p:nvSpPr>
        <p:spPr/>
        <p:txBody>
          <a:bodyPr/>
          <a:lstStyle/>
          <a:p>
            <a:r>
              <a:rPr lang="en-US" sz="3600" b="1" dirty="0" err="1"/>
              <a:t>React's</a:t>
            </a:r>
            <a:r>
              <a:rPr lang="en-US" sz="3600" b="1" dirty="0"/>
              <a:t> </a:t>
            </a:r>
            <a:r>
              <a:rPr lang="en-US" sz="3600" b="1" dirty="0" err="1"/>
              <a:t>memoization</a:t>
            </a:r>
            <a:endParaRPr lang="en-US" dirty="0"/>
          </a:p>
        </p:txBody>
      </p:sp>
      <p:sp>
        <p:nvSpPr>
          <p:cNvPr id="3" name="Text Placeholder 2">
            <a:extLst>
              <a:ext uri="{FF2B5EF4-FFF2-40B4-BE49-F238E27FC236}">
                <a16:creationId xmlns:a16="http://schemas.microsoft.com/office/drawing/2014/main" id="{85F56450-2C28-F178-3FD5-F163AC0DAB20}"/>
              </a:ext>
            </a:extLst>
          </p:cNvPr>
          <p:cNvSpPr>
            <a:spLocks noGrp="1"/>
          </p:cNvSpPr>
          <p:nvPr>
            <p:ph type="body" idx="1"/>
          </p:nvPr>
        </p:nvSpPr>
        <p:spPr/>
        <p:txBody>
          <a:bodyPr>
            <a:normAutofit/>
          </a:bodyPr>
          <a:lstStyle/>
          <a:p>
            <a:r>
              <a:rPr lang="vi-VN" b="1" dirty="0"/>
              <a:t>momoization</a:t>
            </a:r>
            <a:r>
              <a:rPr lang="vi-VN" dirty="0"/>
              <a:t> sử dụng </a:t>
            </a:r>
            <a:r>
              <a:rPr lang="vi-VN" b="1" dirty="0"/>
              <a:t>bộ nhớ đệm </a:t>
            </a:r>
            <a:r>
              <a:rPr lang="vi-VN" dirty="0"/>
              <a:t>để lưu trữ kết quả của các lần gọi hàm, để có thể truy cập nhanh </a:t>
            </a:r>
            <a:endParaRPr lang="en-US" dirty="0"/>
          </a:p>
          <a:p>
            <a:r>
              <a:rPr lang="vi-VN" b="1" dirty="0"/>
              <a:t>Bộ đệm</a:t>
            </a:r>
            <a:r>
              <a:rPr lang="vi-VN" dirty="0"/>
              <a:t> là một kho lưu trữ dữ liệu tạm thời chứa dữ liệu, để dữ liệu đó có thể được phục vụ nhanh hơn cho các yêu cầu trong tương lai</a:t>
            </a:r>
            <a:r>
              <a:rPr lang="en-US" dirty="0"/>
              <a:t>.</a:t>
            </a:r>
          </a:p>
          <a:p>
            <a:r>
              <a:rPr lang="vi-VN" b="1" dirty="0"/>
              <a:t>memoization</a:t>
            </a:r>
            <a:r>
              <a:rPr lang="vi-VN" dirty="0"/>
              <a:t> trong JavaScript được xây dựng chủ yếu trên hai khái niệm:</a:t>
            </a:r>
          </a:p>
          <a:p>
            <a:pPr lvl="1"/>
            <a:r>
              <a:rPr lang="vi-VN" dirty="0"/>
              <a:t>Closures</a:t>
            </a:r>
          </a:p>
          <a:p>
            <a:pPr lvl="1"/>
            <a:r>
              <a:rPr lang="vi-VN" dirty="0"/>
              <a:t>Higher Order Functions (returning functions from functions)</a:t>
            </a:r>
            <a:endParaRPr lang="en-US" dirty="0"/>
          </a:p>
        </p:txBody>
      </p:sp>
    </p:spTree>
    <p:extLst>
      <p:ext uri="{BB962C8B-B14F-4D97-AF65-F5344CB8AC3E}">
        <p14:creationId xmlns:p14="http://schemas.microsoft.com/office/powerpoint/2010/main" val="2452888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A1FC7-B0E8-BC51-7476-007C1AFCCC18}"/>
              </a:ext>
            </a:extLst>
          </p:cNvPr>
          <p:cNvSpPr>
            <a:spLocks noGrp="1"/>
          </p:cNvSpPr>
          <p:nvPr>
            <p:ph type="title"/>
          </p:nvPr>
        </p:nvSpPr>
        <p:spPr/>
        <p:txBody>
          <a:bodyPr/>
          <a:lstStyle/>
          <a:p>
            <a:r>
              <a:rPr lang="en-US" sz="3600" b="1" dirty="0" err="1"/>
              <a:t>React's</a:t>
            </a:r>
            <a:r>
              <a:rPr lang="en-US" sz="3600" b="1" dirty="0"/>
              <a:t> </a:t>
            </a:r>
            <a:r>
              <a:rPr lang="en-US" sz="3600" b="1" dirty="0" err="1"/>
              <a:t>memoization</a:t>
            </a:r>
            <a:endParaRPr lang="en-US" dirty="0"/>
          </a:p>
        </p:txBody>
      </p:sp>
      <p:sp>
        <p:nvSpPr>
          <p:cNvPr id="3" name="Text Placeholder 2">
            <a:extLst>
              <a:ext uri="{FF2B5EF4-FFF2-40B4-BE49-F238E27FC236}">
                <a16:creationId xmlns:a16="http://schemas.microsoft.com/office/drawing/2014/main" id="{FAB32D3C-3B00-82AC-797F-30C81EE9FC9E}"/>
              </a:ext>
            </a:extLst>
          </p:cNvPr>
          <p:cNvSpPr>
            <a:spLocks noGrp="1"/>
          </p:cNvSpPr>
          <p:nvPr>
            <p:ph type="body" idx="1"/>
          </p:nvPr>
        </p:nvSpPr>
        <p:spPr>
          <a:xfrm>
            <a:off x="1104900" y="1600199"/>
            <a:ext cx="9982200" cy="4912895"/>
          </a:xfrm>
        </p:spPr>
        <p:txBody>
          <a:bodyPr>
            <a:normAutofit lnSpcReduction="10000"/>
          </a:bodyPr>
          <a:lstStyle/>
          <a:p>
            <a:r>
              <a:rPr lang="en-US" dirty="0"/>
              <a:t>Trong</a:t>
            </a:r>
            <a:r>
              <a:rPr lang="en-US" b="1" dirty="0"/>
              <a:t> </a:t>
            </a:r>
            <a:r>
              <a:rPr lang="vi-VN" b="1" dirty="0"/>
              <a:t>javascript</a:t>
            </a:r>
            <a:r>
              <a:rPr lang="vi-VN" dirty="0"/>
              <a:t> </a:t>
            </a:r>
            <a:r>
              <a:rPr lang="en-US" dirty="0" err="1"/>
              <a:t>chỉ</a:t>
            </a:r>
            <a:r>
              <a:rPr lang="en-US" dirty="0"/>
              <a:t> </a:t>
            </a:r>
            <a:r>
              <a:rPr lang="en-US" dirty="0" err="1"/>
              <a:t>có</a:t>
            </a:r>
            <a:r>
              <a:rPr lang="en-US" dirty="0"/>
              <a:t> </a:t>
            </a:r>
            <a:r>
              <a:rPr lang="vi-VN" b="1" dirty="0"/>
              <a:t>function block</a:t>
            </a:r>
            <a:r>
              <a:rPr lang="en-US" b="1" dirty="0"/>
              <a:t> </a:t>
            </a:r>
            <a:r>
              <a:rPr lang="vi-VN" dirty="0"/>
              <a:t>là những gì tạo ra trong một function sẽ available ở trong function đó. </a:t>
            </a:r>
            <a:endParaRPr lang="en-US" dirty="0"/>
          </a:p>
          <a:p>
            <a:r>
              <a:rPr lang="en-US" dirty="0" err="1"/>
              <a:t>Ví</a:t>
            </a:r>
            <a:r>
              <a:rPr lang="en-US" dirty="0"/>
              <a:t> </a:t>
            </a:r>
            <a:r>
              <a:rPr lang="en-US" dirty="0" err="1"/>
              <a:t>dụ</a:t>
            </a:r>
            <a:r>
              <a:rPr lang="en-US" dirty="0"/>
              <a:t>:</a:t>
            </a:r>
          </a:p>
          <a:p>
            <a:endParaRPr lang="en-US" dirty="0"/>
          </a:p>
          <a:p>
            <a:endParaRPr lang="en-US" dirty="0"/>
          </a:p>
          <a:p>
            <a:endParaRPr lang="en-US" dirty="0"/>
          </a:p>
          <a:p>
            <a:r>
              <a:rPr lang="vi-VN" b="1" dirty="0"/>
              <a:t>Vấn đề</a:t>
            </a:r>
            <a:r>
              <a:rPr lang="en-US" b="1" dirty="0"/>
              <a:t>: </a:t>
            </a:r>
            <a:r>
              <a:rPr lang="vi-VN" dirty="0"/>
              <a:t>tránh tính toán lại một giá trị mà đã có kết quả được lưu trong bộ nhớ cache. Trong ví dụ trên, ta đang tránh tính toán lại </a:t>
            </a:r>
            <a:r>
              <a:rPr lang="vi-VN" b="1" dirty="0"/>
              <a:t>input + 2</a:t>
            </a:r>
            <a:r>
              <a:rPr lang="en-US" b="1" dirty="0"/>
              <a:t> </a:t>
            </a:r>
          </a:p>
        </p:txBody>
      </p:sp>
      <p:pic>
        <p:nvPicPr>
          <p:cNvPr id="7" name="Picture 6">
            <a:extLst>
              <a:ext uri="{FF2B5EF4-FFF2-40B4-BE49-F238E27FC236}">
                <a16:creationId xmlns:a16="http://schemas.microsoft.com/office/drawing/2014/main" id="{8DA07C7B-B4E8-8C6D-8BC4-DFFE146A2C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4922" y="2672456"/>
            <a:ext cx="5469942" cy="221893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41138150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764FD-D0FE-A21E-1F99-13C9EDEEE8BA}"/>
              </a:ext>
            </a:extLst>
          </p:cNvPr>
          <p:cNvSpPr>
            <a:spLocks noGrp="1"/>
          </p:cNvSpPr>
          <p:nvPr>
            <p:ph type="title"/>
          </p:nvPr>
        </p:nvSpPr>
        <p:spPr/>
        <p:txBody>
          <a:bodyPr/>
          <a:lstStyle/>
          <a:p>
            <a:r>
              <a:rPr lang="en-US" sz="3600" b="1" dirty="0" err="1"/>
              <a:t>React's</a:t>
            </a:r>
            <a:r>
              <a:rPr lang="en-US" sz="3600" b="1" dirty="0"/>
              <a:t> </a:t>
            </a:r>
            <a:r>
              <a:rPr lang="en-US" sz="3600" b="1" dirty="0" err="1"/>
              <a:t>memoization</a:t>
            </a:r>
            <a:endParaRPr lang="en-US" dirty="0"/>
          </a:p>
        </p:txBody>
      </p:sp>
      <p:sp>
        <p:nvSpPr>
          <p:cNvPr id="3" name="Text Placeholder 2">
            <a:extLst>
              <a:ext uri="{FF2B5EF4-FFF2-40B4-BE49-F238E27FC236}">
                <a16:creationId xmlns:a16="http://schemas.microsoft.com/office/drawing/2014/main" id="{E929F36E-9AD6-9EA7-9C1D-56EDF2DBBB1E}"/>
              </a:ext>
            </a:extLst>
          </p:cNvPr>
          <p:cNvSpPr>
            <a:spLocks noGrp="1"/>
          </p:cNvSpPr>
          <p:nvPr>
            <p:ph type="body" idx="1"/>
          </p:nvPr>
        </p:nvSpPr>
        <p:spPr>
          <a:xfrm>
            <a:off x="1104900" y="1600200"/>
            <a:ext cx="10236868" cy="4572000"/>
          </a:xfrm>
        </p:spPr>
        <p:txBody>
          <a:bodyPr>
            <a:normAutofit/>
          </a:bodyPr>
          <a:lstStyle/>
          <a:p>
            <a:r>
              <a:rPr lang="vi-VN" b="1" dirty="0"/>
              <a:t>React có 3 API để ghi nhớ</a:t>
            </a:r>
            <a:r>
              <a:rPr lang="vi-VN" dirty="0"/>
              <a:t>: memo,useMemo và useCallback.</a:t>
            </a:r>
          </a:p>
          <a:p>
            <a:pPr lvl="1"/>
            <a:r>
              <a:rPr lang="vi-VN" b="1" dirty="0">
                <a:solidFill>
                  <a:srgbClr val="FF0000"/>
                </a:solidFill>
              </a:rPr>
              <a:t>memo </a:t>
            </a:r>
            <a:r>
              <a:rPr lang="en-US" b="1" dirty="0" err="1">
                <a:solidFill>
                  <a:srgbClr val="FF0000"/>
                </a:solidFill>
              </a:rPr>
              <a:t>hoặc</a:t>
            </a:r>
            <a:r>
              <a:rPr lang="vi-VN" b="1" dirty="0">
                <a:solidFill>
                  <a:srgbClr val="FF0000"/>
                </a:solidFill>
              </a:rPr>
              <a:t> React.memo </a:t>
            </a:r>
            <a:r>
              <a:rPr lang="vi-VN" dirty="0"/>
              <a:t>là một higher order component, giúp tăng hiệu suất bằng cách ghi nhớ kết quả</a:t>
            </a:r>
            <a:r>
              <a:rPr lang="en-US" dirty="0"/>
              <a:t>, </a:t>
            </a:r>
            <a:r>
              <a:rPr lang="vi-VN" dirty="0"/>
              <a:t>nghĩa là React sẽ bỏ qua việc render component và sử dụng lại kết quả được render cuối cùng.</a:t>
            </a:r>
            <a:endParaRPr lang="en-US" dirty="0"/>
          </a:p>
          <a:p>
            <a:pPr lvl="1"/>
            <a:r>
              <a:rPr lang="vi-VN" b="1" dirty="0">
                <a:solidFill>
                  <a:srgbClr val="FF0000"/>
                </a:solidFill>
              </a:rPr>
              <a:t>useMemo</a:t>
            </a:r>
            <a:r>
              <a:rPr lang="vi-VN" dirty="0"/>
              <a:t> là một </a:t>
            </a:r>
            <a:r>
              <a:rPr lang="vi-VN" b="1" dirty="0"/>
              <a:t>hook của React</a:t>
            </a:r>
            <a:r>
              <a:rPr lang="vi-VN" dirty="0"/>
              <a:t>, giữ cho </a:t>
            </a:r>
            <a:r>
              <a:rPr lang="vi-VN" i="1" dirty="0"/>
              <a:t>một hàm không cần phải thực thi lại nếu nó không nhận được một tập hợp các tham số sử dụng trước đó</a:t>
            </a:r>
            <a:r>
              <a:rPr lang="vi-VN" dirty="0"/>
              <a:t>. Nó trả về kết quả là một function. </a:t>
            </a:r>
            <a:endParaRPr lang="en-US" dirty="0"/>
          </a:p>
          <a:p>
            <a:pPr lvl="1"/>
            <a:r>
              <a:rPr lang="vi-VN" b="1" dirty="0">
                <a:solidFill>
                  <a:srgbClr val="FF0000"/>
                </a:solidFill>
              </a:rPr>
              <a:t>useCallback</a:t>
            </a:r>
            <a:r>
              <a:rPr lang="vi-VN" dirty="0"/>
              <a:t> cũng là một hook của React, giữ cho </a:t>
            </a:r>
            <a:r>
              <a:rPr lang="vi-VN" i="1" dirty="0"/>
              <a:t>một function không được tạo lại dựa vào mảng các phần phụ thuộc</a:t>
            </a:r>
            <a:r>
              <a:rPr lang="vi-VN" dirty="0"/>
              <a:t>. </a:t>
            </a:r>
            <a:endParaRPr lang="en-US" dirty="0"/>
          </a:p>
        </p:txBody>
      </p:sp>
    </p:spTree>
    <p:extLst>
      <p:ext uri="{BB962C8B-B14F-4D97-AF65-F5344CB8AC3E}">
        <p14:creationId xmlns:p14="http://schemas.microsoft.com/office/powerpoint/2010/main" val="835391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C91D6-8F06-2750-E4DF-2618254A8912}"/>
              </a:ext>
            </a:extLst>
          </p:cNvPr>
          <p:cNvSpPr>
            <a:spLocks noGrp="1"/>
          </p:cNvSpPr>
          <p:nvPr>
            <p:ph type="title"/>
          </p:nvPr>
        </p:nvSpPr>
        <p:spPr/>
        <p:txBody>
          <a:bodyPr/>
          <a:lstStyle/>
          <a:p>
            <a:r>
              <a:rPr lang="en-US" sz="3600" b="1" dirty="0" err="1"/>
              <a:t>useMemo</a:t>
            </a:r>
            <a:r>
              <a:rPr lang="en-US" sz="3600" b="1" dirty="0"/>
              <a:t> and </a:t>
            </a:r>
            <a:r>
              <a:rPr lang="en-US" sz="3600" b="1" dirty="0" err="1"/>
              <a:t>useCallback</a:t>
            </a:r>
            <a:endParaRPr lang="en-US" dirty="0"/>
          </a:p>
        </p:txBody>
      </p:sp>
      <p:sp>
        <p:nvSpPr>
          <p:cNvPr id="3" name="Text Placeholder 2">
            <a:extLst>
              <a:ext uri="{FF2B5EF4-FFF2-40B4-BE49-F238E27FC236}">
                <a16:creationId xmlns:a16="http://schemas.microsoft.com/office/drawing/2014/main" id="{7D9658E8-CFDF-9E08-E961-AB07A3930034}"/>
              </a:ext>
            </a:extLst>
          </p:cNvPr>
          <p:cNvSpPr>
            <a:spLocks noGrp="1"/>
          </p:cNvSpPr>
          <p:nvPr>
            <p:ph type="body" idx="1"/>
          </p:nvPr>
        </p:nvSpPr>
        <p:spPr/>
        <p:txBody>
          <a:bodyPr>
            <a:normAutofit/>
          </a:bodyPr>
          <a:lstStyle/>
          <a:p>
            <a:r>
              <a:rPr lang="en-US" b="1" dirty="0" err="1">
                <a:solidFill>
                  <a:srgbClr val="FF0000"/>
                </a:solidFill>
              </a:rPr>
              <a:t>Vấn</a:t>
            </a:r>
            <a:r>
              <a:rPr lang="en-US" b="1" dirty="0">
                <a:solidFill>
                  <a:srgbClr val="FF0000"/>
                </a:solidFill>
              </a:rPr>
              <a:t> </a:t>
            </a:r>
            <a:r>
              <a:rPr lang="en-US" b="1" dirty="0" err="1">
                <a:solidFill>
                  <a:srgbClr val="FF0000"/>
                </a:solidFill>
              </a:rPr>
              <a:t>đề</a:t>
            </a:r>
            <a:r>
              <a:rPr lang="en-US" b="1" dirty="0">
                <a:solidFill>
                  <a:srgbClr val="FF0000"/>
                </a:solidFill>
              </a:rPr>
              <a:t> </a:t>
            </a:r>
            <a:r>
              <a:rPr lang="en-US" b="1" dirty="0" err="1">
                <a:solidFill>
                  <a:srgbClr val="FF0000"/>
                </a:solidFill>
              </a:rPr>
              <a:t>với</a:t>
            </a:r>
            <a:r>
              <a:rPr lang="en-US" b="1" dirty="0">
                <a:solidFill>
                  <a:srgbClr val="FF0000"/>
                </a:solidFill>
              </a:rPr>
              <a:t> </a:t>
            </a:r>
            <a:r>
              <a:rPr lang="vi-VN" b="1" dirty="0">
                <a:solidFill>
                  <a:srgbClr val="FF0000"/>
                </a:solidFill>
              </a:rPr>
              <a:t>Function component </a:t>
            </a:r>
            <a:endParaRPr lang="en-US" b="1" dirty="0">
              <a:solidFill>
                <a:srgbClr val="FF0000"/>
              </a:solidFill>
            </a:endParaRPr>
          </a:p>
          <a:p>
            <a:pPr lvl="1"/>
            <a:r>
              <a:rPr lang="vi-VN" b="1" dirty="0"/>
              <a:t>Function component </a:t>
            </a:r>
            <a:r>
              <a:rPr lang="vi-VN" dirty="0"/>
              <a:t>kết hợp với các hook cho phép tái sử dụng code và linh hoạt hơn </a:t>
            </a:r>
            <a:r>
              <a:rPr lang="vi-VN" b="1" dirty="0"/>
              <a:t>Class component</a:t>
            </a:r>
            <a:r>
              <a:rPr lang="vi-VN" dirty="0"/>
              <a:t>. </a:t>
            </a:r>
            <a:endParaRPr lang="en-US" dirty="0"/>
          </a:p>
          <a:p>
            <a:pPr lvl="1"/>
            <a:r>
              <a:rPr lang="vi-VN" dirty="0"/>
              <a:t>Tuy nhiên </a:t>
            </a:r>
            <a:r>
              <a:rPr lang="en-US" dirty="0"/>
              <a:t>m</a:t>
            </a:r>
            <a:r>
              <a:rPr lang="vi-VN" dirty="0"/>
              <a:t>ột </a:t>
            </a:r>
            <a:r>
              <a:rPr lang="vi-VN" b="1" dirty="0"/>
              <a:t>function component </a:t>
            </a:r>
            <a:r>
              <a:rPr lang="vi-VN" dirty="0"/>
              <a:t>giống như một hàm </a:t>
            </a:r>
            <a:r>
              <a:rPr lang="vi-VN" b="1" dirty="0"/>
              <a:t>render() </a:t>
            </a:r>
            <a:r>
              <a:rPr lang="vi-VN" dirty="0"/>
              <a:t>trong </a:t>
            </a:r>
            <a:r>
              <a:rPr lang="vi-VN" b="1" dirty="0"/>
              <a:t>class component</a:t>
            </a:r>
            <a:r>
              <a:rPr lang="vi-VN" dirty="0"/>
              <a:t>, là chức năng sẽ render lại khi </a:t>
            </a:r>
            <a:r>
              <a:rPr lang="vi-VN" b="1" dirty="0"/>
              <a:t>state/props </a:t>
            </a:r>
            <a:r>
              <a:rPr lang="vi-VN" dirty="0"/>
              <a:t>thay đổi.</a:t>
            </a:r>
            <a:endParaRPr lang="en-US" dirty="0"/>
          </a:p>
          <a:p>
            <a:pPr lvl="1"/>
            <a:r>
              <a:rPr lang="vi-VN" dirty="0"/>
              <a:t>Nếu một function được </a:t>
            </a:r>
            <a:r>
              <a:rPr lang="vi-VN" i="1" dirty="0">
                <a:solidFill>
                  <a:srgbClr val="FF0000"/>
                </a:solidFill>
              </a:rPr>
              <a:t>gọi bên trong một component</a:t>
            </a:r>
            <a:r>
              <a:rPr lang="vi-VN" dirty="0"/>
              <a:t>, nó sẽ được đánh giá lại, lặp đi lặp lại sau mỗi lần render.</a:t>
            </a:r>
          </a:p>
          <a:p>
            <a:pPr lvl="1"/>
            <a:r>
              <a:rPr lang="vi-VN" dirty="0"/>
              <a:t>Nếu một function được </a:t>
            </a:r>
            <a:r>
              <a:rPr lang="vi-VN" i="1" dirty="0">
                <a:solidFill>
                  <a:srgbClr val="FF0000"/>
                </a:solidFill>
              </a:rPr>
              <a:t>tạo bên trong một component </a:t>
            </a:r>
            <a:r>
              <a:rPr lang="en-US" dirty="0"/>
              <a:t>(</a:t>
            </a:r>
            <a:r>
              <a:rPr lang="vi-VN" dirty="0"/>
              <a:t>component con</a:t>
            </a:r>
            <a:r>
              <a:rPr lang="en-US" dirty="0"/>
              <a:t>)</a:t>
            </a:r>
            <a:r>
              <a:rPr lang="vi-VN" dirty="0"/>
              <a:t> thì nó sẽ được tạo lại, </a:t>
            </a:r>
            <a:r>
              <a:rPr lang="en-US" dirty="0" err="1"/>
              <a:t>làm</a:t>
            </a:r>
            <a:r>
              <a:rPr lang="en-US" dirty="0"/>
              <a:t> </a:t>
            </a:r>
            <a:r>
              <a:rPr lang="en-US" dirty="0" err="1"/>
              <a:t>cho</a:t>
            </a:r>
            <a:r>
              <a:rPr lang="en-US" dirty="0"/>
              <a:t> </a:t>
            </a:r>
            <a:r>
              <a:rPr lang="vi-VN" dirty="0"/>
              <a:t>thành phần con render lại hoặc gọi lại những function không cần thiết.</a:t>
            </a:r>
            <a:endParaRPr lang="en-US" dirty="0"/>
          </a:p>
          <a:p>
            <a:endParaRPr lang="en-US" dirty="0"/>
          </a:p>
        </p:txBody>
      </p:sp>
    </p:spTree>
    <p:extLst>
      <p:ext uri="{BB962C8B-B14F-4D97-AF65-F5344CB8AC3E}">
        <p14:creationId xmlns:p14="http://schemas.microsoft.com/office/powerpoint/2010/main" val="15587969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F1CFB-D42B-0504-41FA-114A3F4CBF12}"/>
              </a:ext>
            </a:extLst>
          </p:cNvPr>
          <p:cNvSpPr>
            <a:spLocks noGrp="1"/>
          </p:cNvSpPr>
          <p:nvPr>
            <p:ph type="title"/>
          </p:nvPr>
        </p:nvSpPr>
        <p:spPr/>
        <p:txBody>
          <a:bodyPr/>
          <a:lstStyle/>
          <a:p>
            <a:r>
              <a:rPr lang="en-US" sz="3600" b="1" dirty="0" err="1"/>
              <a:t>useMemo</a:t>
            </a:r>
            <a:r>
              <a:rPr lang="en-US" sz="3600" b="1" dirty="0"/>
              <a:t> and </a:t>
            </a:r>
            <a:r>
              <a:rPr lang="en-US" sz="3600" b="1" dirty="0" err="1"/>
              <a:t>useCallback</a:t>
            </a:r>
            <a:endParaRPr lang="en-US" dirty="0"/>
          </a:p>
        </p:txBody>
      </p:sp>
      <p:sp>
        <p:nvSpPr>
          <p:cNvPr id="3" name="Text Placeholder 2">
            <a:extLst>
              <a:ext uri="{FF2B5EF4-FFF2-40B4-BE49-F238E27FC236}">
                <a16:creationId xmlns:a16="http://schemas.microsoft.com/office/drawing/2014/main" id="{CBBE0F6A-036D-BFBB-2F42-64726252505C}"/>
              </a:ext>
            </a:extLst>
          </p:cNvPr>
          <p:cNvSpPr>
            <a:spLocks noGrp="1"/>
          </p:cNvSpPr>
          <p:nvPr>
            <p:ph type="body" idx="1"/>
          </p:nvPr>
        </p:nvSpPr>
        <p:spPr/>
        <p:txBody>
          <a:bodyPr/>
          <a:lstStyle/>
          <a:p>
            <a:r>
              <a:rPr lang="en-US" b="1" dirty="0" err="1">
                <a:solidFill>
                  <a:srgbClr val="FF0000"/>
                </a:solidFill>
              </a:rPr>
              <a:t>Giải</a:t>
            </a:r>
            <a:r>
              <a:rPr lang="en-US" b="1" dirty="0">
                <a:solidFill>
                  <a:srgbClr val="FF0000"/>
                </a:solidFill>
              </a:rPr>
              <a:t> </a:t>
            </a:r>
            <a:r>
              <a:rPr lang="en-US" b="1" dirty="0" err="1">
                <a:solidFill>
                  <a:srgbClr val="FF0000"/>
                </a:solidFill>
              </a:rPr>
              <a:t>quyết</a:t>
            </a:r>
            <a:r>
              <a:rPr lang="en-US" b="1" dirty="0">
                <a:solidFill>
                  <a:srgbClr val="FF0000"/>
                </a:solidFill>
              </a:rPr>
              <a:t> </a:t>
            </a:r>
            <a:r>
              <a:rPr lang="en-US" b="1" dirty="0" err="1">
                <a:solidFill>
                  <a:srgbClr val="FF0000"/>
                </a:solidFill>
              </a:rPr>
              <a:t>vấn</a:t>
            </a:r>
            <a:r>
              <a:rPr lang="en-US" b="1" dirty="0">
                <a:solidFill>
                  <a:srgbClr val="FF0000"/>
                </a:solidFill>
              </a:rPr>
              <a:t> </a:t>
            </a:r>
            <a:r>
              <a:rPr lang="en-US" b="1" dirty="0" err="1">
                <a:solidFill>
                  <a:srgbClr val="FF0000"/>
                </a:solidFill>
              </a:rPr>
              <a:t>đề</a:t>
            </a:r>
            <a:r>
              <a:rPr lang="en-US" b="1" dirty="0">
                <a:solidFill>
                  <a:srgbClr val="FF0000"/>
                </a:solidFill>
              </a:rPr>
              <a:t> </a:t>
            </a:r>
            <a:r>
              <a:rPr lang="en-US" dirty="0" err="1"/>
              <a:t>về</a:t>
            </a:r>
            <a:r>
              <a:rPr lang="en-US" dirty="0"/>
              <a:t> </a:t>
            </a:r>
            <a:r>
              <a:rPr lang="en-US" dirty="0" err="1"/>
              <a:t>hiệu</a:t>
            </a:r>
            <a:r>
              <a:rPr lang="en-US" dirty="0"/>
              <a:t> </a:t>
            </a:r>
            <a:r>
              <a:rPr lang="en-US" dirty="0" err="1"/>
              <a:t>suất</a:t>
            </a:r>
            <a:r>
              <a:rPr lang="en-US" dirty="0"/>
              <a:t> </a:t>
            </a:r>
            <a:r>
              <a:rPr lang="en-US" dirty="0" err="1"/>
              <a:t>của</a:t>
            </a:r>
            <a:r>
              <a:rPr lang="en-US" dirty="0"/>
              <a:t> app, React </a:t>
            </a:r>
            <a:r>
              <a:rPr lang="en-US" dirty="0" err="1"/>
              <a:t>cung</a:t>
            </a:r>
            <a:r>
              <a:rPr lang="en-US" dirty="0"/>
              <a:t> </a:t>
            </a:r>
            <a:r>
              <a:rPr lang="en-US" dirty="0" err="1"/>
              <a:t>cấp</a:t>
            </a:r>
            <a:r>
              <a:rPr lang="en-US" dirty="0"/>
              <a:t>  2 hook: </a:t>
            </a:r>
            <a:r>
              <a:rPr lang="en-US" b="1" dirty="0" err="1"/>
              <a:t>useMemo</a:t>
            </a:r>
            <a:r>
              <a:rPr lang="en-US" b="1" dirty="0"/>
              <a:t> </a:t>
            </a:r>
            <a:r>
              <a:rPr lang="en-US" b="1" dirty="0" err="1"/>
              <a:t>và</a:t>
            </a:r>
            <a:r>
              <a:rPr lang="en-US" b="1" dirty="0"/>
              <a:t> </a:t>
            </a:r>
            <a:r>
              <a:rPr lang="en-US" b="1" dirty="0" err="1"/>
              <a:t>useCallback</a:t>
            </a:r>
            <a:endParaRPr lang="en-US" b="1" dirty="0"/>
          </a:p>
        </p:txBody>
      </p:sp>
    </p:spTree>
    <p:extLst>
      <p:ext uri="{BB962C8B-B14F-4D97-AF65-F5344CB8AC3E}">
        <p14:creationId xmlns:p14="http://schemas.microsoft.com/office/powerpoint/2010/main" val="917470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C0C36-9437-83EA-66E7-D6EF01A97269}"/>
              </a:ext>
            </a:extLst>
          </p:cNvPr>
          <p:cNvSpPr>
            <a:spLocks noGrp="1"/>
          </p:cNvSpPr>
          <p:nvPr>
            <p:ph type="title"/>
          </p:nvPr>
        </p:nvSpPr>
        <p:spPr/>
        <p:txBody>
          <a:bodyPr>
            <a:normAutofit/>
          </a:bodyPr>
          <a:lstStyle/>
          <a:p>
            <a:pPr lvl="1"/>
            <a:r>
              <a:rPr lang="en-US" sz="3600" b="1" dirty="0" err="1"/>
              <a:t>useMemo</a:t>
            </a:r>
            <a:r>
              <a:rPr lang="en-US" sz="3600" b="1" dirty="0"/>
              <a:t> and </a:t>
            </a:r>
            <a:r>
              <a:rPr lang="en-US" sz="3600" b="1" dirty="0" err="1"/>
              <a:t>useCallback</a:t>
            </a:r>
            <a:endParaRPr lang="en-US" sz="2400" b="1" dirty="0"/>
          </a:p>
        </p:txBody>
      </p:sp>
      <p:sp>
        <p:nvSpPr>
          <p:cNvPr id="3" name="Text Placeholder 2">
            <a:extLst>
              <a:ext uri="{FF2B5EF4-FFF2-40B4-BE49-F238E27FC236}">
                <a16:creationId xmlns:a16="http://schemas.microsoft.com/office/drawing/2014/main" id="{6277E9DB-8C26-1189-15A5-A314F18E2A82}"/>
              </a:ext>
            </a:extLst>
          </p:cNvPr>
          <p:cNvSpPr>
            <a:spLocks noGrp="1"/>
          </p:cNvSpPr>
          <p:nvPr>
            <p:ph type="body" idx="1"/>
          </p:nvPr>
        </p:nvSpPr>
        <p:spPr>
          <a:xfrm>
            <a:off x="1104899" y="1600200"/>
            <a:ext cx="10291233" cy="4572000"/>
          </a:xfrm>
        </p:spPr>
        <p:txBody>
          <a:bodyPr>
            <a:normAutofit/>
          </a:bodyPr>
          <a:lstStyle/>
          <a:p>
            <a:r>
              <a:rPr lang="en-US" b="1" dirty="0" err="1">
                <a:solidFill>
                  <a:srgbClr val="FF0000"/>
                </a:solidFill>
              </a:rPr>
              <a:t>useCallback</a:t>
            </a:r>
            <a:r>
              <a:rPr lang="en-US" b="1" dirty="0">
                <a:solidFill>
                  <a:srgbClr val="FF0000"/>
                </a:solidFill>
              </a:rPr>
              <a:t> </a:t>
            </a:r>
            <a:r>
              <a:rPr lang="en-US" dirty="0"/>
              <a:t>is a </a:t>
            </a:r>
            <a:r>
              <a:rPr lang="en-US" b="1" dirty="0"/>
              <a:t>React Hook </a:t>
            </a:r>
            <a:r>
              <a:rPr lang="en-US" dirty="0"/>
              <a:t>returns a </a:t>
            </a:r>
            <a:r>
              <a:rPr lang="en-US" dirty="0" err="1"/>
              <a:t>memoized</a:t>
            </a:r>
            <a:r>
              <a:rPr lang="en-US" dirty="0"/>
              <a:t> callback function, as caching a value so that it does not need to be recalculated.</a:t>
            </a:r>
          </a:p>
          <a:p>
            <a:pPr lvl="1"/>
            <a:r>
              <a:rPr lang="en-US" dirty="0"/>
              <a:t>This allows us to isolate resource intensive functions so that they will not automatically run on every render.</a:t>
            </a:r>
          </a:p>
          <a:p>
            <a:pPr lvl="1"/>
            <a:r>
              <a:rPr lang="en-US" dirty="0"/>
              <a:t>The </a:t>
            </a:r>
            <a:r>
              <a:rPr lang="en-US" b="1" dirty="0" err="1"/>
              <a:t>useCallback</a:t>
            </a:r>
            <a:r>
              <a:rPr lang="en-US" dirty="0"/>
              <a:t> Hook only runs when one of its dependencies update.</a:t>
            </a:r>
          </a:p>
          <a:p>
            <a:pPr lvl="1"/>
            <a:r>
              <a:rPr lang="en-US" dirty="0"/>
              <a:t>This can improve performance.</a:t>
            </a:r>
          </a:p>
          <a:p>
            <a:endParaRPr lang="en-US" dirty="0"/>
          </a:p>
        </p:txBody>
      </p:sp>
    </p:spTree>
    <p:extLst>
      <p:ext uri="{BB962C8B-B14F-4D97-AF65-F5344CB8AC3E}">
        <p14:creationId xmlns:p14="http://schemas.microsoft.com/office/powerpoint/2010/main" val="401071973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BF6A7-88BE-4F94-AE23-7510D2D9E364}"/>
              </a:ext>
            </a:extLst>
          </p:cNvPr>
          <p:cNvSpPr>
            <a:spLocks noGrp="1"/>
          </p:cNvSpPr>
          <p:nvPr>
            <p:ph type="title"/>
          </p:nvPr>
        </p:nvSpPr>
        <p:spPr/>
        <p:txBody>
          <a:bodyPr/>
          <a:lstStyle/>
          <a:p>
            <a:r>
              <a:rPr lang="en-US" dirty="0" err="1"/>
              <a:t>useMemo</a:t>
            </a:r>
            <a:r>
              <a:rPr lang="en-US" dirty="0"/>
              <a:t> and </a:t>
            </a:r>
            <a:r>
              <a:rPr lang="en-US" dirty="0" err="1"/>
              <a:t>useCallback</a:t>
            </a:r>
            <a:endParaRPr lang="en-US" dirty="0"/>
          </a:p>
        </p:txBody>
      </p:sp>
      <p:sp>
        <p:nvSpPr>
          <p:cNvPr id="3" name="Text Placeholder 2">
            <a:extLst>
              <a:ext uri="{FF2B5EF4-FFF2-40B4-BE49-F238E27FC236}">
                <a16:creationId xmlns:a16="http://schemas.microsoft.com/office/drawing/2014/main" id="{EEFE14FB-4102-4B67-9179-A6F6F442CD7A}"/>
              </a:ext>
            </a:extLst>
          </p:cNvPr>
          <p:cNvSpPr>
            <a:spLocks noGrp="1"/>
          </p:cNvSpPr>
          <p:nvPr>
            <p:ph type="body" idx="1"/>
          </p:nvPr>
        </p:nvSpPr>
        <p:spPr/>
        <p:txBody>
          <a:bodyPr/>
          <a:lstStyle/>
          <a:p>
            <a:r>
              <a:rPr lang="en-US" b="1" dirty="0" err="1">
                <a:solidFill>
                  <a:srgbClr val="FF0000"/>
                </a:solidFill>
              </a:rPr>
              <a:t>useCallback</a:t>
            </a:r>
            <a:endParaRPr lang="en-US" b="1" dirty="0">
              <a:solidFill>
                <a:srgbClr val="FF0000"/>
              </a:solidFill>
            </a:endParaRPr>
          </a:p>
          <a:p>
            <a:pPr lvl="1"/>
            <a:r>
              <a:rPr lang="en-US" dirty="0">
                <a:solidFill>
                  <a:schemeClr val="tx2"/>
                </a:solidFill>
              </a:rPr>
              <a:t>Example:</a:t>
            </a:r>
          </a:p>
        </p:txBody>
      </p:sp>
      <p:pic>
        <p:nvPicPr>
          <p:cNvPr id="5" name="Picture 4">
            <a:extLst>
              <a:ext uri="{FF2B5EF4-FFF2-40B4-BE49-F238E27FC236}">
                <a16:creationId xmlns:a16="http://schemas.microsoft.com/office/drawing/2014/main" id="{BDD41BC2-79EE-493D-B7D1-38A4E11E0B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94800" y="1600200"/>
            <a:ext cx="6774799" cy="4836647"/>
          </a:xfrm>
          <a:prstGeom prst="rect">
            <a:avLst/>
          </a:prstGeom>
        </p:spPr>
      </p:pic>
    </p:spTree>
    <p:extLst>
      <p:ext uri="{BB962C8B-B14F-4D97-AF65-F5344CB8AC3E}">
        <p14:creationId xmlns:p14="http://schemas.microsoft.com/office/powerpoint/2010/main" val="198510077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BF6A7-88BE-4F94-AE23-7510D2D9E364}"/>
              </a:ext>
            </a:extLst>
          </p:cNvPr>
          <p:cNvSpPr>
            <a:spLocks noGrp="1"/>
          </p:cNvSpPr>
          <p:nvPr>
            <p:ph type="title"/>
          </p:nvPr>
        </p:nvSpPr>
        <p:spPr/>
        <p:txBody>
          <a:bodyPr/>
          <a:lstStyle/>
          <a:p>
            <a:r>
              <a:rPr lang="en-US" dirty="0" err="1"/>
              <a:t>useMemo</a:t>
            </a:r>
            <a:r>
              <a:rPr lang="en-US" dirty="0"/>
              <a:t> and </a:t>
            </a:r>
            <a:r>
              <a:rPr lang="en-US" dirty="0" err="1"/>
              <a:t>useCallback</a:t>
            </a:r>
            <a:endParaRPr lang="en-US" dirty="0"/>
          </a:p>
        </p:txBody>
      </p:sp>
      <p:sp>
        <p:nvSpPr>
          <p:cNvPr id="3" name="Text Placeholder 2">
            <a:extLst>
              <a:ext uri="{FF2B5EF4-FFF2-40B4-BE49-F238E27FC236}">
                <a16:creationId xmlns:a16="http://schemas.microsoft.com/office/drawing/2014/main" id="{EEFE14FB-4102-4B67-9179-A6F6F442CD7A}"/>
              </a:ext>
            </a:extLst>
          </p:cNvPr>
          <p:cNvSpPr>
            <a:spLocks noGrp="1"/>
          </p:cNvSpPr>
          <p:nvPr>
            <p:ph type="body" idx="1"/>
          </p:nvPr>
        </p:nvSpPr>
        <p:spPr/>
        <p:txBody>
          <a:bodyPr/>
          <a:lstStyle/>
          <a:p>
            <a:r>
              <a:rPr lang="en-US" b="1" dirty="0" err="1">
                <a:solidFill>
                  <a:srgbClr val="FF0000"/>
                </a:solidFill>
              </a:rPr>
              <a:t>useCallback</a:t>
            </a:r>
            <a:endParaRPr lang="en-US" b="1" dirty="0">
              <a:solidFill>
                <a:srgbClr val="FF0000"/>
              </a:solidFill>
            </a:endParaRPr>
          </a:p>
          <a:p>
            <a:pPr lvl="1"/>
            <a:r>
              <a:rPr lang="en-US" dirty="0">
                <a:solidFill>
                  <a:schemeClr val="tx2"/>
                </a:solidFill>
              </a:rPr>
              <a:t>Example:</a:t>
            </a:r>
          </a:p>
        </p:txBody>
      </p:sp>
      <p:pic>
        <p:nvPicPr>
          <p:cNvPr id="7" name="Picture 6">
            <a:extLst>
              <a:ext uri="{FF2B5EF4-FFF2-40B4-BE49-F238E27FC236}">
                <a16:creationId xmlns:a16="http://schemas.microsoft.com/office/drawing/2014/main" id="{82C24C6F-972B-494D-886B-DDFC68119F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026" y="2504789"/>
            <a:ext cx="8486307" cy="4001316"/>
          </a:xfrm>
          <a:prstGeom prst="rect">
            <a:avLst/>
          </a:prstGeom>
        </p:spPr>
      </p:pic>
      <p:pic>
        <p:nvPicPr>
          <p:cNvPr id="6" name="Picture 5">
            <a:extLst>
              <a:ext uri="{FF2B5EF4-FFF2-40B4-BE49-F238E27FC236}">
                <a16:creationId xmlns:a16="http://schemas.microsoft.com/office/drawing/2014/main" id="{93330815-8F05-49AA-ABBA-D575846BA38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73548" y="2412656"/>
            <a:ext cx="2435317" cy="294708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9104672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B2C35-CBBF-4F69-B545-CA24E21D0EBD}"/>
              </a:ext>
            </a:extLst>
          </p:cNvPr>
          <p:cNvSpPr>
            <a:spLocks noGrp="1"/>
          </p:cNvSpPr>
          <p:nvPr>
            <p:ph type="title"/>
          </p:nvPr>
        </p:nvSpPr>
        <p:spPr/>
        <p:txBody>
          <a:bodyPr/>
          <a:lstStyle/>
          <a:p>
            <a:r>
              <a:rPr lang="en-US" dirty="0" err="1"/>
              <a:t>useMemo</a:t>
            </a:r>
            <a:r>
              <a:rPr lang="en-US" dirty="0"/>
              <a:t> and </a:t>
            </a:r>
            <a:r>
              <a:rPr lang="en-US" dirty="0" err="1"/>
              <a:t>useCallback</a:t>
            </a:r>
            <a:endParaRPr lang="en-US" dirty="0"/>
          </a:p>
        </p:txBody>
      </p:sp>
      <p:sp>
        <p:nvSpPr>
          <p:cNvPr id="3" name="Text Placeholder 2">
            <a:extLst>
              <a:ext uri="{FF2B5EF4-FFF2-40B4-BE49-F238E27FC236}">
                <a16:creationId xmlns:a16="http://schemas.microsoft.com/office/drawing/2014/main" id="{8DFDA175-0159-47EA-A944-F95D3205A933}"/>
              </a:ext>
            </a:extLst>
          </p:cNvPr>
          <p:cNvSpPr>
            <a:spLocks noGrp="1"/>
          </p:cNvSpPr>
          <p:nvPr>
            <p:ph type="body" idx="1"/>
          </p:nvPr>
        </p:nvSpPr>
        <p:spPr/>
        <p:txBody>
          <a:bodyPr>
            <a:normAutofit/>
          </a:bodyPr>
          <a:lstStyle/>
          <a:p>
            <a:r>
              <a:rPr lang="en-US" b="1" dirty="0" err="1">
                <a:solidFill>
                  <a:srgbClr val="FF0000"/>
                </a:solidFill>
              </a:rPr>
              <a:t>useMemo</a:t>
            </a:r>
            <a:r>
              <a:rPr lang="en-US" dirty="0"/>
              <a:t>: The React </a:t>
            </a:r>
            <a:r>
              <a:rPr lang="en-US" b="1" dirty="0" err="1"/>
              <a:t>useMemo</a:t>
            </a:r>
            <a:r>
              <a:rPr lang="en-US" b="1" dirty="0"/>
              <a:t> Hook </a:t>
            </a:r>
            <a:r>
              <a:rPr lang="en-US" dirty="0"/>
              <a:t>returns a </a:t>
            </a:r>
            <a:r>
              <a:rPr lang="en-US" b="1" dirty="0" err="1"/>
              <a:t>memoized</a:t>
            </a:r>
            <a:r>
              <a:rPr lang="en-US" dirty="0"/>
              <a:t> </a:t>
            </a:r>
            <a:r>
              <a:rPr lang="en-US" b="1" dirty="0"/>
              <a:t>value, </a:t>
            </a:r>
            <a:r>
              <a:rPr lang="en-US" dirty="0"/>
              <a:t>as caching a value so that it does not need to be recalculated.</a:t>
            </a:r>
          </a:p>
          <a:p>
            <a:pPr lvl="1"/>
            <a:r>
              <a:rPr lang="en-US" dirty="0"/>
              <a:t>The </a:t>
            </a:r>
            <a:r>
              <a:rPr lang="en-US" dirty="0" err="1"/>
              <a:t>useMemo</a:t>
            </a:r>
            <a:r>
              <a:rPr lang="en-US" dirty="0"/>
              <a:t> Hook only runs when one of its dependencies update.</a:t>
            </a:r>
          </a:p>
          <a:p>
            <a:pPr lvl="1"/>
            <a:r>
              <a:rPr lang="en-US" dirty="0"/>
              <a:t>This can improve performance.</a:t>
            </a:r>
          </a:p>
          <a:p>
            <a:r>
              <a:rPr lang="en-US" dirty="0"/>
              <a:t>The </a:t>
            </a:r>
            <a:r>
              <a:rPr lang="en-US" b="1" dirty="0" err="1"/>
              <a:t>useMemo</a:t>
            </a:r>
            <a:r>
              <a:rPr lang="en-US" dirty="0"/>
              <a:t> and </a:t>
            </a:r>
            <a:r>
              <a:rPr lang="en-US" b="1" dirty="0" err="1"/>
              <a:t>useCallback</a:t>
            </a:r>
            <a:r>
              <a:rPr lang="en-US" dirty="0"/>
              <a:t> Hooks are similar. The main difference is that:</a:t>
            </a:r>
          </a:p>
          <a:p>
            <a:pPr lvl="1"/>
            <a:r>
              <a:rPr lang="en-US" b="1" dirty="0" err="1"/>
              <a:t>useMemo</a:t>
            </a:r>
            <a:r>
              <a:rPr lang="en-US" dirty="0"/>
              <a:t> returns a </a:t>
            </a:r>
            <a:r>
              <a:rPr lang="en-US" b="1" dirty="0" err="1"/>
              <a:t>memoized</a:t>
            </a:r>
            <a:r>
              <a:rPr lang="en-US" b="1" dirty="0"/>
              <a:t> value </a:t>
            </a:r>
          </a:p>
          <a:p>
            <a:pPr lvl="1"/>
            <a:r>
              <a:rPr lang="en-US" b="1" dirty="0" err="1"/>
              <a:t>useCallback</a:t>
            </a:r>
            <a:r>
              <a:rPr lang="en-US" dirty="0"/>
              <a:t> returns a </a:t>
            </a:r>
            <a:r>
              <a:rPr lang="en-US" b="1" dirty="0" err="1"/>
              <a:t>memoized</a:t>
            </a:r>
            <a:r>
              <a:rPr lang="en-US" b="1" dirty="0"/>
              <a:t> function</a:t>
            </a:r>
          </a:p>
        </p:txBody>
      </p:sp>
    </p:spTree>
    <p:extLst>
      <p:ext uri="{BB962C8B-B14F-4D97-AF65-F5344CB8AC3E}">
        <p14:creationId xmlns:p14="http://schemas.microsoft.com/office/powerpoint/2010/main" val="9806431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0F7F2-684D-4B70-8B8F-3769EAEBCDB4}"/>
              </a:ext>
            </a:extLst>
          </p:cNvPr>
          <p:cNvSpPr>
            <a:spLocks noGrp="1"/>
          </p:cNvSpPr>
          <p:nvPr>
            <p:ph type="title"/>
          </p:nvPr>
        </p:nvSpPr>
        <p:spPr/>
        <p:txBody>
          <a:bodyPr/>
          <a:lstStyle/>
          <a:p>
            <a:r>
              <a:rPr lang="en-US" dirty="0" err="1"/>
              <a:t>useMemo</a:t>
            </a:r>
            <a:r>
              <a:rPr lang="en-US" dirty="0"/>
              <a:t> and </a:t>
            </a:r>
            <a:r>
              <a:rPr lang="en-US" dirty="0" err="1"/>
              <a:t>useCallback</a:t>
            </a:r>
            <a:endParaRPr lang="en-US" dirty="0"/>
          </a:p>
        </p:txBody>
      </p:sp>
      <p:sp>
        <p:nvSpPr>
          <p:cNvPr id="3" name="Text Placeholder 2">
            <a:extLst>
              <a:ext uri="{FF2B5EF4-FFF2-40B4-BE49-F238E27FC236}">
                <a16:creationId xmlns:a16="http://schemas.microsoft.com/office/drawing/2014/main" id="{B4E263B8-9288-40E4-8107-78132A20EAA9}"/>
              </a:ext>
            </a:extLst>
          </p:cNvPr>
          <p:cNvSpPr>
            <a:spLocks noGrp="1"/>
          </p:cNvSpPr>
          <p:nvPr>
            <p:ph type="body" idx="1"/>
          </p:nvPr>
        </p:nvSpPr>
        <p:spPr/>
        <p:txBody>
          <a:bodyPr/>
          <a:lstStyle/>
          <a:p>
            <a:r>
              <a:rPr lang="en-US" b="1" dirty="0" err="1">
                <a:solidFill>
                  <a:srgbClr val="FF0000"/>
                </a:solidFill>
              </a:rPr>
              <a:t>useMemo</a:t>
            </a:r>
            <a:endParaRPr lang="en-US" dirty="0"/>
          </a:p>
          <a:p>
            <a:pPr lvl="1"/>
            <a:r>
              <a:rPr lang="en-US" dirty="0"/>
              <a:t>Example</a:t>
            </a:r>
          </a:p>
        </p:txBody>
      </p:sp>
      <p:pic>
        <p:nvPicPr>
          <p:cNvPr id="7" name="Picture 6">
            <a:extLst>
              <a:ext uri="{FF2B5EF4-FFF2-40B4-BE49-F238E27FC236}">
                <a16:creationId xmlns:a16="http://schemas.microsoft.com/office/drawing/2014/main" id="{88223C50-5437-4062-84D9-0CAC772142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5659" y="2228490"/>
            <a:ext cx="6818874" cy="411878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2264911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0F7F2-684D-4B70-8B8F-3769EAEBCDB4}"/>
              </a:ext>
            </a:extLst>
          </p:cNvPr>
          <p:cNvSpPr>
            <a:spLocks noGrp="1"/>
          </p:cNvSpPr>
          <p:nvPr>
            <p:ph type="title"/>
          </p:nvPr>
        </p:nvSpPr>
        <p:spPr/>
        <p:txBody>
          <a:bodyPr/>
          <a:lstStyle/>
          <a:p>
            <a:r>
              <a:rPr lang="en-US" dirty="0" err="1"/>
              <a:t>useMemo</a:t>
            </a:r>
            <a:r>
              <a:rPr lang="en-US" dirty="0"/>
              <a:t> and </a:t>
            </a:r>
            <a:r>
              <a:rPr lang="en-US" dirty="0" err="1"/>
              <a:t>useCallback</a:t>
            </a:r>
            <a:endParaRPr lang="en-US" dirty="0"/>
          </a:p>
        </p:txBody>
      </p:sp>
      <p:sp>
        <p:nvSpPr>
          <p:cNvPr id="3" name="Text Placeholder 2">
            <a:extLst>
              <a:ext uri="{FF2B5EF4-FFF2-40B4-BE49-F238E27FC236}">
                <a16:creationId xmlns:a16="http://schemas.microsoft.com/office/drawing/2014/main" id="{B4E263B8-9288-40E4-8107-78132A20EAA9}"/>
              </a:ext>
            </a:extLst>
          </p:cNvPr>
          <p:cNvSpPr>
            <a:spLocks noGrp="1"/>
          </p:cNvSpPr>
          <p:nvPr>
            <p:ph type="body" idx="1"/>
          </p:nvPr>
        </p:nvSpPr>
        <p:spPr/>
        <p:txBody>
          <a:bodyPr/>
          <a:lstStyle/>
          <a:p>
            <a:r>
              <a:rPr lang="en-US" b="1" dirty="0" err="1">
                <a:solidFill>
                  <a:srgbClr val="FF0000"/>
                </a:solidFill>
              </a:rPr>
              <a:t>useMemo</a:t>
            </a:r>
            <a:endParaRPr lang="en-US" dirty="0"/>
          </a:p>
          <a:p>
            <a:pPr lvl="1"/>
            <a:r>
              <a:rPr lang="en-US" dirty="0"/>
              <a:t>Example</a:t>
            </a:r>
          </a:p>
        </p:txBody>
      </p:sp>
      <p:pic>
        <p:nvPicPr>
          <p:cNvPr id="5" name="Picture 4">
            <a:extLst>
              <a:ext uri="{FF2B5EF4-FFF2-40B4-BE49-F238E27FC236}">
                <a16:creationId xmlns:a16="http://schemas.microsoft.com/office/drawing/2014/main" id="{C5ACBE8A-9DE3-0D0A-BE9B-FF5F27F4DF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9796" y="1574783"/>
            <a:ext cx="6650267" cy="520701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5054788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50F7F2-684D-4B70-8B8F-3769EAEBCDB4}"/>
              </a:ext>
            </a:extLst>
          </p:cNvPr>
          <p:cNvSpPr>
            <a:spLocks noGrp="1"/>
          </p:cNvSpPr>
          <p:nvPr>
            <p:ph type="title"/>
          </p:nvPr>
        </p:nvSpPr>
        <p:spPr/>
        <p:txBody>
          <a:bodyPr/>
          <a:lstStyle/>
          <a:p>
            <a:r>
              <a:rPr lang="en-US" dirty="0" err="1"/>
              <a:t>useMemo</a:t>
            </a:r>
            <a:r>
              <a:rPr lang="en-US" dirty="0"/>
              <a:t> and </a:t>
            </a:r>
            <a:r>
              <a:rPr lang="en-US" dirty="0" err="1"/>
              <a:t>useCallback</a:t>
            </a:r>
            <a:endParaRPr lang="en-US" dirty="0"/>
          </a:p>
        </p:txBody>
      </p:sp>
      <p:sp>
        <p:nvSpPr>
          <p:cNvPr id="3" name="Text Placeholder 2">
            <a:extLst>
              <a:ext uri="{FF2B5EF4-FFF2-40B4-BE49-F238E27FC236}">
                <a16:creationId xmlns:a16="http://schemas.microsoft.com/office/drawing/2014/main" id="{B4E263B8-9288-40E4-8107-78132A20EAA9}"/>
              </a:ext>
            </a:extLst>
          </p:cNvPr>
          <p:cNvSpPr>
            <a:spLocks noGrp="1"/>
          </p:cNvSpPr>
          <p:nvPr>
            <p:ph type="body" idx="1"/>
          </p:nvPr>
        </p:nvSpPr>
        <p:spPr/>
        <p:txBody>
          <a:bodyPr/>
          <a:lstStyle/>
          <a:p>
            <a:r>
              <a:rPr lang="en-US" b="1" dirty="0" err="1">
                <a:solidFill>
                  <a:srgbClr val="FF0000"/>
                </a:solidFill>
              </a:rPr>
              <a:t>useMemo</a:t>
            </a:r>
            <a:endParaRPr lang="en-US" dirty="0"/>
          </a:p>
          <a:p>
            <a:pPr lvl="1"/>
            <a:r>
              <a:rPr lang="en-US" dirty="0"/>
              <a:t>Example</a:t>
            </a:r>
          </a:p>
        </p:txBody>
      </p:sp>
      <p:pic>
        <p:nvPicPr>
          <p:cNvPr id="5" name="Picture 4">
            <a:extLst>
              <a:ext uri="{FF2B5EF4-FFF2-40B4-BE49-F238E27FC236}">
                <a16:creationId xmlns:a16="http://schemas.microsoft.com/office/drawing/2014/main" id="{5F7AC45E-5B31-BDCD-2C99-43FEF6CABC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8623" y="2832301"/>
            <a:ext cx="8978537" cy="307119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1765872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2FE75-082E-DE22-EC71-5D3B10E109BB}"/>
              </a:ext>
            </a:extLst>
          </p:cNvPr>
          <p:cNvSpPr>
            <a:spLocks noGrp="1"/>
          </p:cNvSpPr>
          <p:nvPr>
            <p:ph type="title"/>
          </p:nvPr>
        </p:nvSpPr>
        <p:spPr/>
        <p:txBody>
          <a:bodyPr/>
          <a:lstStyle/>
          <a:p>
            <a:r>
              <a:rPr lang="en-US" dirty="0"/>
              <a:t>So </a:t>
            </a:r>
            <a:r>
              <a:rPr lang="en-US" dirty="0" err="1"/>
              <a:t>sánh</a:t>
            </a:r>
            <a:r>
              <a:rPr lang="en-US" dirty="0"/>
              <a:t> </a:t>
            </a:r>
            <a:r>
              <a:rPr lang="en-US" dirty="0" err="1"/>
              <a:t>useMemo</a:t>
            </a:r>
            <a:r>
              <a:rPr lang="en-US" dirty="0"/>
              <a:t> and </a:t>
            </a:r>
            <a:r>
              <a:rPr lang="en-US" dirty="0" err="1"/>
              <a:t>useCallback</a:t>
            </a:r>
            <a:endParaRPr lang="en-US" dirty="0"/>
          </a:p>
        </p:txBody>
      </p:sp>
      <p:sp>
        <p:nvSpPr>
          <p:cNvPr id="3" name="Text Placeholder 2">
            <a:extLst>
              <a:ext uri="{FF2B5EF4-FFF2-40B4-BE49-F238E27FC236}">
                <a16:creationId xmlns:a16="http://schemas.microsoft.com/office/drawing/2014/main" id="{E7DD99E3-5713-AAB9-0CC8-AC19D3D647EB}"/>
              </a:ext>
            </a:extLst>
          </p:cNvPr>
          <p:cNvSpPr>
            <a:spLocks noGrp="1"/>
          </p:cNvSpPr>
          <p:nvPr>
            <p:ph type="body" idx="1"/>
          </p:nvPr>
        </p:nvSpPr>
        <p:spPr/>
        <p:txBody>
          <a:bodyPr>
            <a:normAutofit lnSpcReduction="10000"/>
          </a:bodyPr>
          <a:lstStyle/>
          <a:p>
            <a:r>
              <a:rPr lang="vi-VN" b="1" dirty="0">
                <a:solidFill>
                  <a:srgbClr val="FF0000"/>
                </a:solidFill>
              </a:rPr>
              <a:t>useMemo</a:t>
            </a:r>
            <a:r>
              <a:rPr lang="vi-VN" dirty="0"/>
              <a:t> giữ cho một hàm không được thực thi lại nếu nó không nhận được một tập hợp các tham số đã được sử dụng trước đó. </a:t>
            </a:r>
            <a:endParaRPr lang="en-US" dirty="0"/>
          </a:p>
          <a:p>
            <a:pPr lvl="1"/>
            <a:r>
              <a:rPr lang="vi-VN" dirty="0"/>
              <a:t>Nó sẽ trả về kết quả của một function. </a:t>
            </a:r>
            <a:endParaRPr lang="en-US" dirty="0"/>
          </a:p>
          <a:p>
            <a:pPr lvl="1"/>
            <a:r>
              <a:rPr lang="vi-VN" dirty="0"/>
              <a:t>Sử dụng khi muốn ngăn một số thao tác tốn kém tài nguyên được gọi trên mỗi lần render.</a:t>
            </a:r>
          </a:p>
          <a:p>
            <a:r>
              <a:rPr lang="vi-VN" b="1" dirty="0">
                <a:solidFill>
                  <a:srgbClr val="FF0000"/>
                </a:solidFill>
              </a:rPr>
              <a:t>useCallback</a:t>
            </a:r>
            <a:r>
              <a:rPr lang="vi-VN" dirty="0"/>
              <a:t> giữ cho một hàm không được tạo lại lần nữa, dựa trên mảng các phần phụ thuộc. </a:t>
            </a:r>
            <a:endParaRPr lang="en-US" dirty="0"/>
          </a:p>
          <a:p>
            <a:pPr lvl="1"/>
            <a:r>
              <a:rPr lang="vi-VN" dirty="0"/>
              <a:t>Nó sẽ trả về chính function đó. </a:t>
            </a:r>
            <a:endParaRPr lang="en-US" dirty="0"/>
          </a:p>
          <a:p>
            <a:pPr lvl="1"/>
            <a:r>
              <a:rPr lang="vi-VN" dirty="0"/>
              <a:t>Sử dụng nó khi </a:t>
            </a:r>
            <a:r>
              <a:rPr lang="vi-VN"/>
              <a:t>mà muốn </a:t>
            </a:r>
            <a:r>
              <a:rPr lang="vi-VN" dirty="0"/>
              <a:t>truyền fuction vào component con và chặn không cho một hàm nào đó tiêu thời gian, tài nguyên phải tạo lại.</a:t>
            </a:r>
            <a:endParaRPr lang="en-US" dirty="0"/>
          </a:p>
        </p:txBody>
      </p:sp>
    </p:spTree>
    <p:extLst>
      <p:ext uri="{BB962C8B-B14F-4D97-AF65-F5344CB8AC3E}">
        <p14:creationId xmlns:p14="http://schemas.microsoft.com/office/powerpoint/2010/main" val="2360249217"/>
      </p:ext>
    </p:extLst>
  </p:cSld>
  <p:clrMapOvr>
    <a:masterClrMapping/>
  </p:clrMapOvr>
</p:sld>
</file>

<file path=ppt/theme/theme1.xml><?xml version="1.0" encoding="utf-8"?>
<a:theme xmlns:a="http://schemas.openxmlformats.org/drawingml/2006/main" name="Academic Literature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Custom 6">
      <a:majorFont>
        <a:latin typeface="Arial (Heading)"/>
        <a:ea typeface=""/>
        <a:cs typeface=""/>
      </a:majorFont>
      <a:minorFont>
        <a:latin typeface="Arial"/>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F03431380.potx" id="{B573BD99-E105-4D2A-964B-B901A176567A}" vid="{B1D363B9-18DE-4874-9E2B-FD69B5C6548D}"/>
    </a:ext>
  </a:ext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APDescription xmlns="4873beb7-5857-4685-be1f-d57550cc96cc" xsi:nil="true"/>
    <AssetExpire xmlns="4873beb7-5857-4685-be1f-d57550cc96cc">2029-01-01T08:00:00+00:00</AssetExpire>
    <CampaignTagsTaxHTField0 xmlns="4873beb7-5857-4685-be1f-d57550cc96cc">
      <Terms xmlns="http://schemas.microsoft.com/office/infopath/2007/PartnerControls"/>
    </CampaignTagsTaxHTField0>
    <IntlLangReviewDate xmlns="4873beb7-5857-4685-be1f-d57550cc96cc" xsi:nil="true"/>
    <TPFriendlyName xmlns="4873beb7-5857-4685-be1f-d57550cc96cc" xsi:nil="true"/>
    <IntlLangReview xmlns="4873beb7-5857-4685-be1f-d57550cc96cc">false</IntlLangReview>
    <LocLastLocAttemptVersionLookup xmlns="4873beb7-5857-4685-be1f-d57550cc96cc">855024</LocLastLocAttemptVersionLookup>
    <PolicheckWords xmlns="4873beb7-5857-4685-be1f-d57550cc96cc" xsi:nil="true"/>
    <SubmitterId xmlns="4873beb7-5857-4685-be1f-d57550cc96cc" xsi:nil="true"/>
    <AcquiredFrom xmlns="4873beb7-5857-4685-be1f-d57550cc96cc">Internal MS</AcquiredFrom>
    <EditorialStatus xmlns="4873beb7-5857-4685-be1f-d57550cc96cc">Complete</EditorialStatus>
    <Markets xmlns="4873beb7-5857-4685-be1f-d57550cc96cc"/>
    <OriginAsset xmlns="4873beb7-5857-4685-be1f-d57550cc96cc" xsi:nil="true"/>
    <AssetStart xmlns="4873beb7-5857-4685-be1f-d57550cc96cc">2012-08-31T08:50:00+00:00</AssetStart>
    <FriendlyTitle xmlns="4873beb7-5857-4685-be1f-d57550cc96cc" xsi:nil="true"/>
    <MarketSpecific xmlns="4873beb7-5857-4685-be1f-d57550cc96cc">false</MarketSpecific>
    <TPNamespace xmlns="4873beb7-5857-4685-be1f-d57550cc96cc" xsi:nil="true"/>
    <PublishStatusLookup xmlns="4873beb7-5857-4685-be1f-d57550cc96cc">
      <Value>1616423</Value>
    </PublishStatusLookup>
    <APAuthor xmlns="4873beb7-5857-4685-be1f-d57550cc96cc">
      <UserInfo>
        <DisplayName>REDMOND\kristaa</DisplayName>
        <AccountId>136</AccountId>
        <AccountType/>
      </UserInfo>
    </APAuthor>
    <TPCommandLine xmlns="4873beb7-5857-4685-be1f-d57550cc96cc" xsi:nil="true"/>
    <IntlLangReviewer xmlns="4873beb7-5857-4685-be1f-d57550cc96cc" xsi:nil="true"/>
    <OpenTemplate xmlns="4873beb7-5857-4685-be1f-d57550cc96cc">true</OpenTemplate>
    <CSXSubmissionDate xmlns="4873beb7-5857-4685-be1f-d57550cc96cc" xsi:nil="true"/>
    <TaxCatchAll xmlns="4873beb7-5857-4685-be1f-d57550cc96cc"/>
    <Manager xmlns="4873beb7-5857-4685-be1f-d57550cc96cc" xsi:nil="true"/>
    <NumericId xmlns="4873beb7-5857-4685-be1f-d57550cc96cc" xsi:nil="true"/>
    <ParentAssetId xmlns="4873beb7-5857-4685-be1f-d57550cc96cc" xsi:nil="true"/>
    <OriginalSourceMarket xmlns="4873beb7-5857-4685-be1f-d57550cc96cc" xsi:nil="true"/>
    <ApprovalStatus xmlns="4873beb7-5857-4685-be1f-d57550cc96cc">InProgress</ApprovalStatus>
    <TPComponent xmlns="4873beb7-5857-4685-be1f-d57550cc96cc" xsi:nil="true"/>
    <EditorialTags xmlns="4873beb7-5857-4685-be1f-d57550cc96cc" xsi:nil="true"/>
    <TPExecutable xmlns="4873beb7-5857-4685-be1f-d57550cc96cc" xsi:nil="true"/>
    <TPLaunchHelpLink xmlns="4873beb7-5857-4685-be1f-d57550cc96cc" xsi:nil="true"/>
    <LocComments xmlns="4873beb7-5857-4685-be1f-d57550cc96cc" xsi:nil="true"/>
    <LocRecommendedHandoff xmlns="4873beb7-5857-4685-be1f-d57550cc96cc" xsi:nil="true"/>
    <SourceTitle xmlns="4873beb7-5857-4685-be1f-d57550cc96cc" xsi:nil="true"/>
    <CSXUpdate xmlns="4873beb7-5857-4685-be1f-d57550cc96cc">false</CSXUpdate>
    <IntlLocPriority xmlns="4873beb7-5857-4685-be1f-d57550cc96cc" xsi:nil="true"/>
    <UAProjectedTotalWords xmlns="4873beb7-5857-4685-be1f-d57550cc96cc" xsi:nil="true"/>
    <AssetType xmlns="4873beb7-5857-4685-be1f-d57550cc96cc">TP</AssetType>
    <MachineTranslated xmlns="4873beb7-5857-4685-be1f-d57550cc96cc">false</MachineTranslated>
    <OutputCachingOn xmlns="4873beb7-5857-4685-be1f-d57550cc96cc">false</OutputCachingOn>
    <TemplateStatus xmlns="4873beb7-5857-4685-be1f-d57550cc96cc">Complete</TemplateStatus>
    <IsSearchable xmlns="4873beb7-5857-4685-be1f-d57550cc96cc">true</IsSearchable>
    <ContentItem xmlns="4873beb7-5857-4685-be1f-d57550cc96cc" xsi:nil="true"/>
    <HandoffToMSDN xmlns="4873beb7-5857-4685-be1f-d57550cc96cc" xsi:nil="true"/>
    <ShowIn xmlns="4873beb7-5857-4685-be1f-d57550cc96cc">Show everywhere</ShowIn>
    <ThumbnailAssetId xmlns="4873beb7-5857-4685-be1f-d57550cc96cc" xsi:nil="true"/>
    <UALocComments xmlns="4873beb7-5857-4685-be1f-d57550cc96cc" xsi:nil="true"/>
    <UALocRecommendation xmlns="4873beb7-5857-4685-be1f-d57550cc96cc">Localize</UALocRecommendation>
    <LastModifiedDateTime xmlns="4873beb7-5857-4685-be1f-d57550cc96cc" xsi:nil="true"/>
    <LegacyData xmlns="4873beb7-5857-4685-be1f-d57550cc96cc" xsi:nil="true"/>
    <LocManualTestRequired xmlns="4873beb7-5857-4685-be1f-d57550cc96cc">false</LocManualTestRequired>
    <LocMarketGroupTiers2 xmlns="4873beb7-5857-4685-be1f-d57550cc96cc" xsi:nil="true"/>
    <ClipArtFilename xmlns="4873beb7-5857-4685-be1f-d57550cc96cc" xsi:nil="true"/>
    <TPApplication xmlns="4873beb7-5857-4685-be1f-d57550cc96cc" xsi:nil="true"/>
    <CSXHash xmlns="4873beb7-5857-4685-be1f-d57550cc96cc" xsi:nil="true"/>
    <DirectSourceMarket xmlns="4873beb7-5857-4685-be1f-d57550cc96cc" xsi:nil="true"/>
    <PrimaryImageGen xmlns="4873beb7-5857-4685-be1f-d57550cc96cc">true</PrimaryImageGen>
    <PlannedPubDate xmlns="4873beb7-5857-4685-be1f-d57550cc96cc" xsi:nil="true"/>
    <CSXSubmissionMarket xmlns="4873beb7-5857-4685-be1f-d57550cc96cc" xsi:nil="true"/>
    <Downloads xmlns="4873beb7-5857-4685-be1f-d57550cc96cc">0</Downloads>
    <ArtSampleDocs xmlns="4873beb7-5857-4685-be1f-d57550cc96cc" xsi:nil="true"/>
    <TrustLevel xmlns="4873beb7-5857-4685-be1f-d57550cc96cc">1 Microsoft Managed Content</TrustLevel>
    <BlockPublish xmlns="4873beb7-5857-4685-be1f-d57550cc96cc">false</BlockPublish>
    <TPLaunchHelpLinkType xmlns="4873beb7-5857-4685-be1f-d57550cc96cc">Template</TPLaunchHelpLinkType>
    <LocalizationTagsTaxHTField0 xmlns="4873beb7-5857-4685-be1f-d57550cc96cc">
      <Terms xmlns="http://schemas.microsoft.com/office/infopath/2007/PartnerControls"/>
    </LocalizationTagsTaxHTField0>
    <BusinessGroup xmlns="4873beb7-5857-4685-be1f-d57550cc96cc" xsi:nil="true"/>
    <Providers xmlns="4873beb7-5857-4685-be1f-d57550cc96cc" xsi:nil="true"/>
    <TemplateTemplateType xmlns="4873beb7-5857-4685-be1f-d57550cc96cc">PowerPoint Presentation Template</TemplateTemplateType>
    <TimesCloned xmlns="4873beb7-5857-4685-be1f-d57550cc96cc" xsi:nil="true"/>
    <TPAppVersion xmlns="4873beb7-5857-4685-be1f-d57550cc96cc" xsi:nil="true"/>
    <VoteCount xmlns="4873beb7-5857-4685-be1f-d57550cc96cc" xsi:nil="true"/>
    <AverageRating xmlns="4873beb7-5857-4685-be1f-d57550cc96cc" xsi:nil="true"/>
    <FeatureTagsTaxHTField0 xmlns="4873beb7-5857-4685-be1f-d57550cc96cc">
      <Terms xmlns="http://schemas.microsoft.com/office/infopath/2007/PartnerControls"/>
    </FeatureTagsTaxHTField0>
    <Provider xmlns="4873beb7-5857-4685-be1f-d57550cc96cc" xsi:nil="true"/>
    <UACurrentWords xmlns="4873beb7-5857-4685-be1f-d57550cc96cc" xsi:nil="true"/>
    <AssetId xmlns="4873beb7-5857-4685-be1f-d57550cc96cc">TP103431361</AssetId>
    <TPClientViewer xmlns="4873beb7-5857-4685-be1f-d57550cc96cc" xsi:nil="true"/>
    <DSATActionTaken xmlns="4873beb7-5857-4685-be1f-d57550cc96cc" xsi:nil="true"/>
    <APEditor xmlns="4873beb7-5857-4685-be1f-d57550cc96cc">
      <UserInfo>
        <DisplayName/>
        <AccountId xsi:nil="true"/>
        <AccountType/>
      </UserInfo>
    </APEditor>
    <TPInstallLocation xmlns="4873beb7-5857-4685-be1f-d57550cc96cc" xsi:nil="true"/>
    <OOCacheId xmlns="4873beb7-5857-4685-be1f-d57550cc96cc" xsi:nil="true"/>
    <IsDeleted xmlns="4873beb7-5857-4685-be1f-d57550cc96cc">false</IsDeleted>
    <PublishTargets xmlns="4873beb7-5857-4685-be1f-d57550cc96cc">OfficeOnlineVNext</PublishTargets>
    <ApprovalLog xmlns="4873beb7-5857-4685-be1f-d57550cc96cc" xsi:nil="true"/>
    <BugNumber xmlns="4873beb7-5857-4685-be1f-d57550cc96cc" xsi:nil="true"/>
    <CrawlForDependencies xmlns="4873beb7-5857-4685-be1f-d57550cc96cc">false</CrawlForDependencies>
    <InternalTagsTaxHTField0 xmlns="4873beb7-5857-4685-be1f-d57550cc96cc">
      <Terms xmlns="http://schemas.microsoft.com/office/infopath/2007/PartnerControls"/>
    </InternalTagsTaxHTField0>
    <LastHandOff xmlns="4873beb7-5857-4685-be1f-d57550cc96cc" xsi:nil="true"/>
    <Milestone xmlns="4873beb7-5857-4685-be1f-d57550cc96cc" xsi:nil="true"/>
    <OriginalRelease xmlns="4873beb7-5857-4685-be1f-d57550cc96cc">15</OriginalRelease>
    <RecommendationsModifier xmlns="4873beb7-5857-4685-be1f-d57550cc96cc" xsi:nil="true"/>
    <ScenarioTagsTaxHTField0 xmlns="4873beb7-5857-4685-be1f-d57550cc96cc">
      <Terms xmlns="http://schemas.microsoft.com/office/infopath/2007/PartnerControls"/>
    </ScenarioTagsTaxHTField0>
    <UANotes xmlns="4873beb7-5857-4685-be1f-d57550cc96cc" xsi:nil="true"/>
  </documentManagement>
</p:properties>
</file>

<file path=customXml/item2.xml><?xml version="1.0" encoding="utf-8"?>
<?mso-contentType ?>
<FormTemplates xmlns="http://schemas.microsoft.com/sharepoint/v3/contenttype/forms">
  <Display>DocumentLibraryForm</Display>
  <Edit>AssetEditForm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CDDBB83-77C1-4099-A0AA-289882E745E2}">
  <ds:schemaRefs>
    <ds:schemaRef ds:uri="http://purl.org/dc/elements/1.1/"/>
    <ds:schemaRef ds:uri="http://schemas.microsoft.com/office/2006/metadata/properties"/>
    <ds:schemaRef ds:uri="4873beb7-5857-4685-be1f-d57550cc96cc"/>
    <ds:schemaRef ds:uri="http://schemas.openxmlformats.org/package/2006/metadata/core-properties"/>
    <ds:schemaRef ds:uri="http://purl.org/dc/terms/"/>
    <ds:schemaRef ds:uri="http://schemas.microsoft.com/office/2006/documentManagement/types"/>
    <ds:schemaRef ds:uri="http://schemas.microsoft.com/office/infopath/2007/PartnerControls"/>
    <ds:schemaRef ds:uri="http://www.w3.org/XML/1998/namespace"/>
    <ds:schemaRef ds:uri="http://purl.org/dc/dcmitype/"/>
  </ds:schemaRefs>
</ds:datastoreItem>
</file>

<file path=customXml/itemProps2.xml><?xml version="1.0" encoding="utf-8"?>
<ds:datastoreItem xmlns:ds="http://schemas.openxmlformats.org/officeDocument/2006/customXml" ds:itemID="{561E720F-F05D-4536-9C34-0CFCED65D3B7}">
  <ds:schemaRefs>
    <ds:schemaRef ds:uri="http://schemas.microsoft.com/sharepoint/v3/contenttype/forms"/>
  </ds:schemaRefs>
</ds:datastoreItem>
</file>

<file path=customXml/itemProps3.xml><?xml version="1.0" encoding="utf-8"?>
<ds:datastoreItem xmlns:ds="http://schemas.openxmlformats.org/officeDocument/2006/customXml" ds:itemID="{28C8B9CA-0273-4370-889A-FC05DA5C2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Academic presentation, pinstripe and ribbon design (widescreen)</Template>
  <TotalTime>1507</TotalTime>
  <Words>4075</Words>
  <Application>Microsoft Office PowerPoint</Application>
  <PresentationFormat>Widescreen</PresentationFormat>
  <Paragraphs>304</Paragraphs>
  <Slides>48</Slides>
  <Notes>18</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48</vt:i4>
      </vt:variant>
    </vt:vector>
  </HeadingPairs>
  <TitlesOfParts>
    <vt:vector size="64" baseType="lpstr">
      <vt:lpstr>Arial</vt:lpstr>
      <vt:lpstr>Arial (Heading)</vt:lpstr>
      <vt:lpstr>Arial Black</vt:lpstr>
      <vt:lpstr>Consolas</vt:lpstr>
      <vt:lpstr>CourierStd</vt:lpstr>
      <vt:lpstr>CourierStd-Bold</vt:lpstr>
      <vt:lpstr>Euphemia</vt:lpstr>
      <vt:lpstr>MinionPro-Regular</vt:lpstr>
      <vt:lpstr>Montserrat</vt:lpstr>
      <vt:lpstr>Open Sans</vt:lpstr>
      <vt:lpstr>Optimistic Display</vt:lpstr>
      <vt:lpstr>Optimistic Text</vt:lpstr>
      <vt:lpstr>Source Code Pro</vt:lpstr>
      <vt:lpstr>source-code-pro</vt:lpstr>
      <vt:lpstr>Wingdings</vt:lpstr>
      <vt:lpstr>Academic Literature 16x9</vt:lpstr>
      <vt:lpstr>PowerPoint Presentation</vt:lpstr>
      <vt:lpstr>React Hooks overview</vt:lpstr>
      <vt:lpstr>React Hooks overview</vt:lpstr>
      <vt:lpstr>React Hooks Installation</vt:lpstr>
      <vt:lpstr>Using the effect Hook</vt:lpstr>
      <vt:lpstr>Using the effect Hook</vt:lpstr>
      <vt:lpstr>Using the effect Hook</vt:lpstr>
      <vt:lpstr>The rules of Hooks</vt:lpstr>
      <vt:lpstr>The rules of Hooks</vt:lpstr>
      <vt:lpstr>The rules of Hooks</vt:lpstr>
      <vt:lpstr>The rules of Hooks</vt:lpstr>
      <vt:lpstr>Effect cleanup</vt:lpstr>
      <vt:lpstr>Effect cleanup</vt:lpstr>
      <vt:lpstr>Effect cleanup</vt:lpstr>
      <vt:lpstr>Using state Hooks</vt:lpstr>
      <vt:lpstr>Using state Hooks - useState</vt:lpstr>
      <vt:lpstr>Using state Hooks - useState </vt:lpstr>
      <vt:lpstr>Using state Hooks - useReducer</vt:lpstr>
      <vt:lpstr>Using state Hooks - useReducer</vt:lpstr>
      <vt:lpstr>Using state Hooks - useReducer </vt:lpstr>
      <vt:lpstr>Using state Hooks - useReducer </vt:lpstr>
      <vt:lpstr>Using state Hooks - useReducer </vt:lpstr>
      <vt:lpstr>Using state Hooks - useReducer </vt:lpstr>
      <vt:lpstr>Using state Hooks - useReducer </vt:lpstr>
      <vt:lpstr>Using state Hooks - useReducer </vt:lpstr>
      <vt:lpstr>Using state Hooks - useReducer </vt:lpstr>
      <vt:lpstr>Using state Hooks - useReducer </vt:lpstr>
      <vt:lpstr>Using state Hooks - useReducer </vt:lpstr>
      <vt:lpstr>Using state Hooks - useReducer </vt:lpstr>
      <vt:lpstr>Using state Hooks - useReducer </vt:lpstr>
      <vt:lpstr>Using state Hooks - useReducer </vt:lpstr>
      <vt:lpstr>Using state Hooks - useReducer </vt:lpstr>
      <vt:lpstr>Using state Hooks - useReducer </vt:lpstr>
      <vt:lpstr>Using state Hooks - useReducer </vt:lpstr>
      <vt:lpstr>React's memoization</vt:lpstr>
      <vt:lpstr>React's memoization</vt:lpstr>
      <vt:lpstr>React's memoization</vt:lpstr>
      <vt:lpstr>React's memoization</vt:lpstr>
      <vt:lpstr>useMemo and useCallback</vt:lpstr>
      <vt:lpstr>useMemo and useCallback</vt:lpstr>
      <vt:lpstr>useMemo and useCallback</vt:lpstr>
      <vt:lpstr>useMemo and useCallback</vt:lpstr>
      <vt:lpstr>useMemo and useCallback</vt:lpstr>
      <vt:lpstr>useMemo and useCallback</vt:lpstr>
      <vt:lpstr>useMemo and useCallback</vt:lpstr>
      <vt:lpstr>useMemo and useCallback</vt:lpstr>
      <vt:lpstr>useMemo and useCallback</vt:lpstr>
      <vt:lpstr>So sánh useMemo and useCallback</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License For You And Lifetime</dc:creator>
  <cp:lastModifiedBy>Xuan Hien</cp:lastModifiedBy>
  <cp:revision>53</cp:revision>
  <dcterms:created xsi:type="dcterms:W3CDTF">2024-10-17T15:22:21Z</dcterms:created>
  <dcterms:modified xsi:type="dcterms:W3CDTF">2024-12-07T07:53:46Z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