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8"/>
  </p:notesMasterIdLst>
  <p:handoutMasterIdLst>
    <p:handoutMasterId r:id="rId59"/>
  </p:handoutMasterIdLst>
  <p:sldIdLst>
    <p:sldId id="256" r:id="rId5"/>
    <p:sldId id="259" r:id="rId6"/>
    <p:sldId id="283" r:id="rId7"/>
    <p:sldId id="284" r:id="rId8"/>
    <p:sldId id="268" r:id="rId9"/>
    <p:sldId id="276" r:id="rId10"/>
    <p:sldId id="270" r:id="rId11"/>
    <p:sldId id="299" r:id="rId12"/>
    <p:sldId id="344" r:id="rId13"/>
    <p:sldId id="345" r:id="rId14"/>
    <p:sldId id="348" r:id="rId15"/>
    <p:sldId id="350" r:id="rId16"/>
    <p:sldId id="351" r:id="rId17"/>
    <p:sldId id="349" r:id="rId18"/>
    <p:sldId id="294" r:id="rId19"/>
    <p:sldId id="347" r:id="rId20"/>
    <p:sldId id="346" r:id="rId21"/>
    <p:sldId id="296" r:id="rId22"/>
    <p:sldId id="297" r:id="rId23"/>
    <p:sldId id="352" r:id="rId24"/>
    <p:sldId id="354" r:id="rId25"/>
    <p:sldId id="353" r:id="rId26"/>
    <p:sldId id="302" r:id="rId27"/>
    <p:sldId id="303" r:id="rId28"/>
    <p:sldId id="304" r:id="rId29"/>
    <p:sldId id="356" r:id="rId30"/>
    <p:sldId id="358" r:id="rId31"/>
    <p:sldId id="305" r:id="rId32"/>
    <p:sldId id="357" r:id="rId33"/>
    <p:sldId id="273" r:id="rId34"/>
    <p:sldId id="331" r:id="rId35"/>
    <p:sldId id="274" r:id="rId36"/>
    <p:sldId id="333" r:id="rId37"/>
    <p:sldId id="332" r:id="rId38"/>
    <p:sldId id="334" r:id="rId39"/>
    <p:sldId id="335" r:id="rId40"/>
    <p:sldId id="336" r:id="rId41"/>
    <p:sldId id="338" r:id="rId42"/>
    <p:sldId id="339" r:id="rId43"/>
    <p:sldId id="340" r:id="rId44"/>
    <p:sldId id="337" r:id="rId45"/>
    <p:sldId id="341" r:id="rId46"/>
    <p:sldId id="342" r:id="rId47"/>
    <p:sldId id="269" r:id="rId48"/>
    <p:sldId id="277" r:id="rId49"/>
    <p:sldId id="285" r:id="rId50"/>
    <p:sldId id="286" r:id="rId51"/>
    <p:sldId id="287" r:id="rId52"/>
    <p:sldId id="360" r:id="rId53"/>
    <p:sldId id="289" r:id="rId54"/>
    <p:sldId id="361" r:id="rId55"/>
    <p:sldId id="362" r:id="rId56"/>
    <p:sldId id="363"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72269" autoAdjust="0"/>
  </p:normalViewPr>
  <p:slideViewPr>
    <p:cSldViewPr snapToGrid="0" showGuides="1">
      <p:cViewPr>
        <p:scale>
          <a:sx n="42" d="100"/>
          <a:sy n="42" d="100"/>
        </p:scale>
        <p:origin x="1532" y="64"/>
      </p:cViewPr>
      <p:guideLst>
        <p:guide orient="horz" pos="2160"/>
        <p:guide pos="3840"/>
      </p:guideLst>
    </p:cSldViewPr>
  </p:slideViewPr>
  <p:notesTextViewPr>
    <p:cViewPr>
      <p:scale>
        <a:sx n="1" d="1"/>
        <a:sy n="1" d="1"/>
      </p:scale>
      <p:origin x="0" y="0"/>
    </p:cViewPr>
  </p:notesTextViewPr>
  <p:sorterViewPr>
    <p:cViewPr>
      <p:scale>
        <a:sx n="100" d="100"/>
        <a:sy n="100" d="100"/>
      </p:scale>
      <p:origin x="0" y="-16374"/>
    </p:cViewPr>
  </p:sorterViewPr>
  <p:notesViewPr>
    <p:cSldViewPr snapToGrid="0" showGuides="1">
      <p:cViewPr varScale="1">
        <p:scale>
          <a:sx n="58" d="100"/>
          <a:sy n="58" d="100"/>
        </p:scale>
        <p:origin x="1974"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1/4/2026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1/4/2026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a:p>
        </p:txBody>
      </p:sp>
    </p:spTree>
    <p:extLst>
      <p:ext uri="{BB962C8B-B14F-4D97-AF65-F5344CB8AC3E}">
        <p14:creationId xmlns:p14="http://schemas.microsoft.com/office/powerpoint/2010/main" val="240615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React là một thư viện JavaScript mã nguồn mở và miễn phí dùng để xây dựng giao diện người dùng (UI) trên web.</a:t>
            </a:r>
          </a:p>
          <a:p>
            <a:endParaRPr lang="vi-VN" dirty="0"/>
          </a:p>
          <a:p>
            <a:r>
              <a:rPr lang="vi-VN" dirty="0"/>
              <a:t>React là một thư viện khai báo, dựa trên thành phần, cho phép các nhà phát triển xây dựng các thành phần UI có thể tái sử dụng và tuân theo phương pháp DOM ảo (Document Object Model), giúp tối ưu hóa hiệu suất hiển thị bằng cách giảm thiểu việc cập nhật DOM.</a:t>
            </a:r>
          </a:p>
          <a:p>
            <a:endParaRPr lang="vi-VN" dirty="0"/>
          </a:p>
          <a:p>
            <a:r>
              <a:rPr lang="vi-VN" dirty="0"/>
              <a:t>React nhanh và hoạt động tốt với các công cụ và thư viện khác.</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a:t>
            </a:fld>
            <a:endParaRPr lang="en-US"/>
          </a:p>
        </p:txBody>
      </p:sp>
    </p:spTree>
    <p:extLst>
      <p:ext uri="{BB962C8B-B14F-4D97-AF65-F5344CB8AC3E}">
        <p14:creationId xmlns:p14="http://schemas.microsoft.com/office/powerpoint/2010/main" val="8734640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Virtual DOM</a:t>
            </a:r>
            <a:r>
              <a:rPr lang="vi-VN" dirty="0"/>
              <a:t> là một </a:t>
            </a:r>
            <a:r>
              <a:rPr lang="vi-VN" b="1" dirty="0"/>
              <a:t>bản sao nhẹ (lightweight)</a:t>
            </a:r>
            <a:r>
              <a:rPr lang="vi-VN" dirty="0"/>
              <a:t> của DOM thật, được lưu trong </a:t>
            </a:r>
            <a:r>
              <a:rPr lang="vi-VN" b="1" dirty="0"/>
              <a:t>bộ nhớ (memory)</a:t>
            </a:r>
            <a:r>
              <a:rPr lang="vi-VN" dirty="0"/>
              <a:t> dưới dạng </a:t>
            </a:r>
            <a:r>
              <a:rPr lang="vi-VN" b="1" dirty="0"/>
              <a:t>JavaScript object</a:t>
            </a:r>
            <a:r>
              <a:rPr lang="vi-VN" dirty="0"/>
              <a:t>.</a:t>
            </a:r>
            <a:endParaRPr lang="en-US" dirty="0"/>
          </a:p>
          <a:p>
            <a:r>
              <a:rPr lang="vi-VN" dirty="0"/>
              <a:t>React cập nhật </a:t>
            </a:r>
            <a:r>
              <a:rPr lang="vi-VN" b="1" dirty="0"/>
              <a:t>Virtual DOM trước</a:t>
            </a:r>
            <a:r>
              <a:rPr lang="vi-VN" dirty="0"/>
              <a:t>, không cập nhật DOM thật ngay</a:t>
            </a:r>
            <a:endParaRPr lang="en-US" dirty="0"/>
          </a:p>
          <a:p>
            <a:r>
              <a:rPr lang="vi-VN" b="1" dirty="0"/>
              <a:t>Quy trình 5 bước</a:t>
            </a:r>
          </a:p>
          <a:p>
            <a:pPr rtl="0"/>
            <a:r>
              <a:rPr lang="vi-VN" sz="1200" kern="1200" dirty="0">
                <a:solidFill>
                  <a:schemeClr val="tx1"/>
                </a:solidFill>
                <a:latin typeface="+mn-lt"/>
                <a:ea typeface="+mn-ea"/>
                <a:cs typeface="+mn-cs"/>
              </a:rPr>
              <a:t>1. State / Props thay đổi</a:t>
            </a:r>
          </a:p>
          <a:p>
            <a:pPr rtl="0"/>
            <a:r>
              <a:rPr lang="vi-VN" sz="1200" kern="1200" dirty="0">
                <a:solidFill>
                  <a:schemeClr val="tx1"/>
                </a:solidFill>
                <a:latin typeface="+mn-lt"/>
                <a:ea typeface="+mn-ea"/>
                <a:cs typeface="+mn-cs"/>
              </a:rPr>
              <a:t>2. React tạo Virtual DOM mới</a:t>
            </a:r>
          </a:p>
          <a:p>
            <a:pPr rtl="0"/>
            <a:r>
              <a:rPr lang="vi-VN" sz="1200" kern="1200" dirty="0">
                <a:solidFill>
                  <a:schemeClr val="tx1"/>
                </a:solidFill>
                <a:latin typeface="+mn-lt"/>
                <a:ea typeface="+mn-ea"/>
                <a:cs typeface="+mn-cs"/>
              </a:rPr>
              <a:t>3. So sánh (Diffing) với Virtual DOM cũ</a:t>
            </a:r>
          </a:p>
          <a:p>
            <a:pPr rtl="0"/>
            <a:r>
              <a:rPr lang="vi-VN" sz="1200" kern="1200" dirty="0">
                <a:solidFill>
                  <a:schemeClr val="tx1"/>
                </a:solidFill>
                <a:latin typeface="+mn-lt"/>
                <a:ea typeface="+mn-ea"/>
                <a:cs typeface="+mn-cs"/>
              </a:rPr>
              <a:t>4. Xác định phần thay đổi nhỏ nhất</a:t>
            </a:r>
          </a:p>
          <a:p>
            <a:pPr rtl="0"/>
            <a:r>
              <a:rPr lang="vi-VN" sz="1200" kern="1200" dirty="0">
                <a:solidFill>
                  <a:schemeClr val="tx1"/>
                </a:solidFill>
                <a:latin typeface="+mn-lt"/>
                <a:ea typeface="+mn-ea"/>
                <a:cs typeface="+mn-cs"/>
              </a:rPr>
              <a:t>5. Cập nhật DOM thật (Reconciliation)</a:t>
            </a:r>
          </a:p>
          <a:p>
            <a:endParaRPr lang="en-US" dirty="0"/>
          </a:p>
          <a:p>
            <a:r>
              <a:rPr lang="vi-VN" dirty="0"/>
              <a:t>Virtual DOM: Giảm thiểu thao tác DOM trực tiếp để cập nhật nhanh hơn.</a:t>
            </a:r>
          </a:p>
          <a:p>
            <a:r>
              <a:rPr lang="vi-VN" dirty="0"/>
              <a:t>JSX (JavaScript XML): Tiện ích mở rộng cú pháp trông giống HTML và tích hợp liền mạch với JavaScript, giúp mã dễ đọc và có cấu trúc hơn.</a:t>
            </a:r>
          </a:p>
          <a:p>
            <a:r>
              <a:rPr lang="vi-VN" dirty="0"/>
              <a:t>Kiến trúc dựa trên thành phần: Khuyến khích tạo các thành phần nhỏ, có thể tái sử dụng, có thể được kết hợp thành UI phức tạp.</a:t>
            </a:r>
          </a:p>
          <a:p>
            <a:r>
              <a:rPr lang="vi-VN" dirty="0"/>
              <a:t>Luồng dữ liệu đơn hướng: Dữ liệu chảy từ thành phần cha sang thành phần con, giúp quản lý dữ liệu có thể dự đoán được và dễ gỡ lỗi hơn.</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3</a:t>
            </a:fld>
            <a:endParaRPr lang="en-US"/>
          </a:p>
        </p:txBody>
      </p:sp>
    </p:spTree>
    <p:extLst>
      <p:ext uri="{BB962C8B-B14F-4D97-AF65-F5344CB8AC3E}">
        <p14:creationId xmlns:p14="http://schemas.microsoft.com/office/powerpoint/2010/main" val="4583748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Các thành phần (Components): Là các khối xây dựng của một ứng dụng React, có thể là thành phần chức năng hoặc thành phần dựa trên lớp.</a:t>
            </a:r>
          </a:p>
          <a:p>
            <a:endParaRPr lang="vi-VN" dirty="0"/>
          </a:p>
          <a:p>
            <a:r>
              <a:rPr lang="vi-VN" dirty="0"/>
              <a:t>Trạng thái (State) và thuộc tính (Props): Trạng thái quản lý dữ liệu của thành phần, trong khi thuộc tính được sử dụng để truyền dữ liệu từ thành phần này sang thành phần khác.</a:t>
            </a:r>
          </a:p>
          <a:p>
            <a:endParaRPr lang="vi-VN" dirty="0"/>
          </a:p>
          <a:p>
            <a:r>
              <a:rPr lang="vi-VN" dirty="0"/>
              <a:t>Các phương thức vòng đời (Lifecycle Methods): Các thành phần dựa trên lớp có các phương thức vòng đời (như componentDidMount, componentWillUnmount) để quản lý hành vi của thành phần ở các giai đoạn khác nhau.</a:t>
            </a:r>
          </a:p>
          <a:p>
            <a:endParaRPr lang="vi-VN" dirty="0"/>
          </a:p>
          <a:p>
            <a:r>
              <a:rPr lang="vi-VN" dirty="0"/>
              <a:t>Hooks: Được giới thiệu trong React 16.8, hooks (như useState, useEffect) cho phép các thành phần chức năng quản lý trạng thái và các tác dụng phụ, làm cho các thành phần chức năng mạnh mẽ hơn.</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4</a:t>
            </a:fld>
            <a:endParaRPr lang="en-US"/>
          </a:p>
        </p:txBody>
      </p:sp>
    </p:spTree>
    <p:extLst>
      <p:ext uri="{BB962C8B-B14F-4D97-AF65-F5344CB8AC3E}">
        <p14:creationId xmlns:p14="http://schemas.microsoft.com/office/powerpoint/2010/main" val="5416425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6</a:t>
            </a:fld>
            <a:endParaRPr lang="en-US"/>
          </a:p>
        </p:txBody>
      </p:sp>
    </p:spTree>
    <p:extLst>
      <p:ext uri="{BB962C8B-B14F-4D97-AF65-F5344CB8AC3E}">
        <p14:creationId xmlns:p14="http://schemas.microsoft.com/office/powerpoint/2010/main" val="38171279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Thư viện React chỉ là thư viện giao diện người dùng và nó không bắt buộc bất kỳ mẫu thiết kế cụ thể nào để viết một ứng dụng phức tạp. Các nhà phát triển có thể tự do lựa chọn mẫu thiết kế theo ý thích của mình.</a:t>
            </a:r>
          </a:p>
          <a:p>
            <a:r>
              <a:rPr lang="vi-VN" dirty="0"/>
              <a:t>Một trong những mẫu đó là mẫu Flux. Thư viện React cũng cung cấp nhiều khái niệm như Higher Order Component, Context, Render props, Refs, v.v., để viết mã tốt hơn.</a:t>
            </a:r>
          </a:p>
          <a:p>
            <a:r>
              <a:rPr lang="vi-VN" dirty="0"/>
              <a:t>React Hooks là một khái niệm đang phát triển để quản lý trạng thái trong các dự án lớn.</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8</a:t>
            </a:fld>
            <a:endParaRPr lang="en-US"/>
          </a:p>
        </p:txBody>
      </p:sp>
    </p:spTree>
    <p:extLst>
      <p:ext uri="{BB962C8B-B14F-4D97-AF65-F5344CB8AC3E}">
        <p14:creationId xmlns:p14="http://schemas.microsoft.com/office/powerpoint/2010/main" val="35849169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Kiến trúc dựa trên thành phần (Component-Based Architecture - CBA) là một phương pháp thiết kế phần mềm trong đó giao diện người dùng được xây dựng từ các thành phần độc lập, có thể tái sử dụng và tự chứa.</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9</a:t>
            </a:fld>
            <a:endParaRPr lang="en-US"/>
          </a:p>
        </p:txBody>
      </p:sp>
    </p:spTree>
    <p:extLst>
      <p:ext uri="{BB962C8B-B14F-4D97-AF65-F5344CB8AC3E}">
        <p14:creationId xmlns:p14="http://schemas.microsoft.com/office/powerpoint/2010/main" val="33452846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Thuộc tính (Props): "Props" (viết tắt của properties) là cách dữ liệu được truyền từ thành phần cha sang thành phần con. Props là bất biến, nghĩa là một thành phần không thể thay đổi trực tiếp các props của chính nó, nhưng nó có thể truyền chúng xuống các thành phần con.</a:t>
            </a:r>
            <a:endParaRPr lang="en-US" dirty="0"/>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11</a:t>
            </a:fld>
            <a:endParaRPr lang="en-US"/>
          </a:p>
        </p:txBody>
      </p:sp>
    </p:spTree>
    <p:extLst>
      <p:ext uri="{BB962C8B-B14F-4D97-AF65-F5344CB8AC3E}">
        <p14:creationId xmlns:p14="http://schemas.microsoft.com/office/powerpoint/2010/main" val="36462966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a:t>
            </a:r>
            <a:r>
              <a:rPr lang="en-US" dirty="0" err="1"/>
              <a:t>là</a:t>
            </a:r>
            <a:r>
              <a:rPr lang="en-US" dirty="0"/>
              <a:t> </a:t>
            </a:r>
            <a:r>
              <a:rPr lang="en-US" dirty="0" err="1"/>
              <a:t>dữ</a:t>
            </a:r>
            <a:r>
              <a:rPr lang="en-US" dirty="0"/>
              <a:t> </a:t>
            </a:r>
            <a:r>
              <a:rPr lang="en-US" dirty="0" err="1"/>
              <a:t>liệu</a:t>
            </a:r>
            <a:r>
              <a:rPr lang="en-US" dirty="0"/>
              <a:t> </a:t>
            </a:r>
            <a:r>
              <a:rPr lang="en-US" dirty="0" err="1"/>
              <a:t>nội</a:t>
            </a:r>
            <a:r>
              <a:rPr lang="en-US" dirty="0"/>
              <a:t> </a:t>
            </a:r>
            <a:r>
              <a:rPr lang="en-US" dirty="0" err="1"/>
              <a:t>bộ</a:t>
            </a:r>
            <a:r>
              <a:rPr lang="en-US" dirty="0"/>
              <a:t>, </a:t>
            </a:r>
            <a:r>
              <a:rPr lang="en-US" dirty="0" err="1"/>
              <a:t>có</a:t>
            </a:r>
            <a:r>
              <a:rPr lang="en-US" dirty="0"/>
              <a:t> </a:t>
            </a:r>
            <a:r>
              <a:rPr lang="en-US" dirty="0" err="1"/>
              <a:t>thể</a:t>
            </a:r>
            <a:r>
              <a:rPr lang="en-US" dirty="0"/>
              <a:t> </a:t>
            </a:r>
            <a:r>
              <a:rPr lang="en-US" dirty="0" err="1"/>
              <a:t>thay</a:t>
            </a:r>
            <a:r>
              <a:rPr lang="en-US" dirty="0"/>
              <a:t> </a:t>
            </a:r>
            <a:r>
              <a:rPr lang="en-US" dirty="0" err="1"/>
              <a:t>đổi</a:t>
            </a:r>
            <a:r>
              <a:rPr lang="en-US" dirty="0"/>
              <a:t> </a:t>
            </a:r>
            <a:r>
              <a:rPr lang="en-US" dirty="0" err="1"/>
              <a:t>thuộc</a:t>
            </a:r>
            <a:r>
              <a:rPr lang="en-US" dirty="0"/>
              <a:t> </a:t>
            </a:r>
            <a:r>
              <a:rPr lang="en-US" dirty="0" err="1"/>
              <a:t>về</a:t>
            </a:r>
            <a:r>
              <a:rPr lang="en-US" dirty="0"/>
              <a:t> </a:t>
            </a:r>
            <a:r>
              <a:rPr lang="en-US" dirty="0" err="1"/>
              <a:t>một</a:t>
            </a:r>
            <a:r>
              <a:rPr lang="en-US" dirty="0"/>
              <a:t> component </a:t>
            </a:r>
            <a:r>
              <a:rPr lang="en-US" dirty="0" err="1"/>
              <a:t>và</a:t>
            </a:r>
            <a:r>
              <a:rPr lang="en-US" dirty="0"/>
              <a:t> </a:t>
            </a:r>
            <a:r>
              <a:rPr lang="en-US" dirty="0" err="1"/>
              <a:t>có</a:t>
            </a:r>
            <a:r>
              <a:rPr lang="en-US" dirty="0"/>
              <a:t> </a:t>
            </a:r>
            <a:r>
              <a:rPr lang="en-US" dirty="0" err="1"/>
              <a:t>thể</a:t>
            </a:r>
            <a:r>
              <a:rPr lang="en-US" dirty="0"/>
              <a:t> </a:t>
            </a:r>
            <a:r>
              <a:rPr lang="en-US" dirty="0" err="1"/>
              <a:t>biến</a:t>
            </a:r>
            <a:r>
              <a:rPr lang="en-US" dirty="0"/>
              <a:t> </a:t>
            </a:r>
            <a:r>
              <a:rPr lang="en-US" dirty="0" err="1"/>
              <a:t>đổi</a:t>
            </a:r>
            <a:r>
              <a:rPr lang="en-US" dirty="0"/>
              <a:t> </a:t>
            </a:r>
            <a:r>
              <a:rPr lang="en-US" dirty="0" err="1"/>
              <a:t>theo</a:t>
            </a:r>
            <a:r>
              <a:rPr lang="en-US" dirty="0"/>
              <a:t> </a:t>
            </a:r>
            <a:r>
              <a:rPr lang="en-US" dirty="0" err="1"/>
              <a:t>thời</a:t>
            </a:r>
            <a:r>
              <a:rPr lang="en-US" dirty="0"/>
              <a:t> </a:t>
            </a:r>
            <a:r>
              <a:rPr lang="en-US" dirty="0" err="1"/>
              <a:t>gian</a:t>
            </a:r>
            <a:r>
              <a:rPr lang="en-US" dirty="0"/>
              <a:t>.</a:t>
            </a:r>
          </a:p>
          <a:p>
            <a:endParaRPr lang="en-US" dirty="0"/>
          </a:p>
          <a:p>
            <a:r>
              <a:rPr lang="en-US" dirty="0"/>
              <a:t>Khi state </a:t>
            </a:r>
            <a:r>
              <a:rPr lang="en-US" dirty="0" err="1"/>
              <a:t>thay</a:t>
            </a:r>
            <a:r>
              <a:rPr lang="en-US" dirty="0"/>
              <a:t> </a:t>
            </a:r>
            <a:r>
              <a:rPr lang="en-US" dirty="0" err="1"/>
              <a:t>đổi</a:t>
            </a:r>
            <a:r>
              <a:rPr lang="en-US" dirty="0"/>
              <a:t>, React </a:t>
            </a:r>
            <a:r>
              <a:rPr lang="en-US" dirty="0" err="1"/>
              <a:t>sẽ</a:t>
            </a:r>
            <a:r>
              <a:rPr lang="en-US" dirty="0"/>
              <a:t> </a:t>
            </a:r>
            <a:r>
              <a:rPr lang="en-US" dirty="0" err="1"/>
              <a:t>tự</a:t>
            </a:r>
            <a:r>
              <a:rPr lang="en-US" dirty="0"/>
              <a:t> </a:t>
            </a:r>
            <a:r>
              <a:rPr lang="en-US" dirty="0" err="1"/>
              <a:t>động</a:t>
            </a:r>
            <a:r>
              <a:rPr lang="en-US" dirty="0"/>
              <a:t> render </a:t>
            </a:r>
            <a:r>
              <a:rPr lang="en-US" dirty="0" err="1"/>
              <a:t>lại</a:t>
            </a:r>
            <a:r>
              <a:rPr lang="en-US" dirty="0"/>
              <a:t> component </a:t>
            </a:r>
            <a:r>
              <a:rPr lang="en-US" dirty="0" err="1"/>
              <a:t>đó</a:t>
            </a:r>
            <a:r>
              <a:rPr lang="en-US" dirty="0"/>
              <a:t>.</a:t>
            </a:r>
          </a:p>
          <a:p>
            <a:r>
              <a:rPr lang="vi-VN" dirty="0"/>
              <a:t>Các đặc điểm chính của trạng thái</a:t>
            </a:r>
          </a:p>
          <a:p>
            <a:endParaRPr lang="vi-VN" dirty="0"/>
          </a:p>
          <a:p>
            <a:r>
              <a:rPr lang="vi-VN" dirty="0"/>
              <a:t>Cục bộ đối với một thành phần</a:t>
            </a:r>
          </a:p>
          <a:p>
            <a:r>
              <a:rPr lang="vi-VN" dirty="0"/>
              <a:t>Có thể thay đổi theo thời gian</a:t>
            </a:r>
          </a:p>
          <a:p>
            <a:r>
              <a:rPr lang="vi-VN" dirty="0"/>
              <a:t>Được điều khiển bởi chính thành phần đó</a:t>
            </a:r>
          </a:p>
          <a:p>
            <a:r>
              <a:rPr lang="vi-VN" dirty="0"/>
              <a:t>Kích hoạt quá trình render lại khi được cập nhật</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13</a:t>
            </a:fld>
            <a:endParaRPr lang="en-US"/>
          </a:p>
        </p:txBody>
      </p:sp>
    </p:spTree>
    <p:extLst>
      <p:ext uri="{BB962C8B-B14F-4D97-AF65-F5344CB8AC3E}">
        <p14:creationId xmlns:p14="http://schemas.microsoft.com/office/powerpoint/2010/main" val="4315356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Đặc điểm chính của Functional Components</a:t>
            </a:r>
          </a:p>
          <a:p>
            <a:endParaRPr lang="vi-VN" dirty="0"/>
          </a:p>
          <a:p>
            <a:r>
              <a:rPr lang="vi-VN" dirty="0"/>
              <a:t>✔ Cú pháp đơn giản và ngắn gọn</a:t>
            </a:r>
          </a:p>
          <a:p>
            <a:r>
              <a:rPr lang="vi-VN" dirty="0"/>
              <a:t>✔ Không sử dụng từ khóa `this`</a:t>
            </a:r>
          </a:p>
          <a:p>
            <a:r>
              <a:rPr lang="vi-VN" dirty="0"/>
              <a:t>✔ Dễ đọc và dễ kiểm thử</a:t>
            </a:r>
          </a:p>
          <a:p>
            <a:r>
              <a:rPr lang="vi-VN" dirty="0"/>
              <a:t>✔ Sử dụng Hooks (`useState`, `useEffect`, v.v.)</a:t>
            </a:r>
          </a:p>
          <a:p>
            <a:r>
              <a:rPr lang="vi-VN" dirty="0"/>
              <a:t>✔ Phương pháp được khuyến nghị trong React hiện đại</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16</a:t>
            </a:fld>
            <a:endParaRPr lang="en-US"/>
          </a:p>
        </p:txBody>
      </p:sp>
    </p:spTree>
    <p:extLst>
      <p:ext uri="{BB962C8B-B14F-4D97-AF65-F5344CB8AC3E}">
        <p14:creationId xmlns:p14="http://schemas.microsoft.com/office/powerpoint/2010/main" val="42316492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Các thành phần lớp (Class Components) có trạng thái và có thể lưu trữ và quản lý trạng thái. </a:t>
            </a:r>
            <a:endParaRPr lang="en-US" dirty="0"/>
          </a:p>
          <a:p>
            <a:r>
              <a:rPr lang="vi-VN" dirty="0"/>
              <a:t>Chúng cung cấp nhiều tính năng và phương thức vòng đời hơn, cho phép chức năng phức tạp hơn.</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17</a:t>
            </a:fld>
            <a:endParaRPr lang="en-US"/>
          </a:p>
        </p:txBody>
      </p:sp>
    </p:spTree>
    <p:extLst>
      <p:ext uri="{BB962C8B-B14F-4D97-AF65-F5344CB8AC3E}">
        <p14:creationId xmlns:p14="http://schemas.microsoft.com/office/powerpoint/2010/main" val="21407587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a:t>
            </a:r>
            <a:r>
              <a:rPr lang="en-US" dirty="0" err="1"/>
              <a:t>trình</a:t>
            </a:r>
            <a:r>
              <a:rPr lang="en-US" dirty="0"/>
              <a:t> </a:t>
            </a:r>
            <a:r>
              <a:rPr lang="en-US" dirty="0" err="1"/>
              <a:t>hoạt</a:t>
            </a:r>
            <a:r>
              <a:rPr lang="en-US" dirty="0"/>
              <a:t> </a:t>
            </a:r>
            <a:r>
              <a:rPr lang="en-US" dirty="0" err="1"/>
              <a:t>động</a:t>
            </a:r>
            <a:r>
              <a:rPr lang="en-US" dirty="0"/>
              <a:t>:</a:t>
            </a:r>
          </a:p>
          <a:p>
            <a:r>
              <a:rPr lang="en-US" dirty="0"/>
              <a:t>React </a:t>
            </a:r>
            <a:r>
              <a:rPr lang="en-US" dirty="0" err="1"/>
              <a:t>tạo</a:t>
            </a:r>
            <a:r>
              <a:rPr lang="en-US" dirty="0"/>
              <a:t> </a:t>
            </a:r>
            <a:r>
              <a:rPr lang="en-US" dirty="0" err="1"/>
              <a:t>ra</a:t>
            </a:r>
            <a:r>
              <a:rPr lang="en-US" dirty="0"/>
              <a:t> </a:t>
            </a:r>
            <a:r>
              <a:rPr lang="en-US" dirty="0" err="1"/>
              <a:t>một</a:t>
            </a:r>
            <a:r>
              <a:rPr lang="en-US" dirty="0"/>
              <a:t> </a:t>
            </a:r>
            <a:r>
              <a:rPr lang="en-US" dirty="0" err="1"/>
              <a:t>cây</a:t>
            </a:r>
            <a:r>
              <a:rPr lang="en-US" dirty="0"/>
              <a:t> DOM </a:t>
            </a:r>
            <a:r>
              <a:rPr lang="en-US" dirty="0" err="1"/>
              <a:t>ảo</a:t>
            </a:r>
            <a:r>
              <a:rPr lang="en-US" dirty="0"/>
              <a:t> </a:t>
            </a:r>
            <a:r>
              <a:rPr lang="en-US" dirty="0" err="1"/>
              <a:t>mỗi</a:t>
            </a:r>
            <a:r>
              <a:rPr lang="en-US" dirty="0"/>
              <a:t> </a:t>
            </a:r>
            <a:r>
              <a:rPr lang="en-US" dirty="0" err="1"/>
              <a:t>khi</a:t>
            </a:r>
            <a:r>
              <a:rPr lang="en-US" dirty="0"/>
              <a:t> </a:t>
            </a:r>
            <a:r>
              <a:rPr lang="en-US" dirty="0" err="1"/>
              <a:t>trạng</a:t>
            </a:r>
            <a:r>
              <a:rPr lang="en-US" dirty="0"/>
              <a:t> </a:t>
            </a:r>
            <a:r>
              <a:rPr lang="en-US" dirty="0" err="1"/>
              <a:t>thái</a:t>
            </a:r>
            <a:r>
              <a:rPr lang="en-US" dirty="0"/>
              <a:t> </a:t>
            </a:r>
            <a:r>
              <a:rPr lang="en-US" dirty="0" err="1"/>
              <a:t>hoặc</a:t>
            </a:r>
            <a:r>
              <a:rPr lang="en-US" dirty="0"/>
              <a:t> props </a:t>
            </a:r>
            <a:r>
              <a:rPr lang="en-US" dirty="0" err="1"/>
              <a:t>thay</a:t>
            </a:r>
            <a:r>
              <a:rPr lang="en-US" dirty="0"/>
              <a:t> </a:t>
            </a:r>
            <a:r>
              <a:rPr lang="en-US" dirty="0" err="1"/>
              <a:t>đổi</a:t>
            </a:r>
            <a:r>
              <a:rPr lang="en-US" dirty="0"/>
              <a:t>.</a:t>
            </a:r>
          </a:p>
          <a:p>
            <a:endParaRPr lang="en-US" dirty="0"/>
          </a:p>
          <a:p>
            <a:r>
              <a:rPr lang="en-US" dirty="0" err="1"/>
              <a:t>Nó</a:t>
            </a:r>
            <a:r>
              <a:rPr lang="en-US" dirty="0"/>
              <a:t> </a:t>
            </a:r>
            <a:r>
              <a:rPr lang="en-US" dirty="0" err="1"/>
              <a:t>tính</a:t>
            </a:r>
            <a:r>
              <a:rPr lang="en-US" dirty="0"/>
              <a:t> </a:t>
            </a:r>
            <a:r>
              <a:rPr lang="en-US" dirty="0" err="1"/>
              <a:t>toán</a:t>
            </a:r>
            <a:r>
              <a:rPr lang="en-US" dirty="0"/>
              <a:t> </a:t>
            </a:r>
            <a:r>
              <a:rPr lang="en-US" dirty="0" err="1"/>
              <a:t>sự</a:t>
            </a:r>
            <a:r>
              <a:rPr lang="en-US" dirty="0"/>
              <a:t> </a:t>
            </a:r>
            <a:r>
              <a:rPr lang="en-US" dirty="0" err="1"/>
              <a:t>khác</a:t>
            </a:r>
            <a:r>
              <a:rPr lang="en-US" dirty="0"/>
              <a:t> </a:t>
            </a:r>
            <a:r>
              <a:rPr lang="en-US" dirty="0" err="1"/>
              <a:t>biệt</a:t>
            </a:r>
            <a:r>
              <a:rPr lang="en-US" dirty="0"/>
              <a:t> (</a:t>
            </a:r>
            <a:r>
              <a:rPr lang="en-US" dirty="0" err="1"/>
              <a:t>phép</a:t>
            </a:r>
            <a:r>
              <a:rPr lang="en-US" dirty="0"/>
              <a:t> so </a:t>
            </a:r>
            <a:r>
              <a:rPr lang="en-US" dirty="0" err="1"/>
              <a:t>sánh</a:t>
            </a:r>
            <a:r>
              <a:rPr lang="en-US" dirty="0"/>
              <a:t>) </a:t>
            </a:r>
            <a:r>
              <a:rPr lang="en-US" dirty="0" err="1"/>
              <a:t>giữa</a:t>
            </a:r>
            <a:r>
              <a:rPr lang="en-US" dirty="0"/>
              <a:t> </a:t>
            </a:r>
            <a:r>
              <a:rPr lang="en-US" dirty="0" err="1"/>
              <a:t>cây</a:t>
            </a:r>
            <a:r>
              <a:rPr lang="en-US" dirty="0"/>
              <a:t> DOM </a:t>
            </a:r>
            <a:r>
              <a:rPr lang="en-US" dirty="0" err="1"/>
              <a:t>ảo</a:t>
            </a:r>
            <a:r>
              <a:rPr lang="en-US" dirty="0"/>
              <a:t> </a:t>
            </a:r>
            <a:r>
              <a:rPr lang="en-US" dirty="0" err="1"/>
              <a:t>mới</a:t>
            </a:r>
            <a:r>
              <a:rPr lang="en-US" dirty="0"/>
              <a:t> </a:t>
            </a:r>
            <a:r>
              <a:rPr lang="en-US" dirty="0" err="1"/>
              <a:t>và</a:t>
            </a:r>
            <a:r>
              <a:rPr lang="en-US" dirty="0"/>
              <a:t> </a:t>
            </a:r>
            <a:r>
              <a:rPr lang="en-US" dirty="0" err="1"/>
              <a:t>cũ</a:t>
            </a:r>
            <a:r>
              <a:rPr lang="en-US" dirty="0"/>
              <a:t>.</a:t>
            </a:r>
          </a:p>
          <a:p>
            <a:endParaRPr lang="en-US" dirty="0"/>
          </a:p>
          <a:p>
            <a:r>
              <a:rPr lang="en-US" dirty="0" err="1"/>
              <a:t>Cập</a:t>
            </a:r>
            <a:r>
              <a:rPr lang="en-US" dirty="0"/>
              <a:t> </a:t>
            </a:r>
            <a:r>
              <a:rPr lang="en-US" dirty="0" err="1"/>
              <a:t>nhật</a:t>
            </a:r>
            <a:r>
              <a:rPr lang="en-US" dirty="0"/>
              <a:t> DOM </a:t>
            </a:r>
            <a:r>
              <a:rPr lang="en-US" dirty="0" err="1"/>
              <a:t>thực</a:t>
            </a:r>
            <a:r>
              <a:rPr lang="en-US" dirty="0"/>
              <a:t> </a:t>
            </a:r>
            <a:r>
              <a:rPr lang="en-US" dirty="0" err="1"/>
              <a:t>một</a:t>
            </a:r>
            <a:r>
              <a:rPr lang="en-US" dirty="0"/>
              <a:t> </a:t>
            </a:r>
            <a:r>
              <a:rPr lang="en-US" dirty="0" err="1"/>
              <a:t>cách</a:t>
            </a:r>
            <a:r>
              <a:rPr lang="en-US" dirty="0"/>
              <a:t> </a:t>
            </a:r>
            <a:r>
              <a:rPr lang="en-US" dirty="0" err="1"/>
              <a:t>hiệu</a:t>
            </a:r>
            <a:r>
              <a:rPr lang="en-US" dirty="0"/>
              <a:t> </a:t>
            </a:r>
            <a:r>
              <a:rPr lang="en-US" dirty="0" err="1"/>
              <a:t>quả</a:t>
            </a:r>
            <a:r>
              <a:rPr lang="en-US" dirty="0"/>
              <a:t> </a:t>
            </a:r>
            <a:r>
              <a:rPr lang="en-US" dirty="0" err="1"/>
              <a:t>chỉ</a:t>
            </a:r>
            <a:r>
              <a:rPr lang="en-US" dirty="0"/>
              <a:t> </a:t>
            </a:r>
            <a:r>
              <a:rPr lang="en-US" dirty="0" err="1"/>
              <a:t>với</a:t>
            </a:r>
            <a:r>
              <a:rPr lang="en-US" dirty="0"/>
              <a:t> </a:t>
            </a:r>
            <a:r>
              <a:rPr lang="en-US" dirty="0" err="1"/>
              <a:t>những</a:t>
            </a:r>
            <a:r>
              <a:rPr lang="en-US" dirty="0"/>
              <a:t> </a:t>
            </a:r>
            <a:r>
              <a:rPr lang="en-US" dirty="0" err="1"/>
              <a:t>thay</a:t>
            </a:r>
            <a:r>
              <a:rPr lang="en-US" dirty="0"/>
              <a:t> </a:t>
            </a:r>
            <a:r>
              <a:rPr lang="en-US" dirty="0" err="1"/>
              <a:t>đổi</a:t>
            </a:r>
            <a:r>
              <a:rPr lang="en-US" dirty="0"/>
              <a:t>.</a:t>
            </a:r>
          </a:p>
        </p:txBody>
      </p:sp>
      <p:sp>
        <p:nvSpPr>
          <p:cNvPr id="4" name="Slide Number Placeholder 3"/>
          <p:cNvSpPr>
            <a:spLocks noGrp="1"/>
          </p:cNvSpPr>
          <p:nvPr>
            <p:ph type="sldNum" sz="quarter" idx="5"/>
          </p:nvPr>
        </p:nvSpPr>
        <p:spPr/>
        <p:txBody>
          <a:bodyPr/>
          <a:lstStyle/>
          <a:p>
            <a:fld id="{0A3C37BE-C303-496D-B5CD-85F2937540FC}" type="slidenum">
              <a:rPr lang="en-US" smtClean="0"/>
              <a:t>18</a:t>
            </a:fld>
            <a:endParaRPr lang="en-US"/>
          </a:p>
        </p:txBody>
      </p:sp>
    </p:spTree>
    <p:extLst>
      <p:ext uri="{BB962C8B-B14F-4D97-AF65-F5344CB8AC3E}">
        <p14:creationId xmlns:p14="http://schemas.microsoft.com/office/powerpoint/2010/main" val="28571590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JSX (JavaScript XML)</a:t>
            </a:r>
          </a:p>
          <a:p>
            <a:r>
              <a:rPr lang="vi-VN" dirty="0"/>
              <a:t>React sử dụng JSX, là phần mở rộng cú pháp cho JavaScript. Nó trông giống HTML nhưng có thể bao gồm các biểu thức JavaScript. JSX được biên dịch thành JavaScript thông thường khi chạy.</a:t>
            </a:r>
          </a:p>
          <a:p>
            <a:r>
              <a:rPr lang="vi-VN" dirty="0"/>
              <a:t>JSX cho phép các nhà phát triển xác định cấu trúc UI trực tiếp trong thành phần, giúp dễ hình dung bố cục của UI trong mã hơn.</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19</a:t>
            </a:fld>
            <a:endParaRPr lang="en-US"/>
          </a:p>
        </p:txBody>
      </p:sp>
    </p:spTree>
    <p:extLst>
      <p:ext uri="{BB962C8B-B14F-4D97-AF65-F5344CB8AC3E}">
        <p14:creationId xmlns:p14="http://schemas.microsoft.com/office/powerpoint/2010/main" val="40476536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Luồng dữ liệu một chiều: dữ liệu chỉ chảy theo một hướng trong ứng dụng React:</a:t>
            </a:r>
          </a:p>
          <a:p>
            <a:r>
              <a:rPr lang="vi-VN" dirty="0"/>
              <a:t>Từ các thành phần cha xuống các thành phần con</a:t>
            </a:r>
          </a:p>
          <a:p>
            <a:r>
              <a:rPr lang="vi-VN" dirty="0"/>
              <a:t>Nguyên tắc này là một khái niệm cốt lõi trong React và giúp cho các ứng dụng trở nên dễ dự đoán hơn, dễ gỡ lỗi hơn và dễ bảo trì hơn.</a:t>
            </a:r>
          </a:p>
          <a:p>
            <a:r>
              <a:rPr lang="vi-VN" dirty="0"/>
              <a:t>Khi người dùng tương tác với giao diện người dùng (ví dụ: nhấp vào nút hoặc nhập văn bản), trình xử lý sự kiện trong một thành phần sẽ cập nhật trạng thái của nó, từ đó gây ra việc render lại và cập nhật giao diện người dùng.</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20</a:t>
            </a:fld>
            <a:endParaRPr lang="en-US"/>
          </a:p>
        </p:txBody>
      </p:sp>
    </p:spTree>
    <p:extLst>
      <p:ext uri="{BB962C8B-B14F-4D97-AF65-F5344CB8AC3E}">
        <p14:creationId xmlns:p14="http://schemas.microsoft.com/office/powerpoint/2010/main" val="8475251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Các component lớp trong React có các phương thức vòng đời cho phép nhà phát triển chạy mã tại các thời điểm cụ thể trong vòng đời của component. Trong các component chức năng, các phương thức vòng đời này được thay thế bằng các hook như `useEffect`.</a:t>
            </a:r>
          </a:p>
          <a:p>
            <a:endParaRPr lang="vi-VN" dirty="0"/>
          </a:p>
          <a:p>
            <a:r>
              <a:rPr lang="vi-VN" dirty="0"/>
              <a:t>Các phương thức vòng đời phổ biến bao gồm:</a:t>
            </a:r>
          </a:p>
          <a:p>
            <a:r>
              <a:rPr lang="vi-VN" dirty="0"/>
              <a:t>`componentDidMount()`</a:t>
            </a:r>
          </a:p>
          <a:p>
            <a:r>
              <a:rPr lang="vi-VN" dirty="0"/>
              <a:t>`componentDidUpdate()`</a:t>
            </a:r>
          </a:p>
          <a:p>
            <a:r>
              <a:rPr lang="vi-VN" dirty="0"/>
              <a:t>`componentWillUnmount()`</a:t>
            </a:r>
          </a:p>
          <a:p>
            <a:r>
              <a:rPr lang="vi-VN" dirty="0"/>
              <a:t>`useEffect()` đối với các component chức năng.</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23</a:t>
            </a:fld>
            <a:endParaRPr lang="en-US"/>
          </a:p>
        </p:txBody>
      </p:sp>
    </p:spTree>
    <p:extLst>
      <p:ext uri="{BB962C8B-B14F-4D97-AF65-F5344CB8AC3E}">
        <p14:creationId xmlns:p14="http://schemas.microsoft.com/office/powerpoint/2010/main" val="20933880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Hooks cho phép bạn "kết nối" với các tính năng của React như state, các phương thức vòng đời và context trong các functional component. Các hook phổ biến bao gồm:</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24</a:t>
            </a:fld>
            <a:endParaRPr lang="en-US"/>
          </a:p>
        </p:txBody>
      </p:sp>
    </p:spTree>
    <p:extLst>
      <p:ext uri="{BB962C8B-B14F-4D97-AF65-F5344CB8AC3E}">
        <p14:creationId xmlns:p14="http://schemas.microsoft.com/office/powerpoint/2010/main" val="3959331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 Context </a:t>
            </a:r>
            <a:r>
              <a:rPr lang="en-US" dirty="0" err="1"/>
              <a:t>cung</a:t>
            </a:r>
            <a:r>
              <a:rPr lang="en-US" dirty="0"/>
              <a:t> </a:t>
            </a:r>
            <a:r>
              <a:rPr lang="en-US" dirty="0" err="1"/>
              <a:t>cấp</a:t>
            </a:r>
            <a:r>
              <a:rPr lang="en-US" dirty="0"/>
              <a:t> </a:t>
            </a:r>
            <a:r>
              <a:rPr lang="en-US" dirty="0" err="1"/>
              <a:t>một</a:t>
            </a:r>
            <a:r>
              <a:rPr lang="en-US" dirty="0"/>
              <a:t> </a:t>
            </a:r>
            <a:r>
              <a:rPr lang="en-US" dirty="0" err="1"/>
              <a:t>cách</a:t>
            </a:r>
            <a:r>
              <a:rPr lang="en-US" dirty="0"/>
              <a:t> </a:t>
            </a:r>
            <a:r>
              <a:rPr lang="en-US" dirty="0" err="1"/>
              <a:t>để</a:t>
            </a:r>
            <a:r>
              <a:rPr lang="en-US" dirty="0"/>
              <a:t> </a:t>
            </a:r>
            <a:r>
              <a:rPr lang="en-US" dirty="0" err="1"/>
              <a:t>truyền</a:t>
            </a:r>
            <a:r>
              <a:rPr lang="en-US" dirty="0"/>
              <a:t> </a:t>
            </a:r>
            <a:r>
              <a:rPr lang="en-US" dirty="0" err="1"/>
              <a:t>dữ</a:t>
            </a:r>
            <a:r>
              <a:rPr lang="en-US" dirty="0"/>
              <a:t> </a:t>
            </a:r>
            <a:r>
              <a:rPr lang="en-US" dirty="0" err="1"/>
              <a:t>liệu</a:t>
            </a:r>
            <a:r>
              <a:rPr lang="en-US" dirty="0"/>
              <a:t> </a:t>
            </a:r>
            <a:r>
              <a:rPr lang="en-US" dirty="0" err="1"/>
              <a:t>xuyên</a:t>
            </a:r>
            <a:r>
              <a:rPr lang="en-US" dirty="0"/>
              <a:t> </a:t>
            </a:r>
            <a:r>
              <a:rPr lang="en-US" dirty="0" err="1"/>
              <a:t>suốt</a:t>
            </a:r>
            <a:r>
              <a:rPr lang="en-US" dirty="0"/>
              <a:t> </a:t>
            </a:r>
            <a:r>
              <a:rPr lang="en-US" dirty="0" err="1"/>
              <a:t>cây</a:t>
            </a:r>
            <a:r>
              <a:rPr lang="en-US" dirty="0"/>
              <a:t> </a:t>
            </a:r>
            <a:r>
              <a:rPr lang="en-US" dirty="0" err="1"/>
              <a:t>thành</a:t>
            </a:r>
            <a:r>
              <a:rPr lang="en-US" dirty="0"/>
              <a:t> </a:t>
            </a:r>
            <a:r>
              <a:rPr lang="en-US" dirty="0" err="1"/>
              <a:t>phần</a:t>
            </a:r>
            <a:r>
              <a:rPr lang="en-US" dirty="0"/>
              <a:t> </a:t>
            </a:r>
            <a:r>
              <a:rPr lang="en-US" dirty="0" err="1"/>
              <a:t>mà</a:t>
            </a:r>
            <a:r>
              <a:rPr lang="en-US" dirty="0"/>
              <a:t> </a:t>
            </a:r>
            <a:r>
              <a:rPr lang="en-US" dirty="0" err="1"/>
              <a:t>không</a:t>
            </a:r>
            <a:r>
              <a:rPr lang="en-US" dirty="0"/>
              <a:t> </a:t>
            </a:r>
            <a:r>
              <a:rPr lang="en-US" dirty="0" err="1"/>
              <a:t>cần</a:t>
            </a:r>
            <a:r>
              <a:rPr lang="en-US" dirty="0"/>
              <a:t> </a:t>
            </a:r>
            <a:r>
              <a:rPr lang="en-US" dirty="0" err="1"/>
              <a:t>phải</a:t>
            </a:r>
            <a:r>
              <a:rPr lang="en-US" dirty="0"/>
              <a:t> </a:t>
            </a:r>
            <a:r>
              <a:rPr lang="en-US" dirty="0" err="1"/>
              <a:t>tự</a:t>
            </a:r>
            <a:r>
              <a:rPr lang="en-US" dirty="0"/>
              <a:t> </a:t>
            </a:r>
            <a:r>
              <a:rPr lang="en-US" dirty="0" err="1"/>
              <a:t>tay</a:t>
            </a:r>
            <a:r>
              <a:rPr lang="en-US" dirty="0"/>
              <a:t> </a:t>
            </a:r>
            <a:r>
              <a:rPr lang="en-US" dirty="0" err="1"/>
              <a:t>truyền</a:t>
            </a:r>
            <a:r>
              <a:rPr lang="en-US" dirty="0"/>
              <a:t> </a:t>
            </a:r>
            <a:r>
              <a:rPr lang="en-US" dirty="0" err="1"/>
              <a:t>các</a:t>
            </a:r>
            <a:r>
              <a:rPr lang="en-US" dirty="0"/>
              <a:t> props </a:t>
            </a:r>
            <a:r>
              <a:rPr lang="en-US" dirty="0" err="1"/>
              <a:t>xuống</a:t>
            </a:r>
            <a:r>
              <a:rPr lang="en-US" dirty="0"/>
              <a:t> ở </a:t>
            </a:r>
            <a:r>
              <a:rPr lang="en-US" dirty="0" err="1"/>
              <a:t>từng</a:t>
            </a:r>
            <a:r>
              <a:rPr lang="en-US" dirty="0"/>
              <a:t> </a:t>
            </a:r>
            <a:r>
              <a:rPr lang="en-US" dirty="0" err="1"/>
              <a:t>cấp</a:t>
            </a:r>
            <a:r>
              <a:rPr lang="en-US" dirty="0"/>
              <a:t> </a:t>
            </a:r>
            <a:r>
              <a:rPr lang="en-US" dirty="0" err="1"/>
              <a:t>độ</a:t>
            </a:r>
            <a:r>
              <a:rPr lang="en-US" dirty="0"/>
              <a:t>.</a:t>
            </a:r>
          </a:p>
          <a:p>
            <a:r>
              <a:rPr lang="vi-VN" dirty="0"/>
              <a:t>Nó đặc biệt hữu ích cho việc quản lý trạng thái toàn cục, chẳng hạn như giao diện hoặc trạng thái xác thực người dùng.</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25</a:t>
            </a:fld>
            <a:endParaRPr lang="en-US"/>
          </a:p>
        </p:txBody>
      </p:sp>
    </p:spTree>
    <p:extLst>
      <p:ext uri="{BB962C8B-B14F-4D97-AF65-F5344CB8AC3E}">
        <p14:creationId xmlns:p14="http://schemas.microsoft.com/office/powerpoint/2010/main" val="20774733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React DevTools là một tiện ích mở rộng trình duyệt cho phép các nhà phát triển kiểm tra và gỡ lỗi các ứng dụng React.</a:t>
            </a:r>
          </a:p>
          <a:p>
            <a:endParaRPr lang="vi-VN" dirty="0"/>
          </a:p>
          <a:p>
            <a:r>
              <a:rPr lang="vi-VN" dirty="0"/>
              <a:t>Nó cung cấp các tính năng như kiểm tra cây thành phần, xem props và state, và đo lường hiệu suất của thành phần.</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26</a:t>
            </a:fld>
            <a:endParaRPr lang="en-US"/>
          </a:p>
        </p:txBody>
      </p:sp>
    </p:spTree>
    <p:extLst>
      <p:ext uri="{BB962C8B-B14F-4D97-AF65-F5344CB8AC3E}">
        <p14:creationId xmlns:p14="http://schemas.microsoft.com/office/powerpoint/2010/main" val="5380958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Do đó, các dự án React yêu cầu:</a:t>
            </a:r>
          </a:p>
          <a:p>
            <a:r>
              <a:rPr lang="vi-VN" dirty="0"/>
              <a:t>Biên dịch → chuyển đổi cú pháp hiện đại thành JavaScript tương thích với trình duyệt</a:t>
            </a:r>
          </a:p>
          <a:p>
            <a:r>
              <a:rPr lang="vi-VN" dirty="0"/>
              <a:t>Đóng gói → kết hợp nhiều tệp thành các gói được tối ưu hóa</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27</a:t>
            </a:fld>
            <a:endParaRPr lang="en-US"/>
          </a:p>
        </p:txBody>
      </p:sp>
    </p:spTree>
    <p:extLst>
      <p:ext uri="{BB962C8B-B14F-4D97-AF65-F5344CB8AC3E}">
        <p14:creationId xmlns:p14="http://schemas.microsoft.com/office/powerpoint/2010/main" val="13793681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Đóng</a:t>
            </a:r>
            <a:r>
              <a:rPr lang="en-US" dirty="0"/>
              <a:t> </a:t>
            </a:r>
            <a:r>
              <a:rPr lang="en-US" dirty="0" err="1"/>
              <a:t>gói</a:t>
            </a:r>
            <a:r>
              <a:rPr lang="en-US" dirty="0"/>
              <a:t> </a:t>
            </a:r>
            <a:r>
              <a:rPr lang="en-US" dirty="0" err="1"/>
              <a:t>và</a:t>
            </a:r>
            <a:r>
              <a:rPr lang="en-US" dirty="0"/>
              <a:t> </a:t>
            </a:r>
            <a:r>
              <a:rPr lang="en-US" dirty="0" err="1"/>
              <a:t>biên</a:t>
            </a:r>
            <a:r>
              <a:rPr lang="en-US" dirty="0"/>
              <a:t> </a:t>
            </a:r>
            <a:r>
              <a:rPr lang="en-US" dirty="0" err="1"/>
              <a:t>soạn</a:t>
            </a:r>
            <a:endParaRPr lang="en-US" dirty="0"/>
          </a:p>
          <a:p>
            <a:r>
              <a:rPr lang="vi-VN" dirty="0"/>
              <a:t>Các ứng dụng React thường được đóng gói bằng các công cụ như Webpack hoặc Vite. Mã JSX được biên dịch thành JavaScript trong quá trình xây dựng, và các tính năng ES6+ được chuyển đổi thành JavaScript tương thích bằng Babel.</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28</a:t>
            </a:fld>
            <a:endParaRPr lang="en-US"/>
          </a:p>
        </p:txBody>
      </p:sp>
    </p:spTree>
    <p:extLst>
      <p:ext uri="{BB962C8B-B14F-4D97-AF65-F5344CB8AC3E}">
        <p14:creationId xmlns:p14="http://schemas.microsoft.com/office/powerpoint/2010/main" val="36250843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Mặc dù bản thân React không cung cấp giải pháp quản lý trạng thái tích hợp sẵn cho các ứng dụng lớn, nhưng Redux thường được sử dụng trong các ứng dụng React quy mô lớn để quản lý trạng thái toàn cục.</a:t>
            </a:r>
          </a:p>
          <a:p>
            <a:endParaRPr lang="vi-VN" dirty="0"/>
          </a:p>
          <a:p>
            <a:r>
              <a:rPr lang="vi-VN" dirty="0"/>
              <a:t>Nó sử dụng một cây trạng thái bất biến duy nhất và cho phép cập nhật trạng thái có thể dự đoán được thông qua các action và reducer.</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29</a:t>
            </a:fld>
            <a:endParaRPr lang="en-US"/>
          </a:p>
        </p:txBody>
      </p:sp>
    </p:spTree>
    <p:extLst>
      <p:ext uri="{BB962C8B-B14F-4D97-AF65-F5344CB8AC3E}">
        <p14:creationId xmlns:p14="http://schemas.microsoft.com/office/powerpoint/2010/main" val="29392960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Node.js </a:t>
            </a:r>
            <a:r>
              <a:rPr lang="en-US" dirty="0" err="1"/>
              <a:t>rất</a:t>
            </a:r>
            <a:r>
              <a:rPr lang="en-US" dirty="0"/>
              <a:t> </a:t>
            </a:r>
            <a:r>
              <a:rPr lang="en-US" dirty="0" err="1"/>
              <a:t>cần</a:t>
            </a:r>
            <a:r>
              <a:rPr lang="en-US" dirty="0"/>
              <a:t> </a:t>
            </a:r>
            <a:r>
              <a:rPr lang="en-US" dirty="0" err="1"/>
              <a:t>thiết</a:t>
            </a:r>
            <a:r>
              <a:rPr lang="en-US" dirty="0"/>
              <a:t> </a:t>
            </a:r>
            <a:r>
              <a:rPr lang="en-US" dirty="0" err="1"/>
              <a:t>vì</a:t>
            </a:r>
            <a:r>
              <a:rPr lang="en-US" dirty="0"/>
              <a:t> </a:t>
            </a:r>
            <a:r>
              <a:rPr lang="en-US" dirty="0" err="1"/>
              <a:t>nó</a:t>
            </a:r>
            <a:r>
              <a:rPr lang="en-US" dirty="0"/>
              <a:t> </a:t>
            </a:r>
            <a:r>
              <a:rPr lang="en-US" dirty="0" err="1"/>
              <a:t>chạy</a:t>
            </a:r>
            <a:r>
              <a:rPr lang="en-US" dirty="0"/>
              <a:t> </a:t>
            </a:r>
            <a:r>
              <a:rPr lang="en-US" dirty="0" err="1"/>
              <a:t>mã</a:t>
            </a:r>
            <a:r>
              <a:rPr lang="en-US" dirty="0"/>
              <a:t> JavaScript </a:t>
            </a:r>
            <a:r>
              <a:rPr lang="en-US" dirty="0" err="1"/>
              <a:t>bên</a:t>
            </a:r>
            <a:r>
              <a:rPr lang="en-US" dirty="0"/>
              <a:t> </a:t>
            </a:r>
            <a:r>
              <a:rPr lang="en-US" dirty="0" err="1"/>
              <a:t>ngoài</a:t>
            </a:r>
            <a:r>
              <a:rPr lang="en-US" dirty="0"/>
              <a:t> </a:t>
            </a:r>
            <a:r>
              <a:rPr lang="en-US" dirty="0" err="1"/>
              <a:t>trình</a:t>
            </a:r>
            <a:r>
              <a:rPr lang="en-US" dirty="0"/>
              <a:t> </a:t>
            </a:r>
            <a:r>
              <a:rPr lang="en-US" dirty="0" err="1"/>
              <a:t>duyệt</a:t>
            </a:r>
            <a:r>
              <a:rPr lang="en-US" dirty="0"/>
              <a:t>, </a:t>
            </a:r>
            <a:r>
              <a:rPr lang="en-US" dirty="0" err="1"/>
              <a:t>trong</a:t>
            </a:r>
            <a:r>
              <a:rPr lang="en-US" dirty="0"/>
              <a:t> </a:t>
            </a:r>
            <a:r>
              <a:rPr lang="en-US" dirty="0" err="1"/>
              <a:t>khi</a:t>
            </a:r>
            <a:r>
              <a:rPr lang="en-US" dirty="0"/>
              <a:t> NPM </a:t>
            </a:r>
            <a:r>
              <a:rPr lang="en-US" dirty="0" err="1"/>
              <a:t>giúp</a:t>
            </a:r>
            <a:r>
              <a:rPr lang="en-US" dirty="0"/>
              <a:t> </a:t>
            </a:r>
            <a:r>
              <a:rPr lang="en-US" dirty="0" err="1"/>
              <a:t>quản</a:t>
            </a:r>
            <a:r>
              <a:rPr lang="en-US" dirty="0"/>
              <a:t> </a:t>
            </a:r>
            <a:r>
              <a:rPr lang="en-US" dirty="0" err="1"/>
              <a:t>lý</a:t>
            </a:r>
            <a:r>
              <a:rPr lang="en-US" dirty="0"/>
              <a:t> </a:t>
            </a:r>
            <a:r>
              <a:rPr lang="en-US" dirty="0" err="1"/>
              <a:t>các</a:t>
            </a:r>
            <a:r>
              <a:rPr lang="en-US" dirty="0"/>
              <a:t> </a:t>
            </a:r>
            <a:r>
              <a:rPr lang="en-US" dirty="0" err="1"/>
              <a:t>gói</a:t>
            </a:r>
            <a:r>
              <a:rPr lang="en-US" dirty="0"/>
              <a:t> </a:t>
            </a:r>
            <a:r>
              <a:rPr lang="en-US" dirty="0" err="1"/>
              <a:t>cần</a:t>
            </a:r>
            <a:r>
              <a:rPr lang="en-US" dirty="0"/>
              <a:t> </a:t>
            </a:r>
            <a:r>
              <a:rPr lang="en-US" dirty="0" err="1"/>
              <a:t>thiết</a:t>
            </a:r>
            <a:r>
              <a:rPr lang="en-US" dirty="0"/>
              <a:t> </a:t>
            </a:r>
            <a:r>
              <a:rPr lang="en-US" dirty="0" err="1"/>
              <a:t>cho</a:t>
            </a:r>
            <a:r>
              <a:rPr lang="en-US" dirty="0"/>
              <a:t> </a:t>
            </a:r>
            <a:r>
              <a:rPr lang="en-US" dirty="0" err="1"/>
              <a:t>các</a:t>
            </a:r>
            <a:r>
              <a:rPr lang="en-US" dirty="0"/>
              <a:t> </a:t>
            </a:r>
            <a:r>
              <a:rPr lang="en-US" dirty="0" err="1"/>
              <a:t>dự</a:t>
            </a:r>
            <a:r>
              <a:rPr lang="en-US" dirty="0"/>
              <a:t> </a:t>
            </a:r>
            <a:r>
              <a:rPr lang="en-US" dirty="0" err="1"/>
              <a:t>án</a:t>
            </a:r>
            <a:r>
              <a:rPr lang="en-US" dirty="0"/>
              <a:t> </a:t>
            </a:r>
            <a:r>
              <a:rPr lang="en-US" dirty="0" err="1"/>
              <a:t>của</a:t>
            </a:r>
            <a:r>
              <a:rPr lang="en-US" dirty="0"/>
              <a:t> </a:t>
            </a:r>
            <a:r>
              <a:rPr lang="en-US" dirty="0" err="1"/>
              <a:t>bạn</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44</a:t>
            </a:fld>
            <a:endParaRPr lang="en-US"/>
          </a:p>
        </p:txBody>
      </p:sp>
    </p:spTree>
    <p:extLst>
      <p:ext uri="{BB962C8B-B14F-4D97-AF65-F5344CB8AC3E}">
        <p14:creationId xmlns:p14="http://schemas.microsoft.com/office/powerpoint/2010/main" val="26468445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2"/>
            <a:r>
              <a:rPr lang="en-US" sz="1200" b="1" dirty="0"/>
              <a:t>Node.js </a:t>
            </a:r>
            <a:r>
              <a:rPr lang="en-US" sz="1200" dirty="0"/>
              <a:t>is a runtime that allows you to run JavaScript code.</a:t>
            </a:r>
          </a:p>
          <a:p>
            <a:pPr lvl="2"/>
            <a:r>
              <a:rPr lang="en-US" sz="1200" b="1" dirty="0" err="1"/>
              <a:t>npm</a:t>
            </a:r>
            <a:r>
              <a:rPr lang="en-US" sz="1200" dirty="0"/>
              <a:t> is the package manager for </a:t>
            </a:r>
            <a:r>
              <a:rPr lang="en-US" sz="1200" b="1" dirty="0"/>
              <a:t>Node.js</a:t>
            </a:r>
            <a:r>
              <a:rPr lang="en-US" sz="1200" dirty="0"/>
              <a:t>, which helps install and manage libraries.</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45</a:t>
            </a:fld>
            <a:endParaRPr lang="en-US"/>
          </a:p>
        </p:txBody>
      </p:sp>
    </p:spTree>
    <p:extLst>
      <p:ext uri="{BB962C8B-B14F-4D97-AF65-F5344CB8AC3E}">
        <p14:creationId xmlns:p14="http://schemas.microsoft.com/office/powerpoint/2010/main" val="42857028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49</a:t>
            </a:fld>
            <a:endParaRPr lang="en-US"/>
          </a:p>
        </p:txBody>
      </p:sp>
    </p:spTree>
    <p:extLst>
      <p:ext uri="{BB962C8B-B14F-4D97-AF65-F5344CB8AC3E}">
        <p14:creationId xmlns:p14="http://schemas.microsoft.com/office/powerpoint/2010/main" val="6950062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53</a:t>
            </a:fld>
            <a:endParaRPr lang="en-US"/>
          </a:p>
        </p:txBody>
      </p:sp>
    </p:spTree>
    <p:extLst>
      <p:ext uri="{BB962C8B-B14F-4D97-AF65-F5344CB8AC3E}">
        <p14:creationId xmlns:p14="http://schemas.microsoft.com/office/powerpoint/2010/main" val="77807858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1/4/2026</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a:p>
        </p:txBody>
      </p:sp>
    </p:spTree>
    <p:extLst>
      <p:ext uri="{BB962C8B-B14F-4D97-AF65-F5344CB8AC3E}">
        <p14:creationId xmlns:p14="http://schemas.microsoft.com/office/powerpoint/2010/main" val="1659756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1/4/2026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86876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a:t>Click icon to add picture</a:t>
            </a: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673943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t>1/4/2026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602678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1/4/2026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527791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t>1/4/2026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971016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t>1/4/2026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1758111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t>1/4/2026</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02416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1/4/2026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69764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5" name="Date Placeholder 4"/>
          <p:cNvSpPr>
            <a:spLocks noGrp="1"/>
          </p:cNvSpPr>
          <p:nvPr>
            <p:ph type="dt" sz="half" idx="10"/>
          </p:nvPr>
        </p:nvSpPr>
        <p:spPr/>
        <p:txBody>
          <a:bodyPr/>
          <a:lstStyle/>
          <a:p>
            <a:fld id="{402B9795-92DC-40DC-A1CA-9A4B349D7824}" type="datetimeFigureOut">
              <a:rPr lang="en-US"/>
              <a:t>1/4/2026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769637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1/4/2026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20120767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1/4/2026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C38A3-49C8-3939-5514-DFD2197B09C6}"/>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A321ED9C-3F93-0473-3127-832B687404A4}"/>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B5189B-B69D-2360-30B6-5EAF8AC927B2}"/>
              </a:ext>
            </a:extLst>
          </p:cNvPr>
          <p:cNvSpPr>
            <a:spLocks noGrp="1"/>
          </p:cNvSpPr>
          <p:nvPr>
            <p:ph type="dt" sz="half" idx="10"/>
          </p:nvPr>
        </p:nvSpPr>
        <p:spPr/>
        <p:txBody>
          <a:bodyPr/>
          <a:lstStyle/>
          <a:p>
            <a:fld id="{E1A63BDD-BD48-499A-A2D9-DFA08F8444CC}" type="datetimeFigureOut">
              <a:rPr lang="en-US" smtClean="0"/>
              <a:t>1/4/2026</a:t>
            </a:fld>
            <a:endParaRPr lang="en-US"/>
          </a:p>
        </p:txBody>
      </p:sp>
      <p:sp>
        <p:nvSpPr>
          <p:cNvPr id="5" name="Footer Placeholder 4">
            <a:extLst>
              <a:ext uri="{FF2B5EF4-FFF2-40B4-BE49-F238E27FC236}">
                <a16:creationId xmlns:a16="http://schemas.microsoft.com/office/drawing/2014/main" id="{B407A681-DF48-FF54-3802-2680C559B4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5E3943-6181-007B-EE2D-020A388CAD8C}"/>
              </a:ext>
            </a:extLst>
          </p:cNvPr>
          <p:cNvSpPr>
            <a:spLocks noGrp="1"/>
          </p:cNvSpPr>
          <p:nvPr>
            <p:ph type="sldNum" sz="quarter" idx="12"/>
          </p:nvPr>
        </p:nvSpPr>
        <p:spPr/>
        <p:txBody>
          <a:bodyPr/>
          <a:lstStyle/>
          <a:p>
            <a:fld id="{C6629478-052B-42EB-8DB9-04044E8495EC}" type="slidenum">
              <a:rPr lang="en-US" smtClean="0"/>
              <a:t>‹#›</a:t>
            </a:fld>
            <a:endParaRPr lang="en-US"/>
          </a:p>
        </p:txBody>
      </p:sp>
    </p:spTree>
    <p:extLst>
      <p:ext uri="{BB962C8B-B14F-4D97-AF65-F5344CB8AC3E}">
        <p14:creationId xmlns:p14="http://schemas.microsoft.com/office/powerpoint/2010/main" val="266372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1/4/2026</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800"/>
        </a:spcBef>
        <a:buFont typeface="Wingdings" panose="05000000000000000000"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600"/>
        </a:spcBef>
        <a:buFont typeface="Wingdings" panose="05000000000000000000" pitchFamily="2" charset="2"/>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600"/>
        </a:spcBef>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6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100000"/>
        </a:lnSpc>
        <a:spcBef>
          <a:spcPts val="6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tm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image" Target="../media/image5.tmp"/><Relationship Id="rId1" Type="http://schemas.openxmlformats.org/officeDocument/2006/relationships/slideLayout" Target="../slideLayouts/slideLayout13.xml"/><Relationship Id="rId4" Type="http://schemas.openxmlformats.org/officeDocument/2006/relationships/image" Target="../media/image7.tmp"/></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image" Target="../media/image12.tmp"/><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17.tmp"/><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image" Target="../media/image22.tmp"/><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hyperlink" Target="http://localhost:3000/" TargetMode="Externa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24.tmp"/><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25.tmp"/><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27.tmp"/><Relationship Id="rId2" Type="http://schemas.openxmlformats.org/officeDocument/2006/relationships/image" Target="../media/image26.tmp"/><Relationship Id="rId1" Type="http://schemas.openxmlformats.org/officeDocument/2006/relationships/slideLayout" Target="../slideLayouts/slideLayout13.xml"/><Relationship Id="rId4" Type="http://schemas.openxmlformats.org/officeDocument/2006/relationships/image" Target="../media/image28.tmp"/></Relationships>
</file>

<file path=ppt/slides/_rels/slide53.xml.rels><?xml version="1.0" encoding="UTF-8" standalone="yes"?>
<Relationships xmlns="http://schemas.openxmlformats.org/package/2006/relationships"><Relationship Id="rId3" Type="http://schemas.openxmlformats.org/officeDocument/2006/relationships/image" Target="../media/image29.tmp"/><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1104900" y="4511784"/>
            <a:ext cx="5734050" cy="955565"/>
          </a:xfrm>
        </p:spPr>
        <p:txBody>
          <a:bodyPr/>
          <a:lstStyle/>
          <a:p>
            <a:r>
              <a:rPr lang="en-US" dirty="0" err="1"/>
              <a:t>Giảng</a:t>
            </a:r>
            <a:r>
              <a:rPr lang="en-US" dirty="0"/>
              <a:t> </a:t>
            </a:r>
            <a:r>
              <a:rPr lang="en-US" dirty="0" err="1"/>
              <a:t>viên</a:t>
            </a:r>
            <a:r>
              <a:rPr lang="en-US" dirty="0"/>
              <a:t>: </a:t>
            </a:r>
            <a:r>
              <a:rPr lang="en-US" dirty="0" err="1"/>
              <a:t>Từ</a:t>
            </a:r>
            <a:r>
              <a:rPr lang="en-US" dirty="0"/>
              <a:t> </a:t>
            </a:r>
            <a:r>
              <a:rPr lang="en-US" dirty="0" err="1"/>
              <a:t>Thị</a:t>
            </a:r>
            <a:r>
              <a:rPr lang="en-US" dirty="0"/>
              <a:t> Xuân </a:t>
            </a:r>
            <a:r>
              <a:rPr lang="en-US" dirty="0" err="1"/>
              <a:t>Hiền</a:t>
            </a:r>
            <a:endParaRPr lang="en-US" dirty="0"/>
          </a:p>
        </p:txBody>
      </p:sp>
      <p:pic>
        <p:nvPicPr>
          <p:cNvPr id="4" name="Picture Placeholder 3" descr="Open book on table, blurred shelves of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5" r="8895"/>
          <a:stretch/>
        </p:blipFill>
        <p:spPr>
          <a:xfrm>
            <a:off x="6838950" y="1324698"/>
            <a:ext cx="5210937" cy="4208604"/>
          </a:xfrm>
        </p:spPr>
      </p:pic>
      <p:grpSp>
        <p:nvGrpSpPr>
          <p:cNvPr id="15" name="Group 14">
            <a:extLst>
              <a:ext uri="{FF2B5EF4-FFF2-40B4-BE49-F238E27FC236}">
                <a16:creationId xmlns:a16="http://schemas.microsoft.com/office/drawing/2014/main" id="{4D51ED84-5E96-E622-252E-09B155E63681}"/>
              </a:ext>
            </a:extLst>
          </p:cNvPr>
          <p:cNvGrpSpPr/>
          <p:nvPr/>
        </p:nvGrpSpPr>
        <p:grpSpPr>
          <a:xfrm>
            <a:off x="1049126" y="2961459"/>
            <a:ext cx="10685676" cy="1158240"/>
            <a:chOff x="871701" y="2743096"/>
            <a:chExt cx="5479484" cy="1158240"/>
          </a:xfrm>
          <a:effectLst>
            <a:reflection blurRad="6350" stA="52000" endA="300" endPos="35000" dir="5400000" sy="-100000" algn="bl" rotWithShape="0"/>
          </a:effectLst>
        </p:grpSpPr>
        <p:pic>
          <p:nvPicPr>
            <p:cNvPr id="13" name="Picture 12">
              <a:extLst>
                <a:ext uri="{FF2B5EF4-FFF2-40B4-BE49-F238E27FC236}">
                  <a16:creationId xmlns:a16="http://schemas.microsoft.com/office/drawing/2014/main" id="{52914BAE-8E30-A092-0C7D-8302CE2CB145}"/>
                </a:ext>
              </a:extLst>
            </p:cNvPr>
            <p:cNvPicPr>
              <a:picLocks noChangeAspect="1"/>
            </p:cNvPicPr>
            <p:nvPr/>
          </p:nvPicPr>
          <p:blipFill>
            <a:blip r:embed="rId4">
              <a:extLst>
                <a:ext uri="{28A0092B-C50C-407E-A947-70E740481C1C}">
                  <a14:useLocalDpi xmlns:a14="http://schemas.microsoft.com/office/drawing/2010/main" val="0"/>
                </a:ext>
              </a:extLst>
            </a:blip>
            <a:srcRect l="21349" r="19027" b="24624"/>
            <a:stretch/>
          </p:blipFill>
          <p:spPr>
            <a:xfrm>
              <a:off x="871701" y="2743096"/>
              <a:ext cx="855611" cy="1158240"/>
            </a:xfrm>
            <a:prstGeom prst="rect">
              <a:avLst/>
            </a:prstGeom>
          </p:spPr>
        </p:pic>
        <p:sp>
          <p:nvSpPr>
            <p:cNvPr id="14" name="Rectangle 13">
              <a:extLst>
                <a:ext uri="{FF2B5EF4-FFF2-40B4-BE49-F238E27FC236}">
                  <a16:creationId xmlns:a16="http://schemas.microsoft.com/office/drawing/2014/main" id="{D4251CA6-DC4D-3BE8-EB98-667D80B71479}"/>
                </a:ext>
              </a:extLst>
            </p:cNvPr>
            <p:cNvSpPr/>
            <p:nvPr/>
          </p:nvSpPr>
          <p:spPr>
            <a:xfrm>
              <a:off x="1727313" y="2743096"/>
              <a:ext cx="4623872" cy="1154162"/>
            </a:xfrm>
            <a:prstGeom prst="rect">
              <a:avLst/>
            </a:prstGeom>
            <a:solidFill>
              <a:schemeClr val="tx2"/>
            </a:solidFill>
          </p:spPr>
          <p:txBody>
            <a:bodyPr wrap="square" lIns="91440" tIns="45720" rIns="91440" bIns="45720">
              <a:spAutoFit/>
            </a:bodyPr>
            <a:lstStyle/>
            <a:p>
              <a:pPr algn="ctr"/>
              <a:r>
                <a:rPr lang="en-US" sz="69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Arial Black" panose="020B0A04020102020204" pitchFamily="34" charset="0"/>
                </a:rPr>
                <a:t>What is React JS?</a:t>
              </a:r>
            </a:p>
          </p:txBody>
        </p:sp>
      </p:grpSp>
      <p:sp>
        <p:nvSpPr>
          <p:cNvPr id="3" name="TextBox 2">
            <a:extLst>
              <a:ext uri="{FF2B5EF4-FFF2-40B4-BE49-F238E27FC236}">
                <a16:creationId xmlns:a16="http://schemas.microsoft.com/office/drawing/2014/main" id="{80DE8CD9-2E72-C566-A936-6D0F5F7A0B23}"/>
              </a:ext>
            </a:extLst>
          </p:cNvPr>
          <p:cNvSpPr txBox="1"/>
          <p:nvPr/>
        </p:nvSpPr>
        <p:spPr>
          <a:xfrm>
            <a:off x="3337560" y="2149797"/>
            <a:ext cx="4312920" cy="830997"/>
          </a:xfrm>
          <a:prstGeom prst="rect">
            <a:avLst/>
          </a:prstGeom>
          <a:noFill/>
        </p:spPr>
        <p:txBody>
          <a:bodyPr wrap="square">
            <a:spAutoFit/>
          </a:bodyPr>
          <a:lstStyle/>
          <a:p>
            <a:r>
              <a:rPr lang="en-US" sz="4800" b="1" cap="none" spc="50" dirty="0">
                <a:ln w="9525" cmpd="sng">
                  <a:solidFill>
                    <a:schemeClr val="accent1"/>
                  </a:solidFill>
                  <a:prstDash val="solid"/>
                </a:ln>
                <a:solidFill>
                  <a:sysClr val="windowText" lastClr="000000"/>
                </a:solidFill>
                <a:effectLst>
                  <a:glow rad="38100">
                    <a:schemeClr val="accent1">
                      <a:alpha val="40000"/>
                    </a:schemeClr>
                  </a:glow>
                </a:effectLst>
                <a:latin typeface="Arial Black" panose="020B0A04020102020204" pitchFamily="34" charset="0"/>
              </a:rPr>
              <a:t>Chapter 1</a:t>
            </a:r>
            <a:endParaRPr lang="en-US" sz="4800" dirty="0">
              <a:solidFill>
                <a:sysClr val="windowText" lastClr="000000"/>
              </a:solidFill>
            </a:endParaRPr>
          </a:p>
        </p:txBody>
      </p:sp>
    </p:spTree>
    <p:extLst>
      <p:ext uri="{BB962C8B-B14F-4D97-AF65-F5344CB8AC3E}">
        <p14:creationId xmlns:p14="http://schemas.microsoft.com/office/powerpoint/2010/main" val="1652133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8389C-CD20-18AB-5646-69156F8A604B}"/>
              </a:ext>
            </a:extLst>
          </p:cNvPr>
          <p:cNvSpPr>
            <a:spLocks noGrp="1"/>
          </p:cNvSpPr>
          <p:nvPr>
            <p:ph type="title"/>
          </p:nvPr>
        </p:nvSpPr>
        <p:spPr>
          <a:xfrm>
            <a:off x="1104900" y="76200"/>
            <a:ext cx="9980682" cy="1096962"/>
          </a:xfrm>
        </p:spPr>
        <p:txBody>
          <a:bodyPr/>
          <a:lstStyle/>
          <a:p>
            <a:r>
              <a:rPr lang="en-US" b="1" dirty="0">
                <a:solidFill>
                  <a:schemeClr val="tx2"/>
                </a:solidFill>
              </a:rPr>
              <a:t>What is React JS?</a:t>
            </a:r>
            <a:endParaRPr lang="en-US" dirty="0">
              <a:solidFill>
                <a:schemeClr val="tx2"/>
              </a:solidFill>
            </a:endParaRPr>
          </a:p>
        </p:txBody>
      </p:sp>
      <p:sp>
        <p:nvSpPr>
          <p:cNvPr id="3" name="Text Placeholder 2">
            <a:extLst>
              <a:ext uri="{FF2B5EF4-FFF2-40B4-BE49-F238E27FC236}">
                <a16:creationId xmlns:a16="http://schemas.microsoft.com/office/drawing/2014/main" id="{2B7AAA26-6625-CD8B-D079-A1A705B3466F}"/>
              </a:ext>
            </a:extLst>
          </p:cNvPr>
          <p:cNvSpPr>
            <a:spLocks noGrp="1"/>
          </p:cNvSpPr>
          <p:nvPr>
            <p:ph type="body" idx="1"/>
          </p:nvPr>
        </p:nvSpPr>
        <p:spPr>
          <a:xfrm>
            <a:off x="1104900" y="1600200"/>
            <a:ext cx="9982200" cy="4572000"/>
          </a:xfrm>
        </p:spPr>
        <p:txBody>
          <a:bodyPr>
            <a:normAutofit/>
          </a:bodyPr>
          <a:lstStyle/>
          <a:p>
            <a:r>
              <a:rPr lang="en-US" dirty="0"/>
              <a:t>React is a free and open-source front-end JavaScript library for building user interfaces (UIs) on the web. </a:t>
            </a:r>
          </a:p>
          <a:p>
            <a:r>
              <a:rPr lang="en-US" dirty="0"/>
              <a:t>React is a declarative, </a:t>
            </a:r>
            <a:r>
              <a:rPr lang="en-US" b="1" dirty="0"/>
              <a:t>component-based</a:t>
            </a:r>
            <a:r>
              <a:rPr lang="en-US" dirty="0"/>
              <a:t> library that allows developers to build reusable UI components and It follows the Virtual DOM (Document Object Model) approach, which optimizes rendering performance by minimizing DOM updates. </a:t>
            </a:r>
          </a:p>
          <a:p>
            <a:r>
              <a:rPr lang="en-US" dirty="0"/>
              <a:t>React is fast and works well with other tools and libraries.</a:t>
            </a:r>
          </a:p>
        </p:txBody>
      </p:sp>
    </p:spTree>
    <p:extLst>
      <p:ext uri="{BB962C8B-B14F-4D97-AF65-F5344CB8AC3E}">
        <p14:creationId xmlns:p14="http://schemas.microsoft.com/office/powerpoint/2010/main" val="102042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983AB-0B7F-4355-B9DC-13C9AA9067D4}"/>
              </a:ext>
            </a:extLst>
          </p:cNvPr>
          <p:cNvSpPr>
            <a:spLocks noGrp="1"/>
          </p:cNvSpPr>
          <p:nvPr>
            <p:ph type="title"/>
          </p:nvPr>
        </p:nvSpPr>
        <p:spPr/>
        <p:txBody>
          <a:bodyPr/>
          <a:lstStyle/>
          <a:p>
            <a:r>
              <a:rPr lang="en-US" b="1" dirty="0">
                <a:solidFill>
                  <a:schemeClr val="tx2"/>
                </a:solidFill>
              </a:rPr>
              <a:t>Key Features</a:t>
            </a:r>
            <a:endParaRPr lang="en-US" dirty="0">
              <a:solidFill>
                <a:schemeClr val="tx2"/>
              </a:solidFill>
            </a:endParaRPr>
          </a:p>
        </p:txBody>
      </p:sp>
      <p:sp>
        <p:nvSpPr>
          <p:cNvPr id="3" name="Text Placeholder 2">
            <a:extLst>
              <a:ext uri="{FF2B5EF4-FFF2-40B4-BE49-F238E27FC236}">
                <a16:creationId xmlns:a16="http://schemas.microsoft.com/office/drawing/2014/main" id="{35BD6E8C-6A9C-0F4C-A24B-53ED15CC8F1F}"/>
              </a:ext>
            </a:extLst>
          </p:cNvPr>
          <p:cNvSpPr>
            <a:spLocks noGrp="1"/>
          </p:cNvSpPr>
          <p:nvPr>
            <p:ph type="body" idx="1"/>
          </p:nvPr>
        </p:nvSpPr>
        <p:spPr/>
        <p:txBody>
          <a:bodyPr>
            <a:normAutofit fontScale="92500" lnSpcReduction="20000"/>
          </a:bodyPr>
          <a:lstStyle/>
          <a:p>
            <a:r>
              <a:rPr lang="en-US" b="1" dirty="0"/>
              <a:t>Virtual DOM</a:t>
            </a:r>
            <a:r>
              <a:rPr lang="en-US" dirty="0"/>
              <a:t>: Minimizes direct DOM manipulation for faster updates.</a:t>
            </a:r>
          </a:p>
          <a:p>
            <a:r>
              <a:rPr lang="en-US" b="1" dirty="0"/>
              <a:t>JSX (JavaScript XML): </a:t>
            </a:r>
            <a:r>
              <a:rPr lang="en-US" dirty="0"/>
              <a:t>Syntax extension that looks like HTML and integrates seamlessly with JavaScript, making code more readable and structured.</a:t>
            </a:r>
          </a:p>
          <a:p>
            <a:r>
              <a:rPr lang="en-US" b="1" dirty="0"/>
              <a:t>Component-Based Architecture</a:t>
            </a:r>
            <a:r>
              <a:rPr lang="en-US" dirty="0"/>
              <a:t>: Encourages the creation of small, reusable components that can be composed into complex UIs.</a:t>
            </a:r>
          </a:p>
          <a:p>
            <a:r>
              <a:rPr lang="en-US" b="1" dirty="0"/>
              <a:t>Unidirectional Data Flow: </a:t>
            </a:r>
            <a:r>
              <a:rPr lang="en-US" dirty="0"/>
              <a:t>Data flows from parent to child components, making data management predictable and easier to debug.</a:t>
            </a:r>
          </a:p>
        </p:txBody>
      </p:sp>
    </p:spTree>
    <p:extLst>
      <p:ext uri="{BB962C8B-B14F-4D97-AF65-F5344CB8AC3E}">
        <p14:creationId xmlns:p14="http://schemas.microsoft.com/office/powerpoint/2010/main" val="1764593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64B14-90E0-317B-3C62-12EA86EE6C3D}"/>
              </a:ext>
            </a:extLst>
          </p:cNvPr>
          <p:cNvSpPr>
            <a:spLocks noGrp="1"/>
          </p:cNvSpPr>
          <p:nvPr>
            <p:ph type="title"/>
          </p:nvPr>
        </p:nvSpPr>
        <p:spPr/>
        <p:txBody>
          <a:bodyPr/>
          <a:lstStyle/>
          <a:p>
            <a:r>
              <a:rPr lang="en-US" b="1" dirty="0">
                <a:solidFill>
                  <a:schemeClr val="tx2"/>
                </a:solidFill>
              </a:rPr>
              <a:t>Fundamental Concepts</a:t>
            </a:r>
            <a:endParaRPr lang="en-US" dirty="0">
              <a:solidFill>
                <a:schemeClr val="tx2"/>
              </a:solidFill>
            </a:endParaRPr>
          </a:p>
        </p:txBody>
      </p:sp>
      <p:sp>
        <p:nvSpPr>
          <p:cNvPr id="3" name="Text Placeholder 2">
            <a:extLst>
              <a:ext uri="{FF2B5EF4-FFF2-40B4-BE49-F238E27FC236}">
                <a16:creationId xmlns:a16="http://schemas.microsoft.com/office/drawing/2014/main" id="{1E888822-2D44-C56B-D652-206CC5044ACE}"/>
              </a:ext>
            </a:extLst>
          </p:cNvPr>
          <p:cNvSpPr>
            <a:spLocks noGrp="1"/>
          </p:cNvSpPr>
          <p:nvPr>
            <p:ph type="body" idx="1"/>
          </p:nvPr>
        </p:nvSpPr>
        <p:spPr/>
        <p:txBody>
          <a:bodyPr>
            <a:normAutofit fontScale="92500" lnSpcReduction="10000"/>
          </a:bodyPr>
          <a:lstStyle/>
          <a:p>
            <a:r>
              <a:rPr lang="en-US" b="1" dirty="0">
                <a:solidFill>
                  <a:srgbClr val="FF0000"/>
                </a:solidFill>
              </a:rPr>
              <a:t>Components</a:t>
            </a:r>
            <a:r>
              <a:rPr lang="en-US" dirty="0"/>
              <a:t>: Building blocks of a React application, can be functional or class-based.</a:t>
            </a:r>
          </a:p>
          <a:p>
            <a:r>
              <a:rPr lang="en-US" b="1" dirty="0">
                <a:solidFill>
                  <a:srgbClr val="FF0000"/>
                </a:solidFill>
              </a:rPr>
              <a:t>State and Props</a:t>
            </a:r>
            <a:r>
              <a:rPr lang="en-US" dirty="0"/>
              <a:t>: State manages component data, while props are used to pass data from one component to another.</a:t>
            </a:r>
          </a:p>
          <a:p>
            <a:r>
              <a:rPr lang="en-US" b="1" dirty="0">
                <a:solidFill>
                  <a:srgbClr val="FF0000"/>
                </a:solidFill>
              </a:rPr>
              <a:t>Lifecycle Methods</a:t>
            </a:r>
            <a:r>
              <a:rPr lang="en-US" dirty="0"/>
              <a:t>: Class components have lifecycle methods (like </a:t>
            </a:r>
            <a:r>
              <a:rPr lang="en-US" dirty="0" err="1"/>
              <a:t>componentDidMount</a:t>
            </a:r>
            <a:r>
              <a:rPr lang="en-US" dirty="0"/>
              <a:t>, </a:t>
            </a:r>
            <a:r>
              <a:rPr lang="en-US" dirty="0" err="1"/>
              <a:t>componentWillUnmount</a:t>
            </a:r>
            <a:r>
              <a:rPr lang="en-US" dirty="0"/>
              <a:t>) that manage component behavior at different stages.</a:t>
            </a:r>
          </a:p>
          <a:p>
            <a:r>
              <a:rPr lang="en-US" b="1" dirty="0">
                <a:solidFill>
                  <a:srgbClr val="FF0000"/>
                </a:solidFill>
              </a:rPr>
              <a:t>Hooks</a:t>
            </a:r>
            <a:r>
              <a:rPr lang="en-US" dirty="0">
                <a:solidFill>
                  <a:srgbClr val="FF0000"/>
                </a:solidFill>
              </a:rPr>
              <a:t>: </a:t>
            </a:r>
            <a:r>
              <a:rPr lang="en-US" dirty="0"/>
              <a:t>Introduced in React 16.8, hooks (like </a:t>
            </a:r>
            <a:r>
              <a:rPr lang="en-US" dirty="0" err="1"/>
              <a:t>useState</a:t>
            </a:r>
            <a:r>
              <a:rPr lang="en-US" dirty="0"/>
              <a:t>, </a:t>
            </a:r>
            <a:r>
              <a:rPr lang="en-US" dirty="0" err="1"/>
              <a:t>useEffect</a:t>
            </a:r>
            <a:r>
              <a:rPr lang="en-US" dirty="0"/>
              <a:t>) allow functional components to manage state and side effects, making functional components more powerful.</a:t>
            </a:r>
          </a:p>
          <a:p>
            <a:pPr lvl="1"/>
            <a:endParaRPr lang="en-US" dirty="0"/>
          </a:p>
        </p:txBody>
      </p:sp>
    </p:spTree>
    <p:extLst>
      <p:ext uri="{BB962C8B-B14F-4D97-AF65-F5344CB8AC3E}">
        <p14:creationId xmlns:p14="http://schemas.microsoft.com/office/powerpoint/2010/main" val="212284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8389C-CD20-18AB-5646-69156F8A604B}"/>
              </a:ext>
            </a:extLst>
          </p:cNvPr>
          <p:cNvSpPr>
            <a:spLocks noGrp="1"/>
          </p:cNvSpPr>
          <p:nvPr>
            <p:ph type="title"/>
          </p:nvPr>
        </p:nvSpPr>
        <p:spPr>
          <a:xfrm>
            <a:off x="1104900" y="76200"/>
            <a:ext cx="9980682" cy="1096962"/>
          </a:xfrm>
        </p:spPr>
        <p:txBody>
          <a:bodyPr/>
          <a:lstStyle/>
          <a:p>
            <a:r>
              <a:rPr lang="en-US" b="1" dirty="0">
                <a:solidFill>
                  <a:schemeClr val="tx2"/>
                </a:solidFill>
              </a:rPr>
              <a:t>React Native vs. React JS</a:t>
            </a:r>
            <a:endParaRPr lang="en-US" dirty="0">
              <a:solidFill>
                <a:schemeClr val="tx2"/>
              </a:solidFill>
            </a:endParaRPr>
          </a:p>
        </p:txBody>
      </p:sp>
      <p:sp>
        <p:nvSpPr>
          <p:cNvPr id="3" name="Text Placeholder 2">
            <a:extLst>
              <a:ext uri="{FF2B5EF4-FFF2-40B4-BE49-F238E27FC236}">
                <a16:creationId xmlns:a16="http://schemas.microsoft.com/office/drawing/2014/main" id="{2B7AAA26-6625-CD8B-D079-A1A705B3466F}"/>
              </a:ext>
            </a:extLst>
          </p:cNvPr>
          <p:cNvSpPr>
            <a:spLocks noGrp="1"/>
          </p:cNvSpPr>
          <p:nvPr>
            <p:ph type="body" idx="1"/>
          </p:nvPr>
        </p:nvSpPr>
        <p:spPr>
          <a:xfrm>
            <a:off x="1104900" y="1600200"/>
            <a:ext cx="9982200" cy="4572000"/>
          </a:xfrm>
        </p:spPr>
        <p:txBody>
          <a:bodyPr>
            <a:normAutofit/>
          </a:bodyPr>
          <a:lstStyle/>
          <a:p>
            <a:r>
              <a:rPr lang="en-US" b="1" dirty="0"/>
              <a:t>React</a:t>
            </a:r>
            <a:r>
              <a:rPr lang="en-US" dirty="0"/>
              <a:t> and </a:t>
            </a:r>
            <a:r>
              <a:rPr lang="en-US" b="1" dirty="0"/>
              <a:t>React Native </a:t>
            </a:r>
            <a:r>
              <a:rPr lang="en-US" dirty="0"/>
              <a:t>are developed by Facebook.</a:t>
            </a:r>
          </a:p>
          <a:p>
            <a:r>
              <a:rPr lang="en-US" b="1" dirty="0"/>
              <a:t>React Native </a:t>
            </a:r>
            <a:r>
              <a:rPr lang="en-US" dirty="0"/>
              <a:t>is a React JS-based framework for designing mobile apps</a:t>
            </a:r>
          </a:p>
          <a:p>
            <a:pPr lvl="1"/>
            <a:endParaRPr lang="en-US" dirty="0"/>
          </a:p>
        </p:txBody>
      </p:sp>
      <p:graphicFrame>
        <p:nvGraphicFramePr>
          <p:cNvPr id="4" name="Table 3">
            <a:extLst>
              <a:ext uri="{FF2B5EF4-FFF2-40B4-BE49-F238E27FC236}">
                <a16:creationId xmlns:a16="http://schemas.microsoft.com/office/drawing/2014/main" id="{EFA98EC8-58AB-6746-141C-D32016B8D162}"/>
              </a:ext>
            </a:extLst>
          </p:cNvPr>
          <p:cNvGraphicFramePr>
            <a:graphicFrameLocks noGrp="1"/>
          </p:cNvGraphicFramePr>
          <p:nvPr>
            <p:extLst>
              <p:ext uri="{D42A27DB-BD31-4B8C-83A1-F6EECF244321}">
                <p14:modId xmlns:p14="http://schemas.microsoft.com/office/powerpoint/2010/main" val="2214029702"/>
              </p:ext>
            </p:extLst>
          </p:nvPr>
        </p:nvGraphicFramePr>
        <p:xfrm>
          <a:off x="1104898" y="3429000"/>
          <a:ext cx="9980682" cy="3160984"/>
        </p:xfrm>
        <a:graphic>
          <a:graphicData uri="http://schemas.openxmlformats.org/drawingml/2006/table">
            <a:tbl>
              <a:tblPr firstRow="1" firstCol="1" bandRow="1">
                <a:tableStyleId>{5940675A-B579-460E-94D1-54222C63F5DA}</a:tableStyleId>
              </a:tblPr>
              <a:tblGrid>
                <a:gridCol w="4990341">
                  <a:extLst>
                    <a:ext uri="{9D8B030D-6E8A-4147-A177-3AD203B41FA5}">
                      <a16:colId xmlns:a16="http://schemas.microsoft.com/office/drawing/2014/main" val="2141076899"/>
                    </a:ext>
                  </a:extLst>
                </a:gridCol>
                <a:gridCol w="4990341">
                  <a:extLst>
                    <a:ext uri="{9D8B030D-6E8A-4147-A177-3AD203B41FA5}">
                      <a16:colId xmlns:a16="http://schemas.microsoft.com/office/drawing/2014/main" val="427027597"/>
                    </a:ext>
                  </a:extLst>
                </a:gridCol>
              </a:tblGrid>
              <a:tr h="320501">
                <a:tc>
                  <a:txBody>
                    <a:bodyPr/>
                    <a:lstStyle/>
                    <a:p>
                      <a:pPr marL="0" marR="0">
                        <a:lnSpc>
                          <a:spcPct val="107000"/>
                        </a:lnSpc>
                        <a:spcBef>
                          <a:spcPts val="0"/>
                        </a:spcBef>
                        <a:spcAft>
                          <a:spcPts val="0"/>
                        </a:spcAft>
                      </a:pPr>
                      <a:r>
                        <a:rPr lang="en-US" sz="2400" b="1" kern="100" dirty="0">
                          <a:effectLst/>
                        </a:rPr>
                        <a:t>React </a:t>
                      </a:r>
                      <a:r>
                        <a:rPr lang="en-US" sz="2400" b="1" kern="100" dirty="0" err="1">
                          <a:effectLst/>
                        </a:rPr>
                        <a:t>js</a:t>
                      </a:r>
                      <a:endPar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b="1" kern="100" dirty="0">
                          <a:effectLst/>
                        </a:rPr>
                        <a:t>React native</a:t>
                      </a:r>
                      <a:endPar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46050270"/>
                  </a:ext>
                </a:extLst>
              </a:tr>
              <a:tr h="1008543">
                <a:tc>
                  <a:txBody>
                    <a:bodyPr/>
                    <a:lstStyle/>
                    <a:p>
                      <a:pPr marL="0" marR="0">
                        <a:lnSpc>
                          <a:spcPct val="107000"/>
                        </a:lnSpc>
                        <a:spcBef>
                          <a:spcPts val="0"/>
                        </a:spcBef>
                        <a:spcAft>
                          <a:spcPts val="0"/>
                        </a:spcAft>
                      </a:pPr>
                      <a:r>
                        <a:rPr lang="en-US" sz="2000" kern="100">
                          <a:effectLst/>
                        </a:rPr>
                        <a:t>React is a JavaScript library of reusable components designed to create skeletons of apps</a:t>
                      </a:r>
                      <a:endParaRPr lang="en-US"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React Native is designed to build native mobile apps with reusable components.</a:t>
                      </a:r>
                      <a:endParaRPr lang="en-US"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77116031"/>
                  </a:ext>
                </a:extLst>
              </a:tr>
              <a:tr h="831768">
                <a:tc>
                  <a:txBody>
                    <a:bodyPr/>
                    <a:lstStyle/>
                    <a:p>
                      <a:pPr marL="0" marR="0">
                        <a:lnSpc>
                          <a:spcPct val="107000"/>
                        </a:lnSpc>
                        <a:spcBef>
                          <a:spcPts val="0"/>
                        </a:spcBef>
                        <a:spcAft>
                          <a:spcPts val="0"/>
                        </a:spcAft>
                      </a:pPr>
                      <a:r>
                        <a:rPr lang="en-US" sz="2000" kern="100">
                          <a:effectLst/>
                        </a:rPr>
                        <a:t>React is used to build the user interface for web applications</a:t>
                      </a:r>
                      <a:endParaRPr lang="en-US"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React Native is used for developing a mobile application for Android, iOS and Windows.</a:t>
                      </a:r>
                      <a:endParaRPr lang="en-US"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22702080"/>
                  </a:ext>
                </a:extLst>
              </a:tr>
              <a:tr h="831768">
                <a:tc>
                  <a:txBody>
                    <a:bodyPr/>
                    <a:lstStyle/>
                    <a:p>
                      <a:pPr marL="0" marR="0">
                        <a:lnSpc>
                          <a:spcPct val="107000"/>
                        </a:lnSpc>
                        <a:spcBef>
                          <a:spcPts val="0"/>
                        </a:spcBef>
                        <a:spcAft>
                          <a:spcPts val="0"/>
                        </a:spcAft>
                      </a:pPr>
                      <a:r>
                        <a:rPr lang="en-US" sz="2000" kern="100" dirty="0">
                          <a:effectLst/>
                        </a:rPr>
                        <a:t>React utilizes HTML, CSS, and JavaScript to create interactive user interfaces</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dirty="0">
                          <a:effectLst/>
                        </a:rPr>
                        <a:t>React Native utilizes APIs and native UI components to build mobile applications.</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52737157"/>
                  </a:ext>
                </a:extLst>
              </a:tr>
            </a:tbl>
          </a:graphicData>
        </a:graphic>
      </p:graphicFrame>
    </p:spTree>
    <p:extLst>
      <p:ext uri="{BB962C8B-B14F-4D97-AF65-F5344CB8AC3E}">
        <p14:creationId xmlns:p14="http://schemas.microsoft.com/office/powerpoint/2010/main" val="2692442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BA658-56BD-08E9-7BA9-AF3FA71B40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C1E1A5-D83C-EB89-98F4-B110D5FDCCA7}"/>
              </a:ext>
            </a:extLst>
          </p:cNvPr>
          <p:cNvSpPr>
            <a:spLocks noGrp="1"/>
          </p:cNvSpPr>
          <p:nvPr>
            <p:ph type="title"/>
          </p:nvPr>
        </p:nvSpPr>
        <p:spPr>
          <a:xfrm>
            <a:off x="1104900" y="76200"/>
            <a:ext cx="9980682" cy="1096962"/>
          </a:xfrm>
        </p:spPr>
        <p:txBody>
          <a:bodyPr/>
          <a:lstStyle/>
          <a:p>
            <a:r>
              <a:rPr lang="en-US" dirty="0"/>
              <a:t>React Native vs. React JS</a:t>
            </a:r>
          </a:p>
        </p:txBody>
      </p:sp>
      <p:graphicFrame>
        <p:nvGraphicFramePr>
          <p:cNvPr id="4" name="Table 3">
            <a:extLst>
              <a:ext uri="{FF2B5EF4-FFF2-40B4-BE49-F238E27FC236}">
                <a16:creationId xmlns:a16="http://schemas.microsoft.com/office/drawing/2014/main" id="{02AD1998-F02E-DF8D-BE9F-FBAB1CADD980}"/>
              </a:ext>
            </a:extLst>
          </p:cNvPr>
          <p:cNvGraphicFramePr>
            <a:graphicFrameLocks noGrp="1"/>
          </p:cNvGraphicFramePr>
          <p:nvPr>
            <p:extLst>
              <p:ext uri="{D42A27DB-BD31-4B8C-83A1-F6EECF244321}">
                <p14:modId xmlns:p14="http://schemas.microsoft.com/office/powerpoint/2010/main" val="3924957919"/>
              </p:ext>
            </p:extLst>
          </p:nvPr>
        </p:nvGraphicFramePr>
        <p:xfrm>
          <a:off x="1104900" y="1600200"/>
          <a:ext cx="9980682" cy="3337559"/>
        </p:xfrm>
        <a:graphic>
          <a:graphicData uri="http://schemas.openxmlformats.org/drawingml/2006/table">
            <a:tbl>
              <a:tblPr firstRow="1" firstCol="1" bandRow="1">
                <a:tableStyleId>{5940675A-B579-460E-94D1-54222C63F5DA}</a:tableStyleId>
              </a:tblPr>
              <a:tblGrid>
                <a:gridCol w="4945380">
                  <a:extLst>
                    <a:ext uri="{9D8B030D-6E8A-4147-A177-3AD203B41FA5}">
                      <a16:colId xmlns:a16="http://schemas.microsoft.com/office/drawing/2014/main" val="2141076899"/>
                    </a:ext>
                  </a:extLst>
                </a:gridCol>
                <a:gridCol w="5035302">
                  <a:extLst>
                    <a:ext uri="{9D8B030D-6E8A-4147-A177-3AD203B41FA5}">
                      <a16:colId xmlns:a16="http://schemas.microsoft.com/office/drawing/2014/main" val="427027597"/>
                    </a:ext>
                  </a:extLst>
                </a:gridCol>
              </a:tblGrid>
              <a:tr h="409149">
                <a:tc>
                  <a:txBody>
                    <a:bodyPr/>
                    <a:lstStyle/>
                    <a:p>
                      <a:pPr marL="0" marR="0">
                        <a:lnSpc>
                          <a:spcPct val="107000"/>
                        </a:lnSpc>
                        <a:spcBef>
                          <a:spcPts val="0"/>
                        </a:spcBef>
                        <a:spcAft>
                          <a:spcPts val="0"/>
                        </a:spcAft>
                      </a:pPr>
                      <a:r>
                        <a:rPr lang="en-US" sz="2400" b="1" kern="100" dirty="0">
                          <a:effectLst/>
                        </a:rPr>
                        <a:t>React </a:t>
                      </a:r>
                      <a:r>
                        <a:rPr lang="en-US" sz="2400" b="1" kern="100" dirty="0" err="1">
                          <a:effectLst/>
                        </a:rPr>
                        <a:t>js</a:t>
                      </a:r>
                      <a:endPar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b="1" kern="100" dirty="0">
                          <a:effectLst/>
                        </a:rPr>
                        <a:t>React native</a:t>
                      </a:r>
                      <a:endPar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46050270"/>
                  </a:ext>
                </a:extLst>
              </a:tr>
              <a:tr h="927794">
                <a:tc>
                  <a:txBody>
                    <a:bodyPr/>
                    <a:lstStyle/>
                    <a:p>
                      <a:pPr marL="0" marR="0">
                        <a:lnSpc>
                          <a:spcPct val="107000"/>
                        </a:lnSpc>
                        <a:spcBef>
                          <a:spcPts val="0"/>
                        </a:spcBef>
                        <a:spcAft>
                          <a:spcPts val="0"/>
                        </a:spcAft>
                      </a:pPr>
                      <a:r>
                        <a:rPr lang="en-US" sz="2000" kern="100">
                          <a:effectLst/>
                        </a:rPr>
                        <a:t>React.js used a virtual DOM to render browser code in React</a:t>
                      </a:r>
                      <a:endParaRPr lang="en-US"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dirty="0">
                          <a:effectLst/>
                        </a:rPr>
                        <a:t>React Native uses Native API to render components for mobile applications</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89672632"/>
                  </a:ext>
                </a:extLst>
              </a:tr>
              <a:tr h="927794">
                <a:tc>
                  <a:txBody>
                    <a:bodyPr/>
                    <a:lstStyle/>
                    <a:p>
                      <a:pPr marL="0" marR="0">
                        <a:lnSpc>
                          <a:spcPct val="107000"/>
                        </a:lnSpc>
                        <a:spcBef>
                          <a:spcPts val="0"/>
                        </a:spcBef>
                        <a:spcAft>
                          <a:spcPts val="0"/>
                        </a:spcAft>
                      </a:pPr>
                      <a:r>
                        <a:rPr lang="en-US" sz="2000" kern="100">
                          <a:effectLst/>
                        </a:rPr>
                        <a:t>React has a steep learning curve as it requires knowledge of libraries,</a:t>
                      </a:r>
                      <a:endParaRPr lang="en-US"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React Native is easier to understand with basic knowledge of React and JavaScript.</a:t>
                      </a:r>
                      <a:endParaRPr lang="en-US"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61171237"/>
                  </a:ext>
                </a:extLst>
              </a:tr>
              <a:tr h="1072822">
                <a:tc>
                  <a:txBody>
                    <a:bodyPr/>
                    <a:lstStyle/>
                    <a:p>
                      <a:pPr marL="0" marR="0">
                        <a:lnSpc>
                          <a:spcPct val="107000"/>
                        </a:lnSpc>
                        <a:spcBef>
                          <a:spcPts val="0"/>
                        </a:spcBef>
                        <a:spcAft>
                          <a:spcPts val="0"/>
                        </a:spcAft>
                      </a:pPr>
                      <a:r>
                        <a:rPr lang="en-US" sz="2000" kern="100">
                          <a:effectLst/>
                        </a:rPr>
                        <a:t>React is an open-source JS library for building the UIs for web applications</a:t>
                      </a:r>
                      <a:endParaRPr lang="en-US"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dirty="0">
                          <a:effectLst/>
                        </a:rPr>
                        <a:t>React Native is used to build rich mobile UI from declarative components using only JavaScript.</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85101883"/>
                  </a:ext>
                </a:extLst>
              </a:tr>
            </a:tbl>
          </a:graphicData>
        </a:graphic>
      </p:graphicFrame>
    </p:spTree>
    <p:extLst>
      <p:ext uri="{BB962C8B-B14F-4D97-AF65-F5344CB8AC3E}">
        <p14:creationId xmlns:p14="http://schemas.microsoft.com/office/powerpoint/2010/main" val="2316178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8389C-CD20-18AB-5646-69156F8A604B}"/>
              </a:ext>
            </a:extLst>
          </p:cNvPr>
          <p:cNvSpPr>
            <a:spLocks noGrp="1"/>
          </p:cNvSpPr>
          <p:nvPr>
            <p:ph type="title"/>
          </p:nvPr>
        </p:nvSpPr>
        <p:spPr>
          <a:xfrm>
            <a:off x="1104900" y="76200"/>
            <a:ext cx="9980682" cy="1096962"/>
          </a:xfrm>
        </p:spPr>
        <p:txBody>
          <a:bodyPr/>
          <a:lstStyle/>
          <a:p>
            <a:r>
              <a:rPr lang="en-US" dirty="0"/>
              <a:t>React JS architecture</a:t>
            </a:r>
          </a:p>
        </p:txBody>
      </p:sp>
      <p:sp>
        <p:nvSpPr>
          <p:cNvPr id="3" name="Text Placeholder 2">
            <a:extLst>
              <a:ext uri="{FF2B5EF4-FFF2-40B4-BE49-F238E27FC236}">
                <a16:creationId xmlns:a16="http://schemas.microsoft.com/office/drawing/2014/main" id="{2B7AAA26-6625-CD8B-D079-A1A705B3466F}"/>
              </a:ext>
            </a:extLst>
          </p:cNvPr>
          <p:cNvSpPr>
            <a:spLocks noGrp="1"/>
          </p:cNvSpPr>
          <p:nvPr>
            <p:ph type="body" idx="1"/>
          </p:nvPr>
        </p:nvSpPr>
        <p:spPr>
          <a:xfrm>
            <a:off x="1104900" y="1600200"/>
            <a:ext cx="4991100" cy="4572000"/>
          </a:xfrm>
        </p:spPr>
        <p:txBody>
          <a:bodyPr>
            <a:normAutofit/>
          </a:bodyPr>
          <a:lstStyle/>
          <a:p>
            <a:r>
              <a:rPr lang="en-US" b="1" dirty="0">
                <a:solidFill>
                  <a:schemeClr val="tx2"/>
                </a:solidFill>
              </a:rPr>
              <a:t>React architecture </a:t>
            </a:r>
            <a:r>
              <a:rPr lang="en-US" dirty="0"/>
              <a:t>is a collection of components responsible for building a software’s User Interface (UI). </a:t>
            </a:r>
          </a:p>
        </p:txBody>
      </p:sp>
      <p:pic>
        <p:nvPicPr>
          <p:cNvPr id="5" name="Picture 4">
            <a:extLst>
              <a:ext uri="{FF2B5EF4-FFF2-40B4-BE49-F238E27FC236}">
                <a16:creationId xmlns:a16="http://schemas.microsoft.com/office/drawing/2014/main" id="{AEB24F77-3122-2BBE-0581-263821FD83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5661" y="1471275"/>
            <a:ext cx="4353533" cy="482984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58797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D06CE-BBEF-0CA7-1805-A6EEE8F29ADA}"/>
              </a:ext>
            </a:extLst>
          </p:cNvPr>
          <p:cNvSpPr>
            <a:spLocks noGrp="1"/>
          </p:cNvSpPr>
          <p:nvPr>
            <p:ph type="title"/>
          </p:nvPr>
        </p:nvSpPr>
        <p:spPr/>
        <p:txBody>
          <a:bodyPr/>
          <a:lstStyle/>
          <a:p>
            <a:r>
              <a:rPr lang="en-US" dirty="0"/>
              <a:t>React JS architecture</a:t>
            </a:r>
          </a:p>
        </p:txBody>
      </p:sp>
      <p:sp>
        <p:nvSpPr>
          <p:cNvPr id="3" name="Text Placeholder 2">
            <a:extLst>
              <a:ext uri="{FF2B5EF4-FFF2-40B4-BE49-F238E27FC236}">
                <a16:creationId xmlns:a16="http://schemas.microsoft.com/office/drawing/2014/main" id="{BE0F406D-72EF-7B48-5C0F-CC4673EAECF3}"/>
              </a:ext>
            </a:extLst>
          </p:cNvPr>
          <p:cNvSpPr>
            <a:spLocks noGrp="1"/>
          </p:cNvSpPr>
          <p:nvPr>
            <p:ph type="body" idx="1"/>
          </p:nvPr>
        </p:nvSpPr>
        <p:spPr/>
        <p:txBody>
          <a:bodyPr>
            <a:normAutofit/>
          </a:bodyPr>
          <a:lstStyle/>
          <a:p>
            <a:r>
              <a:rPr lang="en-US" b="1" dirty="0"/>
              <a:t>React library </a:t>
            </a:r>
            <a:r>
              <a:rPr lang="en-US" dirty="0"/>
              <a:t>is just UI library and it does not enforce any particular pattern to write a complex application. Developers are free to choose the design pattern of their choice. </a:t>
            </a:r>
          </a:p>
          <a:p>
            <a:r>
              <a:rPr lang="en-US" b="1" dirty="0"/>
              <a:t>Flux pattern:</a:t>
            </a:r>
            <a:r>
              <a:rPr lang="en-US" dirty="0"/>
              <a:t> React library also provides lot of concepts like </a:t>
            </a:r>
            <a:r>
              <a:rPr lang="en-US" b="1" dirty="0"/>
              <a:t>Higher Order component</a:t>
            </a:r>
            <a:r>
              <a:rPr lang="en-US" dirty="0"/>
              <a:t>, Context, Render props, Refs etc., to write better code. </a:t>
            </a:r>
          </a:p>
          <a:p>
            <a:r>
              <a:rPr lang="en-US" b="1" dirty="0"/>
              <a:t>React Hooks </a:t>
            </a:r>
            <a:r>
              <a:rPr lang="en-US" dirty="0"/>
              <a:t>is evolving concept to do state management in big projects. </a:t>
            </a:r>
          </a:p>
        </p:txBody>
      </p:sp>
    </p:spTree>
    <p:extLst>
      <p:ext uri="{BB962C8B-B14F-4D97-AF65-F5344CB8AC3E}">
        <p14:creationId xmlns:p14="http://schemas.microsoft.com/office/powerpoint/2010/main" val="2117687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65A71-7971-D5A1-01EF-9C67D8484892}"/>
              </a:ext>
            </a:extLst>
          </p:cNvPr>
          <p:cNvSpPr>
            <a:spLocks noGrp="1"/>
          </p:cNvSpPr>
          <p:nvPr>
            <p:ph type="title"/>
          </p:nvPr>
        </p:nvSpPr>
        <p:spPr/>
        <p:txBody>
          <a:bodyPr/>
          <a:lstStyle/>
          <a:p>
            <a:r>
              <a:rPr lang="en-US" dirty="0"/>
              <a:t>React JS architecture</a:t>
            </a:r>
          </a:p>
        </p:txBody>
      </p:sp>
      <p:sp>
        <p:nvSpPr>
          <p:cNvPr id="3" name="Text Placeholder 2">
            <a:extLst>
              <a:ext uri="{FF2B5EF4-FFF2-40B4-BE49-F238E27FC236}">
                <a16:creationId xmlns:a16="http://schemas.microsoft.com/office/drawing/2014/main" id="{298999C1-CF63-7F7E-0398-1BEE0EB84E98}"/>
              </a:ext>
            </a:extLst>
          </p:cNvPr>
          <p:cNvSpPr>
            <a:spLocks noGrp="1"/>
          </p:cNvSpPr>
          <p:nvPr>
            <p:ph type="body" idx="1"/>
          </p:nvPr>
        </p:nvSpPr>
        <p:spPr/>
        <p:txBody>
          <a:bodyPr>
            <a:normAutofit/>
          </a:bodyPr>
          <a:lstStyle/>
          <a:p>
            <a:r>
              <a:rPr lang="en-US" b="1" dirty="0">
                <a:solidFill>
                  <a:schemeClr val="tx2"/>
                </a:solidFill>
              </a:rPr>
              <a:t>Component-Based Architecture </a:t>
            </a:r>
            <a:r>
              <a:rPr lang="en-US" dirty="0"/>
              <a:t>is a software design approach in which a user interface is built from </a:t>
            </a:r>
            <a:r>
              <a:rPr lang="en-US" b="1" dirty="0"/>
              <a:t>independent, reusable, and self-contained components</a:t>
            </a:r>
            <a:r>
              <a:rPr lang="en-US" dirty="0"/>
              <a:t>.</a:t>
            </a:r>
          </a:p>
          <a:p>
            <a:r>
              <a:rPr lang="en-US" dirty="0"/>
              <a:t>In React, </a:t>
            </a:r>
            <a:r>
              <a:rPr lang="en-US" b="1" dirty="0"/>
              <a:t>everything is a component</a:t>
            </a:r>
            <a:r>
              <a:rPr lang="en-US" dirty="0"/>
              <a:t>:</a:t>
            </a:r>
          </a:p>
          <a:p>
            <a:pPr lvl="1"/>
            <a:r>
              <a:rPr lang="en-US" dirty="0"/>
              <a:t>Pages</a:t>
            </a:r>
          </a:p>
          <a:p>
            <a:pPr lvl="1"/>
            <a:r>
              <a:rPr lang="en-US" dirty="0"/>
              <a:t>Buttons</a:t>
            </a:r>
          </a:p>
          <a:p>
            <a:pPr lvl="1"/>
            <a:r>
              <a:rPr lang="en-US" dirty="0"/>
              <a:t>Forms</a:t>
            </a:r>
          </a:p>
          <a:p>
            <a:pPr lvl="1"/>
            <a:r>
              <a:rPr lang="en-US" dirty="0"/>
              <a:t>Headers, footers, lists, etc.</a:t>
            </a:r>
          </a:p>
          <a:p>
            <a:pPr lvl="1"/>
            <a:endParaRPr lang="en-US" dirty="0"/>
          </a:p>
        </p:txBody>
      </p:sp>
    </p:spTree>
    <p:extLst>
      <p:ext uri="{BB962C8B-B14F-4D97-AF65-F5344CB8AC3E}">
        <p14:creationId xmlns:p14="http://schemas.microsoft.com/office/powerpoint/2010/main" val="1829161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FF8EB-2723-AF2B-25D1-E11800ADBB96}"/>
              </a:ext>
            </a:extLst>
          </p:cNvPr>
          <p:cNvSpPr>
            <a:spLocks noGrp="1"/>
          </p:cNvSpPr>
          <p:nvPr>
            <p:ph type="title"/>
          </p:nvPr>
        </p:nvSpPr>
        <p:spPr/>
        <p:txBody>
          <a:bodyPr/>
          <a:lstStyle/>
          <a:p>
            <a:r>
              <a:rPr lang="en-US" dirty="0"/>
              <a:t>React Component</a:t>
            </a:r>
          </a:p>
        </p:txBody>
      </p:sp>
      <p:sp>
        <p:nvSpPr>
          <p:cNvPr id="3" name="Text Placeholder 2">
            <a:extLst>
              <a:ext uri="{FF2B5EF4-FFF2-40B4-BE49-F238E27FC236}">
                <a16:creationId xmlns:a16="http://schemas.microsoft.com/office/drawing/2014/main" id="{274598CC-7202-4608-6E5A-933E9BB1DA12}"/>
              </a:ext>
            </a:extLst>
          </p:cNvPr>
          <p:cNvSpPr>
            <a:spLocks noGrp="1"/>
          </p:cNvSpPr>
          <p:nvPr>
            <p:ph type="body" idx="1"/>
          </p:nvPr>
        </p:nvSpPr>
        <p:spPr/>
        <p:txBody>
          <a:bodyPr>
            <a:normAutofit/>
          </a:bodyPr>
          <a:lstStyle/>
          <a:p>
            <a:r>
              <a:rPr lang="en-US" b="1" dirty="0">
                <a:solidFill>
                  <a:schemeClr val="tx2"/>
                </a:solidFill>
              </a:rPr>
              <a:t>A typical React component includes</a:t>
            </a:r>
            <a:r>
              <a:rPr lang="en-US" dirty="0">
                <a:solidFill>
                  <a:schemeClr val="tx2"/>
                </a:solidFill>
              </a:rPr>
              <a:t>:</a:t>
            </a:r>
          </a:p>
          <a:p>
            <a:pPr lvl="1"/>
            <a:r>
              <a:rPr lang="en-US" b="1" dirty="0"/>
              <a:t>Props</a:t>
            </a:r>
            <a:r>
              <a:rPr lang="en-US" dirty="0"/>
              <a:t> – input data from parent components</a:t>
            </a:r>
          </a:p>
          <a:p>
            <a:pPr lvl="1"/>
            <a:r>
              <a:rPr lang="en-US" b="1" dirty="0"/>
              <a:t>State</a:t>
            </a:r>
            <a:r>
              <a:rPr lang="en-US" dirty="0"/>
              <a:t> – internal data managed by the component</a:t>
            </a:r>
          </a:p>
          <a:p>
            <a:pPr lvl="1"/>
            <a:r>
              <a:rPr lang="en-US" b="1" dirty="0"/>
              <a:t>JSX</a:t>
            </a:r>
            <a:r>
              <a:rPr lang="en-US" dirty="0"/>
              <a:t> – UI structure returned by the component</a:t>
            </a:r>
          </a:p>
          <a:p>
            <a:pPr lvl="1"/>
            <a:r>
              <a:rPr lang="en-US" b="1" dirty="0"/>
              <a:t>Logic</a:t>
            </a:r>
            <a:r>
              <a:rPr lang="en-US" dirty="0"/>
              <a:t> – event handling and data processing</a:t>
            </a:r>
          </a:p>
          <a:p>
            <a:r>
              <a:rPr lang="en-US" dirty="0"/>
              <a:t>In React, components can be created in </a:t>
            </a:r>
            <a:r>
              <a:rPr lang="en-US" b="1" dirty="0"/>
              <a:t>two ways</a:t>
            </a:r>
            <a:r>
              <a:rPr lang="en-US" dirty="0"/>
              <a:t>:</a:t>
            </a:r>
          </a:p>
          <a:p>
            <a:pPr lvl="1"/>
            <a:r>
              <a:rPr lang="en-US" b="1" dirty="0"/>
              <a:t>Functional Components</a:t>
            </a:r>
            <a:endParaRPr lang="en-US" dirty="0"/>
          </a:p>
          <a:p>
            <a:pPr lvl="1"/>
            <a:r>
              <a:rPr lang="en-US" b="1" dirty="0"/>
              <a:t>Class Components</a:t>
            </a:r>
            <a:endParaRPr lang="en-US" dirty="0"/>
          </a:p>
          <a:p>
            <a:endParaRPr lang="en-US" dirty="0"/>
          </a:p>
        </p:txBody>
      </p:sp>
    </p:spTree>
    <p:extLst>
      <p:ext uri="{BB962C8B-B14F-4D97-AF65-F5344CB8AC3E}">
        <p14:creationId xmlns:p14="http://schemas.microsoft.com/office/powerpoint/2010/main" val="24541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21798-09D3-A4CA-18E6-5AD7C3990402}"/>
              </a:ext>
            </a:extLst>
          </p:cNvPr>
          <p:cNvSpPr>
            <a:spLocks noGrp="1"/>
          </p:cNvSpPr>
          <p:nvPr>
            <p:ph type="title"/>
          </p:nvPr>
        </p:nvSpPr>
        <p:spPr/>
        <p:txBody>
          <a:bodyPr/>
          <a:lstStyle/>
          <a:p>
            <a:r>
              <a:rPr lang="en-US" dirty="0"/>
              <a:t>React Component</a:t>
            </a:r>
          </a:p>
        </p:txBody>
      </p:sp>
      <p:sp>
        <p:nvSpPr>
          <p:cNvPr id="3" name="Text Placeholder 2">
            <a:extLst>
              <a:ext uri="{FF2B5EF4-FFF2-40B4-BE49-F238E27FC236}">
                <a16:creationId xmlns:a16="http://schemas.microsoft.com/office/drawing/2014/main" id="{B466258B-C84C-9BE7-10D8-EC4C7C3F0C28}"/>
              </a:ext>
            </a:extLst>
          </p:cNvPr>
          <p:cNvSpPr>
            <a:spLocks noGrp="1"/>
          </p:cNvSpPr>
          <p:nvPr>
            <p:ph type="body" idx="1"/>
          </p:nvPr>
        </p:nvSpPr>
        <p:spPr/>
        <p:txBody>
          <a:bodyPr/>
          <a:lstStyle/>
          <a:p>
            <a:r>
              <a:rPr lang="en-US" b="1" dirty="0">
                <a:solidFill>
                  <a:srgbClr val="FF0000"/>
                </a:solidFill>
              </a:rPr>
              <a:t>Props</a:t>
            </a:r>
            <a:r>
              <a:rPr lang="en-US" dirty="0"/>
              <a:t> (short for </a:t>
            </a:r>
            <a:r>
              <a:rPr lang="en-US" i="1" dirty="0"/>
              <a:t>properties</a:t>
            </a:r>
            <a:r>
              <a:rPr lang="en-US" dirty="0"/>
              <a:t>) are </a:t>
            </a:r>
            <a:r>
              <a:rPr lang="en-US" b="1" dirty="0"/>
              <a:t>read-only data</a:t>
            </a:r>
            <a:r>
              <a:rPr lang="en-US" dirty="0"/>
              <a:t> passed from a </a:t>
            </a:r>
            <a:r>
              <a:rPr lang="en-US" b="1" dirty="0"/>
              <a:t>parent component</a:t>
            </a:r>
            <a:r>
              <a:rPr lang="en-US" dirty="0"/>
              <a:t> to a </a:t>
            </a:r>
            <a:r>
              <a:rPr lang="en-US" b="1" dirty="0"/>
              <a:t>child component</a:t>
            </a:r>
            <a:r>
              <a:rPr lang="en-US" dirty="0"/>
              <a:t>.</a:t>
            </a:r>
          </a:p>
          <a:p>
            <a:r>
              <a:rPr lang="en-US" dirty="0"/>
              <a:t> Props are used to </a:t>
            </a:r>
            <a:r>
              <a:rPr lang="en-US" b="1" dirty="0"/>
              <a:t>configure</a:t>
            </a:r>
            <a:r>
              <a:rPr lang="en-US" dirty="0"/>
              <a:t> a component and </a:t>
            </a:r>
            <a:r>
              <a:rPr lang="en-US" b="1" dirty="0"/>
              <a:t>pass data downward</a:t>
            </a:r>
            <a:r>
              <a:rPr lang="en-US" dirty="0"/>
              <a:t> in the component tree.</a:t>
            </a:r>
          </a:p>
          <a:p>
            <a:r>
              <a:rPr lang="en-US" b="1" dirty="0">
                <a:solidFill>
                  <a:srgbClr val="FF0000"/>
                </a:solidFill>
              </a:rPr>
              <a:t>Characteristics of Props</a:t>
            </a:r>
          </a:p>
          <a:p>
            <a:pPr lvl="1"/>
            <a:r>
              <a:rPr lang="en-US" dirty="0"/>
              <a:t>Passed from parent to child</a:t>
            </a:r>
          </a:p>
          <a:p>
            <a:pPr lvl="1"/>
            <a:r>
              <a:rPr lang="en-US" dirty="0"/>
              <a:t>Read-only (cannot be modified by the child)</a:t>
            </a:r>
          </a:p>
          <a:p>
            <a:pPr lvl="1"/>
            <a:r>
              <a:rPr lang="en-US" dirty="0"/>
              <a:t>Help make components reusable</a:t>
            </a:r>
          </a:p>
          <a:p>
            <a:pPr lvl="1"/>
            <a:r>
              <a:rPr lang="en-US" dirty="0"/>
              <a:t>Similar to function parameters</a:t>
            </a:r>
          </a:p>
          <a:p>
            <a:endParaRPr lang="en-US" dirty="0"/>
          </a:p>
          <a:p>
            <a:endParaRPr lang="en-US" dirty="0"/>
          </a:p>
        </p:txBody>
      </p:sp>
    </p:spTree>
    <p:extLst>
      <p:ext uri="{BB962C8B-B14F-4D97-AF65-F5344CB8AC3E}">
        <p14:creationId xmlns:p14="http://schemas.microsoft.com/office/powerpoint/2010/main" val="23122582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E8C15-518C-1F83-823D-E7E29E0680FA}"/>
              </a:ext>
            </a:extLst>
          </p:cNvPr>
          <p:cNvSpPr>
            <a:spLocks noGrp="1"/>
          </p:cNvSpPr>
          <p:nvPr>
            <p:ph type="title"/>
          </p:nvPr>
        </p:nvSpPr>
        <p:spPr/>
        <p:txBody>
          <a:bodyPr/>
          <a:lstStyle/>
          <a:p>
            <a:r>
              <a:rPr lang="en-US" dirty="0"/>
              <a:t>React Component</a:t>
            </a:r>
          </a:p>
        </p:txBody>
      </p:sp>
      <p:sp>
        <p:nvSpPr>
          <p:cNvPr id="3" name="Text Placeholder 2">
            <a:extLst>
              <a:ext uri="{FF2B5EF4-FFF2-40B4-BE49-F238E27FC236}">
                <a16:creationId xmlns:a16="http://schemas.microsoft.com/office/drawing/2014/main" id="{CD09F797-728C-BE0F-3A10-E048981D8A5A}"/>
              </a:ext>
            </a:extLst>
          </p:cNvPr>
          <p:cNvSpPr>
            <a:spLocks noGrp="1"/>
          </p:cNvSpPr>
          <p:nvPr>
            <p:ph type="body" idx="1"/>
          </p:nvPr>
        </p:nvSpPr>
        <p:spPr/>
        <p:txBody>
          <a:bodyPr/>
          <a:lstStyle/>
          <a:p>
            <a:r>
              <a:rPr lang="en-US" dirty="0"/>
              <a:t>Example: Using Props</a:t>
            </a:r>
          </a:p>
          <a:p>
            <a:pPr lvl="1"/>
            <a:r>
              <a:rPr lang="en-US" dirty="0" err="1"/>
              <a:t>Jsx</a:t>
            </a:r>
            <a:r>
              <a:rPr lang="en-US" dirty="0"/>
              <a:t> file:</a:t>
            </a:r>
          </a:p>
          <a:p>
            <a:pPr lvl="1"/>
            <a:endParaRPr lang="en-US" dirty="0"/>
          </a:p>
          <a:p>
            <a:pPr lvl="1"/>
            <a:endParaRPr lang="en-US" dirty="0"/>
          </a:p>
          <a:p>
            <a:pPr lvl="1"/>
            <a:endParaRPr lang="en-US" dirty="0"/>
          </a:p>
          <a:p>
            <a:pPr lvl="1"/>
            <a:endParaRPr lang="en-US" dirty="0"/>
          </a:p>
          <a:p>
            <a:pPr lvl="1"/>
            <a:r>
              <a:rPr lang="en-US" dirty="0"/>
              <a:t>Usage:</a:t>
            </a:r>
          </a:p>
        </p:txBody>
      </p:sp>
      <p:pic>
        <p:nvPicPr>
          <p:cNvPr id="5" name="Picture 4">
            <a:extLst>
              <a:ext uri="{FF2B5EF4-FFF2-40B4-BE49-F238E27FC236}">
                <a16:creationId xmlns:a16="http://schemas.microsoft.com/office/drawing/2014/main" id="{EC22F4C9-C49F-DD5B-B6C0-AB9A3DB401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56218" y="2326621"/>
            <a:ext cx="6207822" cy="1849140"/>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4784AE7E-FD8B-46D3-9B4F-8A7826AB88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56218" y="4602799"/>
            <a:ext cx="4912422" cy="1332182"/>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3DC58526-3C73-C738-91E0-9CFA99ADD3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44168" y="4602799"/>
            <a:ext cx="2241414" cy="101183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47935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722B0-8A7A-9EB2-AC39-6DD8D72FE4C4}"/>
              </a:ext>
            </a:extLst>
          </p:cNvPr>
          <p:cNvSpPr>
            <a:spLocks noGrp="1"/>
          </p:cNvSpPr>
          <p:nvPr>
            <p:ph type="title"/>
          </p:nvPr>
        </p:nvSpPr>
        <p:spPr/>
        <p:txBody>
          <a:bodyPr/>
          <a:lstStyle/>
          <a:p>
            <a:r>
              <a:rPr lang="en-US" dirty="0"/>
              <a:t>React Component</a:t>
            </a:r>
          </a:p>
        </p:txBody>
      </p:sp>
      <p:sp>
        <p:nvSpPr>
          <p:cNvPr id="3" name="Text Placeholder 2">
            <a:extLst>
              <a:ext uri="{FF2B5EF4-FFF2-40B4-BE49-F238E27FC236}">
                <a16:creationId xmlns:a16="http://schemas.microsoft.com/office/drawing/2014/main" id="{3CADEEF4-8702-ADA1-0E09-D989E0D94ED9}"/>
              </a:ext>
            </a:extLst>
          </p:cNvPr>
          <p:cNvSpPr>
            <a:spLocks noGrp="1"/>
          </p:cNvSpPr>
          <p:nvPr>
            <p:ph type="body" idx="1"/>
          </p:nvPr>
        </p:nvSpPr>
        <p:spPr/>
        <p:txBody>
          <a:bodyPr>
            <a:normAutofit/>
          </a:bodyPr>
          <a:lstStyle/>
          <a:p>
            <a:r>
              <a:rPr lang="en-US" b="1" dirty="0">
                <a:solidFill>
                  <a:srgbClr val="FF0000"/>
                </a:solidFill>
              </a:rPr>
              <a:t>State</a:t>
            </a:r>
            <a:r>
              <a:rPr lang="en-US" dirty="0"/>
              <a:t> is </a:t>
            </a:r>
            <a:r>
              <a:rPr lang="en-US" b="1" dirty="0"/>
              <a:t>internal, mutable data</a:t>
            </a:r>
            <a:r>
              <a:rPr lang="en-US" dirty="0"/>
              <a:t> that belongs to a component and can change over time.</a:t>
            </a:r>
          </a:p>
          <a:p>
            <a:r>
              <a:rPr lang="en-US" dirty="0"/>
              <a:t>When state changes, React </a:t>
            </a:r>
            <a:r>
              <a:rPr lang="en-US" b="1" dirty="0"/>
              <a:t>re-renders</a:t>
            </a:r>
            <a:r>
              <a:rPr lang="en-US" dirty="0"/>
              <a:t> the component automatically.</a:t>
            </a:r>
          </a:p>
          <a:p>
            <a:r>
              <a:rPr lang="en-US" b="1" dirty="0"/>
              <a:t>Key Characteristics of State</a:t>
            </a:r>
          </a:p>
          <a:p>
            <a:pPr lvl="1"/>
            <a:r>
              <a:rPr lang="en-US" dirty="0"/>
              <a:t>Local to a component</a:t>
            </a:r>
          </a:p>
          <a:p>
            <a:pPr lvl="1"/>
            <a:r>
              <a:rPr lang="en-US" dirty="0"/>
              <a:t>Can change over time</a:t>
            </a:r>
          </a:p>
          <a:p>
            <a:pPr lvl="1"/>
            <a:r>
              <a:rPr lang="en-US" dirty="0"/>
              <a:t>Controlled by the component itself</a:t>
            </a:r>
          </a:p>
          <a:p>
            <a:pPr lvl="1"/>
            <a:r>
              <a:rPr lang="en-US" dirty="0"/>
              <a:t>Triggers re-render when updated</a:t>
            </a:r>
          </a:p>
          <a:p>
            <a:endParaRPr lang="en-US" dirty="0"/>
          </a:p>
          <a:p>
            <a:endParaRPr lang="en-US" dirty="0"/>
          </a:p>
        </p:txBody>
      </p:sp>
    </p:spTree>
    <p:extLst>
      <p:ext uri="{BB962C8B-B14F-4D97-AF65-F5344CB8AC3E}">
        <p14:creationId xmlns:p14="http://schemas.microsoft.com/office/powerpoint/2010/main" val="4221070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2814-32CF-7D16-12A9-C692E5942606}"/>
              </a:ext>
            </a:extLst>
          </p:cNvPr>
          <p:cNvSpPr>
            <a:spLocks noGrp="1"/>
          </p:cNvSpPr>
          <p:nvPr>
            <p:ph type="title"/>
          </p:nvPr>
        </p:nvSpPr>
        <p:spPr/>
        <p:txBody>
          <a:bodyPr/>
          <a:lstStyle/>
          <a:p>
            <a:r>
              <a:rPr lang="en-US" dirty="0"/>
              <a:t>React Component</a:t>
            </a:r>
          </a:p>
        </p:txBody>
      </p:sp>
      <p:sp>
        <p:nvSpPr>
          <p:cNvPr id="3" name="Text Placeholder 2">
            <a:extLst>
              <a:ext uri="{FF2B5EF4-FFF2-40B4-BE49-F238E27FC236}">
                <a16:creationId xmlns:a16="http://schemas.microsoft.com/office/drawing/2014/main" id="{D958C100-A817-065F-FACC-AB6C4B2FEB00}"/>
              </a:ext>
            </a:extLst>
          </p:cNvPr>
          <p:cNvSpPr>
            <a:spLocks noGrp="1"/>
          </p:cNvSpPr>
          <p:nvPr>
            <p:ph type="body" idx="1"/>
          </p:nvPr>
        </p:nvSpPr>
        <p:spPr/>
        <p:txBody>
          <a:bodyPr/>
          <a:lstStyle/>
          <a:p>
            <a:r>
              <a:rPr lang="en-US" dirty="0"/>
              <a:t>Example: Using State (Functional Component)</a:t>
            </a:r>
          </a:p>
          <a:p>
            <a:endParaRPr lang="en-US" dirty="0"/>
          </a:p>
        </p:txBody>
      </p:sp>
      <p:pic>
        <p:nvPicPr>
          <p:cNvPr id="5" name="Picture 4">
            <a:extLst>
              <a:ext uri="{FF2B5EF4-FFF2-40B4-BE49-F238E27FC236}">
                <a16:creationId xmlns:a16="http://schemas.microsoft.com/office/drawing/2014/main" id="{3DC5EC61-1A84-3184-4357-4B88E3E5D5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1200" y="2255839"/>
            <a:ext cx="8229600" cy="412521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725463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CCDF4-D37F-F9AC-2CB5-D8E958D210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24371C-4D4C-E021-E41D-74F97B4EC1F1}"/>
              </a:ext>
            </a:extLst>
          </p:cNvPr>
          <p:cNvSpPr>
            <a:spLocks noGrp="1"/>
          </p:cNvSpPr>
          <p:nvPr>
            <p:ph type="title"/>
          </p:nvPr>
        </p:nvSpPr>
        <p:spPr/>
        <p:txBody>
          <a:bodyPr/>
          <a:lstStyle/>
          <a:p>
            <a:r>
              <a:rPr lang="en-US" dirty="0"/>
              <a:t>React Component</a:t>
            </a:r>
          </a:p>
        </p:txBody>
      </p:sp>
      <p:sp>
        <p:nvSpPr>
          <p:cNvPr id="3" name="Text Placeholder 2">
            <a:extLst>
              <a:ext uri="{FF2B5EF4-FFF2-40B4-BE49-F238E27FC236}">
                <a16:creationId xmlns:a16="http://schemas.microsoft.com/office/drawing/2014/main" id="{72BC6B9E-E212-042A-7F4D-C2FB15A802FB}"/>
              </a:ext>
            </a:extLst>
          </p:cNvPr>
          <p:cNvSpPr>
            <a:spLocks noGrp="1"/>
          </p:cNvSpPr>
          <p:nvPr>
            <p:ph type="body" idx="1"/>
          </p:nvPr>
        </p:nvSpPr>
        <p:spPr/>
        <p:txBody>
          <a:bodyPr/>
          <a:lstStyle/>
          <a:p>
            <a:r>
              <a:rPr lang="en-US" b="1" dirty="0">
                <a:solidFill>
                  <a:srgbClr val="FF0000"/>
                </a:solidFill>
              </a:rPr>
              <a:t>Functional Component:  </a:t>
            </a:r>
            <a:r>
              <a:rPr lang="en-US" dirty="0"/>
              <a:t>is a JavaScript function that returns JSX and Accepts </a:t>
            </a:r>
            <a:r>
              <a:rPr lang="en-US" b="1" dirty="0"/>
              <a:t>props</a:t>
            </a:r>
            <a:r>
              <a:rPr lang="en-US" dirty="0"/>
              <a:t> as parameters</a:t>
            </a:r>
          </a:p>
          <a:p>
            <a:pPr marL="457200" lvl="1" indent="0">
              <a:buNone/>
            </a:pPr>
            <a:r>
              <a:rPr lang="en-US" dirty="0"/>
              <a:t>Example: </a:t>
            </a:r>
          </a:p>
          <a:p>
            <a:pPr lvl="2"/>
            <a:endParaRPr lang="en-US" dirty="0"/>
          </a:p>
          <a:p>
            <a:pPr lvl="2"/>
            <a:endParaRPr lang="en-US" dirty="0"/>
          </a:p>
          <a:p>
            <a:pPr lvl="2"/>
            <a:endParaRPr lang="en-US" dirty="0"/>
          </a:p>
          <a:p>
            <a:pPr lvl="2"/>
            <a:endParaRPr lang="en-US" dirty="0"/>
          </a:p>
        </p:txBody>
      </p:sp>
      <p:sp>
        <p:nvSpPr>
          <p:cNvPr id="5" name="TextBox 4">
            <a:extLst>
              <a:ext uri="{FF2B5EF4-FFF2-40B4-BE49-F238E27FC236}">
                <a16:creationId xmlns:a16="http://schemas.microsoft.com/office/drawing/2014/main" id="{2D0D58DF-E7A3-ED7E-256A-5415EBF1970E}"/>
              </a:ext>
            </a:extLst>
          </p:cNvPr>
          <p:cNvSpPr txBox="1"/>
          <p:nvPr/>
        </p:nvSpPr>
        <p:spPr>
          <a:xfrm>
            <a:off x="2772920" y="3222843"/>
            <a:ext cx="7270240" cy="1384995"/>
          </a:xfrm>
          <a:prstGeom prst="rect">
            <a:avLst/>
          </a:prstGeom>
          <a:noFill/>
          <a:ln>
            <a:solidFill>
              <a:schemeClr val="tx1"/>
            </a:solidFill>
          </a:ln>
        </p:spPr>
        <p:txBody>
          <a:bodyPr wrap="square">
            <a:spAutoFit/>
          </a:bodyPr>
          <a:lstStyle/>
          <a:p>
            <a:r>
              <a:rPr lang="en-US" sz="2800" b="0" i="0" dirty="0">
                <a:solidFill>
                  <a:schemeClr val="tx2"/>
                </a:solidFill>
                <a:effectLst/>
                <a:latin typeface="Menlo"/>
              </a:rPr>
              <a:t>const Greeting = (props) =&gt; { </a:t>
            </a:r>
          </a:p>
          <a:p>
            <a:r>
              <a:rPr lang="en-US" sz="2800" dirty="0">
                <a:solidFill>
                  <a:schemeClr val="tx2"/>
                </a:solidFill>
                <a:latin typeface="Menlo"/>
              </a:rPr>
              <a:t>	</a:t>
            </a:r>
            <a:r>
              <a:rPr lang="en-US" sz="2800" b="0" i="0" dirty="0">
                <a:solidFill>
                  <a:schemeClr val="tx2"/>
                </a:solidFill>
                <a:effectLst/>
                <a:latin typeface="Menlo"/>
              </a:rPr>
              <a:t>return &lt;h1&gt;Hello, {props.name}!&lt;/h1&gt;;</a:t>
            </a:r>
          </a:p>
          <a:p>
            <a:r>
              <a:rPr lang="en-US" sz="2800" b="0" i="0" dirty="0">
                <a:solidFill>
                  <a:schemeClr val="tx2"/>
                </a:solidFill>
                <a:effectLst/>
                <a:latin typeface="Menlo"/>
              </a:rPr>
              <a:t> };</a:t>
            </a:r>
            <a:endParaRPr lang="en-US" sz="2800" dirty="0">
              <a:solidFill>
                <a:schemeClr val="tx2"/>
              </a:solidFill>
            </a:endParaRPr>
          </a:p>
        </p:txBody>
      </p:sp>
    </p:spTree>
    <p:extLst>
      <p:ext uri="{BB962C8B-B14F-4D97-AF65-F5344CB8AC3E}">
        <p14:creationId xmlns:p14="http://schemas.microsoft.com/office/powerpoint/2010/main" val="39258211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E132C-725F-B14D-6605-5F3F87342886}"/>
              </a:ext>
            </a:extLst>
          </p:cNvPr>
          <p:cNvSpPr>
            <a:spLocks noGrp="1"/>
          </p:cNvSpPr>
          <p:nvPr>
            <p:ph type="title"/>
          </p:nvPr>
        </p:nvSpPr>
        <p:spPr/>
        <p:txBody>
          <a:bodyPr/>
          <a:lstStyle/>
          <a:p>
            <a:r>
              <a:rPr lang="en-US" dirty="0"/>
              <a:t>React Component</a:t>
            </a:r>
          </a:p>
        </p:txBody>
      </p:sp>
      <p:sp>
        <p:nvSpPr>
          <p:cNvPr id="3" name="Text Placeholder 2">
            <a:extLst>
              <a:ext uri="{FF2B5EF4-FFF2-40B4-BE49-F238E27FC236}">
                <a16:creationId xmlns:a16="http://schemas.microsoft.com/office/drawing/2014/main" id="{545947B1-9E8F-3031-B947-96BD82DE7691}"/>
              </a:ext>
            </a:extLst>
          </p:cNvPr>
          <p:cNvSpPr>
            <a:spLocks noGrp="1"/>
          </p:cNvSpPr>
          <p:nvPr>
            <p:ph type="body" idx="1"/>
          </p:nvPr>
        </p:nvSpPr>
        <p:spPr/>
        <p:txBody>
          <a:bodyPr/>
          <a:lstStyle/>
          <a:p>
            <a:r>
              <a:rPr lang="en-US" b="1" dirty="0">
                <a:solidFill>
                  <a:srgbClr val="FF0000"/>
                </a:solidFill>
              </a:rPr>
              <a:t>Key Characteristics of Functional Components</a:t>
            </a:r>
          </a:p>
          <a:p>
            <a:pPr lvl="1"/>
            <a:r>
              <a:rPr lang="en-US" dirty="0"/>
              <a:t>Simple and concise syntax</a:t>
            </a:r>
          </a:p>
          <a:p>
            <a:pPr lvl="1"/>
            <a:r>
              <a:rPr lang="en-US" dirty="0"/>
              <a:t>No </a:t>
            </a:r>
            <a:r>
              <a:rPr lang="en-US" b="1" dirty="0"/>
              <a:t>this</a:t>
            </a:r>
            <a:r>
              <a:rPr lang="en-US" dirty="0"/>
              <a:t> keyword</a:t>
            </a:r>
          </a:p>
          <a:p>
            <a:pPr lvl="1"/>
            <a:r>
              <a:rPr lang="en-US" dirty="0"/>
              <a:t>Easy to read and test</a:t>
            </a:r>
          </a:p>
          <a:p>
            <a:pPr lvl="1"/>
            <a:r>
              <a:rPr lang="en-US" dirty="0"/>
              <a:t>Uses Hooks (</a:t>
            </a:r>
            <a:r>
              <a:rPr lang="en-US" dirty="0" err="1"/>
              <a:t>useState</a:t>
            </a:r>
            <a:r>
              <a:rPr lang="en-US" dirty="0"/>
              <a:t>, </a:t>
            </a:r>
            <a:r>
              <a:rPr lang="en-US" dirty="0" err="1"/>
              <a:t>useEffect</a:t>
            </a:r>
            <a:r>
              <a:rPr lang="en-US" dirty="0"/>
              <a:t>, etc.)</a:t>
            </a:r>
          </a:p>
          <a:p>
            <a:pPr lvl="1"/>
            <a:r>
              <a:rPr lang="en-US" b="1" dirty="0"/>
              <a:t>Recommended approach in modern React</a:t>
            </a:r>
            <a:endParaRPr lang="en-US" dirty="0"/>
          </a:p>
          <a:p>
            <a:endParaRPr lang="en-US" dirty="0"/>
          </a:p>
        </p:txBody>
      </p:sp>
    </p:spTree>
    <p:extLst>
      <p:ext uri="{BB962C8B-B14F-4D97-AF65-F5344CB8AC3E}">
        <p14:creationId xmlns:p14="http://schemas.microsoft.com/office/powerpoint/2010/main" val="16635766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A7DA0-24C5-83C7-BDF7-3558001C83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23F6DD-9B44-20CE-90C8-7144132E08CA}"/>
              </a:ext>
            </a:extLst>
          </p:cNvPr>
          <p:cNvSpPr>
            <a:spLocks noGrp="1"/>
          </p:cNvSpPr>
          <p:nvPr>
            <p:ph type="title"/>
          </p:nvPr>
        </p:nvSpPr>
        <p:spPr/>
        <p:txBody>
          <a:bodyPr/>
          <a:lstStyle/>
          <a:p>
            <a:r>
              <a:rPr lang="en-US" dirty="0"/>
              <a:t>React Component</a:t>
            </a:r>
          </a:p>
        </p:txBody>
      </p:sp>
      <p:sp>
        <p:nvSpPr>
          <p:cNvPr id="3" name="Text Placeholder 2">
            <a:extLst>
              <a:ext uri="{FF2B5EF4-FFF2-40B4-BE49-F238E27FC236}">
                <a16:creationId xmlns:a16="http://schemas.microsoft.com/office/drawing/2014/main" id="{E320B23C-194E-823E-D616-8406465881C4}"/>
              </a:ext>
            </a:extLst>
          </p:cNvPr>
          <p:cNvSpPr>
            <a:spLocks noGrp="1"/>
          </p:cNvSpPr>
          <p:nvPr>
            <p:ph type="body" idx="1"/>
          </p:nvPr>
        </p:nvSpPr>
        <p:spPr>
          <a:xfrm>
            <a:off x="1104900" y="1600200"/>
            <a:ext cx="10264140" cy="4572000"/>
          </a:xfrm>
        </p:spPr>
        <p:txBody>
          <a:bodyPr/>
          <a:lstStyle/>
          <a:p>
            <a:r>
              <a:rPr lang="en-US" b="1" dirty="0">
                <a:solidFill>
                  <a:srgbClr val="FF0000"/>
                </a:solidFill>
              </a:rPr>
              <a:t>Class Components </a:t>
            </a:r>
            <a:r>
              <a:rPr lang="en-US" dirty="0"/>
              <a:t>are stateful and can hold and manage state. They provide more features and lifecycle methods, allowing for more complex functionality</a:t>
            </a:r>
          </a:p>
          <a:p>
            <a:r>
              <a:rPr lang="en-US" dirty="0"/>
              <a:t>A </a:t>
            </a:r>
            <a:r>
              <a:rPr lang="en-US" b="1" dirty="0"/>
              <a:t>Class Component</a:t>
            </a:r>
            <a:r>
              <a:rPr lang="en-US" dirty="0"/>
              <a:t> is written using an ES6 class that extends </a:t>
            </a:r>
            <a:r>
              <a:rPr lang="en-US" b="1" dirty="0" err="1"/>
              <a:t>React.Component</a:t>
            </a:r>
            <a:r>
              <a:rPr lang="en-US" dirty="0"/>
              <a:t>. It must include a </a:t>
            </a:r>
            <a:r>
              <a:rPr lang="en-US" b="1" dirty="0"/>
              <a:t>render() </a:t>
            </a:r>
            <a:r>
              <a:rPr lang="en-US" dirty="0"/>
              <a:t>method.</a:t>
            </a:r>
          </a:p>
          <a:p>
            <a:pPr marL="457200" lvl="1" indent="0">
              <a:buNone/>
            </a:pPr>
            <a:r>
              <a:rPr lang="en-US" dirty="0"/>
              <a:t>Example</a:t>
            </a:r>
          </a:p>
          <a:p>
            <a:pPr lvl="2"/>
            <a:endParaRPr lang="en-US" dirty="0"/>
          </a:p>
        </p:txBody>
      </p:sp>
      <p:pic>
        <p:nvPicPr>
          <p:cNvPr id="6" name="Picture 5">
            <a:extLst>
              <a:ext uri="{FF2B5EF4-FFF2-40B4-BE49-F238E27FC236}">
                <a16:creationId xmlns:a16="http://schemas.microsoft.com/office/drawing/2014/main" id="{33AC3444-3691-2A0C-3DD6-D238CBD0A8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91117" y="4208434"/>
            <a:ext cx="7199425" cy="239080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025957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FC602-4073-90ED-9750-AAC75FDBED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2FC3E8-7B29-01A0-7D53-6740DF83BB86}"/>
              </a:ext>
            </a:extLst>
          </p:cNvPr>
          <p:cNvSpPr>
            <a:spLocks noGrp="1"/>
          </p:cNvSpPr>
          <p:nvPr>
            <p:ph type="title"/>
          </p:nvPr>
        </p:nvSpPr>
        <p:spPr/>
        <p:txBody>
          <a:bodyPr/>
          <a:lstStyle/>
          <a:p>
            <a:r>
              <a:rPr lang="en-US" dirty="0"/>
              <a:t>Virtual DOM</a:t>
            </a:r>
          </a:p>
        </p:txBody>
      </p:sp>
      <p:sp>
        <p:nvSpPr>
          <p:cNvPr id="3" name="Text Placeholder 2">
            <a:extLst>
              <a:ext uri="{FF2B5EF4-FFF2-40B4-BE49-F238E27FC236}">
                <a16:creationId xmlns:a16="http://schemas.microsoft.com/office/drawing/2014/main" id="{C0014712-76A7-918A-E5A0-6652A5A635F5}"/>
              </a:ext>
            </a:extLst>
          </p:cNvPr>
          <p:cNvSpPr>
            <a:spLocks noGrp="1"/>
          </p:cNvSpPr>
          <p:nvPr>
            <p:ph type="body" idx="1"/>
          </p:nvPr>
        </p:nvSpPr>
        <p:spPr>
          <a:xfrm>
            <a:off x="1104900" y="1600200"/>
            <a:ext cx="10294620" cy="4572000"/>
          </a:xfrm>
        </p:spPr>
        <p:txBody>
          <a:bodyPr>
            <a:normAutofit/>
          </a:bodyPr>
          <a:lstStyle/>
          <a:p>
            <a:r>
              <a:rPr lang="en-US" dirty="0"/>
              <a:t>React uses a </a:t>
            </a:r>
            <a:r>
              <a:rPr lang="en-US" b="1" dirty="0"/>
              <a:t>Virtual DOM</a:t>
            </a:r>
            <a:r>
              <a:rPr lang="en-US" dirty="0"/>
              <a:t>, which is a lightweight representation of the real DOM.</a:t>
            </a:r>
          </a:p>
          <a:p>
            <a:pPr>
              <a:buFont typeface="Arial" panose="020B0604020202020204" pitchFamily="34" charset="0"/>
              <a:buChar char="•"/>
            </a:pPr>
            <a:r>
              <a:rPr lang="en-US" b="1" dirty="0"/>
              <a:t>Workflow</a:t>
            </a:r>
            <a:r>
              <a:rPr lang="en-US" dirty="0"/>
              <a:t>:</a:t>
            </a:r>
          </a:p>
          <a:p>
            <a:pPr marL="742950" lvl="1" indent="-285750">
              <a:buFont typeface="Arial" panose="020B0604020202020204" pitchFamily="34" charset="0"/>
              <a:buChar char="•"/>
            </a:pPr>
            <a:r>
              <a:rPr lang="en-US" sz="2800" dirty="0"/>
              <a:t>React creates </a:t>
            </a:r>
            <a:r>
              <a:rPr lang="en-US" sz="2800" b="1" dirty="0"/>
              <a:t>a Virtual DOM</a:t>
            </a:r>
            <a:r>
              <a:rPr lang="en-US" sz="2800" dirty="0"/>
              <a:t> tree whenever the state or </a:t>
            </a:r>
            <a:r>
              <a:rPr lang="en-US" sz="2800" b="1" dirty="0"/>
              <a:t>props</a:t>
            </a:r>
            <a:r>
              <a:rPr lang="en-US" sz="2800" dirty="0"/>
              <a:t> change.</a:t>
            </a:r>
          </a:p>
          <a:p>
            <a:pPr marL="742950" lvl="1" indent="-285750">
              <a:buFont typeface="Arial" panose="020B0604020202020204" pitchFamily="34" charset="0"/>
              <a:buChar char="•"/>
            </a:pPr>
            <a:r>
              <a:rPr lang="en-US" sz="2800" dirty="0"/>
              <a:t>It calculates the differences (diffing) between the new and old Virtual DOM trees.</a:t>
            </a:r>
          </a:p>
          <a:p>
            <a:pPr marL="742950" lvl="1" indent="-285750">
              <a:buFont typeface="Arial" panose="020B0604020202020204" pitchFamily="34" charset="0"/>
              <a:buChar char="•"/>
            </a:pPr>
            <a:r>
              <a:rPr lang="en-US" sz="2800" dirty="0"/>
              <a:t>Efficiently updates the actual DOM only with the changes</a:t>
            </a:r>
            <a:r>
              <a:rPr lang="en-US" dirty="0"/>
              <a:t>.</a:t>
            </a:r>
          </a:p>
        </p:txBody>
      </p:sp>
    </p:spTree>
    <p:extLst>
      <p:ext uri="{BB962C8B-B14F-4D97-AF65-F5344CB8AC3E}">
        <p14:creationId xmlns:p14="http://schemas.microsoft.com/office/powerpoint/2010/main" val="23850623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8AEE9-1D7C-31D7-DF00-D8BE209101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DD6CDD-FA6D-C92C-6A64-D3E7B780F2AB}"/>
              </a:ext>
            </a:extLst>
          </p:cNvPr>
          <p:cNvSpPr>
            <a:spLocks noGrp="1"/>
          </p:cNvSpPr>
          <p:nvPr>
            <p:ph type="title"/>
          </p:nvPr>
        </p:nvSpPr>
        <p:spPr/>
        <p:txBody>
          <a:bodyPr/>
          <a:lstStyle/>
          <a:p>
            <a:r>
              <a:rPr lang="en-US" dirty="0"/>
              <a:t>JSX (JavaScript XML)</a:t>
            </a:r>
          </a:p>
        </p:txBody>
      </p:sp>
      <p:sp>
        <p:nvSpPr>
          <p:cNvPr id="3" name="Text Placeholder 2">
            <a:extLst>
              <a:ext uri="{FF2B5EF4-FFF2-40B4-BE49-F238E27FC236}">
                <a16:creationId xmlns:a16="http://schemas.microsoft.com/office/drawing/2014/main" id="{745486FD-F2F5-3866-AD05-13255936567D}"/>
              </a:ext>
            </a:extLst>
          </p:cNvPr>
          <p:cNvSpPr>
            <a:spLocks noGrp="1"/>
          </p:cNvSpPr>
          <p:nvPr>
            <p:ph type="body" idx="1"/>
          </p:nvPr>
        </p:nvSpPr>
        <p:spPr/>
        <p:txBody>
          <a:bodyPr/>
          <a:lstStyle/>
          <a:p>
            <a:pPr lvl="1">
              <a:buFont typeface="Arial" panose="020B0604020202020204" pitchFamily="34" charset="0"/>
              <a:buChar char="•"/>
            </a:pPr>
            <a:r>
              <a:rPr lang="en-US" dirty="0"/>
              <a:t>React uses JSX, which is a syntax extension for JavaScript. It looks similar to HTML but can include JavaScript expressions. JSX is compiled into regular JavaScript at runtime.</a:t>
            </a:r>
          </a:p>
          <a:p>
            <a:pPr lvl="1">
              <a:buFont typeface="Arial" panose="020B0604020202020204" pitchFamily="34" charset="0"/>
              <a:buChar char="•"/>
            </a:pPr>
            <a:r>
              <a:rPr lang="en-US" dirty="0"/>
              <a:t>JSX allows developers to define the UI structure directly in the component, making it easier to visualize the layout of the UI within the code.</a:t>
            </a:r>
          </a:p>
          <a:p>
            <a:endParaRPr lang="en-US" dirty="0"/>
          </a:p>
        </p:txBody>
      </p:sp>
    </p:spTree>
    <p:extLst>
      <p:ext uri="{BB962C8B-B14F-4D97-AF65-F5344CB8AC3E}">
        <p14:creationId xmlns:p14="http://schemas.microsoft.com/office/powerpoint/2010/main" val="37439442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30A9F-3B72-9AEC-3F42-CC8E947B481B}"/>
              </a:ext>
            </a:extLst>
          </p:cNvPr>
          <p:cNvSpPr>
            <a:spLocks noGrp="1"/>
          </p:cNvSpPr>
          <p:nvPr>
            <p:ph type="title"/>
          </p:nvPr>
        </p:nvSpPr>
        <p:spPr/>
        <p:txBody>
          <a:bodyPr/>
          <a:lstStyle/>
          <a:p>
            <a:r>
              <a:rPr lang="en-US" dirty="0"/>
              <a:t>Unidirectional Data Flow</a:t>
            </a:r>
          </a:p>
        </p:txBody>
      </p:sp>
      <p:sp>
        <p:nvSpPr>
          <p:cNvPr id="3" name="Text Placeholder 2">
            <a:extLst>
              <a:ext uri="{FF2B5EF4-FFF2-40B4-BE49-F238E27FC236}">
                <a16:creationId xmlns:a16="http://schemas.microsoft.com/office/drawing/2014/main" id="{D71ED89C-C4A1-19C3-403E-CC1DDA1AEA02}"/>
              </a:ext>
            </a:extLst>
          </p:cNvPr>
          <p:cNvSpPr>
            <a:spLocks noGrp="1"/>
          </p:cNvSpPr>
          <p:nvPr>
            <p:ph type="body" idx="1"/>
          </p:nvPr>
        </p:nvSpPr>
        <p:spPr/>
        <p:txBody>
          <a:bodyPr/>
          <a:lstStyle/>
          <a:p>
            <a:r>
              <a:rPr lang="en-US" b="1" dirty="0">
                <a:solidFill>
                  <a:srgbClr val="FF0000"/>
                </a:solidFill>
              </a:rPr>
              <a:t>Unidirectional Data Flow</a:t>
            </a:r>
            <a:r>
              <a:rPr lang="en-US" b="1" dirty="0"/>
              <a:t>:</a:t>
            </a:r>
            <a:r>
              <a:rPr lang="en-US" dirty="0"/>
              <a:t> data flows in only </a:t>
            </a:r>
            <a:r>
              <a:rPr lang="en-US" b="1" dirty="0"/>
              <a:t>one direction </a:t>
            </a:r>
            <a:r>
              <a:rPr lang="en-US" dirty="0"/>
              <a:t>within a React application:</a:t>
            </a:r>
          </a:p>
          <a:p>
            <a:pPr lvl="1"/>
            <a:r>
              <a:rPr lang="en-US" dirty="0"/>
              <a:t>From </a:t>
            </a:r>
            <a:r>
              <a:rPr lang="en-US" b="1" dirty="0"/>
              <a:t>parent components </a:t>
            </a:r>
            <a:r>
              <a:rPr lang="en-US" dirty="0"/>
              <a:t>down to </a:t>
            </a:r>
            <a:r>
              <a:rPr lang="en-US" b="1" dirty="0"/>
              <a:t>child components</a:t>
            </a:r>
          </a:p>
          <a:p>
            <a:pPr lvl="1"/>
            <a:r>
              <a:rPr lang="en-US" dirty="0"/>
              <a:t>This principle is a core concept in React and helps make applications predictable, easier to debug, and easier to maintain.</a:t>
            </a:r>
          </a:p>
          <a:p>
            <a:pPr lvl="1"/>
            <a:r>
              <a:rPr lang="en-US" dirty="0"/>
              <a:t>When a user interacts with the UI (e.g., clicking a button or entering text), an event handler in a component updates its </a:t>
            </a:r>
            <a:r>
              <a:rPr lang="en-US" b="1" dirty="0"/>
              <a:t>state</a:t>
            </a:r>
            <a:r>
              <a:rPr lang="en-US" dirty="0"/>
              <a:t>, which in turn causes a re-render and updates the UI.</a:t>
            </a:r>
          </a:p>
          <a:p>
            <a:pPr lvl="1"/>
            <a:endParaRPr lang="en-US" dirty="0"/>
          </a:p>
        </p:txBody>
      </p:sp>
    </p:spTree>
    <p:extLst>
      <p:ext uri="{BB962C8B-B14F-4D97-AF65-F5344CB8AC3E}">
        <p14:creationId xmlns:p14="http://schemas.microsoft.com/office/powerpoint/2010/main" val="34144375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34948-9B30-F7A3-F601-D55B93D4C841}"/>
              </a:ext>
            </a:extLst>
          </p:cNvPr>
          <p:cNvSpPr>
            <a:spLocks noGrp="1"/>
          </p:cNvSpPr>
          <p:nvPr>
            <p:ph type="title"/>
          </p:nvPr>
        </p:nvSpPr>
        <p:spPr/>
        <p:txBody>
          <a:bodyPr/>
          <a:lstStyle/>
          <a:p>
            <a:r>
              <a:rPr lang="en-US" dirty="0"/>
              <a:t>Unidirectional Data Flow</a:t>
            </a:r>
          </a:p>
        </p:txBody>
      </p:sp>
      <p:sp>
        <p:nvSpPr>
          <p:cNvPr id="3" name="Text Placeholder 2">
            <a:extLst>
              <a:ext uri="{FF2B5EF4-FFF2-40B4-BE49-F238E27FC236}">
                <a16:creationId xmlns:a16="http://schemas.microsoft.com/office/drawing/2014/main" id="{AE5C51B1-F300-EACE-AC77-085339A52C15}"/>
              </a:ext>
            </a:extLst>
          </p:cNvPr>
          <p:cNvSpPr>
            <a:spLocks noGrp="1"/>
          </p:cNvSpPr>
          <p:nvPr>
            <p:ph type="body" idx="1"/>
          </p:nvPr>
        </p:nvSpPr>
        <p:spPr/>
        <p:txBody>
          <a:bodyPr/>
          <a:lstStyle/>
          <a:p>
            <a:r>
              <a:rPr lang="en-US" b="1" dirty="0">
                <a:solidFill>
                  <a:srgbClr val="FF0000"/>
                </a:solidFill>
              </a:rPr>
              <a:t>How Data Flows in React</a:t>
            </a:r>
          </a:p>
          <a:p>
            <a:endParaRPr lang="en-US" b="1" dirty="0">
              <a:solidFill>
                <a:srgbClr val="FF0000"/>
              </a:solidFill>
            </a:endParaRPr>
          </a:p>
          <a:p>
            <a:endParaRPr lang="en-US" b="1" dirty="0">
              <a:solidFill>
                <a:srgbClr val="FF0000"/>
              </a:solidFill>
            </a:endParaRPr>
          </a:p>
          <a:p>
            <a:endParaRPr lang="en-US" b="1" dirty="0">
              <a:solidFill>
                <a:srgbClr val="FF0000"/>
              </a:solidFill>
            </a:endParaRPr>
          </a:p>
          <a:p>
            <a:endParaRPr lang="en-US" b="1" dirty="0">
              <a:solidFill>
                <a:srgbClr val="FF0000"/>
              </a:solidFill>
            </a:endParaRPr>
          </a:p>
          <a:p>
            <a:pPr lvl="1"/>
            <a:r>
              <a:rPr lang="en-US" b="1" dirty="0"/>
              <a:t>State</a:t>
            </a:r>
            <a:r>
              <a:rPr lang="en-US" dirty="0"/>
              <a:t> is owned by a component</a:t>
            </a:r>
          </a:p>
          <a:p>
            <a:pPr lvl="1"/>
            <a:r>
              <a:rPr lang="en-US" b="1" dirty="0"/>
              <a:t>Props</a:t>
            </a:r>
            <a:r>
              <a:rPr lang="en-US" dirty="0"/>
              <a:t> are used to pass data to child components</a:t>
            </a:r>
          </a:p>
          <a:p>
            <a:pPr lvl="1"/>
            <a:r>
              <a:rPr lang="en-US" dirty="0"/>
              <a:t>Child components </a:t>
            </a:r>
            <a:r>
              <a:rPr lang="en-US" b="1" dirty="0"/>
              <a:t>cannot directly modify</a:t>
            </a:r>
            <a:r>
              <a:rPr lang="en-US" dirty="0"/>
              <a:t> parent state</a:t>
            </a:r>
          </a:p>
          <a:p>
            <a:endParaRPr lang="en-US" b="1" dirty="0"/>
          </a:p>
        </p:txBody>
      </p:sp>
      <p:pic>
        <p:nvPicPr>
          <p:cNvPr id="5" name="Picture 4">
            <a:extLst>
              <a:ext uri="{FF2B5EF4-FFF2-40B4-BE49-F238E27FC236}">
                <a16:creationId xmlns:a16="http://schemas.microsoft.com/office/drawing/2014/main" id="{C1BE6302-B301-9E62-5841-0D7D0AB911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1840" y="2469426"/>
            <a:ext cx="3890686" cy="170508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790257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239BB-939C-1D31-F552-FB8AF446947F}"/>
              </a:ext>
            </a:extLst>
          </p:cNvPr>
          <p:cNvSpPr>
            <a:spLocks noGrp="1"/>
          </p:cNvSpPr>
          <p:nvPr>
            <p:ph type="title"/>
          </p:nvPr>
        </p:nvSpPr>
        <p:spPr/>
        <p:txBody>
          <a:bodyPr/>
          <a:lstStyle/>
          <a:p>
            <a:r>
              <a:rPr lang="en-US" dirty="0"/>
              <a:t>React Router</a:t>
            </a:r>
          </a:p>
        </p:txBody>
      </p:sp>
      <p:sp>
        <p:nvSpPr>
          <p:cNvPr id="3" name="Text Placeholder 2">
            <a:extLst>
              <a:ext uri="{FF2B5EF4-FFF2-40B4-BE49-F238E27FC236}">
                <a16:creationId xmlns:a16="http://schemas.microsoft.com/office/drawing/2014/main" id="{AB0CB099-BD75-7B05-B6B8-9BAF15798E41}"/>
              </a:ext>
            </a:extLst>
          </p:cNvPr>
          <p:cNvSpPr>
            <a:spLocks noGrp="1"/>
          </p:cNvSpPr>
          <p:nvPr>
            <p:ph type="body" idx="1"/>
          </p:nvPr>
        </p:nvSpPr>
        <p:spPr/>
        <p:txBody>
          <a:bodyPr/>
          <a:lstStyle/>
          <a:p>
            <a:r>
              <a:rPr lang="en-US" b="1" dirty="0">
                <a:solidFill>
                  <a:srgbClr val="FF0000"/>
                </a:solidFill>
              </a:rPr>
              <a:t>React Router </a:t>
            </a:r>
            <a:r>
              <a:rPr lang="en-US" dirty="0"/>
              <a:t>is a popular library for handling routing in single-page applications (SPAs). </a:t>
            </a:r>
          </a:p>
          <a:p>
            <a:r>
              <a:rPr lang="en-US" dirty="0"/>
              <a:t>It allows navigation between different views or pages within the application without triggering a full page reload</a:t>
            </a:r>
          </a:p>
        </p:txBody>
      </p:sp>
    </p:spTree>
    <p:extLst>
      <p:ext uri="{BB962C8B-B14F-4D97-AF65-F5344CB8AC3E}">
        <p14:creationId xmlns:p14="http://schemas.microsoft.com/office/powerpoint/2010/main" val="27089134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C78EA-8B33-7BF1-1AB6-01D69C2A0F9C}"/>
              </a:ext>
            </a:extLst>
          </p:cNvPr>
          <p:cNvSpPr>
            <a:spLocks noGrp="1"/>
          </p:cNvSpPr>
          <p:nvPr>
            <p:ph type="title"/>
          </p:nvPr>
        </p:nvSpPr>
        <p:spPr/>
        <p:txBody>
          <a:bodyPr/>
          <a:lstStyle/>
          <a:p>
            <a:r>
              <a:rPr lang="en-US" dirty="0"/>
              <a:t>React Lifecycle</a:t>
            </a:r>
          </a:p>
        </p:txBody>
      </p:sp>
      <p:sp>
        <p:nvSpPr>
          <p:cNvPr id="3" name="Text Placeholder 2">
            <a:extLst>
              <a:ext uri="{FF2B5EF4-FFF2-40B4-BE49-F238E27FC236}">
                <a16:creationId xmlns:a16="http://schemas.microsoft.com/office/drawing/2014/main" id="{66F376E2-EFD7-8471-962C-010410E6F68B}"/>
              </a:ext>
            </a:extLst>
          </p:cNvPr>
          <p:cNvSpPr>
            <a:spLocks noGrp="1"/>
          </p:cNvSpPr>
          <p:nvPr>
            <p:ph type="body" idx="1"/>
          </p:nvPr>
        </p:nvSpPr>
        <p:spPr>
          <a:xfrm>
            <a:off x="1104899" y="1600200"/>
            <a:ext cx="10242473" cy="4572000"/>
          </a:xfrm>
        </p:spPr>
        <p:txBody>
          <a:bodyPr/>
          <a:lstStyle/>
          <a:p>
            <a:r>
              <a:rPr lang="en-US" b="1" dirty="0"/>
              <a:t>React class components </a:t>
            </a:r>
            <a:r>
              <a:rPr lang="en-US" dirty="0"/>
              <a:t>have lifecycle methods that allow developers to run code at specific points in the component’s lifecycle. In functional components, these lifecycle methods are replaced by </a:t>
            </a:r>
            <a:r>
              <a:rPr lang="en-US" b="1" dirty="0"/>
              <a:t>hooks</a:t>
            </a:r>
            <a:r>
              <a:rPr lang="en-US" dirty="0"/>
              <a:t> such as </a:t>
            </a:r>
            <a:r>
              <a:rPr lang="en-US" b="1" i="1" dirty="0" err="1"/>
              <a:t>useEffect</a:t>
            </a:r>
            <a:r>
              <a:rPr lang="en-US" b="1" i="1" dirty="0"/>
              <a:t>.</a:t>
            </a:r>
          </a:p>
          <a:p>
            <a:r>
              <a:rPr lang="en-US" b="1" dirty="0"/>
              <a:t>Common lifecycle methods include</a:t>
            </a:r>
            <a:r>
              <a:rPr lang="en-US" dirty="0"/>
              <a:t>:</a:t>
            </a:r>
          </a:p>
          <a:p>
            <a:pPr lvl="1"/>
            <a:r>
              <a:rPr lang="en-US" dirty="0" err="1"/>
              <a:t>componentDidMount</a:t>
            </a:r>
            <a:r>
              <a:rPr lang="en-US" dirty="0"/>
              <a:t>()</a:t>
            </a:r>
          </a:p>
          <a:p>
            <a:pPr lvl="1"/>
            <a:r>
              <a:rPr lang="en-US" dirty="0" err="1"/>
              <a:t>componentDidUpdate</a:t>
            </a:r>
            <a:r>
              <a:rPr lang="en-US" dirty="0"/>
              <a:t>()</a:t>
            </a:r>
          </a:p>
          <a:p>
            <a:pPr lvl="1"/>
            <a:r>
              <a:rPr lang="en-US" dirty="0" err="1"/>
              <a:t>componentWillUnmount</a:t>
            </a:r>
            <a:r>
              <a:rPr lang="en-US" dirty="0"/>
              <a:t>()</a:t>
            </a:r>
          </a:p>
          <a:p>
            <a:pPr lvl="1"/>
            <a:r>
              <a:rPr lang="en-US" dirty="0" err="1"/>
              <a:t>useEffect</a:t>
            </a:r>
            <a:r>
              <a:rPr lang="en-US" dirty="0"/>
              <a:t>() for functional components.</a:t>
            </a:r>
          </a:p>
        </p:txBody>
      </p:sp>
    </p:spTree>
    <p:extLst>
      <p:ext uri="{BB962C8B-B14F-4D97-AF65-F5344CB8AC3E}">
        <p14:creationId xmlns:p14="http://schemas.microsoft.com/office/powerpoint/2010/main" val="22743225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DE088-A508-DEFA-BB3F-028F8D7F5090}"/>
              </a:ext>
            </a:extLst>
          </p:cNvPr>
          <p:cNvSpPr>
            <a:spLocks noGrp="1"/>
          </p:cNvSpPr>
          <p:nvPr>
            <p:ph type="title"/>
          </p:nvPr>
        </p:nvSpPr>
        <p:spPr/>
        <p:txBody>
          <a:bodyPr/>
          <a:lstStyle/>
          <a:p>
            <a:r>
              <a:rPr lang="en-US" dirty="0"/>
              <a:t>Hooks</a:t>
            </a:r>
          </a:p>
        </p:txBody>
      </p:sp>
      <p:sp>
        <p:nvSpPr>
          <p:cNvPr id="3" name="Text Placeholder 2">
            <a:extLst>
              <a:ext uri="{FF2B5EF4-FFF2-40B4-BE49-F238E27FC236}">
                <a16:creationId xmlns:a16="http://schemas.microsoft.com/office/drawing/2014/main" id="{416D4392-C1A3-B4F0-E774-59B6433D6BDB}"/>
              </a:ext>
            </a:extLst>
          </p:cNvPr>
          <p:cNvSpPr>
            <a:spLocks noGrp="1"/>
          </p:cNvSpPr>
          <p:nvPr>
            <p:ph type="body" idx="1"/>
          </p:nvPr>
        </p:nvSpPr>
        <p:spPr/>
        <p:txBody>
          <a:bodyPr/>
          <a:lstStyle/>
          <a:p>
            <a:r>
              <a:rPr lang="en-US" dirty="0">
                <a:solidFill>
                  <a:srgbClr val="FF0000"/>
                </a:solidFill>
              </a:rPr>
              <a:t>Hooks</a:t>
            </a:r>
            <a:r>
              <a:rPr lang="en-US" dirty="0"/>
              <a:t> allow you to "hook into" React features like state, lifecycle methods, and context in functional components.</a:t>
            </a:r>
          </a:p>
          <a:p>
            <a:r>
              <a:rPr lang="en-US" b="1" dirty="0">
                <a:solidFill>
                  <a:srgbClr val="FF0000"/>
                </a:solidFill>
              </a:rPr>
              <a:t>Common hooks include:</a:t>
            </a:r>
          </a:p>
          <a:p>
            <a:pPr lvl="1"/>
            <a:r>
              <a:rPr lang="en-US" sz="2800" i="1" dirty="0" err="1"/>
              <a:t>useState</a:t>
            </a:r>
            <a:r>
              <a:rPr lang="en-US" sz="2800" dirty="0"/>
              <a:t>: For state management</a:t>
            </a:r>
          </a:p>
          <a:p>
            <a:pPr lvl="1"/>
            <a:r>
              <a:rPr lang="en-US" sz="2800" i="1" dirty="0" err="1"/>
              <a:t>useEffect</a:t>
            </a:r>
            <a:r>
              <a:rPr lang="en-US" sz="2800" dirty="0"/>
              <a:t>: For side effects (e.g., data fetching, subscriptions).</a:t>
            </a:r>
          </a:p>
          <a:p>
            <a:pPr lvl="1"/>
            <a:r>
              <a:rPr lang="en-US" sz="2800" i="1" dirty="0" err="1"/>
              <a:t>useContext</a:t>
            </a:r>
            <a:r>
              <a:rPr lang="en-US" sz="2800" dirty="0"/>
              <a:t>: For accessing context values.</a:t>
            </a:r>
          </a:p>
          <a:p>
            <a:pPr lvl="1"/>
            <a:r>
              <a:rPr lang="en-US" sz="2800" i="1" dirty="0" err="1"/>
              <a:t>useReducer</a:t>
            </a:r>
            <a:r>
              <a:rPr lang="en-US" sz="2800" dirty="0"/>
              <a:t>: For managing more complex state logic</a:t>
            </a:r>
            <a:r>
              <a:rPr lang="en-US" dirty="0"/>
              <a:t>.</a:t>
            </a:r>
          </a:p>
        </p:txBody>
      </p:sp>
    </p:spTree>
    <p:extLst>
      <p:ext uri="{BB962C8B-B14F-4D97-AF65-F5344CB8AC3E}">
        <p14:creationId xmlns:p14="http://schemas.microsoft.com/office/powerpoint/2010/main" val="18848982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EC621-DB87-24FF-DE43-224136F918FC}"/>
              </a:ext>
            </a:extLst>
          </p:cNvPr>
          <p:cNvSpPr>
            <a:spLocks noGrp="1"/>
          </p:cNvSpPr>
          <p:nvPr>
            <p:ph type="title"/>
          </p:nvPr>
        </p:nvSpPr>
        <p:spPr/>
        <p:txBody>
          <a:bodyPr/>
          <a:lstStyle/>
          <a:p>
            <a:r>
              <a:rPr lang="en-US" dirty="0"/>
              <a:t>Context API</a:t>
            </a:r>
          </a:p>
        </p:txBody>
      </p:sp>
      <p:sp>
        <p:nvSpPr>
          <p:cNvPr id="3" name="Text Placeholder 2">
            <a:extLst>
              <a:ext uri="{FF2B5EF4-FFF2-40B4-BE49-F238E27FC236}">
                <a16:creationId xmlns:a16="http://schemas.microsoft.com/office/drawing/2014/main" id="{230AC97E-077F-8A03-4C6F-A52F9762541F}"/>
              </a:ext>
            </a:extLst>
          </p:cNvPr>
          <p:cNvSpPr>
            <a:spLocks noGrp="1"/>
          </p:cNvSpPr>
          <p:nvPr>
            <p:ph type="body" idx="1"/>
          </p:nvPr>
        </p:nvSpPr>
        <p:spPr>
          <a:xfrm>
            <a:off x="1104900" y="1600200"/>
            <a:ext cx="10204784" cy="4572000"/>
          </a:xfrm>
        </p:spPr>
        <p:txBody>
          <a:bodyPr>
            <a:normAutofit/>
          </a:bodyPr>
          <a:lstStyle/>
          <a:p>
            <a:pPr>
              <a:buFont typeface="Arial" panose="020B0604020202020204" pitchFamily="34" charset="0"/>
              <a:buChar char="•"/>
            </a:pPr>
            <a:r>
              <a:rPr lang="en-US" b="1" dirty="0">
                <a:solidFill>
                  <a:srgbClr val="FF0000"/>
                </a:solidFill>
              </a:rPr>
              <a:t>The Context API </a:t>
            </a:r>
            <a:r>
              <a:rPr lang="en-US" dirty="0"/>
              <a:t>provides a way to pass data through the component tree without having to manually pass props down at every level. </a:t>
            </a:r>
          </a:p>
          <a:p>
            <a:pPr>
              <a:buFont typeface="Arial" panose="020B0604020202020204" pitchFamily="34" charset="0"/>
              <a:buChar char="•"/>
            </a:pPr>
            <a:r>
              <a:rPr lang="en-US" dirty="0"/>
              <a:t>It is particularly useful for global state management, like theming or user authentication status.</a:t>
            </a:r>
          </a:p>
          <a:p>
            <a:pPr>
              <a:buFont typeface="Arial" panose="020B0604020202020204" pitchFamily="34" charset="0"/>
              <a:buChar char="•"/>
            </a:pPr>
            <a:r>
              <a:rPr lang="en-US" dirty="0"/>
              <a:t>With </a:t>
            </a:r>
            <a:r>
              <a:rPr lang="en-US" b="1" dirty="0"/>
              <a:t>Context API</a:t>
            </a:r>
            <a:r>
              <a:rPr lang="en-US" dirty="0"/>
              <a:t>, data can be accessed </a:t>
            </a:r>
            <a:r>
              <a:rPr lang="en-US" b="1" dirty="0"/>
              <a:t>directly</a:t>
            </a:r>
            <a:r>
              <a:rPr lang="en-US" dirty="0"/>
              <a:t> by any component that needs it.</a:t>
            </a:r>
          </a:p>
          <a:p>
            <a:endParaRPr lang="en-US" dirty="0"/>
          </a:p>
        </p:txBody>
      </p:sp>
      <p:pic>
        <p:nvPicPr>
          <p:cNvPr id="5" name="Picture 4">
            <a:extLst>
              <a:ext uri="{FF2B5EF4-FFF2-40B4-BE49-F238E27FC236}">
                <a16:creationId xmlns:a16="http://schemas.microsoft.com/office/drawing/2014/main" id="{11101BAE-126F-399F-1477-458DAA9525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1766" y="4969492"/>
            <a:ext cx="3756765" cy="140082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64250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7A967-01B1-F657-595C-1611A5EFA8A1}"/>
              </a:ext>
            </a:extLst>
          </p:cNvPr>
          <p:cNvSpPr>
            <a:spLocks noGrp="1"/>
          </p:cNvSpPr>
          <p:nvPr>
            <p:ph type="title"/>
          </p:nvPr>
        </p:nvSpPr>
        <p:spPr/>
        <p:txBody>
          <a:bodyPr/>
          <a:lstStyle/>
          <a:p>
            <a:r>
              <a:rPr lang="en-US" dirty="0"/>
              <a:t>React </a:t>
            </a:r>
            <a:r>
              <a:rPr lang="en-US" dirty="0" err="1"/>
              <a:t>DevTools</a:t>
            </a:r>
            <a:endParaRPr lang="en-US" dirty="0"/>
          </a:p>
        </p:txBody>
      </p:sp>
      <p:sp>
        <p:nvSpPr>
          <p:cNvPr id="3" name="Text Placeholder 2">
            <a:extLst>
              <a:ext uri="{FF2B5EF4-FFF2-40B4-BE49-F238E27FC236}">
                <a16:creationId xmlns:a16="http://schemas.microsoft.com/office/drawing/2014/main" id="{30CE02F8-2F2B-0B61-8938-3586CAD7ADF2}"/>
              </a:ext>
            </a:extLst>
          </p:cNvPr>
          <p:cNvSpPr>
            <a:spLocks noGrp="1"/>
          </p:cNvSpPr>
          <p:nvPr>
            <p:ph type="body" idx="1"/>
          </p:nvPr>
        </p:nvSpPr>
        <p:spPr/>
        <p:txBody>
          <a:bodyPr/>
          <a:lstStyle/>
          <a:p>
            <a:pPr>
              <a:buFont typeface="Arial" panose="020B0604020202020204" pitchFamily="34" charset="0"/>
              <a:buChar char="•"/>
            </a:pPr>
            <a:r>
              <a:rPr lang="en-US" b="1" dirty="0">
                <a:solidFill>
                  <a:srgbClr val="FF0000"/>
                </a:solidFill>
              </a:rPr>
              <a:t>React </a:t>
            </a:r>
            <a:r>
              <a:rPr lang="en-US" b="1" dirty="0" err="1">
                <a:solidFill>
                  <a:srgbClr val="FF0000"/>
                </a:solidFill>
              </a:rPr>
              <a:t>DevTools</a:t>
            </a:r>
            <a:r>
              <a:rPr lang="en-US" b="1" dirty="0">
                <a:solidFill>
                  <a:srgbClr val="FF0000"/>
                </a:solidFill>
              </a:rPr>
              <a:t> </a:t>
            </a:r>
            <a:r>
              <a:rPr lang="en-US" dirty="0"/>
              <a:t>is a </a:t>
            </a:r>
            <a:r>
              <a:rPr lang="en-US" b="1" dirty="0"/>
              <a:t>browser extension </a:t>
            </a:r>
            <a:r>
              <a:rPr lang="en-US" dirty="0"/>
              <a:t>that allows developers to inspect and debug React applications.</a:t>
            </a:r>
          </a:p>
          <a:p>
            <a:pPr>
              <a:buFont typeface="Arial" panose="020B0604020202020204" pitchFamily="34" charset="0"/>
              <a:buChar char="•"/>
            </a:pPr>
            <a:r>
              <a:rPr lang="en-US" dirty="0"/>
              <a:t>It provides features such as </a:t>
            </a:r>
            <a:r>
              <a:rPr lang="en-US" b="1" dirty="0"/>
              <a:t>inspecting the component </a:t>
            </a:r>
            <a:r>
              <a:rPr lang="en-US" dirty="0"/>
              <a:t>tree, viewing props and state, and measuring component performance.</a:t>
            </a:r>
          </a:p>
          <a:p>
            <a:endParaRPr lang="en-US" dirty="0"/>
          </a:p>
        </p:txBody>
      </p:sp>
    </p:spTree>
    <p:extLst>
      <p:ext uri="{BB962C8B-B14F-4D97-AF65-F5344CB8AC3E}">
        <p14:creationId xmlns:p14="http://schemas.microsoft.com/office/powerpoint/2010/main" val="3208417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A173E-F3E0-1CB6-D2C1-E3688A0920EF}"/>
              </a:ext>
            </a:extLst>
          </p:cNvPr>
          <p:cNvSpPr>
            <a:spLocks noGrp="1"/>
          </p:cNvSpPr>
          <p:nvPr>
            <p:ph type="title"/>
          </p:nvPr>
        </p:nvSpPr>
        <p:spPr/>
        <p:txBody>
          <a:bodyPr/>
          <a:lstStyle/>
          <a:p>
            <a:r>
              <a:rPr lang="en-US" dirty="0"/>
              <a:t>Bundling and Compilation</a:t>
            </a:r>
          </a:p>
        </p:txBody>
      </p:sp>
      <p:sp>
        <p:nvSpPr>
          <p:cNvPr id="3" name="Text Placeholder 2">
            <a:extLst>
              <a:ext uri="{FF2B5EF4-FFF2-40B4-BE49-F238E27FC236}">
                <a16:creationId xmlns:a16="http://schemas.microsoft.com/office/drawing/2014/main" id="{98753930-9316-DB12-BC1B-51FA727A03D2}"/>
              </a:ext>
            </a:extLst>
          </p:cNvPr>
          <p:cNvSpPr>
            <a:spLocks noGrp="1"/>
          </p:cNvSpPr>
          <p:nvPr>
            <p:ph type="body" idx="1"/>
          </p:nvPr>
        </p:nvSpPr>
        <p:spPr/>
        <p:txBody>
          <a:bodyPr>
            <a:normAutofit lnSpcReduction="10000"/>
          </a:bodyPr>
          <a:lstStyle/>
          <a:p>
            <a:r>
              <a:rPr lang="en-US" dirty="0"/>
              <a:t>Modern React applications are written using:</a:t>
            </a:r>
          </a:p>
          <a:p>
            <a:pPr lvl="1"/>
            <a:r>
              <a:rPr lang="en-US" b="1" dirty="0"/>
              <a:t>JSX</a:t>
            </a:r>
            <a:endParaRPr lang="en-US" dirty="0"/>
          </a:p>
          <a:p>
            <a:pPr lvl="1"/>
            <a:r>
              <a:rPr lang="en-US" b="1" dirty="0"/>
              <a:t>ES6+ JavaScript</a:t>
            </a:r>
            <a:endParaRPr lang="en-US" dirty="0"/>
          </a:p>
          <a:p>
            <a:pPr lvl="1"/>
            <a:r>
              <a:rPr lang="en-US" b="1" dirty="0"/>
              <a:t>Modules (import / export)</a:t>
            </a:r>
            <a:endParaRPr lang="en-US" dirty="0"/>
          </a:p>
          <a:p>
            <a:pPr lvl="1"/>
            <a:r>
              <a:rPr lang="en-US" b="1" dirty="0"/>
              <a:t>CSS, images, fonts</a:t>
            </a:r>
            <a:endParaRPr lang="en-US" dirty="0"/>
          </a:p>
          <a:p>
            <a:r>
              <a:rPr lang="en-US" dirty="0"/>
              <a:t> Browsers cannot directly understand all of these features.</a:t>
            </a:r>
          </a:p>
          <a:p>
            <a:r>
              <a:rPr lang="en-US" dirty="0"/>
              <a:t>Therefore, React projects require:</a:t>
            </a:r>
          </a:p>
          <a:p>
            <a:pPr lvl="1"/>
            <a:r>
              <a:rPr lang="en-US" b="1" dirty="0"/>
              <a:t>Compilation</a:t>
            </a:r>
            <a:r>
              <a:rPr lang="en-US" dirty="0"/>
              <a:t> → convert modern syntax into browser-compatible JavaScript</a:t>
            </a:r>
          </a:p>
          <a:p>
            <a:pPr lvl="1"/>
            <a:r>
              <a:rPr lang="en-US" b="1" dirty="0"/>
              <a:t>Bundling</a:t>
            </a:r>
            <a:r>
              <a:rPr lang="en-US" dirty="0"/>
              <a:t> → combine many files into optimized bundles</a:t>
            </a:r>
          </a:p>
          <a:p>
            <a:endParaRPr lang="en-US" dirty="0"/>
          </a:p>
          <a:p>
            <a:endParaRPr lang="en-US" dirty="0"/>
          </a:p>
        </p:txBody>
      </p:sp>
    </p:spTree>
    <p:extLst>
      <p:ext uri="{BB962C8B-B14F-4D97-AF65-F5344CB8AC3E}">
        <p14:creationId xmlns:p14="http://schemas.microsoft.com/office/powerpoint/2010/main" val="38167042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B54C3-75E7-DEC4-98AE-C7DA9E7A0D1D}"/>
              </a:ext>
            </a:extLst>
          </p:cNvPr>
          <p:cNvSpPr>
            <a:spLocks noGrp="1"/>
          </p:cNvSpPr>
          <p:nvPr>
            <p:ph type="title"/>
          </p:nvPr>
        </p:nvSpPr>
        <p:spPr/>
        <p:txBody>
          <a:bodyPr/>
          <a:lstStyle/>
          <a:p>
            <a:r>
              <a:rPr lang="en-US" dirty="0"/>
              <a:t>Bundling and Compilation</a:t>
            </a:r>
          </a:p>
        </p:txBody>
      </p:sp>
      <p:sp>
        <p:nvSpPr>
          <p:cNvPr id="3" name="Text Placeholder 2">
            <a:extLst>
              <a:ext uri="{FF2B5EF4-FFF2-40B4-BE49-F238E27FC236}">
                <a16:creationId xmlns:a16="http://schemas.microsoft.com/office/drawing/2014/main" id="{8DA71746-749A-3918-BB6B-EDACBBF32AC2}"/>
              </a:ext>
            </a:extLst>
          </p:cNvPr>
          <p:cNvSpPr>
            <a:spLocks noGrp="1"/>
          </p:cNvSpPr>
          <p:nvPr>
            <p:ph type="body" idx="1"/>
          </p:nvPr>
        </p:nvSpPr>
        <p:spPr/>
        <p:txBody>
          <a:bodyPr>
            <a:normAutofit/>
          </a:bodyPr>
          <a:lstStyle/>
          <a:p>
            <a:pPr>
              <a:buFont typeface="Arial" panose="020B0604020202020204" pitchFamily="34" charset="0"/>
              <a:buChar char="•"/>
            </a:pPr>
            <a:r>
              <a:rPr lang="en-US" dirty="0"/>
              <a:t>React applications are typically bundled using tools like </a:t>
            </a:r>
            <a:r>
              <a:rPr lang="en-US" b="1" dirty="0"/>
              <a:t>Webpack</a:t>
            </a:r>
            <a:r>
              <a:rPr lang="en-US" dirty="0"/>
              <a:t> or </a:t>
            </a:r>
            <a:r>
              <a:rPr lang="en-US" b="1" dirty="0"/>
              <a:t>Vite</a:t>
            </a:r>
            <a:r>
              <a:rPr lang="en-US" dirty="0"/>
              <a:t>. </a:t>
            </a:r>
          </a:p>
          <a:p>
            <a:pPr>
              <a:buFont typeface="Arial" panose="020B0604020202020204" pitchFamily="34" charset="0"/>
              <a:buChar char="•"/>
            </a:pPr>
            <a:r>
              <a:rPr lang="en-US" dirty="0"/>
              <a:t>JSX code is compiled into JavaScript during the build process, and ES6+ features are transpired into compatible JavaScript using Babel.</a:t>
            </a:r>
          </a:p>
          <a:p>
            <a:endParaRPr lang="en-US" dirty="0"/>
          </a:p>
        </p:txBody>
      </p:sp>
    </p:spTree>
    <p:extLst>
      <p:ext uri="{BB962C8B-B14F-4D97-AF65-F5344CB8AC3E}">
        <p14:creationId xmlns:p14="http://schemas.microsoft.com/office/powerpoint/2010/main" val="23864081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D5C5F-EB82-63F0-373A-22B4926711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00AA83-0A92-C5F9-EADD-B9FC012A0EF2}"/>
              </a:ext>
            </a:extLst>
          </p:cNvPr>
          <p:cNvSpPr>
            <a:spLocks noGrp="1"/>
          </p:cNvSpPr>
          <p:nvPr>
            <p:ph type="title"/>
          </p:nvPr>
        </p:nvSpPr>
        <p:spPr/>
        <p:txBody>
          <a:bodyPr/>
          <a:lstStyle/>
          <a:p>
            <a:r>
              <a:rPr lang="en-US" dirty="0"/>
              <a:t>Redux (optional)</a:t>
            </a:r>
          </a:p>
        </p:txBody>
      </p:sp>
      <p:sp>
        <p:nvSpPr>
          <p:cNvPr id="3" name="Text Placeholder 2">
            <a:extLst>
              <a:ext uri="{FF2B5EF4-FFF2-40B4-BE49-F238E27FC236}">
                <a16:creationId xmlns:a16="http://schemas.microsoft.com/office/drawing/2014/main" id="{9D2814AB-88FC-CDBA-F78E-2CBA3AA5364B}"/>
              </a:ext>
            </a:extLst>
          </p:cNvPr>
          <p:cNvSpPr>
            <a:spLocks noGrp="1"/>
          </p:cNvSpPr>
          <p:nvPr>
            <p:ph type="body" idx="1"/>
          </p:nvPr>
        </p:nvSpPr>
        <p:spPr/>
        <p:txBody>
          <a:bodyPr>
            <a:normAutofit/>
          </a:bodyPr>
          <a:lstStyle/>
          <a:p>
            <a:pPr>
              <a:buFont typeface="Arial" panose="020B0604020202020204" pitchFamily="34" charset="0"/>
              <a:buChar char="•"/>
            </a:pPr>
            <a:r>
              <a:rPr lang="en-US" dirty="0"/>
              <a:t>While React itself does not provide a built-in state management solution for large applications, </a:t>
            </a:r>
          </a:p>
          <a:p>
            <a:pPr>
              <a:buFont typeface="Arial" panose="020B0604020202020204" pitchFamily="34" charset="0"/>
              <a:buChar char="•"/>
            </a:pPr>
            <a:r>
              <a:rPr lang="en-US" b="1" dirty="0"/>
              <a:t>Redux</a:t>
            </a:r>
            <a:r>
              <a:rPr lang="en-US" dirty="0"/>
              <a:t> is often used in large-scale React applications for managing global state.</a:t>
            </a:r>
          </a:p>
          <a:p>
            <a:pPr>
              <a:buFont typeface="Arial" panose="020B0604020202020204" pitchFamily="34" charset="0"/>
              <a:buChar char="•"/>
            </a:pPr>
            <a:r>
              <a:rPr lang="en-US" dirty="0"/>
              <a:t>It uses a single immutable state tree and allows for predictable state updates via </a:t>
            </a:r>
            <a:r>
              <a:rPr lang="en-US" b="1" dirty="0"/>
              <a:t>actions</a:t>
            </a:r>
            <a:r>
              <a:rPr lang="en-US" dirty="0"/>
              <a:t> and </a:t>
            </a:r>
            <a:r>
              <a:rPr lang="en-US" b="1" dirty="0"/>
              <a:t>reducers</a:t>
            </a:r>
            <a:r>
              <a:rPr lang="en-US" dirty="0"/>
              <a:t>.</a:t>
            </a:r>
          </a:p>
          <a:p>
            <a:endParaRPr lang="en-US" dirty="0"/>
          </a:p>
        </p:txBody>
      </p:sp>
    </p:spTree>
    <p:extLst>
      <p:ext uri="{BB962C8B-B14F-4D97-AF65-F5344CB8AC3E}">
        <p14:creationId xmlns:p14="http://schemas.microsoft.com/office/powerpoint/2010/main" val="27293379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8389C-CD20-18AB-5646-69156F8A604B}"/>
              </a:ext>
            </a:extLst>
          </p:cNvPr>
          <p:cNvSpPr>
            <a:spLocks noGrp="1"/>
          </p:cNvSpPr>
          <p:nvPr>
            <p:ph type="title"/>
          </p:nvPr>
        </p:nvSpPr>
        <p:spPr>
          <a:xfrm>
            <a:off x="1104900" y="76200"/>
            <a:ext cx="9980682" cy="1096962"/>
          </a:xfrm>
        </p:spPr>
        <p:txBody>
          <a:bodyPr/>
          <a:lstStyle/>
          <a:p>
            <a:pPr lvl="0"/>
            <a:r>
              <a:rPr lang="en-US" dirty="0"/>
              <a:t>Event handling</a:t>
            </a:r>
          </a:p>
        </p:txBody>
      </p:sp>
      <p:sp>
        <p:nvSpPr>
          <p:cNvPr id="3" name="Text Placeholder 2">
            <a:extLst>
              <a:ext uri="{FF2B5EF4-FFF2-40B4-BE49-F238E27FC236}">
                <a16:creationId xmlns:a16="http://schemas.microsoft.com/office/drawing/2014/main" id="{2B7AAA26-6625-CD8B-D079-A1A705B3466F}"/>
              </a:ext>
            </a:extLst>
          </p:cNvPr>
          <p:cNvSpPr>
            <a:spLocks noGrp="1"/>
          </p:cNvSpPr>
          <p:nvPr>
            <p:ph type="body" idx="1"/>
          </p:nvPr>
        </p:nvSpPr>
        <p:spPr>
          <a:xfrm>
            <a:off x="1104900" y="1600200"/>
            <a:ext cx="10108532" cy="4572000"/>
          </a:xfrm>
        </p:spPr>
        <p:txBody>
          <a:bodyPr>
            <a:normAutofit/>
          </a:bodyPr>
          <a:lstStyle/>
          <a:p>
            <a:r>
              <a:rPr lang="en-US" b="1" dirty="0">
                <a:solidFill>
                  <a:srgbClr val="FF0000"/>
                </a:solidFill>
              </a:rPr>
              <a:t>React Events</a:t>
            </a:r>
            <a:r>
              <a:rPr lang="en-US" dirty="0">
                <a:solidFill>
                  <a:srgbClr val="FF0000"/>
                </a:solidFill>
              </a:rPr>
              <a:t>: </a:t>
            </a:r>
            <a:r>
              <a:rPr lang="en-US" dirty="0"/>
              <a:t>Just like HTML DOM events, React can perform actions based on </a:t>
            </a:r>
            <a:r>
              <a:rPr lang="en-US" b="1" dirty="0"/>
              <a:t>user events. </a:t>
            </a:r>
            <a:r>
              <a:rPr lang="en-US" dirty="0"/>
              <a:t>React has the same events as HTML: click, change, mouseover etc.</a:t>
            </a:r>
          </a:p>
          <a:p>
            <a:r>
              <a:rPr lang="en-US" b="1" dirty="0"/>
              <a:t>Adding Events: </a:t>
            </a:r>
            <a:r>
              <a:rPr lang="en-US" dirty="0"/>
              <a:t>React events are written in camelCase syntax:</a:t>
            </a:r>
          </a:p>
          <a:p>
            <a:pPr lvl="1"/>
            <a:r>
              <a:rPr lang="en-US" b="1" dirty="0" err="1"/>
              <a:t>onClick</a:t>
            </a:r>
            <a:r>
              <a:rPr lang="en-US" dirty="0"/>
              <a:t> instead of onclick.</a:t>
            </a:r>
          </a:p>
          <a:p>
            <a:pPr lvl="1"/>
            <a:r>
              <a:rPr lang="en-US" dirty="0"/>
              <a:t>React event handlers are written inside curly braces:</a:t>
            </a:r>
          </a:p>
          <a:p>
            <a:pPr lvl="1"/>
            <a:r>
              <a:rPr lang="en-US" b="1" dirty="0" err="1"/>
              <a:t>onClick</a:t>
            </a:r>
            <a:r>
              <a:rPr lang="en-US" b="1" dirty="0"/>
              <a:t>={shoot}</a:t>
            </a:r>
            <a:r>
              <a:rPr lang="en-US" dirty="0"/>
              <a:t>  instead of </a:t>
            </a:r>
            <a:r>
              <a:rPr lang="en-US" b="1" dirty="0"/>
              <a:t>onclick="shoot()".</a:t>
            </a:r>
          </a:p>
        </p:txBody>
      </p:sp>
    </p:spTree>
    <p:extLst>
      <p:ext uri="{BB962C8B-B14F-4D97-AF65-F5344CB8AC3E}">
        <p14:creationId xmlns:p14="http://schemas.microsoft.com/office/powerpoint/2010/main" val="14286049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E5B33-7DC6-D24C-36B1-CE10F09766DF}"/>
              </a:ext>
            </a:extLst>
          </p:cNvPr>
          <p:cNvSpPr>
            <a:spLocks noGrp="1"/>
          </p:cNvSpPr>
          <p:nvPr>
            <p:ph type="title"/>
          </p:nvPr>
        </p:nvSpPr>
        <p:spPr/>
        <p:txBody>
          <a:bodyPr/>
          <a:lstStyle/>
          <a:p>
            <a:r>
              <a:rPr lang="en-US" dirty="0"/>
              <a:t>Event handling</a:t>
            </a:r>
          </a:p>
        </p:txBody>
      </p:sp>
      <p:sp>
        <p:nvSpPr>
          <p:cNvPr id="3" name="Text Placeholder 2">
            <a:extLst>
              <a:ext uri="{FF2B5EF4-FFF2-40B4-BE49-F238E27FC236}">
                <a16:creationId xmlns:a16="http://schemas.microsoft.com/office/drawing/2014/main" id="{94E5F299-B244-2A48-3A61-D94D807BD631}"/>
              </a:ext>
            </a:extLst>
          </p:cNvPr>
          <p:cNvSpPr>
            <a:spLocks noGrp="1"/>
          </p:cNvSpPr>
          <p:nvPr>
            <p:ph type="body" idx="1"/>
          </p:nvPr>
        </p:nvSpPr>
        <p:spPr/>
        <p:txBody>
          <a:bodyPr/>
          <a:lstStyle/>
          <a:p>
            <a:r>
              <a:rPr lang="en-US" b="1" dirty="0">
                <a:solidFill>
                  <a:srgbClr val="FF0000"/>
                </a:solidFill>
              </a:rPr>
              <a:t>React Events</a:t>
            </a:r>
          </a:p>
          <a:p>
            <a:pPr lvl="1"/>
            <a:r>
              <a:rPr lang="en-US" b="1" dirty="0"/>
              <a:t>Example: </a:t>
            </a:r>
          </a:p>
          <a:p>
            <a:pPr marL="457200" lvl="1" indent="0">
              <a:buNone/>
            </a:pPr>
            <a:r>
              <a:rPr lang="en-US" b="1" dirty="0"/>
              <a:t>React</a:t>
            </a:r>
          </a:p>
          <a:p>
            <a:pPr marL="457200" lvl="1" indent="0">
              <a:buNone/>
            </a:pPr>
            <a:endParaRPr lang="en-US" b="1" dirty="0"/>
          </a:p>
          <a:p>
            <a:pPr marL="457200" lvl="1" indent="0">
              <a:buNone/>
            </a:pPr>
            <a:r>
              <a:rPr lang="en-US" b="1" dirty="0"/>
              <a:t>HTML:</a:t>
            </a:r>
          </a:p>
          <a:p>
            <a:pPr lvl="1"/>
            <a:endParaRPr lang="en-US" b="1" dirty="0"/>
          </a:p>
          <a:p>
            <a:pPr lvl="1"/>
            <a:endParaRPr lang="en-US" b="1" dirty="0"/>
          </a:p>
          <a:p>
            <a:pPr lvl="1"/>
            <a:endParaRPr lang="en-US" b="1" dirty="0"/>
          </a:p>
          <a:p>
            <a:pPr lvl="1"/>
            <a:endParaRPr lang="en-US" b="1" dirty="0"/>
          </a:p>
          <a:p>
            <a:pPr lvl="1"/>
            <a:endParaRPr lang="en-US" b="1" dirty="0"/>
          </a:p>
          <a:p>
            <a:endParaRPr lang="en-US" dirty="0"/>
          </a:p>
        </p:txBody>
      </p:sp>
      <p:pic>
        <p:nvPicPr>
          <p:cNvPr id="5" name="Picture 4">
            <a:extLst>
              <a:ext uri="{FF2B5EF4-FFF2-40B4-BE49-F238E27FC236}">
                <a16:creationId xmlns:a16="http://schemas.microsoft.com/office/drawing/2014/main" id="{9A41D59A-1C03-8B41-9FEF-0FB32BB29C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3531" y="2565191"/>
            <a:ext cx="8182051" cy="645952"/>
          </a:xfrm>
          <a:prstGeom prst="rect">
            <a:avLst/>
          </a:prstGeom>
        </p:spPr>
      </p:pic>
      <p:pic>
        <p:nvPicPr>
          <p:cNvPr id="7" name="Picture 6">
            <a:extLst>
              <a:ext uri="{FF2B5EF4-FFF2-40B4-BE49-F238E27FC236}">
                <a16:creationId xmlns:a16="http://schemas.microsoft.com/office/drawing/2014/main" id="{6EFE7D68-0B62-495A-2CBD-27042E016F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3530" y="3345267"/>
            <a:ext cx="8182051" cy="58582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0229685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8389C-CD20-18AB-5646-69156F8A604B}"/>
              </a:ext>
            </a:extLst>
          </p:cNvPr>
          <p:cNvSpPr>
            <a:spLocks noGrp="1"/>
          </p:cNvSpPr>
          <p:nvPr>
            <p:ph type="title"/>
          </p:nvPr>
        </p:nvSpPr>
        <p:spPr>
          <a:xfrm>
            <a:off x="1104900" y="76200"/>
            <a:ext cx="9980682" cy="1096962"/>
          </a:xfrm>
        </p:spPr>
        <p:txBody>
          <a:bodyPr/>
          <a:lstStyle/>
          <a:p>
            <a:r>
              <a:rPr lang="en-US" dirty="0"/>
              <a:t>Styling components</a:t>
            </a:r>
          </a:p>
        </p:txBody>
      </p:sp>
      <p:sp>
        <p:nvSpPr>
          <p:cNvPr id="3" name="Text Placeholder 2">
            <a:extLst>
              <a:ext uri="{FF2B5EF4-FFF2-40B4-BE49-F238E27FC236}">
                <a16:creationId xmlns:a16="http://schemas.microsoft.com/office/drawing/2014/main" id="{2B7AAA26-6625-CD8B-D079-A1A705B3466F}"/>
              </a:ext>
            </a:extLst>
          </p:cNvPr>
          <p:cNvSpPr>
            <a:spLocks noGrp="1"/>
          </p:cNvSpPr>
          <p:nvPr>
            <p:ph type="body" idx="1"/>
          </p:nvPr>
        </p:nvSpPr>
        <p:spPr>
          <a:xfrm>
            <a:off x="1104900" y="1600200"/>
            <a:ext cx="9982200" cy="4572000"/>
          </a:xfrm>
        </p:spPr>
        <p:txBody>
          <a:bodyPr>
            <a:normAutofit/>
          </a:bodyPr>
          <a:lstStyle/>
          <a:p>
            <a:r>
              <a:rPr lang="en-US" b="1" dirty="0">
                <a:solidFill>
                  <a:srgbClr val="FF0000"/>
                </a:solidFill>
              </a:rPr>
              <a:t>Styling React Using CSS: </a:t>
            </a:r>
            <a:r>
              <a:rPr lang="en-US" dirty="0"/>
              <a:t>There are many ways to style React with CSS:</a:t>
            </a:r>
          </a:p>
          <a:p>
            <a:pPr lvl="1"/>
            <a:r>
              <a:rPr lang="en-US" dirty="0"/>
              <a:t>Inline styling</a:t>
            </a:r>
          </a:p>
          <a:p>
            <a:pPr lvl="1"/>
            <a:r>
              <a:rPr lang="en-US" dirty="0"/>
              <a:t>CSS stylesheets</a:t>
            </a:r>
          </a:p>
          <a:p>
            <a:pPr lvl="1"/>
            <a:r>
              <a:rPr lang="en-US" dirty="0"/>
              <a:t>CSS Modules</a:t>
            </a:r>
          </a:p>
        </p:txBody>
      </p:sp>
    </p:spTree>
    <p:extLst>
      <p:ext uri="{BB962C8B-B14F-4D97-AF65-F5344CB8AC3E}">
        <p14:creationId xmlns:p14="http://schemas.microsoft.com/office/powerpoint/2010/main" val="33914645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17292-480E-DF13-1684-26D0410084B2}"/>
              </a:ext>
            </a:extLst>
          </p:cNvPr>
          <p:cNvSpPr>
            <a:spLocks noGrp="1"/>
          </p:cNvSpPr>
          <p:nvPr>
            <p:ph type="title"/>
          </p:nvPr>
        </p:nvSpPr>
        <p:spPr/>
        <p:txBody>
          <a:bodyPr/>
          <a:lstStyle/>
          <a:p>
            <a:r>
              <a:rPr lang="en-US" dirty="0"/>
              <a:t>Styling components</a:t>
            </a:r>
          </a:p>
        </p:txBody>
      </p:sp>
      <p:sp>
        <p:nvSpPr>
          <p:cNvPr id="3" name="Text Placeholder 2">
            <a:extLst>
              <a:ext uri="{FF2B5EF4-FFF2-40B4-BE49-F238E27FC236}">
                <a16:creationId xmlns:a16="http://schemas.microsoft.com/office/drawing/2014/main" id="{FCEECA1E-0968-C72B-98EF-6EC432B76BD3}"/>
              </a:ext>
            </a:extLst>
          </p:cNvPr>
          <p:cNvSpPr>
            <a:spLocks noGrp="1"/>
          </p:cNvSpPr>
          <p:nvPr>
            <p:ph type="body" idx="1"/>
          </p:nvPr>
        </p:nvSpPr>
        <p:spPr/>
        <p:txBody>
          <a:bodyPr/>
          <a:lstStyle/>
          <a:p>
            <a:r>
              <a:rPr lang="en-US" b="1" dirty="0">
                <a:solidFill>
                  <a:srgbClr val="FF0000"/>
                </a:solidFill>
              </a:rPr>
              <a:t>Using Inline Styles: </a:t>
            </a:r>
            <a:r>
              <a:rPr lang="en-US" dirty="0"/>
              <a:t>Inline styles in React are defined using the style </a:t>
            </a:r>
            <a:r>
              <a:rPr lang="en-US" b="1" dirty="0"/>
              <a:t>prop</a:t>
            </a:r>
            <a:r>
              <a:rPr lang="en-US" dirty="0"/>
              <a:t>, which accepts an object. </a:t>
            </a:r>
          </a:p>
          <a:p>
            <a:r>
              <a:rPr lang="en-US" dirty="0"/>
              <a:t>The keys in the object are written in c</a:t>
            </a:r>
            <a:r>
              <a:rPr lang="en-US" b="1" dirty="0"/>
              <a:t>amelCase</a:t>
            </a:r>
            <a:r>
              <a:rPr lang="en-US" dirty="0"/>
              <a:t>, and the values are the corresponding CSS values.</a:t>
            </a:r>
          </a:p>
          <a:p>
            <a:r>
              <a:rPr lang="en-US" b="1" dirty="0"/>
              <a:t>Syntax</a:t>
            </a:r>
            <a:r>
              <a:rPr lang="en-US" dirty="0"/>
              <a:t>: assign inline styles to CSS elements is mentioned below</a:t>
            </a:r>
          </a:p>
        </p:txBody>
      </p:sp>
      <p:pic>
        <p:nvPicPr>
          <p:cNvPr id="5" name="Picture 4">
            <a:extLst>
              <a:ext uri="{FF2B5EF4-FFF2-40B4-BE49-F238E27FC236}">
                <a16:creationId xmlns:a16="http://schemas.microsoft.com/office/drawing/2014/main" id="{D2D3853D-2D02-345B-BDF4-919B4D4031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7678" y="4843447"/>
            <a:ext cx="9175125" cy="56274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826602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7660D-D1DA-B6F7-432E-29FC5F779BFB}"/>
              </a:ext>
            </a:extLst>
          </p:cNvPr>
          <p:cNvSpPr>
            <a:spLocks noGrp="1"/>
          </p:cNvSpPr>
          <p:nvPr>
            <p:ph type="title"/>
          </p:nvPr>
        </p:nvSpPr>
        <p:spPr/>
        <p:txBody>
          <a:bodyPr/>
          <a:lstStyle/>
          <a:p>
            <a:r>
              <a:rPr lang="en-US" dirty="0"/>
              <a:t>Styling components</a:t>
            </a:r>
          </a:p>
        </p:txBody>
      </p:sp>
      <p:sp>
        <p:nvSpPr>
          <p:cNvPr id="3" name="Text Placeholder 2">
            <a:extLst>
              <a:ext uri="{FF2B5EF4-FFF2-40B4-BE49-F238E27FC236}">
                <a16:creationId xmlns:a16="http://schemas.microsoft.com/office/drawing/2014/main" id="{0C178574-4344-818A-FC86-8D8519B543A2}"/>
              </a:ext>
            </a:extLst>
          </p:cNvPr>
          <p:cNvSpPr>
            <a:spLocks noGrp="1"/>
          </p:cNvSpPr>
          <p:nvPr>
            <p:ph type="body" idx="1"/>
          </p:nvPr>
        </p:nvSpPr>
        <p:spPr/>
        <p:txBody>
          <a:bodyPr/>
          <a:lstStyle/>
          <a:p>
            <a:r>
              <a:rPr lang="en-US" b="1" dirty="0">
                <a:solidFill>
                  <a:srgbClr val="FF0000"/>
                </a:solidFill>
              </a:rPr>
              <a:t>Using Inline Styles: </a:t>
            </a:r>
          </a:p>
          <a:p>
            <a:r>
              <a:rPr lang="en-US" dirty="0"/>
              <a:t>Example: add inline styling to the React elements. </a:t>
            </a:r>
          </a:p>
          <a:p>
            <a:endParaRPr lang="en-US" dirty="0"/>
          </a:p>
        </p:txBody>
      </p:sp>
      <p:pic>
        <p:nvPicPr>
          <p:cNvPr id="5" name="Picture 4">
            <a:extLst>
              <a:ext uri="{FF2B5EF4-FFF2-40B4-BE49-F238E27FC236}">
                <a16:creationId xmlns:a16="http://schemas.microsoft.com/office/drawing/2014/main" id="{CB155F14-3A5F-EC76-1A6A-B18F357836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3252" y="2814918"/>
            <a:ext cx="6825495" cy="378432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34478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0A379-74A1-0E35-AC37-E2F757FCCE6A}"/>
              </a:ext>
            </a:extLst>
          </p:cNvPr>
          <p:cNvSpPr>
            <a:spLocks noGrp="1"/>
          </p:cNvSpPr>
          <p:nvPr>
            <p:ph type="title"/>
          </p:nvPr>
        </p:nvSpPr>
        <p:spPr/>
        <p:txBody>
          <a:bodyPr/>
          <a:lstStyle/>
          <a:p>
            <a:r>
              <a:rPr lang="en-US" dirty="0"/>
              <a:t>Styling components</a:t>
            </a:r>
          </a:p>
        </p:txBody>
      </p:sp>
      <p:sp>
        <p:nvSpPr>
          <p:cNvPr id="3" name="Text Placeholder 2">
            <a:extLst>
              <a:ext uri="{FF2B5EF4-FFF2-40B4-BE49-F238E27FC236}">
                <a16:creationId xmlns:a16="http://schemas.microsoft.com/office/drawing/2014/main" id="{BA1C1829-80F6-49AA-8359-4A506EC433F0}"/>
              </a:ext>
            </a:extLst>
          </p:cNvPr>
          <p:cNvSpPr>
            <a:spLocks noGrp="1"/>
          </p:cNvSpPr>
          <p:nvPr>
            <p:ph type="body" idx="1"/>
          </p:nvPr>
        </p:nvSpPr>
        <p:spPr/>
        <p:txBody>
          <a:bodyPr/>
          <a:lstStyle/>
          <a:p>
            <a:r>
              <a:rPr lang="en-US" b="1" dirty="0">
                <a:solidFill>
                  <a:srgbClr val="FF0000"/>
                </a:solidFill>
              </a:rPr>
              <a:t>Using CSS File</a:t>
            </a:r>
            <a:r>
              <a:rPr lang="en-US" dirty="0"/>
              <a:t>: To style elements using a traditional CSS file, you can create a CSS file and import it into your React component.</a:t>
            </a:r>
          </a:p>
          <a:p>
            <a:pPr lvl="1"/>
            <a:r>
              <a:rPr lang="en-US" b="1" dirty="0"/>
              <a:t>Syntax</a:t>
            </a:r>
            <a:r>
              <a:rPr lang="en-US" dirty="0"/>
              <a:t>: assign the classes to the </a:t>
            </a:r>
            <a:r>
              <a:rPr lang="en-US" b="1" dirty="0" err="1"/>
              <a:t>className</a:t>
            </a:r>
            <a:r>
              <a:rPr lang="en-US" dirty="0"/>
              <a:t> </a:t>
            </a:r>
            <a:r>
              <a:rPr lang="en-US" b="1" dirty="0"/>
              <a:t>prop</a:t>
            </a:r>
            <a:r>
              <a:rPr lang="en-US" dirty="0"/>
              <a:t> . </a:t>
            </a:r>
          </a:p>
        </p:txBody>
      </p:sp>
      <p:pic>
        <p:nvPicPr>
          <p:cNvPr id="5" name="Picture 4">
            <a:extLst>
              <a:ext uri="{FF2B5EF4-FFF2-40B4-BE49-F238E27FC236}">
                <a16:creationId xmlns:a16="http://schemas.microsoft.com/office/drawing/2014/main" id="{DEC0864C-3772-AE91-9A73-C9521FC2D6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0535" y="3645569"/>
            <a:ext cx="8710929" cy="59275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098691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68242-6C69-DC73-C6DF-A8FBBF9AD27B}"/>
              </a:ext>
            </a:extLst>
          </p:cNvPr>
          <p:cNvSpPr>
            <a:spLocks noGrp="1"/>
          </p:cNvSpPr>
          <p:nvPr>
            <p:ph type="title"/>
          </p:nvPr>
        </p:nvSpPr>
        <p:spPr/>
        <p:txBody>
          <a:bodyPr/>
          <a:lstStyle/>
          <a:p>
            <a:r>
              <a:rPr lang="en-US" dirty="0"/>
              <a:t>Styling components</a:t>
            </a:r>
          </a:p>
        </p:txBody>
      </p:sp>
      <p:sp>
        <p:nvSpPr>
          <p:cNvPr id="3" name="Text Placeholder 2">
            <a:extLst>
              <a:ext uri="{FF2B5EF4-FFF2-40B4-BE49-F238E27FC236}">
                <a16:creationId xmlns:a16="http://schemas.microsoft.com/office/drawing/2014/main" id="{95202517-2138-4514-42D6-5675734A0BE8}"/>
              </a:ext>
            </a:extLst>
          </p:cNvPr>
          <p:cNvSpPr>
            <a:spLocks noGrp="1"/>
          </p:cNvSpPr>
          <p:nvPr>
            <p:ph type="body" idx="1"/>
          </p:nvPr>
        </p:nvSpPr>
        <p:spPr/>
        <p:txBody>
          <a:bodyPr/>
          <a:lstStyle/>
          <a:p>
            <a:r>
              <a:rPr lang="en-US" b="1" dirty="0">
                <a:solidFill>
                  <a:srgbClr val="FF0000"/>
                </a:solidFill>
              </a:rPr>
              <a:t>Using CSS File</a:t>
            </a:r>
          </a:p>
          <a:p>
            <a:pPr lvl="1"/>
            <a:r>
              <a:rPr lang="en-US" dirty="0">
                <a:solidFill>
                  <a:schemeClr val="tx2"/>
                </a:solidFill>
              </a:rPr>
              <a:t>Example: </a:t>
            </a:r>
          </a:p>
        </p:txBody>
      </p:sp>
      <p:pic>
        <p:nvPicPr>
          <p:cNvPr id="5" name="Picture 4">
            <a:extLst>
              <a:ext uri="{FF2B5EF4-FFF2-40B4-BE49-F238E27FC236}">
                <a16:creationId xmlns:a16="http://schemas.microsoft.com/office/drawing/2014/main" id="{758554C6-99E3-9714-56EA-61418B3562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0501" y="2420198"/>
            <a:ext cx="6841725" cy="330683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06744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DCAA8-054C-E364-22DC-55F790C1535D}"/>
              </a:ext>
            </a:extLst>
          </p:cNvPr>
          <p:cNvSpPr>
            <a:spLocks noGrp="1"/>
          </p:cNvSpPr>
          <p:nvPr>
            <p:ph type="title"/>
          </p:nvPr>
        </p:nvSpPr>
        <p:spPr/>
        <p:txBody>
          <a:bodyPr/>
          <a:lstStyle/>
          <a:p>
            <a:r>
              <a:rPr lang="en-US" dirty="0"/>
              <a:t>Styling components</a:t>
            </a:r>
          </a:p>
        </p:txBody>
      </p:sp>
      <p:sp>
        <p:nvSpPr>
          <p:cNvPr id="3" name="Text Placeholder 2">
            <a:extLst>
              <a:ext uri="{FF2B5EF4-FFF2-40B4-BE49-F238E27FC236}">
                <a16:creationId xmlns:a16="http://schemas.microsoft.com/office/drawing/2014/main" id="{CFB37BB6-ADFF-DB90-503D-D1C1EFB5E81C}"/>
              </a:ext>
            </a:extLst>
          </p:cNvPr>
          <p:cNvSpPr>
            <a:spLocks noGrp="1"/>
          </p:cNvSpPr>
          <p:nvPr>
            <p:ph type="body" idx="1"/>
          </p:nvPr>
        </p:nvSpPr>
        <p:spPr/>
        <p:txBody>
          <a:bodyPr/>
          <a:lstStyle/>
          <a:p>
            <a:r>
              <a:rPr lang="en-US" b="1" dirty="0">
                <a:solidFill>
                  <a:srgbClr val="FF0000"/>
                </a:solidFill>
              </a:rPr>
              <a:t>Using CSS Modules</a:t>
            </a:r>
            <a:r>
              <a:rPr lang="en-US" dirty="0"/>
              <a:t>: CSS Modules allow you to locally scope CSS by generating unique class names. </a:t>
            </a:r>
          </a:p>
          <a:p>
            <a:r>
              <a:rPr lang="en-US" dirty="0"/>
              <a:t>To use CSS Modules, create a file with the </a:t>
            </a:r>
            <a:r>
              <a:rPr lang="en-US" b="1" dirty="0"/>
              <a:t>.module.css </a:t>
            </a:r>
            <a:r>
              <a:rPr lang="en-US" dirty="0"/>
              <a:t>extension and import it into your component.</a:t>
            </a:r>
          </a:p>
          <a:p>
            <a:r>
              <a:rPr lang="en-US" b="1" dirty="0"/>
              <a:t>Syntax</a:t>
            </a:r>
            <a:r>
              <a:rPr lang="en-US" dirty="0"/>
              <a:t>: </a:t>
            </a:r>
          </a:p>
        </p:txBody>
      </p:sp>
      <p:pic>
        <p:nvPicPr>
          <p:cNvPr id="5" name="Picture 4">
            <a:extLst>
              <a:ext uri="{FF2B5EF4-FFF2-40B4-BE49-F238E27FC236}">
                <a16:creationId xmlns:a16="http://schemas.microsoft.com/office/drawing/2014/main" id="{234594B9-78FF-B49C-CAF5-EDD8AC71E0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2672" y="4373462"/>
            <a:ext cx="9785138" cy="760011"/>
          </a:xfrm>
          <a:prstGeom prst="rect">
            <a:avLst/>
          </a:prstGeom>
        </p:spPr>
      </p:pic>
    </p:spTree>
    <p:extLst>
      <p:ext uri="{BB962C8B-B14F-4D97-AF65-F5344CB8AC3E}">
        <p14:creationId xmlns:p14="http://schemas.microsoft.com/office/powerpoint/2010/main" val="1503786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7FEEB-CC20-7407-0F55-4387FE5CC1D3}"/>
              </a:ext>
            </a:extLst>
          </p:cNvPr>
          <p:cNvSpPr>
            <a:spLocks noGrp="1"/>
          </p:cNvSpPr>
          <p:nvPr>
            <p:ph type="title"/>
          </p:nvPr>
        </p:nvSpPr>
        <p:spPr/>
        <p:txBody>
          <a:bodyPr/>
          <a:lstStyle/>
          <a:p>
            <a:r>
              <a:rPr lang="en-US" dirty="0"/>
              <a:t>Styling components</a:t>
            </a:r>
          </a:p>
        </p:txBody>
      </p:sp>
      <p:sp>
        <p:nvSpPr>
          <p:cNvPr id="3" name="Text Placeholder 2">
            <a:extLst>
              <a:ext uri="{FF2B5EF4-FFF2-40B4-BE49-F238E27FC236}">
                <a16:creationId xmlns:a16="http://schemas.microsoft.com/office/drawing/2014/main" id="{0CAE4D0F-497A-3B69-FF6D-E500757541B5}"/>
              </a:ext>
            </a:extLst>
          </p:cNvPr>
          <p:cNvSpPr>
            <a:spLocks noGrp="1"/>
          </p:cNvSpPr>
          <p:nvPr>
            <p:ph type="body" idx="1"/>
          </p:nvPr>
        </p:nvSpPr>
        <p:spPr/>
        <p:txBody>
          <a:bodyPr/>
          <a:lstStyle/>
          <a:p>
            <a:r>
              <a:rPr lang="en-US" b="1" dirty="0">
                <a:solidFill>
                  <a:srgbClr val="FF0000"/>
                </a:solidFill>
              </a:rPr>
              <a:t>Using CSS Modules: </a:t>
            </a:r>
          </a:p>
          <a:p>
            <a:pPr lvl="1"/>
            <a:r>
              <a:rPr lang="en-US" dirty="0"/>
              <a:t>assign the classes to the </a:t>
            </a:r>
            <a:r>
              <a:rPr lang="en-US" b="1" dirty="0" err="1"/>
              <a:t>className</a:t>
            </a:r>
            <a:r>
              <a:rPr lang="en-US" dirty="0"/>
              <a:t> properties</a:t>
            </a:r>
          </a:p>
          <a:p>
            <a:pPr lvl="1"/>
            <a:endParaRPr lang="en-US" dirty="0"/>
          </a:p>
          <a:p>
            <a:pPr lvl="1"/>
            <a:endParaRPr lang="en-US" dirty="0"/>
          </a:p>
          <a:p>
            <a:pPr lvl="1"/>
            <a:endParaRPr lang="en-US" dirty="0"/>
          </a:p>
          <a:p>
            <a:pPr lvl="1"/>
            <a:endParaRPr lang="en-US" dirty="0"/>
          </a:p>
        </p:txBody>
      </p:sp>
      <p:pic>
        <p:nvPicPr>
          <p:cNvPr id="5" name="Picture 4">
            <a:extLst>
              <a:ext uri="{FF2B5EF4-FFF2-40B4-BE49-F238E27FC236}">
                <a16:creationId xmlns:a16="http://schemas.microsoft.com/office/drawing/2014/main" id="{8D20CDD3-C419-E36C-5A59-7DF0891DBA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1388" y="2789239"/>
            <a:ext cx="8647706" cy="109696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383762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69CA6-0F4E-ADCE-3291-53CF922B14FB}"/>
              </a:ext>
            </a:extLst>
          </p:cNvPr>
          <p:cNvSpPr>
            <a:spLocks noGrp="1"/>
          </p:cNvSpPr>
          <p:nvPr>
            <p:ph type="title"/>
          </p:nvPr>
        </p:nvSpPr>
        <p:spPr/>
        <p:txBody>
          <a:bodyPr/>
          <a:lstStyle/>
          <a:p>
            <a:r>
              <a:rPr lang="en-US" dirty="0"/>
              <a:t>Styling components</a:t>
            </a:r>
          </a:p>
        </p:txBody>
      </p:sp>
      <p:sp>
        <p:nvSpPr>
          <p:cNvPr id="3" name="Text Placeholder 2">
            <a:extLst>
              <a:ext uri="{FF2B5EF4-FFF2-40B4-BE49-F238E27FC236}">
                <a16:creationId xmlns:a16="http://schemas.microsoft.com/office/drawing/2014/main" id="{2178F758-C216-2756-08D9-71F26A64056D}"/>
              </a:ext>
            </a:extLst>
          </p:cNvPr>
          <p:cNvSpPr>
            <a:spLocks noGrp="1"/>
          </p:cNvSpPr>
          <p:nvPr>
            <p:ph type="body" idx="1"/>
          </p:nvPr>
        </p:nvSpPr>
        <p:spPr>
          <a:xfrm>
            <a:off x="1104900" y="1600200"/>
            <a:ext cx="9980682" cy="4572000"/>
          </a:xfrm>
        </p:spPr>
        <p:txBody>
          <a:bodyPr/>
          <a:lstStyle/>
          <a:p>
            <a:r>
              <a:rPr lang="en-US" b="1" dirty="0">
                <a:solidFill>
                  <a:srgbClr val="FF0000"/>
                </a:solidFill>
              </a:rPr>
              <a:t>Using CSS Modules: </a:t>
            </a:r>
          </a:p>
          <a:p>
            <a:r>
              <a:rPr lang="en-US" dirty="0"/>
              <a:t>Example :The content of </a:t>
            </a:r>
            <a:r>
              <a:rPr lang="en-US" b="1" dirty="0"/>
              <a:t>App.js </a:t>
            </a:r>
            <a:r>
              <a:rPr lang="en-US" dirty="0"/>
              <a:t>and </a:t>
            </a:r>
            <a:r>
              <a:rPr lang="en-US" b="1" dirty="0"/>
              <a:t>App.css </a:t>
            </a:r>
            <a:r>
              <a:rPr lang="en-US" dirty="0"/>
              <a:t>files demonstrating the use of CSS modules to style the React element</a:t>
            </a:r>
          </a:p>
        </p:txBody>
      </p:sp>
      <p:sp>
        <p:nvSpPr>
          <p:cNvPr id="5" name="TextBox 4">
            <a:extLst>
              <a:ext uri="{FF2B5EF4-FFF2-40B4-BE49-F238E27FC236}">
                <a16:creationId xmlns:a16="http://schemas.microsoft.com/office/drawing/2014/main" id="{DDAE8387-8D37-87F2-05C4-7A98061BF604}"/>
              </a:ext>
            </a:extLst>
          </p:cNvPr>
          <p:cNvSpPr txBox="1"/>
          <p:nvPr/>
        </p:nvSpPr>
        <p:spPr>
          <a:xfrm>
            <a:off x="3047241" y="3283182"/>
            <a:ext cx="6096000" cy="3170099"/>
          </a:xfrm>
          <a:prstGeom prst="rect">
            <a:avLst/>
          </a:prstGeom>
          <a:noFill/>
          <a:ln>
            <a:solidFill>
              <a:schemeClr val="accent1"/>
            </a:solidFill>
          </a:ln>
        </p:spPr>
        <p:txBody>
          <a:bodyPr wrap="square">
            <a:spAutoFit/>
          </a:bodyPr>
          <a:lstStyle/>
          <a:p>
            <a:r>
              <a:rPr lang="en-US" sz="2000" b="1" dirty="0">
                <a:solidFill>
                  <a:srgbClr val="00B050"/>
                </a:solidFill>
                <a:effectLst/>
                <a:latin typeface="Consolas" panose="020B0609020204030204" pitchFamily="49" charset="0"/>
              </a:rPr>
              <a:t>/*App.modules.css*/</a:t>
            </a:r>
          </a:p>
          <a:p>
            <a:r>
              <a:rPr lang="en-US" sz="2000" b="1" dirty="0">
                <a:solidFill>
                  <a:sysClr val="windowText" lastClr="000000"/>
                </a:solidFill>
                <a:effectLst/>
                <a:latin typeface="Consolas" panose="020B0609020204030204" pitchFamily="49" charset="0"/>
              </a:rPr>
              <a:t>.container - div {</a:t>
            </a:r>
          </a:p>
          <a:p>
            <a:r>
              <a:rPr lang="en-US" sz="2000" b="1" dirty="0">
                <a:solidFill>
                  <a:sysClr val="windowText" lastClr="000000"/>
                </a:solidFill>
                <a:effectLst/>
                <a:latin typeface="Consolas" panose="020B0609020204030204" pitchFamily="49" charset="0"/>
              </a:rPr>
              <a:t>  display: flex;</a:t>
            </a:r>
          </a:p>
          <a:p>
            <a:r>
              <a:rPr lang="en-US" sz="2000" b="1" dirty="0">
                <a:solidFill>
                  <a:sysClr val="windowText" lastClr="000000"/>
                </a:solidFill>
                <a:effectLst/>
                <a:latin typeface="Consolas" panose="020B0609020204030204" pitchFamily="49" charset="0"/>
              </a:rPr>
              <a:t>  align - items: center;</a:t>
            </a:r>
          </a:p>
          <a:p>
            <a:r>
              <a:rPr lang="en-US" sz="2000" b="1" dirty="0">
                <a:solidFill>
                  <a:sysClr val="windowText" lastClr="000000"/>
                </a:solidFill>
                <a:effectLst/>
                <a:latin typeface="Consolas" panose="020B0609020204030204" pitchFamily="49" charset="0"/>
              </a:rPr>
              <a:t>  justify - content: center;</a:t>
            </a:r>
          </a:p>
          <a:p>
            <a:r>
              <a:rPr lang="en-US" sz="2000" b="1" dirty="0">
                <a:solidFill>
                  <a:sysClr val="windowText" lastClr="000000"/>
                </a:solidFill>
                <a:effectLst/>
                <a:latin typeface="Consolas" panose="020B0609020204030204" pitchFamily="49" charset="0"/>
              </a:rPr>
              <a:t>  height: 100vh;</a:t>
            </a:r>
          </a:p>
          <a:p>
            <a:r>
              <a:rPr lang="en-US" sz="2000" b="1" dirty="0">
                <a:solidFill>
                  <a:sysClr val="windowText" lastClr="000000"/>
                </a:solidFill>
                <a:effectLst/>
                <a:latin typeface="Consolas" panose="020B0609020204030204" pitchFamily="49" charset="0"/>
              </a:rPr>
              <a:t>  background - image: linear - gradient(</a:t>
            </a:r>
          </a:p>
          <a:p>
            <a:r>
              <a:rPr lang="en-US" sz="2000" b="1" dirty="0">
                <a:solidFill>
                  <a:sysClr val="windowText" lastClr="000000"/>
                </a:solidFill>
                <a:effectLst/>
                <a:latin typeface="Consolas" panose="020B0609020204030204" pitchFamily="49" charset="0"/>
              </a:rPr>
              <a:t>    to right, #427ceb, #1dad6f);</a:t>
            </a:r>
          </a:p>
          <a:p>
            <a:r>
              <a:rPr lang="en-US" sz="2000" b="1" dirty="0">
                <a:solidFill>
                  <a:sysClr val="windowText" lastClr="000000"/>
                </a:solidFill>
                <a:effectLst/>
                <a:latin typeface="Consolas" panose="020B0609020204030204" pitchFamily="49" charset="0"/>
              </a:rPr>
              <a:t>}</a:t>
            </a:r>
          </a:p>
          <a:p>
            <a:r>
              <a:rPr lang="en-US" sz="2000" b="1" dirty="0">
                <a:solidFill>
                  <a:sysClr val="windowText" lastClr="000000"/>
                </a:solidFill>
                <a:effectLst/>
                <a:latin typeface="Consolas" panose="020B0609020204030204" pitchFamily="49" charset="0"/>
              </a:rPr>
              <a:t>.heading { color: white;}</a:t>
            </a:r>
            <a:endParaRPr lang="en-US" b="1" dirty="0">
              <a:solidFill>
                <a:sysClr val="windowText" lastClr="000000"/>
              </a:solidFill>
              <a:effectLst/>
              <a:latin typeface="Consolas" panose="020B0609020204030204" pitchFamily="49" charset="0"/>
            </a:endParaRPr>
          </a:p>
        </p:txBody>
      </p:sp>
    </p:spTree>
    <p:extLst>
      <p:ext uri="{BB962C8B-B14F-4D97-AF65-F5344CB8AC3E}">
        <p14:creationId xmlns:p14="http://schemas.microsoft.com/office/powerpoint/2010/main" val="20955296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3C9DC-65FF-1004-ADE1-08193C61FE34}"/>
              </a:ext>
            </a:extLst>
          </p:cNvPr>
          <p:cNvSpPr>
            <a:spLocks noGrp="1"/>
          </p:cNvSpPr>
          <p:nvPr>
            <p:ph type="title"/>
          </p:nvPr>
        </p:nvSpPr>
        <p:spPr/>
        <p:txBody>
          <a:bodyPr/>
          <a:lstStyle/>
          <a:p>
            <a:r>
              <a:rPr lang="en-US" dirty="0"/>
              <a:t>Styling components</a:t>
            </a:r>
          </a:p>
        </p:txBody>
      </p:sp>
      <p:sp>
        <p:nvSpPr>
          <p:cNvPr id="3" name="Text Placeholder 2">
            <a:extLst>
              <a:ext uri="{FF2B5EF4-FFF2-40B4-BE49-F238E27FC236}">
                <a16:creationId xmlns:a16="http://schemas.microsoft.com/office/drawing/2014/main" id="{8B06BF55-5869-2592-9C87-1EBFB8FE9265}"/>
              </a:ext>
            </a:extLst>
          </p:cNvPr>
          <p:cNvSpPr>
            <a:spLocks noGrp="1"/>
          </p:cNvSpPr>
          <p:nvPr>
            <p:ph type="body" idx="1"/>
          </p:nvPr>
        </p:nvSpPr>
        <p:spPr/>
        <p:txBody>
          <a:bodyPr/>
          <a:lstStyle/>
          <a:p>
            <a:r>
              <a:rPr lang="en-US" b="1" dirty="0">
                <a:solidFill>
                  <a:srgbClr val="FF0000"/>
                </a:solidFill>
              </a:rPr>
              <a:t>Using CSS Modules: </a:t>
            </a:r>
          </a:p>
          <a:p>
            <a:r>
              <a:rPr lang="en-US" dirty="0"/>
              <a:t>Example(</a:t>
            </a:r>
            <a:r>
              <a:rPr lang="en-US" dirty="0" err="1"/>
              <a:t>tt</a:t>
            </a:r>
            <a:r>
              <a:rPr lang="en-US" dirty="0"/>
              <a:t>)</a:t>
            </a:r>
          </a:p>
          <a:p>
            <a:endParaRPr lang="en-US" dirty="0"/>
          </a:p>
        </p:txBody>
      </p:sp>
      <p:pic>
        <p:nvPicPr>
          <p:cNvPr id="5" name="Picture 4">
            <a:extLst>
              <a:ext uri="{FF2B5EF4-FFF2-40B4-BE49-F238E27FC236}">
                <a16:creationId xmlns:a16="http://schemas.microsoft.com/office/drawing/2014/main" id="{FF01FBB5-2299-ADC5-32A6-7643DC0ECC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8438" y="3049388"/>
            <a:ext cx="9135124" cy="312281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1257456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AF844-9A94-A6C5-08E5-672C03B906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D8968A-ED71-BC16-561B-CB3540713425}"/>
              </a:ext>
            </a:extLst>
          </p:cNvPr>
          <p:cNvSpPr>
            <a:spLocks noGrp="1"/>
          </p:cNvSpPr>
          <p:nvPr>
            <p:ph type="title"/>
          </p:nvPr>
        </p:nvSpPr>
        <p:spPr/>
        <p:txBody>
          <a:bodyPr/>
          <a:lstStyle/>
          <a:p>
            <a:r>
              <a:rPr lang="en-US" dirty="0"/>
              <a:t>Styling components</a:t>
            </a:r>
          </a:p>
        </p:txBody>
      </p:sp>
      <p:sp>
        <p:nvSpPr>
          <p:cNvPr id="3" name="Text Placeholder 2">
            <a:extLst>
              <a:ext uri="{FF2B5EF4-FFF2-40B4-BE49-F238E27FC236}">
                <a16:creationId xmlns:a16="http://schemas.microsoft.com/office/drawing/2014/main" id="{A668063F-AEAC-A3B5-E2D1-5BA3BDB276EA}"/>
              </a:ext>
            </a:extLst>
          </p:cNvPr>
          <p:cNvSpPr>
            <a:spLocks noGrp="1"/>
          </p:cNvSpPr>
          <p:nvPr>
            <p:ph type="body" idx="1"/>
          </p:nvPr>
        </p:nvSpPr>
        <p:spPr/>
        <p:txBody>
          <a:bodyPr/>
          <a:lstStyle/>
          <a:p>
            <a:r>
              <a:rPr lang="en-US" b="1" dirty="0">
                <a:solidFill>
                  <a:srgbClr val="FF0000"/>
                </a:solidFill>
              </a:rPr>
              <a:t>Using Styled-Components</a:t>
            </a:r>
            <a:r>
              <a:rPr lang="en-US" dirty="0"/>
              <a:t>:</a:t>
            </a:r>
          </a:p>
          <a:p>
            <a:pPr lvl="1"/>
            <a:r>
              <a:rPr lang="en-US" b="1" dirty="0"/>
              <a:t>styled-components</a:t>
            </a:r>
            <a:r>
              <a:rPr lang="en-US" dirty="0"/>
              <a:t> is a popular library for writing component-level styles in JavaScript. It allows you to create styled components with a combination of CSS and JavaScript.</a:t>
            </a:r>
          </a:p>
          <a:p>
            <a:r>
              <a:rPr lang="en-US" b="1" dirty="0"/>
              <a:t>Module Installation</a:t>
            </a:r>
            <a:r>
              <a:rPr lang="en-US" dirty="0"/>
              <a:t>: In order to use the </a:t>
            </a:r>
            <a:r>
              <a:rPr lang="en-US" b="1" i="1" dirty="0"/>
              <a:t>styled-components </a:t>
            </a:r>
            <a:r>
              <a:rPr lang="en-US" dirty="0"/>
              <a:t>you must first install it as a dependency using the following command from the command line</a:t>
            </a:r>
          </a:p>
        </p:txBody>
      </p:sp>
      <p:sp>
        <p:nvSpPr>
          <p:cNvPr id="4" name="Rectangle 1">
            <a:extLst>
              <a:ext uri="{FF2B5EF4-FFF2-40B4-BE49-F238E27FC236}">
                <a16:creationId xmlns:a16="http://schemas.microsoft.com/office/drawing/2014/main" id="{84C6185B-6B9C-A77A-0D65-8EA7A5D1500A}"/>
              </a:ext>
            </a:extLst>
          </p:cNvPr>
          <p:cNvSpPr>
            <a:spLocks noChangeArrowheads="1"/>
          </p:cNvSpPr>
          <p:nvPr/>
        </p:nvSpPr>
        <p:spPr bwMode="auto">
          <a:xfrm>
            <a:off x="2374232" y="4997486"/>
            <a:ext cx="6769768" cy="520627"/>
          </a:xfrm>
          <a:prstGeom prst="rect">
            <a:avLst/>
          </a:prstGeom>
          <a:solidFill>
            <a:srgbClr val="E0E0E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88872" numCol="1" anchor="ctr" anchorCtr="0" compatLnSpc="1">
            <a:prstTxWarp prst="textNoShape">
              <a:avLst/>
            </a:prstTxWarp>
            <a:spAutoFit/>
          </a:bodyPr>
          <a:lstStyle/>
          <a:p>
            <a:pPr marL="112713" marR="0" lvl="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err="1">
                <a:ln>
                  <a:noFill/>
                </a:ln>
                <a:solidFill>
                  <a:schemeClr val="tx1"/>
                </a:solidFill>
                <a:effectLst/>
                <a:latin typeface="Consolas" panose="020B0609020204030204" pitchFamily="49" charset="0"/>
              </a:rPr>
              <a:t>npm</a:t>
            </a:r>
            <a:r>
              <a:rPr kumimoji="0" lang="en-US" altLang="en-US" sz="2800" b="1" i="0" u="none" strike="noStrike" cap="none" normalizeH="0" baseline="0" dirty="0">
                <a:ln>
                  <a:noFill/>
                </a:ln>
                <a:solidFill>
                  <a:schemeClr val="tx1"/>
                </a:solidFill>
                <a:effectLst/>
                <a:latin typeface="Consolas" panose="020B0609020204030204" pitchFamily="49" charset="0"/>
              </a:rPr>
              <a:t> install styled-components</a:t>
            </a:r>
            <a:r>
              <a:rPr kumimoji="0" lang="en-US" altLang="en-US" sz="2400" b="1" i="0" u="none" strike="noStrike" cap="none" normalizeH="0" baseline="0" dirty="0">
                <a:ln>
                  <a:noFill/>
                </a:ln>
                <a:solidFill>
                  <a:schemeClr val="tx1"/>
                </a:solidFill>
                <a:effectLst/>
              </a:rPr>
              <a:t> </a:t>
            </a:r>
            <a:endParaRPr kumimoji="0" lang="en-US" altLang="en-US" sz="40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136560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56366-E24C-3978-3AC0-EC30D1092124}"/>
              </a:ext>
            </a:extLst>
          </p:cNvPr>
          <p:cNvSpPr>
            <a:spLocks noGrp="1"/>
          </p:cNvSpPr>
          <p:nvPr>
            <p:ph type="title"/>
          </p:nvPr>
        </p:nvSpPr>
        <p:spPr/>
        <p:txBody>
          <a:bodyPr/>
          <a:lstStyle/>
          <a:p>
            <a:r>
              <a:rPr lang="en-US" dirty="0"/>
              <a:t>Styling components</a:t>
            </a:r>
          </a:p>
        </p:txBody>
      </p:sp>
      <p:sp>
        <p:nvSpPr>
          <p:cNvPr id="3" name="Text Placeholder 2">
            <a:extLst>
              <a:ext uri="{FF2B5EF4-FFF2-40B4-BE49-F238E27FC236}">
                <a16:creationId xmlns:a16="http://schemas.microsoft.com/office/drawing/2014/main" id="{B176F1E2-55C1-C7C4-665D-EA9C6B3FFF83}"/>
              </a:ext>
            </a:extLst>
          </p:cNvPr>
          <p:cNvSpPr>
            <a:spLocks noGrp="1"/>
          </p:cNvSpPr>
          <p:nvPr>
            <p:ph type="body" idx="1"/>
          </p:nvPr>
        </p:nvSpPr>
        <p:spPr/>
        <p:txBody>
          <a:bodyPr/>
          <a:lstStyle/>
          <a:p>
            <a:r>
              <a:rPr lang="en-US" b="1" dirty="0">
                <a:solidFill>
                  <a:srgbClr val="FF0000"/>
                </a:solidFill>
              </a:rPr>
              <a:t>Using Styled-Components</a:t>
            </a:r>
            <a:r>
              <a:rPr lang="en-US" dirty="0"/>
              <a:t>:</a:t>
            </a:r>
          </a:p>
          <a:p>
            <a:r>
              <a:rPr lang="en-US" b="1" dirty="0"/>
              <a:t>Syntax</a:t>
            </a:r>
            <a:r>
              <a:rPr lang="en-US" dirty="0"/>
              <a:t>: create a </a:t>
            </a:r>
            <a:r>
              <a:rPr lang="en-US" b="1" dirty="0"/>
              <a:t>styled component</a:t>
            </a:r>
            <a:endParaRPr lang="en-US" dirty="0"/>
          </a:p>
        </p:txBody>
      </p:sp>
      <p:pic>
        <p:nvPicPr>
          <p:cNvPr id="5" name="Picture 4">
            <a:extLst>
              <a:ext uri="{FF2B5EF4-FFF2-40B4-BE49-F238E27FC236}">
                <a16:creationId xmlns:a16="http://schemas.microsoft.com/office/drawing/2014/main" id="{DF67899C-0E13-6621-BB65-CB4C1C67DD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7186" y="3067149"/>
            <a:ext cx="7616110" cy="163810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049079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21D70-B2B8-FB43-F74E-20DADE3E413E}"/>
              </a:ext>
            </a:extLst>
          </p:cNvPr>
          <p:cNvSpPr>
            <a:spLocks noGrp="1"/>
          </p:cNvSpPr>
          <p:nvPr>
            <p:ph type="title"/>
          </p:nvPr>
        </p:nvSpPr>
        <p:spPr/>
        <p:txBody>
          <a:bodyPr/>
          <a:lstStyle/>
          <a:p>
            <a:r>
              <a:rPr lang="en-US" dirty="0"/>
              <a:t>Styling components</a:t>
            </a:r>
          </a:p>
        </p:txBody>
      </p:sp>
      <p:sp>
        <p:nvSpPr>
          <p:cNvPr id="3" name="Text Placeholder 2">
            <a:extLst>
              <a:ext uri="{FF2B5EF4-FFF2-40B4-BE49-F238E27FC236}">
                <a16:creationId xmlns:a16="http://schemas.microsoft.com/office/drawing/2014/main" id="{CE40CEBC-2988-E32D-1503-20AE5B0A3A12}"/>
              </a:ext>
            </a:extLst>
          </p:cNvPr>
          <p:cNvSpPr>
            <a:spLocks noGrp="1"/>
          </p:cNvSpPr>
          <p:nvPr>
            <p:ph type="body" idx="1"/>
          </p:nvPr>
        </p:nvSpPr>
        <p:spPr/>
        <p:txBody>
          <a:bodyPr/>
          <a:lstStyle/>
          <a:p>
            <a:r>
              <a:rPr lang="en-US" b="1" dirty="0">
                <a:solidFill>
                  <a:srgbClr val="FF0000"/>
                </a:solidFill>
              </a:rPr>
              <a:t>Using Styled-Components</a:t>
            </a:r>
            <a:r>
              <a:rPr lang="en-US" dirty="0"/>
              <a:t>:</a:t>
            </a:r>
          </a:p>
          <a:p>
            <a:pPr lvl="1"/>
            <a:r>
              <a:rPr lang="en-US" dirty="0"/>
              <a:t>Example</a:t>
            </a:r>
          </a:p>
          <a:p>
            <a:pPr lvl="1"/>
            <a:endParaRPr lang="en-US" dirty="0"/>
          </a:p>
        </p:txBody>
      </p:sp>
      <p:pic>
        <p:nvPicPr>
          <p:cNvPr id="5" name="Picture 4">
            <a:extLst>
              <a:ext uri="{FF2B5EF4-FFF2-40B4-BE49-F238E27FC236}">
                <a16:creationId xmlns:a16="http://schemas.microsoft.com/office/drawing/2014/main" id="{67704A0E-1552-FAA9-E35D-F390145003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930" y="2726502"/>
            <a:ext cx="4885778" cy="3112823"/>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6FE2D6EB-099C-9570-A8D9-41E1E818B1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1424" y="2726502"/>
            <a:ext cx="6340646" cy="311282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528195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8389C-CD20-18AB-5646-69156F8A604B}"/>
              </a:ext>
            </a:extLst>
          </p:cNvPr>
          <p:cNvSpPr>
            <a:spLocks noGrp="1"/>
          </p:cNvSpPr>
          <p:nvPr>
            <p:ph type="title"/>
          </p:nvPr>
        </p:nvSpPr>
        <p:spPr>
          <a:xfrm>
            <a:off x="1104900" y="76200"/>
            <a:ext cx="9980682" cy="1096962"/>
          </a:xfrm>
        </p:spPr>
        <p:txBody>
          <a:bodyPr/>
          <a:lstStyle/>
          <a:p>
            <a:r>
              <a:rPr lang="en-US" dirty="0"/>
              <a:t>Setting up a development environment </a:t>
            </a:r>
          </a:p>
        </p:txBody>
      </p:sp>
      <p:sp>
        <p:nvSpPr>
          <p:cNvPr id="3" name="Text Placeholder 2">
            <a:extLst>
              <a:ext uri="{FF2B5EF4-FFF2-40B4-BE49-F238E27FC236}">
                <a16:creationId xmlns:a16="http://schemas.microsoft.com/office/drawing/2014/main" id="{2B7AAA26-6625-CD8B-D079-A1A705B3466F}"/>
              </a:ext>
            </a:extLst>
          </p:cNvPr>
          <p:cNvSpPr>
            <a:spLocks noGrp="1"/>
          </p:cNvSpPr>
          <p:nvPr>
            <p:ph type="body" idx="1"/>
          </p:nvPr>
        </p:nvSpPr>
        <p:spPr>
          <a:xfrm>
            <a:off x="1104900" y="1600200"/>
            <a:ext cx="9982200" cy="4572000"/>
          </a:xfrm>
        </p:spPr>
        <p:txBody>
          <a:bodyPr>
            <a:normAutofit/>
          </a:bodyPr>
          <a:lstStyle/>
          <a:p>
            <a:r>
              <a:rPr lang="en-US" b="1" dirty="0">
                <a:solidFill>
                  <a:srgbClr val="FF0000"/>
                </a:solidFill>
              </a:rPr>
              <a:t>Requirements</a:t>
            </a:r>
            <a:r>
              <a:rPr lang="en-US" dirty="0">
                <a:solidFill>
                  <a:srgbClr val="FF0000"/>
                </a:solidFill>
              </a:rPr>
              <a:t>: </a:t>
            </a:r>
          </a:p>
          <a:p>
            <a:pPr lvl="1"/>
            <a:r>
              <a:rPr lang="en-US" b="1" i="1" dirty="0"/>
              <a:t>Editor and Terminal</a:t>
            </a:r>
            <a:r>
              <a:rPr lang="en-US" dirty="0"/>
              <a:t>: text editor (e.g. Sublime Text) and a command line tool (e.g. item). </a:t>
            </a:r>
            <a:r>
              <a:rPr lang="en-US" b="1" dirty="0"/>
              <a:t>Using an IDE</a:t>
            </a:r>
            <a:r>
              <a:rPr lang="en-US" dirty="0"/>
              <a:t>, for example </a:t>
            </a:r>
            <a:r>
              <a:rPr lang="en-US" b="1" dirty="0"/>
              <a:t>Visual Studio Code</a:t>
            </a:r>
            <a:r>
              <a:rPr lang="en-US" dirty="0"/>
              <a:t>, </a:t>
            </a:r>
            <a:r>
              <a:rPr lang="en-US" b="1" dirty="0" err="1"/>
              <a:t>CodeSandbox</a:t>
            </a:r>
            <a:r>
              <a:rPr lang="en-US" dirty="0"/>
              <a:t> is a great tool for sharing code online</a:t>
            </a:r>
          </a:p>
          <a:p>
            <a:pPr lvl="1"/>
            <a:r>
              <a:rPr lang="en-US" b="1" i="1" dirty="0"/>
              <a:t>Node and NPM</a:t>
            </a:r>
            <a:r>
              <a:rPr lang="en-US" dirty="0"/>
              <a:t>: Both are used to manage libraries (node packages) that you will need along the way. Node.js is essential as it runs JavaScript code outside browsers, while NPM helps in managing packages needed for your projects</a:t>
            </a:r>
          </a:p>
        </p:txBody>
      </p:sp>
    </p:spTree>
    <p:extLst>
      <p:ext uri="{BB962C8B-B14F-4D97-AF65-F5344CB8AC3E}">
        <p14:creationId xmlns:p14="http://schemas.microsoft.com/office/powerpoint/2010/main" val="5696542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70FBA-AA25-F105-63F0-2132DE6B61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9317A3-CB1A-1F18-6A98-2A9F99D7DC20}"/>
              </a:ext>
            </a:extLst>
          </p:cNvPr>
          <p:cNvSpPr>
            <a:spLocks noGrp="1"/>
          </p:cNvSpPr>
          <p:nvPr>
            <p:ph type="title"/>
          </p:nvPr>
        </p:nvSpPr>
        <p:spPr>
          <a:xfrm>
            <a:off x="1104900" y="76200"/>
            <a:ext cx="9980682" cy="1096962"/>
          </a:xfrm>
        </p:spPr>
        <p:txBody>
          <a:bodyPr/>
          <a:lstStyle/>
          <a:p>
            <a:r>
              <a:rPr lang="en-US" dirty="0"/>
              <a:t>Setting up a development environment </a:t>
            </a:r>
          </a:p>
        </p:txBody>
      </p:sp>
      <p:sp>
        <p:nvSpPr>
          <p:cNvPr id="3" name="Text Placeholder 2">
            <a:extLst>
              <a:ext uri="{FF2B5EF4-FFF2-40B4-BE49-F238E27FC236}">
                <a16:creationId xmlns:a16="http://schemas.microsoft.com/office/drawing/2014/main" id="{A3393DE5-B6B0-92AA-43F2-38BBD2D64CD4}"/>
              </a:ext>
            </a:extLst>
          </p:cNvPr>
          <p:cNvSpPr>
            <a:spLocks noGrp="1"/>
          </p:cNvSpPr>
          <p:nvPr>
            <p:ph type="body" idx="1"/>
          </p:nvPr>
        </p:nvSpPr>
        <p:spPr>
          <a:xfrm>
            <a:off x="1104900" y="1600200"/>
            <a:ext cx="10126980" cy="4831080"/>
          </a:xfrm>
        </p:spPr>
        <p:txBody>
          <a:bodyPr>
            <a:normAutofit/>
          </a:bodyPr>
          <a:lstStyle/>
          <a:p>
            <a:r>
              <a:rPr lang="en-US" b="1" dirty="0">
                <a:solidFill>
                  <a:srgbClr val="FF0000"/>
                </a:solidFill>
              </a:rPr>
              <a:t>Install Node.js and </a:t>
            </a:r>
            <a:r>
              <a:rPr lang="en-US" b="1" dirty="0" err="1">
                <a:solidFill>
                  <a:srgbClr val="FF0000"/>
                </a:solidFill>
              </a:rPr>
              <a:t>npm</a:t>
            </a:r>
            <a:r>
              <a:rPr lang="en-US" b="1" dirty="0">
                <a:solidFill>
                  <a:srgbClr val="FF0000"/>
                </a:solidFill>
              </a:rPr>
              <a:t> (Node Package Manager)</a:t>
            </a:r>
          </a:p>
          <a:p>
            <a:pPr lvl="1"/>
            <a:r>
              <a:rPr lang="en-US" sz="2800" dirty="0"/>
              <a:t>​​Download the </a:t>
            </a:r>
            <a:r>
              <a:rPr lang="en-US" sz="2800" b="1" dirty="0"/>
              <a:t>Node.js </a:t>
            </a:r>
            <a:r>
              <a:rPr lang="en-US" sz="2800" dirty="0"/>
              <a:t>installer from the </a:t>
            </a:r>
            <a:r>
              <a:rPr lang="en-US" sz="2800" b="1" dirty="0"/>
              <a:t>official Node.js website</a:t>
            </a:r>
            <a:r>
              <a:rPr lang="en-US" sz="2800" dirty="0"/>
              <a:t>.</a:t>
            </a:r>
          </a:p>
          <a:p>
            <a:pPr lvl="1"/>
            <a:r>
              <a:rPr lang="en-US" sz="2800" dirty="0"/>
              <a:t>Run the installer and follow the on-screen instructions. Make sure to check the box to install </a:t>
            </a:r>
            <a:r>
              <a:rPr lang="en-US" sz="2800" b="1" dirty="0" err="1"/>
              <a:t>npm</a:t>
            </a:r>
            <a:r>
              <a:rPr lang="en-US" sz="2800" dirty="0"/>
              <a:t> during the setup process.</a:t>
            </a:r>
          </a:p>
          <a:p>
            <a:pPr lvl="1"/>
            <a:r>
              <a:rPr lang="en-US" sz="2800" dirty="0"/>
              <a:t>After installation, confirm the installation: Open </a:t>
            </a:r>
            <a:r>
              <a:rPr lang="en-US" sz="2800" dirty="0" err="1"/>
              <a:t>cmd</a:t>
            </a:r>
            <a:r>
              <a:rPr lang="en-US" sz="2800" dirty="0"/>
              <a:t> and run the following commands</a:t>
            </a:r>
          </a:p>
        </p:txBody>
      </p:sp>
      <p:sp>
        <p:nvSpPr>
          <p:cNvPr id="5" name="TextBox 4">
            <a:extLst>
              <a:ext uri="{FF2B5EF4-FFF2-40B4-BE49-F238E27FC236}">
                <a16:creationId xmlns:a16="http://schemas.microsoft.com/office/drawing/2014/main" id="{E62A91B4-8D57-A033-9C6C-A10C6B5E09BA}"/>
              </a:ext>
            </a:extLst>
          </p:cNvPr>
          <p:cNvSpPr txBox="1"/>
          <p:nvPr/>
        </p:nvSpPr>
        <p:spPr>
          <a:xfrm>
            <a:off x="4163191" y="5477173"/>
            <a:ext cx="3864099" cy="954107"/>
          </a:xfrm>
          <a:prstGeom prst="rect">
            <a:avLst/>
          </a:prstGeom>
          <a:noFill/>
          <a:ln>
            <a:solidFill>
              <a:schemeClr val="accent1"/>
            </a:solidFill>
          </a:ln>
        </p:spPr>
        <p:txBody>
          <a:bodyPr wrap="square">
            <a:spAutoFit/>
          </a:bodyPr>
          <a:lstStyle/>
          <a:p>
            <a:r>
              <a:rPr lang="en-US" sz="2800" b="1" dirty="0"/>
              <a:t>node -v</a:t>
            </a:r>
          </a:p>
          <a:p>
            <a:r>
              <a:rPr lang="en-US" sz="2800" b="1" dirty="0" err="1"/>
              <a:t>npm</a:t>
            </a:r>
            <a:r>
              <a:rPr lang="en-US" sz="2800" b="1" dirty="0"/>
              <a:t> -v</a:t>
            </a:r>
          </a:p>
        </p:txBody>
      </p:sp>
    </p:spTree>
    <p:extLst>
      <p:ext uri="{BB962C8B-B14F-4D97-AF65-F5344CB8AC3E}">
        <p14:creationId xmlns:p14="http://schemas.microsoft.com/office/powerpoint/2010/main" val="34462092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BC8D2-7C05-9E93-E639-52D8273F6986}"/>
              </a:ext>
            </a:extLst>
          </p:cNvPr>
          <p:cNvSpPr>
            <a:spLocks noGrp="1"/>
          </p:cNvSpPr>
          <p:nvPr>
            <p:ph type="title"/>
          </p:nvPr>
        </p:nvSpPr>
        <p:spPr/>
        <p:txBody>
          <a:bodyPr/>
          <a:lstStyle/>
          <a:p>
            <a:r>
              <a:rPr lang="en-US" dirty="0"/>
              <a:t>Install Create React App</a:t>
            </a:r>
          </a:p>
        </p:txBody>
      </p:sp>
      <p:sp>
        <p:nvSpPr>
          <p:cNvPr id="3" name="Text Placeholder 2">
            <a:extLst>
              <a:ext uri="{FF2B5EF4-FFF2-40B4-BE49-F238E27FC236}">
                <a16:creationId xmlns:a16="http://schemas.microsoft.com/office/drawing/2014/main" id="{4E44AC2C-C795-DB3C-0E4A-B83C2C67C9E7}"/>
              </a:ext>
            </a:extLst>
          </p:cNvPr>
          <p:cNvSpPr>
            <a:spLocks noGrp="1"/>
          </p:cNvSpPr>
          <p:nvPr>
            <p:ph type="body" idx="1"/>
          </p:nvPr>
        </p:nvSpPr>
        <p:spPr>
          <a:xfrm>
            <a:off x="1104900" y="1600200"/>
            <a:ext cx="10629900" cy="4572000"/>
          </a:xfrm>
        </p:spPr>
        <p:txBody>
          <a:bodyPr/>
          <a:lstStyle/>
          <a:p>
            <a:r>
              <a:rPr lang="en-US" b="1" dirty="0">
                <a:solidFill>
                  <a:srgbClr val="FF0000"/>
                </a:solidFill>
              </a:rPr>
              <a:t>Create React App </a:t>
            </a:r>
            <a:r>
              <a:rPr lang="en-US" dirty="0"/>
              <a:t>is a command-line tool that helps you create a new React project with the necessary build configurations.</a:t>
            </a:r>
          </a:p>
          <a:p>
            <a:pPr lvl="1"/>
            <a:r>
              <a:rPr lang="en-US" sz="2800" dirty="0"/>
              <a:t>Open </a:t>
            </a:r>
            <a:r>
              <a:rPr lang="en-US" sz="2800" b="1" dirty="0"/>
              <a:t>Command Prompt </a:t>
            </a:r>
            <a:r>
              <a:rPr lang="en-US" sz="2800" dirty="0"/>
              <a:t>and run the following command to install </a:t>
            </a:r>
            <a:r>
              <a:rPr lang="en-US" sz="2800" b="1" dirty="0"/>
              <a:t>Create React App </a:t>
            </a:r>
            <a:r>
              <a:rPr lang="en-US" sz="2800" dirty="0"/>
              <a:t>globally</a:t>
            </a:r>
          </a:p>
          <a:p>
            <a:pPr lvl="2"/>
            <a:endParaRPr lang="en-US" dirty="0"/>
          </a:p>
          <a:p>
            <a:pPr lvl="2"/>
            <a:endParaRPr lang="en-US" dirty="0"/>
          </a:p>
          <a:p>
            <a:pPr lvl="1"/>
            <a:r>
              <a:rPr lang="en-US" sz="2800" dirty="0"/>
              <a:t>Verify the installation by checking the version of create-react-app</a:t>
            </a:r>
            <a:r>
              <a:rPr lang="en-US" dirty="0"/>
              <a:t>:</a:t>
            </a:r>
          </a:p>
        </p:txBody>
      </p:sp>
      <p:sp>
        <p:nvSpPr>
          <p:cNvPr id="5" name="TextBox 4">
            <a:extLst>
              <a:ext uri="{FF2B5EF4-FFF2-40B4-BE49-F238E27FC236}">
                <a16:creationId xmlns:a16="http://schemas.microsoft.com/office/drawing/2014/main" id="{67AB023F-22BF-EC8A-0D28-4C7BC523FF96}"/>
              </a:ext>
            </a:extLst>
          </p:cNvPr>
          <p:cNvSpPr txBox="1"/>
          <p:nvPr/>
        </p:nvSpPr>
        <p:spPr>
          <a:xfrm>
            <a:off x="3047241" y="3655367"/>
            <a:ext cx="6096000" cy="461665"/>
          </a:xfrm>
          <a:prstGeom prst="rect">
            <a:avLst/>
          </a:prstGeom>
          <a:noFill/>
          <a:ln>
            <a:solidFill>
              <a:schemeClr val="accent1"/>
            </a:solidFill>
          </a:ln>
        </p:spPr>
        <p:txBody>
          <a:bodyPr wrap="square">
            <a:spAutoFit/>
          </a:bodyPr>
          <a:lstStyle/>
          <a:p>
            <a:r>
              <a:rPr lang="en-US" sz="2400" dirty="0" err="1"/>
              <a:t>npm</a:t>
            </a:r>
            <a:r>
              <a:rPr lang="en-US" sz="2400" dirty="0"/>
              <a:t> install -g create-react-app</a:t>
            </a:r>
          </a:p>
        </p:txBody>
      </p:sp>
      <p:sp>
        <p:nvSpPr>
          <p:cNvPr id="8" name="TextBox 7">
            <a:extLst>
              <a:ext uri="{FF2B5EF4-FFF2-40B4-BE49-F238E27FC236}">
                <a16:creationId xmlns:a16="http://schemas.microsoft.com/office/drawing/2014/main" id="{431828E2-D4D6-BC47-F4E4-FFAD911F0A01}"/>
              </a:ext>
            </a:extLst>
          </p:cNvPr>
          <p:cNvSpPr txBox="1"/>
          <p:nvPr/>
        </p:nvSpPr>
        <p:spPr>
          <a:xfrm>
            <a:off x="3047241" y="5026967"/>
            <a:ext cx="6096000" cy="461665"/>
          </a:xfrm>
          <a:prstGeom prst="rect">
            <a:avLst/>
          </a:prstGeom>
          <a:noFill/>
          <a:ln>
            <a:solidFill>
              <a:schemeClr val="accent1"/>
            </a:solidFill>
          </a:ln>
        </p:spPr>
        <p:txBody>
          <a:bodyPr wrap="square">
            <a:spAutoFit/>
          </a:bodyPr>
          <a:lstStyle/>
          <a:p>
            <a:r>
              <a:rPr lang="en-US" sz="2400" dirty="0"/>
              <a:t>create-react-app --version</a:t>
            </a:r>
          </a:p>
        </p:txBody>
      </p:sp>
    </p:spTree>
    <p:extLst>
      <p:ext uri="{BB962C8B-B14F-4D97-AF65-F5344CB8AC3E}">
        <p14:creationId xmlns:p14="http://schemas.microsoft.com/office/powerpoint/2010/main" val="18740831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C861E-1406-CEE9-4406-F9D547C4FDE9}"/>
              </a:ext>
            </a:extLst>
          </p:cNvPr>
          <p:cNvSpPr>
            <a:spLocks noGrp="1"/>
          </p:cNvSpPr>
          <p:nvPr>
            <p:ph type="title"/>
          </p:nvPr>
        </p:nvSpPr>
        <p:spPr/>
        <p:txBody>
          <a:bodyPr/>
          <a:lstStyle/>
          <a:p>
            <a:r>
              <a:rPr lang="en-US" dirty="0"/>
              <a:t>Create a new React Project</a:t>
            </a:r>
          </a:p>
        </p:txBody>
      </p:sp>
      <p:sp>
        <p:nvSpPr>
          <p:cNvPr id="3" name="Text Placeholder 2">
            <a:extLst>
              <a:ext uri="{FF2B5EF4-FFF2-40B4-BE49-F238E27FC236}">
                <a16:creationId xmlns:a16="http://schemas.microsoft.com/office/drawing/2014/main" id="{2B4FC29B-AA24-7C54-7342-2171B2A660D4}"/>
              </a:ext>
            </a:extLst>
          </p:cNvPr>
          <p:cNvSpPr>
            <a:spLocks noGrp="1"/>
          </p:cNvSpPr>
          <p:nvPr>
            <p:ph type="body" idx="1"/>
          </p:nvPr>
        </p:nvSpPr>
        <p:spPr>
          <a:xfrm>
            <a:off x="1104900" y="1600200"/>
            <a:ext cx="10279380" cy="4739640"/>
          </a:xfrm>
        </p:spPr>
        <p:txBody>
          <a:bodyPr>
            <a:normAutofit/>
          </a:bodyPr>
          <a:lstStyle/>
          <a:p>
            <a:pPr>
              <a:buFont typeface="Arial" panose="020B0604020202020204" pitchFamily="34" charset="0"/>
              <a:buChar char="•"/>
            </a:pPr>
            <a:r>
              <a:rPr lang="en-US" dirty="0"/>
              <a:t>Creates a new directory with the necessary setup for a React project.</a:t>
            </a:r>
          </a:p>
          <a:p>
            <a:pPr lvl="1">
              <a:buFont typeface="Arial" panose="020B0604020202020204" pitchFamily="34" charset="0"/>
              <a:buChar char="•"/>
            </a:pPr>
            <a:r>
              <a:rPr lang="en-US" dirty="0"/>
              <a:t>Navigate to the directory where you want to create your React app.</a:t>
            </a:r>
          </a:p>
          <a:p>
            <a:pPr lvl="1">
              <a:buFont typeface="Arial" panose="020B0604020202020204" pitchFamily="34" charset="0"/>
              <a:buChar char="•"/>
            </a:pPr>
            <a:r>
              <a:rPr lang="en-US" sz="2800" dirty="0"/>
              <a:t>Run the following command to create a new React app</a:t>
            </a:r>
          </a:p>
          <a:p>
            <a:pPr lvl="2">
              <a:buFont typeface="+mj-lt"/>
              <a:buAutoNum type="arabicPeriod"/>
            </a:pPr>
            <a:endParaRPr lang="en-US" sz="2400" dirty="0"/>
          </a:p>
          <a:p>
            <a:pPr lvl="2">
              <a:buFont typeface="+mj-lt"/>
              <a:buAutoNum type="arabicPeriod"/>
            </a:pPr>
            <a:endParaRPr lang="en-US" sz="2400" dirty="0"/>
          </a:p>
          <a:p>
            <a:pPr lvl="1"/>
            <a:r>
              <a:rPr lang="en-US" sz="2800" dirty="0"/>
              <a:t>Replace </a:t>
            </a:r>
            <a:r>
              <a:rPr lang="en-US" sz="2800" b="1" dirty="0"/>
              <a:t>my-app</a:t>
            </a:r>
            <a:r>
              <a:rPr lang="en-US" sz="2800" dirty="0"/>
              <a:t> with your preferred project name.</a:t>
            </a:r>
          </a:p>
          <a:p>
            <a:pPr lvl="1"/>
            <a:r>
              <a:rPr lang="en-US" sz="2800" dirty="0"/>
              <a:t>This will create a new folder named </a:t>
            </a:r>
            <a:r>
              <a:rPr lang="en-US" sz="2800" b="1" dirty="0"/>
              <a:t>my-app</a:t>
            </a:r>
            <a:r>
              <a:rPr lang="en-US" sz="2800" dirty="0"/>
              <a:t> and set up the project structure and dependencies.</a:t>
            </a:r>
          </a:p>
          <a:p>
            <a:pPr lvl="1"/>
            <a:endParaRPr lang="en-US" dirty="0"/>
          </a:p>
        </p:txBody>
      </p:sp>
      <p:sp>
        <p:nvSpPr>
          <p:cNvPr id="5" name="TextBox 4">
            <a:extLst>
              <a:ext uri="{FF2B5EF4-FFF2-40B4-BE49-F238E27FC236}">
                <a16:creationId xmlns:a16="http://schemas.microsoft.com/office/drawing/2014/main" id="{CCE1992A-4316-C657-262F-042120B3CFFC}"/>
              </a:ext>
            </a:extLst>
          </p:cNvPr>
          <p:cNvSpPr txBox="1"/>
          <p:nvPr/>
        </p:nvSpPr>
        <p:spPr>
          <a:xfrm>
            <a:off x="2407161" y="3708410"/>
            <a:ext cx="6096000" cy="523220"/>
          </a:xfrm>
          <a:prstGeom prst="rect">
            <a:avLst/>
          </a:prstGeom>
          <a:noFill/>
          <a:ln>
            <a:solidFill>
              <a:schemeClr val="accent1"/>
            </a:solidFill>
          </a:ln>
        </p:spPr>
        <p:txBody>
          <a:bodyPr wrap="square">
            <a:spAutoFit/>
          </a:bodyPr>
          <a:lstStyle/>
          <a:p>
            <a:r>
              <a:rPr lang="en-US" sz="2800" dirty="0" err="1">
                <a:solidFill>
                  <a:srgbClr val="C00000"/>
                </a:solidFill>
              </a:rPr>
              <a:t>npx</a:t>
            </a:r>
            <a:r>
              <a:rPr lang="en-US" sz="2800" dirty="0">
                <a:solidFill>
                  <a:srgbClr val="C00000"/>
                </a:solidFill>
              </a:rPr>
              <a:t> create-react-app my-app</a:t>
            </a:r>
          </a:p>
        </p:txBody>
      </p:sp>
    </p:spTree>
    <p:extLst>
      <p:ext uri="{BB962C8B-B14F-4D97-AF65-F5344CB8AC3E}">
        <p14:creationId xmlns:p14="http://schemas.microsoft.com/office/powerpoint/2010/main" val="8536749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C9F2E-7435-89D0-78FC-FEB3E9BC4439}"/>
              </a:ext>
            </a:extLst>
          </p:cNvPr>
          <p:cNvSpPr>
            <a:spLocks noGrp="1"/>
          </p:cNvSpPr>
          <p:nvPr>
            <p:ph type="title"/>
          </p:nvPr>
        </p:nvSpPr>
        <p:spPr/>
        <p:txBody>
          <a:bodyPr/>
          <a:lstStyle/>
          <a:p>
            <a:r>
              <a:rPr lang="en-US" dirty="0"/>
              <a:t>Start the Development Server</a:t>
            </a:r>
          </a:p>
        </p:txBody>
      </p:sp>
      <p:sp>
        <p:nvSpPr>
          <p:cNvPr id="3" name="Text Placeholder 2">
            <a:extLst>
              <a:ext uri="{FF2B5EF4-FFF2-40B4-BE49-F238E27FC236}">
                <a16:creationId xmlns:a16="http://schemas.microsoft.com/office/drawing/2014/main" id="{B40FD72E-D78B-0F01-939D-577159A87020}"/>
              </a:ext>
            </a:extLst>
          </p:cNvPr>
          <p:cNvSpPr>
            <a:spLocks noGrp="1"/>
          </p:cNvSpPr>
          <p:nvPr>
            <p:ph type="body" idx="1"/>
          </p:nvPr>
        </p:nvSpPr>
        <p:spPr/>
        <p:txBody>
          <a:bodyPr>
            <a:normAutofit lnSpcReduction="10000"/>
          </a:bodyPr>
          <a:lstStyle/>
          <a:p>
            <a:r>
              <a:rPr lang="en-US" dirty="0">
                <a:solidFill>
                  <a:schemeClr val="tx2"/>
                </a:solidFill>
              </a:rPr>
              <a:t>Navigate into the Project Folder: r</a:t>
            </a:r>
            <a:r>
              <a:rPr lang="en-US" dirty="0"/>
              <a:t>un the following command</a:t>
            </a:r>
          </a:p>
          <a:p>
            <a:endParaRPr lang="en-US" sz="2400" dirty="0"/>
          </a:p>
          <a:p>
            <a:endParaRPr lang="en-US" sz="2400" dirty="0"/>
          </a:p>
          <a:p>
            <a:r>
              <a:rPr lang="en-US" dirty="0"/>
              <a:t>Inside your project folder, run the following command</a:t>
            </a:r>
          </a:p>
          <a:p>
            <a:endParaRPr lang="en-US" sz="2400" dirty="0"/>
          </a:p>
          <a:p>
            <a:endParaRPr lang="en-US" sz="2400" dirty="0"/>
          </a:p>
          <a:p>
            <a:r>
              <a:rPr lang="en-US" dirty="0"/>
              <a:t>Runs the development server and opens the app in your browser at </a:t>
            </a:r>
            <a:r>
              <a:rPr lang="en-US" dirty="0">
                <a:hlinkClick r:id="rId2"/>
              </a:rPr>
              <a:t>http://localhost:3000/</a:t>
            </a:r>
            <a:r>
              <a:rPr lang="en-US" dirty="0"/>
              <a:t>.</a:t>
            </a:r>
          </a:p>
          <a:p>
            <a:endParaRPr lang="en-US" dirty="0"/>
          </a:p>
        </p:txBody>
      </p:sp>
      <p:sp>
        <p:nvSpPr>
          <p:cNvPr id="5" name="TextBox 4">
            <a:extLst>
              <a:ext uri="{FF2B5EF4-FFF2-40B4-BE49-F238E27FC236}">
                <a16:creationId xmlns:a16="http://schemas.microsoft.com/office/drawing/2014/main" id="{2FDF95D5-930D-DDEF-364F-96EA76C853EC}"/>
              </a:ext>
            </a:extLst>
          </p:cNvPr>
          <p:cNvSpPr txBox="1"/>
          <p:nvPr/>
        </p:nvSpPr>
        <p:spPr>
          <a:xfrm>
            <a:off x="3283461" y="2514600"/>
            <a:ext cx="3825240" cy="523220"/>
          </a:xfrm>
          <a:prstGeom prst="rect">
            <a:avLst/>
          </a:prstGeom>
          <a:noFill/>
          <a:ln>
            <a:solidFill>
              <a:schemeClr val="accent1"/>
            </a:solidFill>
          </a:ln>
        </p:spPr>
        <p:txBody>
          <a:bodyPr wrap="square">
            <a:spAutoFit/>
          </a:bodyPr>
          <a:lstStyle/>
          <a:p>
            <a:r>
              <a:rPr lang="en-US" sz="2800" dirty="0">
                <a:solidFill>
                  <a:srgbClr val="C00000"/>
                </a:solidFill>
              </a:rPr>
              <a:t>cd my-app</a:t>
            </a:r>
          </a:p>
        </p:txBody>
      </p:sp>
      <p:sp>
        <p:nvSpPr>
          <p:cNvPr id="4" name="TextBox 3">
            <a:extLst>
              <a:ext uri="{FF2B5EF4-FFF2-40B4-BE49-F238E27FC236}">
                <a16:creationId xmlns:a16="http://schemas.microsoft.com/office/drawing/2014/main" id="{C6E84091-FABE-3049-7FA0-92FE0EC13795}"/>
              </a:ext>
            </a:extLst>
          </p:cNvPr>
          <p:cNvSpPr txBox="1"/>
          <p:nvPr/>
        </p:nvSpPr>
        <p:spPr>
          <a:xfrm>
            <a:off x="3283460" y="4256425"/>
            <a:ext cx="3825239" cy="523220"/>
          </a:xfrm>
          <a:prstGeom prst="rect">
            <a:avLst/>
          </a:prstGeom>
          <a:noFill/>
          <a:ln>
            <a:solidFill>
              <a:schemeClr val="accent1"/>
            </a:solidFill>
          </a:ln>
        </p:spPr>
        <p:txBody>
          <a:bodyPr wrap="square">
            <a:spAutoFit/>
          </a:bodyPr>
          <a:lstStyle/>
          <a:p>
            <a:r>
              <a:rPr lang="en-US" sz="2800" dirty="0" err="1">
                <a:solidFill>
                  <a:srgbClr val="C00000"/>
                </a:solidFill>
              </a:rPr>
              <a:t>npm</a:t>
            </a:r>
            <a:r>
              <a:rPr lang="en-US" sz="2800" dirty="0">
                <a:solidFill>
                  <a:srgbClr val="C00000"/>
                </a:solidFill>
              </a:rPr>
              <a:t> start</a:t>
            </a:r>
          </a:p>
        </p:txBody>
      </p:sp>
    </p:spTree>
    <p:extLst>
      <p:ext uri="{BB962C8B-B14F-4D97-AF65-F5344CB8AC3E}">
        <p14:creationId xmlns:p14="http://schemas.microsoft.com/office/powerpoint/2010/main" val="7011514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A2A7B-0486-48B6-1886-45E7E5EAF655}"/>
              </a:ext>
            </a:extLst>
          </p:cNvPr>
          <p:cNvSpPr>
            <a:spLocks noGrp="1"/>
          </p:cNvSpPr>
          <p:nvPr>
            <p:ph type="title"/>
          </p:nvPr>
        </p:nvSpPr>
        <p:spPr/>
        <p:txBody>
          <a:bodyPr/>
          <a:lstStyle/>
          <a:p>
            <a:r>
              <a:rPr lang="en-US" dirty="0"/>
              <a:t>Project Structure</a:t>
            </a:r>
          </a:p>
        </p:txBody>
      </p:sp>
      <p:pic>
        <p:nvPicPr>
          <p:cNvPr id="5" name="Picture 4">
            <a:extLst>
              <a:ext uri="{FF2B5EF4-FFF2-40B4-BE49-F238E27FC236}">
                <a16:creationId xmlns:a16="http://schemas.microsoft.com/office/drawing/2014/main" id="{8F2591AD-B24E-71BB-0520-09C3794B62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4900" y="1640758"/>
            <a:ext cx="4991100" cy="4635929"/>
          </a:xfrm>
          <a:prstGeom prst="rect">
            <a:avLst/>
          </a:prstGeom>
        </p:spPr>
      </p:pic>
    </p:spTree>
    <p:extLst>
      <p:ext uri="{BB962C8B-B14F-4D97-AF65-F5344CB8AC3E}">
        <p14:creationId xmlns:p14="http://schemas.microsoft.com/office/powerpoint/2010/main" val="15552488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4B55B-AB72-B51F-1132-F7D4FEE79F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881DD4-A635-5CD5-1166-7BFFD50FCA42}"/>
              </a:ext>
            </a:extLst>
          </p:cNvPr>
          <p:cNvSpPr>
            <a:spLocks noGrp="1"/>
          </p:cNvSpPr>
          <p:nvPr>
            <p:ph type="title"/>
          </p:nvPr>
        </p:nvSpPr>
        <p:spPr/>
        <p:txBody>
          <a:bodyPr/>
          <a:lstStyle/>
          <a:p>
            <a:r>
              <a:rPr lang="en-US" dirty="0"/>
              <a:t>Project Structure</a:t>
            </a:r>
          </a:p>
        </p:txBody>
      </p:sp>
      <p:sp>
        <p:nvSpPr>
          <p:cNvPr id="3" name="Text Placeholder 2">
            <a:extLst>
              <a:ext uri="{FF2B5EF4-FFF2-40B4-BE49-F238E27FC236}">
                <a16:creationId xmlns:a16="http://schemas.microsoft.com/office/drawing/2014/main" id="{BC614A7F-92EB-C2A2-D2EA-3ABA8FB2A483}"/>
              </a:ext>
            </a:extLst>
          </p:cNvPr>
          <p:cNvSpPr>
            <a:spLocks noGrp="1"/>
          </p:cNvSpPr>
          <p:nvPr>
            <p:ph type="body" idx="1"/>
          </p:nvPr>
        </p:nvSpPr>
        <p:spPr/>
        <p:txBody>
          <a:bodyPr>
            <a:normAutofit/>
          </a:bodyPr>
          <a:lstStyle/>
          <a:p>
            <a:r>
              <a:rPr lang="en-US" b="1" dirty="0" err="1"/>
              <a:t>node_modules</a:t>
            </a:r>
            <a:r>
              <a:rPr lang="en-US" b="1" dirty="0"/>
              <a:t>/: </a:t>
            </a:r>
            <a:r>
              <a:rPr lang="en-US" dirty="0"/>
              <a:t>Contains installed libraries.</a:t>
            </a:r>
          </a:p>
          <a:p>
            <a:r>
              <a:rPr lang="en-US" b="1" dirty="0"/>
              <a:t>public/: </a:t>
            </a:r>
            <a:r>
              <a:rPr lang="en-US" dirty="0"/>
              <a:t>Contains static files like index.html.</a:t>
            </a:r>
          </a:p>
          <a:p>
            <a:r>
              <a:rPr lang="en-US" b="1" dirty="0" err="1"/>
              <a:t>src</a:t>
            </a:r>
            <a:r>
              <a:rPr lang="en-US" b="1" dirty="0"/>
              <a:t>/: </a:t>
            </a:r>
            <a:r>
              <a:rPr lang="en-US" dirty="0"/>
              <a:t>Contains React components and JavaScript files.</a:t>
            </a:r>
          </a:p>
          <a:p>
            <a:r>
              <a:rPr lang="en-US" b="1" dirty="0" err="1"/>
              <a:t>package.json</a:t>
            </a:r>
            <a:r>
              <a:rPr lang="en-US" dirty="0"/>
              <a:t>: Manages project dependencies, scripts, and metadata.</a:t>
            </a:r>
          </a:p>
        </p:txBody>
      </p:sp>
    </p:spTree>
    <p:extLst>
      <p:ext uri="{BB962C8B-B14F-4D97-AF65-F5344CB8AC3E}">
        <p14:creationId xmlns:p14="http://schemas.microsoft.com/office/powerpoint/2010/main" val="26650781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F1EF6-5896-E95B-9DAA-DF5192557277}"/>
              </a:ext>
            </a:extLst>
          </p:cNvPr>
          <p:cNvSpPr>
            <a:spLocks noGrp="1"/>
          </p:cNvSpPr>
          <p:nvPr>
            <p:ph type="title"/>
          </p:nvPr>
        </p:nvSpPr>
        <p:spPr/>
        <p:txBody>
          <a:bodyPr/>
          <a:lstStyle/>
          <a:p>
            <a:r>
              <a:rPr lang="en-US" dirty="0"/>
              <a:t>Create project with Vite</a:t>
            </a:r>
          </a:p>
        </p:txBody>
      </p:sp>
      <p:sp>
        <p:nvSpPr>
          <p:cNvPr id="3" name="Text Placeholder 2">
            <a:extLst>
              <a:ext uri="{FF2B5EF4-FFF2-40B4-BE49-F238E27FC236}">
                <a16:creationId xmlns:a16="http://schemas.microsoft.com/office/drawing/2014/main" id="{C3A67D4B-D957-BC31-A1CC-CC4720ECCAFC}"/>
              </a:ext>
            </a:extLst>
          </p:cNvPr>
          <p:cNvSpPr>
            <a:spLocks noGrp="1"/>
          </p:cNvSpPr>
          <p:nvPr>
            <p:ph type="body" idx="1"/>
          </p:nvPr>
        </p:nvSpPr>
        <p:spPr>
          <a:xfrm>
            <a:off x="1104900" y="1600200"/>
            <a:ext cx="10645140" cy="4572000"/>
          </a:xfrm>
        </p:spPr>
        <p:txBody>
          <a:bodyPr>
            <a:normAutofit/>
          </a:bodyPr>
          <a:lstStyle/>
          <a:p>
            <a:r>
              <a:rPr lang="en-US" dirty="0"/>
              <a:t>Step 1: Open Terminal (Command Prompt / VS Code Terminal)</a:t>
            </a:r>
          </a:p>
          <a:p>
            <a:r>
              <a:rPr lang="en-US" dirty="0"/>
              <a:t>Step 2: Run the command to create the project</a:t>
            </a:r>
          </a:p>
          <a:p>
            <a:endParaRPr lang="en-US" dirty="0"/>
          </a:p>
          <a:p>
            <a:endParaRPr lang="en-US" dirty="0"/>
          </a:p>
          <a:p>
            <a:r>
              <a:rPr lang="en-US" dirty="0"/>
              <a:t>Step 3: Configure when creating a project</a:t>
            </a:r>
          </a:p>
          <a:p>
            <a:pPr lvl="1"/>
            <a:r>
              <a:rPr lang="en-US" dirty="0"/>
              <a:t>Project name: enter project name</a:t>
            </a:r>
          </a:p>
          <a:p>
            <a:pPr lvl="1"/>
            <a:r>
              <a:rPr lang="en-US" dirty="0"/>
              <a:t>Select a framework: React</a:t>
            </a:r>
          </a:p>
          <a:p>
            <a:pPr lvl="1"/>
            <a:r>
              <a:rPr lang="en-US" dirty="0"/>
              <a:t>Select a variant: JavaScript</a:t>
            </a:r>
          </a:p>
        </p:txBody>
      </p:sp>
      <p:pic>
        <p:nvPicPr>
          <p:cNvPr id="5" name="Picture 4">
            <a:extLst>
              <a:ext uri="{FF2B5EF4-FFF2-40B4-BE49-F238E27FC236}">
                <a16:creationId xmlns:a16="http://schemas.microsoft.com/office/drawing/2014/main" id="{CEE9115F-8C67-83B5-7D57-6F0100D5EF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7155" y="2968621"/>
            <a:ext cx="7826451" cy="92075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499701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F2487-38F9-5AB5-1C36-00E8A38A745C}"/>
              </a:ext>
            </a:extLst>
          </p:cNvPr>
          <p:cNvSpPr>
            <a:spLocks noGrp="1"/>
          </p:cNvSpPr>
          <p:nvPr>
            <p:ph type="title"/>
          </p:nvPr>
        </p:nvSpPr>
        <p:spPr/>
        <p:txBody>
          <a:bodyPr/>
          <a:lstStyle/>
          <a:p>
            <a:r>
              <a:rPr lang="en-US" dirty="0"/>
              <a:t>Create project with Vite</a:t>
            </a:r>
          </a:p>
        </p:txBody>
      </p:sp>
      <p:sp>
        <p:nvSpPr>
          <p:cNvPr id="3" name="Text Placeholder 2">
            <a:extLst>
              <a:ext uri="{FF2B5EF4-FFF2-40B4-BE49-F238E27FC236}">
                <a16:creationId xmlns:a16="http://schemas.microsoft.com/office/drawing/2014/main" id="{447CE549-80D7-FBC4-1670-0700B04A1D16}"/>
              </a:ext>
            </a:extLst>
          </p:cNvPr>
          <p:cNvSpPr>
            <a:spLocks noGrp="1"/>
          </p:cNvSpPr>
          <p:nvPr>
            <p:ph type="body" idx="1"/>
          </p:nvPr>
        </p:nvSpPr>
        <p:spPr>
          <a:xfrm>
            <a:off x="1104900" y="1600200"/>
            <a:ext cx="9982200" cy="5181600"/>
          </a:xfrm>
        </p:spPr>
        <p:txBody>
          <a:bodyPr>
            <a:normAutofit/>
          </a:bodyPr>
          <a:lstStyle/>
          <a:p>
            <a:r>
              <a:rPr lang="en-US" dirty="0"/>
              <a:t>Step 4: Install the necessary libraries</a:t>
            </a:r>
          </a:p>
          <a:p>
            <a:pPr lvl="1"/>
            <a:r>
              <a:rPr lang="en-US" dirty="0"/>
              <a:t>Navigate to the project folder.</a:t>
            </a:r>
          </a:p>
          <a:p>
            <a:pPr lvl="1"/>
            <a:endParaRPr lang="en-US" dirty="0"/>
          </a:p>
          <a:p>
            <a:pPr lvl="1"/>
            <a:endParaRPr lang="en-US" dirty="0"/>
          </a:p>
          <a:p>
            <a:pPr lvl="1"/>
            <a:r>
              <a:rPr lang="en-US" dirty="0"/>
              <a:t>Install dependencies</a:t>
            </a:r>
          </a:p>
          <a:p>
            <a:pPr lvl="1"/>
            <a:endParaRPr lang="en-US" dirty="0"/>
          </a:p>
          <a:p>
            <a:r>
              <a:rPr lang="en-US" dirty="0"/>
              <a:t>Step 6: Run the ReactJS project</a:t>
            </a:r>
          </a:p>
          <a:p>
            <a:pPr lvl="1"/>
            <a:endParaRPr lang="en-US" dirty="0"/>
          </a:p>
          <a:p>
            <a:pPr lvl="1"/>
            <a:endParaRPr lang="en-US" dirty="0"/>
          </a:p>
          <a:p>
            <a:pPr lvl="1"/>
            <a:r>
              <a:rPr lang="en-US" dirty="0"/>
              <a:t>Local:   http://localhost:5173/</a:t>
            </a:r>
          </a:p>
        </p:txBody>
      </p:sp>
      <p:pic>
        <p:nvPicPr>
          <p:cNvPr id="5" name="Picture 4">
            <a:extLst>
              <a:ext uri="{FF2B5EF4-FFF2-40B4-BE49-F238E27FC236}">
                <a16:creationId xmlns:a16="http://schemas.microsoft.com/office/drawing/2014/main" id="{81659AE9-A758-947A-AC4F-1AE65856606D}"/>
              </a:ext>
            </a:extLst>
          </p:cNvPr>
          <p:cNvPicPr>
            <a:picLocks noChangeAspect="1"/>
          </p:cNvPicPr>
          <p:nvPr/>
        </p:nvPicPr>
        <p:blipFill>
          <a:blip r:embed="rId2">
            <a:extLst>
              <a:ext uri="{28A0092B-C50C-407E-A947-70E740481C1C}">
                <a14:useLocalDpi xmlns:a14="http://schemas.microsoft.com/office/drawing/2010/main" val="0"/>
              </a:ext>
            </a:extLst>
          </a:blip>
          <a:srcRect b="22222"/>
          <a:stretch>
            <a:fillRect/>
          </a:stretch>
        </p:blipFill>
        <p:spPr>
          <a:xfrm>
            <a:off x="3675348" y="2599682"/>
            <a:ext cx="3226007" cy="6400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E7C9FAAD-6108-159F-8AD9-CCBDF7873B5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3675348" y="3840480"/>
            <a:ext cx="2313018" cy="6400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a:extLst>
              <a:ext uri="{FF2B5EF4-FFF2-40B4-BE49-F238E27FC236}">
                <a16:creationId xmlns:a16="http://schemas.microsoft.com/office/drawing/2014/main" id="{94A957D9-4F6F-5484-8516-327BB1C551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75624" y="5119378"/>
            <a:ext cx="2346956" cy="457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5787983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F52C8-B110-119C-91E1-0BBE94785377}"/>
              </a:ext>
            </a:extLst>
          </p:cNvPr>
          <p:cNvSpPr>
            <a:spLocks noGrp="1"/>
          </p:cNvSpPr>
          <p:nvPr>
            <p:ph type="title"/>
          </p:nvPr>
        </p:nvSpPr>
        <p:spPr/>
        <p:txBody>
          <a:bodyPr/>
          <a:lstStyle/>
          <a:p>
            <a:r>
              <a:rPr lang="en-US" dirty="0"/>
              <a:t>Basic project directory structure</a:t>
            </a:r>
          </a:p>
        </p:txBody>
      </p:sp>
      <p:sp>
        <p:nvSpPr>
          <p:cNvPr id="3" name="Text Placeholder 2">
            <a:extLst>
              <a:ext uri="{FF2B5EF4-FFF2-40B4-BE49-F238E27FC236}">
                <a16:creationId xmlns:a16="http://schemas.microsoft.com/office/drawing/2014/main" id="{33D95B22-9CB5-B567-765B-522EDE321036}"/>
              </a:ext>
            </a:extLst>
          </p:cNvPr>
          <p:cNvSpPr>
            <a:spLocks noGrp="1"/>
          </p:cNvSpPr>
          <p:nvPr>
            <p:ph type="body" idx="1"/>
          </p:nvPr>
        </p:nvSpPr>
        <p:spPr/>
        <p:txBody>
          <a:bodyPr/>
          <a:lstStyle/>
          <a:p>
            <a:r>
              <a:rPr lang="en-US" b="1" dirty="0" err="1"/>
              <a:t>main.jsx</a:t>
            </a:r>
            <a:r>
              <a:rPr lang="en-US" dirty="0"/>
              <a:t>: React initialization point</a:t>
            </a:r>
          </a:p>
          <a:p>
            <a:r>
              <a:rPr lang="en-US" b="1" dirty="0" err="1"/>
              <a:t>App.jsx</a:t>
            </a:r>
            <a:r>
              <a:rPr lang="en-US" dirty="0"/>
              <a:t>: Main component</a:t>
            </a:r>
          </a:p>
          <a:p>
            <a:r>
              <a:rPr lang="en-US" b="1" dirty="0"/>
              <a:t>index.html</a:t>
            </a:r>
            <a:r>
              <a:rPr lang="en-US" dirty="0"/>
              <a:t>: Original HTML file</a:t>
            </a:r>
          </a:p>
          <a:p>
            <a:r>
              <a:rPr lang="en-US" b="1" dirty="0"/>
              <a:t>vite.config.js</a:t>
            </a:r>
            <a:r>
              <a:rPr lang="en-US" dirty="0"/>
              <a:t>: Vite configuration</a:t>
            </a:r>
          </a:p>
        </p:txBody>
      </p:sp>
      <p:pic>
        <p:nvPicPr>
          <p:cNvPr id="5" name="Picture 4">
            <a:extLst>
              <a:ext uri="{FF2B5EF4-FFF2-40B4-BE49-F238E27FC236}">
                <a16:creationId xmlns:a16="http://schemas.microsoft.com/office/drawing/2014/main" id="{D8EF8176-49C9-7A3A-4633-574D0617EF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30556" y="1400127"/>
            <a:ext cx="3055026" cy="4972146"/>
          </a:xfrm>
          <a:prstGeom prst="rect">
            <a:avLst/>
          </a:prstGeom>
        </p:spPr>
      </p:pic>
    </p:spTree>
    <p:extLst>
      <p:ext uri="{BB962C8B-B14F-4D97-AF65-F5344CB8AC3E}">
        <p14:creationId xmlns:p14="http://schemas.microsoft.com/office/powerpoint/2010/main" val="624153261"/>
      </p:ext>
    </p:extLst>
  </p:cSld>
  <p:clrMapOvr>
    <a:masterClrMapping/>
  </p:clrMapOvr>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Custom 6">
      <a:majorFont>
        <a:latin typeface="Arial (Heading)"/>
        <a:ea typeface=""/>
        <a:cs typeface=""/>
      </a:majorFont>
      <a:minorFont>
        <a:latin typeface="Arial"/>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61E720F-F05D-4536-9C34-0CFCED65D3B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Academic presentation, pinstripe and ribbon design (widescreen)</Template>
  <TotalTime>2492</TotalTime>
  <Words>4106</Words>
  <Application>Microsoft Office PowerPoint</Application>
  <PresentationFormat>Widescreen</PresentationFormat>
  <Paragraphs>419</Paragraphs>
  <Slides>53</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53</vt:i4>
      </vt:variant>
    </vt:vector>
  </HeadingPairs>
  <TitlesOfParts>
    <vt:vector size="62" baseType="lpstr">
      <vt:lpstr>Arial</vt:lpstr>
      <vt:lpstr>Arial (Heading)</vt:lpstr>
      <vt:lpstr>Arial Black</vt:lpstr>
      <vt:lpstr>Consolas</vt:lpstr>
      <vt:lpstr>Euphemia</vt:lpstr>
      <vt:lpstr>Menlo</vt:lpstr>
      <vt:lpstr>Times New Roman</vt:lpstr>
      <vt:lpstr>Wingdings</vt:lpstr>
      <vt:lpstr>Academic Literature 16x9</vt:lpstr>
      <vt:lpstr>PowerPoint Presentation</vt:lpstr>
      <vt:lpstr>What is React JS?</vt:lpstr>
      <vt:lpstr>Key Features</vt:lpstr>
      <vt:lpstr>Fundamental Concepts</vt:lpstr>
      <vt:lpstr>React Native vs. React JS</vt:lpstr>
      <vt:lpstr>React Native vs. React JS</vt:lpstr>
      <vt:lpstr>React JS architecture</vt:lpstr>
      <vt:lpstr>React JS architecture</vt:lpstr>
      <vt:lpstr>React JS architecture</vt:lpstr>
      <vt:lpstr>React Component</vt:lpstr>
      <vt:lpstr>React Component</vt:lpstr>
      <vt:lpstr>React Component</vt:lpstr>
      <vt:lpstr>React Component</vt:lpstr>
      <vt:lpstr>React Component</vt:lpstr>
      <vt:lpstr>React Component</vt:lpstr>
      <vt:lpstr>React Component</vt:lpstr>
      <vt:lpstr>React Component</vt:lpstr>
      <vt:lpstr>Virtual DOM</vt:lpstr>
      <vt:lpstr>JSX (JavaScript XML)</vt:lpstr>
      <vt:lpstr>Unidirectional Data Flow</vt:lpstr>
      <vt:lpstr>Unidirectional Data Flow</vt:lpstr>
      <vt:lpstr>React Router</vt:lpstr>
      <vt:lpstr>React Lifecycle</vt:lpstr>
      <vt:lpstr>Hooks</vt:lpstr>
      <vt:lpstr>Context API</vt:lpstr>
      <vt:lpstr>React DevTools</vt:lpstr>
      <vt:lpstr>Bundling and Compilation</vt:lpstr>
      <vt:lpstr>Bundling and Compilation</vt:lpstr>
      <vt:lpstr>Redux (optional)</vt:lpstr>
      <vt:lpstr>Event handling</vt:lpstr>
      <vt:lpstr>Event handling</vt:lpstr>
      <vt:lpstr>Styling components</vt:lpstr>
      <vt:lpstr>Styling components</vt:lpstr>
      <vt:lpstr>Styling components</vt:lpstr>
      <vt:lpstr>Styling components</vt:lpstr>
      <vt:lpstr>Styling components</vt:lpstr>
      <vt:lpstr>Styling components</vt:lpstr>
      <vt:lpstr>Styling components</vt:lpstr>
      <vt:lpstr>Styling components</vt:lpstr>
      <vt:lpstr>Styling components</vt:lpstr>
      <vt:lpstr>Styling components</vt:lpstr>
      <vt:lpstr>Styling components</vt:lpstr>
      <vt:lpstr>Styling components</vt:lpstr>
      <vt:lpstr>Setting up a development environment </vt:lpstr>
      <vt:lpstr>Setting up a development environment </vt:lpstr>
      <vt:lpstr>Install Create React App</vt:lpstr>
      <vt:lpstr>Create a new React Project</vt:lpstr>
      <vt:lpstr>Start the Development Server</vt:lpstr>
      <vt:lpstr>Project Structure</vt:lpstr>
      <vt:lpstr>Project Structure</vt:lpstr>
      <vt:lpstr>Create project with Vite</vt:lpstr>
      <vt:lpstr>Create project with Vite</vt:lpstr>
      <vt:lpstr>Basic project directory structure</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License For You And Lifetime</dc:creator>
  <cp:lastModifiedBy>Xuan Hien</cp:lastModifiedBy>
  <cp:revision>84</cp:revision>
  <dcterms:created xsi:type="dcterms:W3CDTF">2024-10-17T15:22:21Z</dcterms:created>
  <dcterms:modified xsi:type="dcterms:W3CDTF">2026-01-03T22:42:01Z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