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9"/>
  </p:notesMasterIdLst>
  <p:handoutMasterIdLst>
    <p:handoutMasterId r:id="rId50"/>
  </p:handoutMasterIdLst>
  <p:sldIdLst>
    <p:sldId id="256" r:id="rId5"/>
    <p:sldId id="286" r:id="rId6"/>
    <p:sldId id="268" r:id="rId7"/>
    <p:sldId id="269" r:id="rId8"/>
    <p:sldId id="271" r:id="rId9"/>
    <p:sldId id="270" r:id="rId10"/>
    <p:sldId id="267" r:id="rId11"/>
    <p:sldId id="272" r:id="rId12"/>
    <p:sldId id="273" r:id="rId13"/>
    <p:sldId id="287" r:id="rId14"/>
    <p:sldId id="288" r:id="rId15"/>
    <p:sldId id="274" r:id="rId16"/>
    <p:sldId id="275" r:id="rId17"/>
    <p:sldId id="276" r:id="rId18"/>
    <p:sldId id="277" r:id="rId19"/>
    <p:sldId id="278" r:id="rId20"/>
    <p:sldId id="279" r:id="rId21"/>
    <p:sldId id="280" r:id="rId22"/>
    <p:sldId id="281" r:id="rId23"/>
    <p:sldId id="282" r:id="rId24"/>
    <p:sldId id="283" r:id="rId25"/>
    <p:sldId id="284" r:id="rId26"/>
    <p:sldId id="291" r:id="rId27"/>
    <p:sldId id="289" r:id="rId28"/>
    <p:sldId id="290" r:id="rId29"/>
    <p:sldId id="299" r:id="rId30"/>
    <p:sldId id="300" r:id="rId31"/>
    <p:sldId id="301" r:id="rId32"/>
    <p:sldId id="303" r:id="rId33"/>
    <p:sldId id="292" r:id="rId34"/>
    <p:sldId id="293" r:id="rId35"/>
    <p:sldId id="294" r:id="rId36"/>
    <p:sldId id="295" r:id="rId37"/>
    <p:sldId id="296" r:id="rId38"/>
    <p:sldId id="297" r:id="rId39"/>
    <p:sldId id="298" r:id="rId40"/>
    <p:sldId id="304" r:id="rId41"/>
    <p:sldId id="305" r:id="rId42"/>
    <p:sldId id="306" r:id="rId43"/>
    <p:sldId id="307" r:id="rId44"/>
    <p:sldId id="309" r:id="rId45"/>
    <p:sldId id="310" r:id="rId46"/>
    <p:sldId id="308" r:id="rId47"/>
    <p:sldId id="31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405" autoAdjust="0"/>
  </p:normalViewPr>
  <p:slideViewPr>
    <p:cSldViewPr snapToGrid="0" showGuides="1">
      <p:cViewPr varScale="1">
        <p:scale>
          <a:sx n="65" d="100"/>
          <a:sy n="65" d="100"/>
        </p:scale>
        <p:origin x="858" y="54"/>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11/Dec/2024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11/Dec/2024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3032803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effectLst/>
                <a:latin typeface="var(--font-heading)"/>
              </a:rPr>
              <a:t>How to fix No Routes Found Error</a:t>
            </a:r>
          </a:p>
          <a:p>
            <a:pPr algn="l"/>
            <a:r>
              <a:rPr lang="en-US" b="0" i="0" dirty="0">
                <a:solidFill>
                  <a:srgbClr val="2D3A5F"/>
                </a:solidFill>
                <a:effectLst/>
                <a:latin typeface="__body_b202d1"/>
              </a:rPr>
              <a:t>When routing, a situation may cause a user to access an unconfigured route or a route that does not exist; when this occurs, React does not display anything on the screen except a warning with the message "No routes matched location."</a:t>
            </a:r>
          </a:p>
          <a:p>
            <a:pPr algn="l"/>
            <a:r>
              <a:rPr lang="en-US" b="0" i="0" dirty="0">
                <a:solidFill>
                  <a:srgbClr val="2D3A5F"/>
                </a:solidFill>
                <a:effectLst/>
                <a:latin typeface="__body_b202d1"/>
              </a:rPr>
              <a:t>This can be fixed by configuring a new route to return a specific component when a user navigates to an unconfigured route as follows:</a:t>
            </a:r>
          </a:p>
          <a:p>
            <a:r>
              <a:rPr lang="en-US" i="1" dirty="0">
                <a:solidFill>
                  <a:srgbClr val="637777"/>
                </a:solidFill>
                <a:effectLst/>
              </a:rPr>
              <a:t>// App.js</a:t>
            </a:r>
            <a:endParaRPr lang="en-US" dirty="0">
              <a:solidFill>
                <a:srgbClr val="D6DEEB"/>
              </a:solidFill>
              <a:effectLst/>
            </a:endParaRPr>
          </a:p>
          <a:p>
            <a:r>
              <a:rPr lang="en-US" dirty="0">
                <a:solidFill>
                  <a:srgbClr val="7FDBCA"/>
                </a:solidFill>
                <a:effectLst/>
              </a:rPr>
              <a:t>import</a:t>
            </a:r>
            <a:r>
              <a:rPr lang="en-US" dirty="0">
                <a:solidFill>
                  <a:srgbClr val="D6DEEB"/>
                </a:solidFill>
                <a:effectLst/>
              </a:rPr>
              <a:t> </a:t>
            </a:r>
            <a:r>
              <a:rPr lang="en-US" dirty="0">
                <a:solidFill>
                  <a:srgbClr val="C792EA"/>
                </a:solidFill>
                <a:effectLst/>
              </a:rPr>
              <a:t>{</a:t>
            </a:r>
            <a:r>
              <a:rPr lang="en-US" dirty="0">
                <a:solidFill>
                  <a:srgbClr val="D6DEEB"/>
                </a:solidFill>
                <a:effectLst/>
              </a:rPr>
              <a:t> Routes</a:t>
            </a:r>
            <a:r>
              <a:rPr lang="en-US" dirty="0">
                <a:solidFill>
                  <a:srgbClr val="C792EA"/>
                </a:solidFill>
                <a:effectLst/>
              </a:rPr>
              <a:t>,</a:t>
            </a:r>
            <a:r>
              <a:rPr lang="en-US" dirty="0">
                <a:solidFill>
                  <a:srgbClr val="D6DEEB"/>
                </a:solidFill>
                <a:effectLst/>
              </a:rPr>
              <a:t> Route </a:t>
            </a:r>
            <a:r>
              <a:rPr lang="en-US" dirty="0">
                <a:solidFill>
                  <a:srgbClr val="C792EA"/>
                </a:solidFill>
                <a:effectLst/>
              </a:rPr>
              <a:t>}</a:t>
            </a:r>
            <a:r>
              <a:rPr lang="en-US" dirty="0">
                <a:solidFill>
                  <a:srgbClr val="D6DEEB"/>
                </a:solidFill>
                <a:effectLst/>
              </a:rPr>
              <a:t> </a:t>
            </a:r>
            <a:r>
              <a:rPr lang="en-US" dirty="0">
                <a:solidFill>
                  <a:srgbClr val="7FDBCA"/>
                </a:solidFill>
                <a:effectLst/>
              </a:rPr>
              <a:t>from</a:t>
            </a:r>
            <a:r>
              <a:rPr lang="en-US" dirty="0">
                <a:solidFill>
                  <a:srgbClr val="D6DEEB"/>
                </a:solidFill>
                <a:effectLst/>
              </a:rPr>
              <a:t> </a:t>
            </a:r>
            <a:r>
              <a:rPr lang="en-US" dirty="0">
                <a:solidFill>
                  <a:srgbClr val="ADDB67"/>
                </a:solidFill>
                <a:effectLst/>
              </a:rPr>
              <a:t>'react-router-</a:t>
            </a:r>
            <a:r>
              <a:rPr lang="en-US" dirty="0" err="1">
                <a:solidFill>
                  <a:srgbClr val="ADDB67"/>
                </a:solidFill>
                <a:effectLst/>
              </a:rPr>
              <a:t>dom</a:t>
            </a:r>
            <a:r>
              <a:rPr lang="en-US" dirty="0">
                <a:solidFill>
                  <a:srgbClr val="ADDB67"/>
                </a:solidFill>
                <a:effectLst/>
              </a:rPr>
              <a:t>'</a:t>
            </a:r>
            <a:r>
              <a:rPr lang="en-US" dirty="0">
                <a:solidFill>
                  <a:srgbClr val="C792EA"/>
                </a:solidFill>
                <a:effectLst/>
              </a:rPr>
              <a:t>;</a:t>
            </a:r>
            <a:endParaRPr lang="en-US" dirty="0">
              <a:solidFill>
                <a:srgbClr val="D6DEEB"/>
              </a:solidFill>
              <a:effectLst/>
            </a:endParaRPr>
          </a:p>
          <a:p>
            <a:r>
              <a:rPr lang="en-US" dirty="0">
                <a:solidFill>
                  <a:srgbClr val="7FDBCA"/>
                </a:solidFill>
                <a:effectLst/>
              </a:rPr>
              <a:t>import</a:t>
            </a:r>
            <a:r>
              <a:rPr lang="en-US" dirty="0">
                <a:solidFill>
                  <a:srgbClr val="D6DEEB"/>
                </a:solidFill>
                <a:effectLst/>
              </a:rPr>
              <a:t> </a:t>
            </a:r>
            <a:r>
              <a:rPr lang="en-US" dirty="0" err="1">
                <a:solidFill>
                  <a:srgbClr val="D6DEEB"/>
                </a:solidFill>
                <a:effectLst/>
              </a:rPr>
              <a:t>NoMatch</a:t>
            </a:r>
            <a:r>
              <a:rPr lang="en-US" dirty="0">
                <a:solidFill>
                  <a:srgbClr val="D6DEEB"/>
                </a:solidFill>
                <a:effectLst/>
              </a:rPr>
              <a:t> </a:t>
            </a:r>
            <a:r>
              <a:rPr lang="en-US" dirty="0">
                <a:solidFill>
                  <a:srgbClr val="7FDBCA"/>
                </a:solidFill>
                <a:effectLst/>
              </a:rPr>
              <a:t>from</a:t>
            </a:r>
            <a:r>
              <a:rPr lang="en-US" dirty="0">
                <a:solidFill>
                  <a:srgbClr val="D6DEEB"/>
                </a:solidFill>
                <a:effectLst/>
              </a:rPr>
              <a:t> </a:t>
            </a:r>
            <a:r>
              <a:rPr lang="en-US" dirty="0">
                <a:solidFill>
                  <a:srgbClr val="ADDB67"/>
                </a:solidFill>
                <a:effectLst/>
              </a:rPr>
              <a:t>'./Components/</a:t>
            </a:r>
            <a:r>
              <a:rPr lang="en-US" dirty="0" err="1">
                <a:solidFill>
                  <a:srgbClr val="ADDB67"/>
                </a:solidFill>
                <a:effectLst/>
              </a:rPr>
              <a:t>NoMatch</a:t>
            </a:r>
            <a:r>
              <a:rPr lang="en-US" dirty="0">
                <a:solidFill>
                  <a:srgbClr val="ADDB67"/>
                </a:solidFill>
                <a:effectLst/>
              </a:rPr>
              <a:t>'</a:t>
            </a:r>
            <a:r>
              <a:rPr lang="en-US" dirty="0">
                <a:solidFill>
                  <a:srgbClr val="C792EA"/>
                </a:solidFill>
                <a:effectLst/>
              </a:rPr>
              <a:t>;</a:t>
            </a:r>
            <a:endParaRPr lang="en-US" dirty="0">
              <a:solidFill>
                <a:srgbClr val="D6DEEB"/>
              </a:solidFill>
              <a:effectLst/>
            </a:endParaRPr>
          </a:p>
          <a:p>
            <a:r>
              <a:rPr lang="en-US" dirty="0">
                <a:solidFill>
                  <a:srgbClr val="7FDBCA"/>
                </a:solidFill>
                <a:effectLst/>
              </a:rPr>
              <a:t>const</a:t>
            </a:r>
            <a:r>
              <a:rPr lang="en-US" dirty="0">
                <a:solidFill>
                  <a:srgbClr val="D6DEEB"/>
                </a:solidFill>
                <a:effectLst/>
              </a:rPr>
              <a:t> </a:t>
            </a:r>
            <a:r>
              <a:rPr lang="en-US" dirty="0">
                <a:solidFill>
                  <a:srgbClr val="82AAFF"/>
                </a:solidFill>
                <a:effectLst/>
              </a:rPr>
              <a:t>App</a:t>
            </a:r>
            <a:r>
              <a:rPr lang="en-US" dirty="0">
                <a:solidFill>
                  <a:srgbClr val="D6DEEB"/>
                </a:solidFill>
                <a:effectLst/>
              </a:rPr>
              <a:t> </a:t>
            </a:r>
            <a:r>
              <a:rPr lang="en-US" dirty="0">
                <a:solidFill>
                  <a:srgbClr val="7FDBCA"/>
                </a:solidFill>
                <a:effectLst/>
              </a:rPr>
              <a:t>=</a:t>
            </a:r>
            <a:r>
              <a:rPr lang="en-US" dirty="0">
                <a:solidFill>
                  <a:srgbClr val="D6DEEB"/>
                </a:solidFill>
                <a:effectLst/>
              </a:rPr>
              <a:t> </a:t>
            </a:r>
            <a:r>
              <a:rPr lang="en-US" dirty="0">
                <a:solidFill>
                  <a:srgbClr val="C792EA"/>
                </a:solidFill>
                <a:effectLst/>
              </a:rPr>
              <a:t>()</a:t>
            </a:r>
            <a:r>
              <a:rPr lang="en-US" dirty="0">
                <a:solidFill>
                  <a:srgbClr val="D6DEEB"/>
                </a:solidFill>
                <a:effectLst/>
              </a:rPr>
              <a:t> </a:t>
            </a:r>
            <a:r>
              <a:rPr lang="en-US" dirty="0">
                <a:solidFill>
                  <a:srgbClr val="7FDBCA"/>
                </a:solidFill>
                <a:effectLst/>
              </a:rPr>
              <a:t>=&gt;</a:t>
            </a:r>
            <a:r>
              <a:rPr lang="en-US" dirty="0">
                <a:solidFill>
                  <a:srgbClr val="D6DEEB"/>
                </a:solidFill>
                <a:effectLst/>
              </a:rPr>
              <a:t> </a:t>
            </a:r>
            <a:r>
              <a:rPr lang="en-US" dirty="0">
                <a:solidFill>
                  <a:srgbClr val="C792EA"/>
                </a:solidFill>
                <a:effectLst/>
              </a:rPr>
              <a:t>{</a:t>
            </a:r>
            <a:endParaRPr lang="en-US" dirty="0">
              <a:solidFill>
                <a:srgbClr val="D6DEEB"/>
              </a:solidFill>
              <a:effectLst/>
            </a:endParaRPr>
          </a:p>
          <a:p>
            <a:r>
              <a:rPr lang="en-US" dirty="0">
                <a:solidFill>
                  <a:srgbClr val="7FDBCA"/>
                </a:solidFill>
                <a:effectLst/>
              </a:rPr>
              <a:t>return</a:t>
            </a:r>
            <a:r>
              <a:rPr lang="en-US" dirty="0">
                <a:solidFill>
                  <a:srgbClr val="D6DEEB"/>
                </a:solidFill>
                <a:effectLst/>
              </a:rPr>
              <a:t> </a:t>
            </a:r>
            <a:r>
              <a:rPr lang="en-US" dirty="0">
                <a:solidFill>
                  <a:srgbClr val="C792EA"/>
                </a:solidFill>
                <a:effectLst/>
              </a:rPr>
              <a:t>(</a:t>
            </a:r>
            <a:endParaRPr lang="en-US" dirty="0">
              <a:solidFill>
                <a:srgbClr val="D6DEEB"/>
              </a:solidFill>
              <a:effectLst/>
            </a:endParaRPr>
          </a:p>
          <a:p>
            <a:r>
              <a:rPr lang="en-US" dirty="0">
                <a:solidFill>
                  <a:srgbClr val="7FDBCA"/>
                </a:solidFill>
                <a:effectLst/>
              </a:rPr>
              <a:t>&lt;&gt;</a:t>
            </a:r>
            <a:endParaRPr lang="en-US" dirty="0">
              <a:solidFill>
                <a:srgbClr val="D6DEEB"/>
              </a:solidFill>
              <a:effectLst/>
            </a:endParaRPr>
          </a:p>
          <a:p>
            <a:r>
              <a:rPr lang="en-US" dirty="0">
                <a:solidFill>
                  <a:srgbClr val="7FDBCA"/>
                </a:solidFill>
                <a:effectLst/>
              </a:rPr>
              <a:t>&lt;</a:t>
            </a:r>
            <a:r>
              <a:rPr lang="en-US" dirty="0">
                <a:solidFill>
                  <a:srgbClr val="D6DEEB"/>
                </a:solidFill>
                <a:effectLst/>
              </a:rPr>
              <a:t>Routes</a:t>
            </a:r>
            <a:r>
              <a:rPr lang="en-US" dirty="0">
                <a:solidFill>
                  <a:srgbClr val="7FDBCA"/>
                </a:solidFill>
                <a:effectLst/>
              </a:rPr>
              <a:t>&gt;</a:t>
            </a:r>
            <a:endParaRPr lang="en-US" dirty="0">
              <a:solidFill>
                <a:srgbClr val="D6DEEB"/>
              </a:solidFill>
              <a:effectLst/>
            </a:endParaRPr>
          </a:p>
          <a:p>
            <a:r>
              <a:rPr lang="en-US" i="1" dirty="0">
                <a:solidFill>
                  <a:srgbClr val="637777"/>
                </a:solidFill>
                <a:effectLst/>
              </a:rPr>
              <a:t>// ...</a:t>
            </a:r>
            <a:endParaRPr lang="en-US" dirty="0">
              <a:solidFill>
                <a:srgbClr val="D6DEEB"/>
              </a:solidFill>
              <a:effectLst/>
            </a:endParaRPr>
          </a:p>
          <a:p>
            <a:r>
              <a:rPr lang="en-US" dirty="0">
                <a:solidFill>
                  <a:srgbClr val="7FDBCA"/>
                </a:solidFill>
                <a:effectLst/>
              </a:rPr>
              <a:t>&lt;</a:t>
            </a:r>
            <a:r>
              <a:rPr lang="en-US" dirty="0">
                <a:solidFill>
                  <a:srgbClr val="D6DEEB"/>
                </a:solidFill>
                <a:effectLst/>
              </a:rPr>
              <a:t>Route path</a:t>
            </a:r>
            <a:r>
              <a:rPr lang="en-US" dirty="0">
                <a:solidFill>
                  <a:srgbClr val="7FDBCA"/>
                </a:solidFill>
                <a:effectLst/>
              </a:rPr>
              <a:t>=</a:t>
            </a:r>
            <a:r>
              <a:rPr lang="en-US" dirty="0">
                <a:solidFill>
                  <a:srgbClr val="ADDB67"/>
                </a:solidFill>
                <a:effectLst/>
              </a:rPr>
              <a:t>"*"</a:t>
            </a:r>
            <a:r>
              <a:rPr lang="en-US" dirty="0">
                <a:solidFill>
                  <a:srgbClr val="D6DEEB"/>
                </a:solidFill>
                <a:effectLst/>
              </a:rPr>
              <a:t> element</a:t>
            </a:r>
            <a:r>
              <a:rPr lang="en-US" dirty="0">
                <a:solidFill>
                  <a:srgbClr val="7FDBCA"/>
                </a:solidFill>
                <a:effectLst/>
              </a:rPr>
              <a:t>=</a:t>
            </a:r>
            <a:r>
              <a:rPr lang="en-US" dirty="0">
                <a:solidFill>
                  <a:srgbClr val="C792EA"/>
                </a:solidFill>
                <a:effectLst/>
              </a:rPr>
              <a:t>{</a:t>
            </a:r>
            <a:r>
              <a:rPr lang="en-US" dirty="0">
                <a:solidFill>
                  <a:srgbClr val="7FDBCA"/>
                </a:solidFill>
                <a:effectLst/>
              </a:rPr>
              <a:t>&lt;</a:t>
            </a:r>
            <a:r>
              <a:rPr lang="en-US" dirty="0" err="1">
                <a:solidFill>
                  <a:srgbClr val="D6DEEB"/>
                </a:solidFill>
                <a:effectLst/>
              </a:rPr>
              <a:t>NoMatch</a:t>
            </a:r>
            <a:r>
              <a:rPr lang="en-US" dirty="0">
                <a:solidFill>
                  <a:srgbClr val="D6DEEB"/>
                </a:solidFill>
                <a:effectLst/>
              </a:rPr>
              <a:t> </a:t>
            </a:r>
            <a:r>
              <a:rPr lang="en-US" dirty="0">
                <a:solidFill>
                  <a:srgbClr val="7FDBCA"/>
                </a:solidFill>
                <a:effectLst/>
              </a:rPr>
              <a:t>/&gt;</a:t>
            </a:r>
            <a:r>
              <a:rPr lang="en-US" dirty="0">
                <a:solidFill>
                  <a:srgbClr val="C792EA"/>
                </a:solidFill>
                <a:effectLst/>
              </a:rPr>
              <a:t>}</a:t>
            </a:r>
            <a:r>
              <a:rPr lang="en-US" dirty="0">
                <a:solidFill>
                  <a:srgbClr val="D6DEEB"/>
                </a:solidFill>
                <a:effectLst/>
              </a:rPr>
              <a:t> </a:t>
            </a:r>
            <a:r>
              <a:rPr lang="en-US" dirty="0">
                <a:solidFill>
                  <a:srgbClr val="7FDBCA"/>
                </a:solidFill>
                <a:effectLst/>
              </a:rPr>
              <a:t>/&gt;</a:t>
            </a:r>
            <a:endParaRPr lang="en-US" dirty="0">
              <a:solidFill>
                <a:srgbClr val="D6DEEB"/>
              </a:solidFill>
              <a:effectLst/>
            </a:endParaRPr>
          </a:p>
          <a:p>
            <a:r>
              <a:rPr lang="en-US" dirty="0">
                <a:solidFill>
                  <a:srgbClr val="7FDBCA"/>
                </a:solidFill>
                <a:effectLst/>
              </a:rPr>
              <a:t>&lt;/</a:t>
            </a:r>
            <a:r>
              <a:rPr lang="en-US" dirty="0">
                <a:solidFill>
                  <a:srgbClr val="D6DEEB"/>
                </a:solidFill>
                <a:effectLst/>
              </a:rPr>
              <a:t>Routes</a:t>
            </a:r>
            <a:r>
              <a:rPr lang="en-US" dirty="0">
                <a:solidFill>
                  <a:srgbClr val="7FDBCA"/>
                </a:solidFill>
                <a:effectLst/>
              </a:rPr>
              <a:t>&gt;</a:t>
            </a:r>
            <a:endParaRPr lang="en-US" dirty="0">
              <a:solidFill>
                <a:srgbClr val="D6DEEB"/>
              </a:solidFill>
              <a:effectLst/>
            </a:endParaRPr>
          </a:p>
          <a:p>
            <a:r>
              <a:rPr lang="en-US" dirty="0">
                <a:solidFill>
                  <a:srgbClr val="7FDBCA"/>
                </a:solidFill>
                <a:effectLst/>
              </a:rPr>
              <a:t>&lt;/&gt;</a:t>
            </a:r>
            <a:endParaRPr lang="en-US" dirty="0">
              <a:solidFill>
                <a:srgbClr val="D6DEEB"/>
              </a:solidFill>
              <a:effectLst/>
            </a:endParaRPr>
          </a:p>
          <a:p>
            <a:r>
              <a:rPr lang="en-US" dirty="0">
                <a:solidFill>
                  <a:srgbClr val="C792EA"/>
                </a:solidFill>
                <a:effectLst/>
              </a:rPr>
              <a:t>);</a:t>
            </a:r>
            <a:endParaRPr lang="en-US" dirty="0">
              <a:solidFill>
                <a:srgbClr val="D6DEEB"/>
              </a:solidFill>
              <a:effectLst/>
            </a:endParaRPr>
          </a:p>
          <a:p>
            <a:r>
              <a:rPr lang="en-US" dirty="0">
                <a:solidFill>
                  <a:srgbClr val="C792EA"/>
                </a:solidFill>
                <a:effectLst/>
              </a:rPr>
              <a:t>};</a:t>
            </a:r>
            <a:endParaRPr lang="en-US" dirty="0">
              <a:solidFill>
                <a:srgbClr val="D6DEEB"/>
              </a:solidFill>
              <a:effectLst/>
            </a:endParaRPr>
          </a:p>
          <a:p>
            <a:r>
              <a:rPr lang="en-US" dirty="0">
                <a:solidFill>
                  <a:srgbClr val="7FDBCA"/>
                </a:solidFill>
                <a:effectLst/>
              </a:rPr>
              <a:t>export</a:t>
            </a:r>
            <a:r>
              <a:rPr lang="en-US" dirty="0">
                <a:solidFill>
                  <a:srgbClr val="D6DEEB"/>
                </a:solidFill>
                <a:effectLst/>
              </a:rPr>
              <a:t> </a:t>
            </a:r>
            <a:r>
              <a:rPr lang="en-US" dirty="0">
                <a:solidFill>
                  <a:srgbClr val="7FDBCA"/>
                </a:solidFill>
                <a:effectLst/>
              </a:rPr>
              <a:t>default</a:t>
            </a:r>
            <a:r>
              <a:rPr lang="en-US" dirty="0">
                <a:solidFill>
                  <a:srgbClr val="D6DEEB"/>
                </a:solidFill>
                <a:effectLst/>
              </a:rPr>
              <a:t> App</a:t>
            </a:r>
            <a:r>
              <a:rPr lang="en-US" dirty="0">
                <a:solidFill>
                  <a:srgbClr val="C792EA"/>
                </a:solidFill>
                <a:effectLst/>
              </a:rPr>
              <a:t>;</a:t>
            </a:r>
            <a:endParaRPr lang="en-US" dirty="0">
              <a:solidFill>
                <a:srgbClr val="D6DEEB"/>
              </a:solidFill>
              <a:effectLst/>
            </a:endParaRPr>
          </a:p>
          <a:p>
            <a:r>
              <a:rPr lang="en-US" b="0" i="0" dirty="0">
                <a:solidFill>
                  <a:srgbClr val="2D3A5F"/>
                </a:solidFill>
                <a:effectLst/>
                <a:latin typeface="__body_b202d1"/>
              </a:rPr>
              <a:t>In the preceding code, we created a route with the path </a:t>
            </a:r>
            <a:r>
              <a:rPr lang="en-US" dirty="0"/>
              <a:t>*</a:t>
            </a:r>
            <a:r>
              <a:rPr lang="en-US" b="0" i="0" dirty="0">
                <a:solidFill>
                  <a:srgbClr val="2D3A5F"/>
                </a:solidFill>
                <a:effectLst/>
                <a:latin typeface="__body_b202d1"/>
              </a:rPr>
              <a:t> to get all non-configured paths and assign them to the attached component.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22</a:t>
            </a:fld>
            <a:endParaRPr lang="en-US"/>
          </a:p>
        </p:txBody>
      </p:sp>
    </p:spTree>
    <p:extLst>
      <p:ext uri="{BB962C8B-B14F-4D97-AF65-F5344CB8AC3E}">
        <p14:creationId xmlns:p14="http://schemas.microsoft.com/office/powerpoint/2010/main" val="3702458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0F0F0"/>
                </a:solidFill>
                <a:effectLst/>
                <a:latin typeface="Roboto" panose="02000000000000000000" pitchFamily="2" charset="0"/>
              </a:rPr>
              <a:t>URL parameters are a fundamental aspect of web development, allowing us to create dynamic routes that respond to different data inputs. In React Router, URL parameters enable us to capture values from the URL to use in our components, making our applications more interactive and user-friendly.</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26</a:t>
            </a:fld>
            <a:endParaRPr lang="en-US"/>
          </a:p>
        </p:txBody>
      </p:sp>
    </p:spTree>
    <p:extLst>
      <p:ext uri="{BB962C8B-B14F-4D97-AF65-F5344CB8AC3E}">
        <p14:creationId xmlns:p14="http://schemas.microsoft.com/office/powerpoint/2010/main" val="339591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0F0F0"/>
                </a:solidFill>
                <a:effectLst/>
                <a:latin typeface="Roboto" panose="02000000000000000000" pitchFamily="2" charset="0"/>
              </a:rPr>
              <a:t>The </a:t>
            </a:r>
            <a:r>
              <a:rPr lang="en-US" dirty="0"/>
              <a:t>Switch</a:t>
            </a:r>
            <a:r>
              <a:rPr lang="en-US" b="0" i="0" dirty="0">
                <a:solidFill>
                  <a:srgbClr val="F0F0F0"/>
                </a:solidFill>
                <a:effectLst/>
                <a:latin typeface="Roboto" panose="02000000000000000000" pitchFamily="2" charset="0"/>
              </a:rPr>
              <a:t> component will render the first </a:t>
            </a:r>
            <a:r>
              <a:rPr lang="en-US" dirty="0"/>
              <a:t>Route</a:t>
            </a:r>
            <a:r>
              <a:rPr lang="en-US" b="0" i="0" dirty="0">
                <a:solidFill>
                  <a:srgbClr val="F0F0F0"/>
                </a:solidFill>
                <a:effectLst/>
                <a:latin typeface="Roboto" panose="02000000000000000000" pitchFamily="2" charset="0"/>
              </a:rPr>
              <a:t> or </a:t>
            </a:r>
            <a:r>
              <a:rPr lang="en-US" dirty="0"/>
              <a:t>Redirect</a:t>
            </a:r>
            <a:r>
              <a:rPr lang="en-US" b="0" i="0" dirty="0">
                <a:solidFill>
                  <a:srgbClr val="F0F0F0"/>
                </a:solidFill>
                <a:effectLst/>
                <a:latin typeface="Roboto" panose="02000000000000000000" pitchFamily="2" charset="0"/>
              </a:rPr>
              <a:t> that matches the current location. The </a:t>
            </a:r>
            <a:r>
              <a:rPr lang="en-US" dirty="0"/>
              <a:t>exact</a:t>
            </a:r>
            <a:r>
              <a:rPr lang="en-US" b="0" i="0" dirty="0">
                <a:solidFill>
                  <a:srgbClr val="F0F0F0"/>
                </a:solidFill>
                <a:effectLst/>
                <a:latin typeface="Roboto" panose="02000000000000000000" pitchFamily="2" charset="0"/>
              </a:rPr>
              <a:t> prop on the second </a:t>
            </a:r>
            <a:r>
              <a:rPr lang="en-US" dirty="0"/>
              <a:t>Route</a:t>
            </a:r>
            <a:r>
              <a:rPr lang="en-US" b="0" i="0" dirty="0">
                <a:solidFill>
                  <a:srgbClr val="F0F0F0"/>
                </a:solidFill>
                <a:effectLst/>
                <a:latin typeface="Roboto" panose="02000000000000000000" pitchFamily="2" charset="0"/>
              </a:rPr>
              <a:t> ensures that it only matches when the URL is exactly </a:t>
            </a:r>
            <a:r>
              <a:rPr lang="en-US" dirty="0"/>
              <a:t>/products</a:t>
            </a:r>
            <a:r>
              <a:rPr lang="en-US" b="0" i="0" dirty="0">
                <a:solidFill>
                  <a:srgbClr val="F0F0F0"/>
                </a:solidFill>
                <a:effectLst/>
                <a:latin typeface="Roboto" panose="02000000000000000000" pitchFamily="2" charset="0"/>
              </a:rPr>
              <a: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33</a:t>
            </a:fld>
            <a:endParaRPr lang="en-US"/>
          </a:p>
        </p:txBody>
      </p:sp>
    </p:spTree>
    <p:extLst>
      <p:ext uri="{BB962C8B-B14F-4D97-AF65-F5344CB8AC3E}">
        <p14:creationId xmlns:p14="http://schemas.microsoft.com/office/powerpoint/2010/main" val="2672899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0F0F0"/>
                </a:solidFill>
                <a:effectLst/>
                <a:latin typeface="Roboto" panose="02000000000000000000" pitchFamily="2" charset="0"/>
              </a:rPr>
              <a:t>Here, </a:t>
            </a:r>
            <a:r>
              <a:rPr lang="en-US" dirty="0"/>
              <a:t>match.url</a:t>
            </a:r>
            <a:r>
              <a:rPr lang="en-US" b="0" i="0" dirty="0">
                <a:solidFill>
                  <a:srgbClr val="F0F0F0"/>
                </a:solidFill>
                <a:effectLst/>
                <a:latin typeface="Roboto" panose="02000000000000000000" pitchFamily="2" charset="0"/>
              </a:rPr>
              <a:t> gives us the matched portion of the URL, which we use to create links to each product detail page.</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34</a:t>
            </a:fld>
            <a:endParaRPr lang="en-US"/>
          </a:p>
        </p:txBody>
      </p:sp>
    </p:spTree>
    <p:extLst>
      <p:ext uri="{BB962C8B-B14F-4D97-AF65-F5344CB8AC3E}">
        <p14:creationId xmlns:p14="http://schemas.microsoft.com/office/powerpoint/2010/main" val="745929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https://app.studyraid.com/en/read/1665/22497/redirects-and-route-guards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35</a:t>
            </a:fld>
            <a:endParaRPr lang="en-US"/>
          </a:p>
        </p:txBody>
      </p:sp>
    </p:spTree>
    <p:extLst>
      <p:ext uri="{BB962C8B-B14F-4D97-AF65-F5344CB8AC3E}">
        <p14:creationId xmlns:p14="http://schemas.microsoft.com/office/powerpoint/2010/main" val="351633428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11/Dec/2024</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11/Dec/2024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11/Dec/2024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11/Dec/2024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11/Dec/2024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11/Dec/2024</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11/Dec/2024</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59253"/>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571454" y="2865908"/>
            <a:ext cx="11315744" cy="1107996"/>
            <a:chOff x="922556" y="2709329"/>
            <a:chExt cx="5270611" cy="1107996"/>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922556" y="2712616"/>
              <a:ext cx="627035" cy="1097280"/>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553611" y="2709329"/>
              <a:ext cx="4639556" cy="1107996"/>
            </a:xfrm>
            <a:prstGeom prst="rect">
              <a:avLst/>
            </a:prstGeom>
            <a:solidFill>
              <a:schemeClr val="tx2"/>
            </a:solidFill>
          </p:spPr>
          <p:txBody>
            <a:bodyPr wrap="square" lIns="91440" tIns="45720" rIns="91440" bIns="45720">
              <a:spAutoFit/>
            </a:bodyPr>
            <a:lstStyle/>
            <a:p>
              <a:pPr algn="ctr"/>
              <a:r>
                <a:rPr lang="en-US" sz="6600" b="1" cap="none" dirty="0">
                  <a:ln w="10160">
                    <a:solidFill>
                      <a:schemeClr val="accent5"/>
                    </a:solidFill>
                    <a:prstDash val="solid"/>
                  </a:ln>
                  <a:solidFill>
                    <a:srgbClr val="FFFFFF"/>
                  </a:solidFill>
                  <a:effectLst>
                    <a:outerShdw blurRad="38100" dist="22860" dir="5400000" algn="tl" rotWithShape="0">
                      <a:srgbClr val="000000">
                        <a:alpha val="30000"/>
                      </a:srgbClr>
                    </a:outerShdw>
                    <a:reflection blurRad="6350" stA="55000" endA="300" endPos="45500" dir="5400000" sy="-100000" algn="bl" rotWithShape="0"/>
                  </a:effectLst>
                </a:rPr>
                <a:t>Navigation and Routing</a:t>
              </a:r>
              <a:endParaRPr lang="en-US" sz="6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endParaRPr>
            </a:p>
          </p:txBody>
        </p:sp>
      </p:grpSp>
      <p:sp>
        <p:nvSpPr>
          <p:cNvPr id="6" name="TextBox 5">
            <a:extLst>
              <a:ext uri="{FF2B5EF4-FFF2-40B4-BE49-F238E27FC236}">
                <a16:creationId xmlns:a16="http://schemas.microsoft.com/office/drawing/2014/main" id="{69726812-1583-47E9-D152-C3E3EDA87CE3}"/>
              </a:ext>
            </a:extLst>
          </p:cNvPr>
          <p:cNvSpPr txBox="1"/>
          <p:nvPr/>
        </p:nvSpPr>
        <p:spPr>
          <a:xfrm>
            <a:off x="5000767" y="2136855"/>
            <a:ext cx="6121020" cy="584775"/>
          </a:xfrm>
          <a:prstGeom prst="rect">
            <a:avLst/>
          </a:prstGeom>
          <a:noFill/>
        </p:spPr>
        <p:txBody>
          <a:bodyPr wrap="square">
            <a:spAutoFit/>
          </a:bodyPr>
          <a:lstStyle/>
          <a:p>
            <a:r>
              <a:rPr lang="en-US" sz="3200" dirty="0">
                <a:ln w="0"/>
                <a:effectLst>
                  <a:outerShdw blurRad="38100" dist="19050" dir="2700000" algn="tl" rotWithShape="0">
                    <a:schemeClr val="dk1">
                      <a:alpha val="40000"/>
                    </a:schemeClr>
                  </a:outerShdw>
                </a:effectLst>
              </a:rPr>
              <a:t>Chapter 4. </a:t>
            </a:r>
          </a:p>
        </p:txBody>
      </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CE3C-38F8-6350-2708-145BDC4D5DD2}"/>
              </a:ext>
            </a:extLst>
          </p:cNvPr>
          <p:cNvSpPr>
            <a:spLocks noGrp="1"/>
          </p:cNvSpPr>
          <p:nvPr>
            <p:ph type="title"/>
          </p:nvPr>
        </p:nvSpPr>
        <p:spPr/>
        <p:txBody>
          <a:bodyPr/>
          <a:lstStyle/>
          <a:p>
            <a:r>
              <a:rPr lang="en-US" dirty="0"/>
              <a:t>What is Navigation in React?</a:t>
            </a:r>
          </a:p>
        </p:txBody>
      </p:sp>
      <p:sp>
        <p:nvSpPr>
          <p:cNvPr id="3" name="Text Placeholder 2">
            <a:extLst>
              <a:ext uri="{FF2B5EF4-FFF2-40B4-BE49-F238E27FC236}">
                <a16:creationId xmlns:a16="http://schemas.microsoft.com/office/drawing/2014/main" id="{CE4758F0-4D5F-18BC-D8D8-26764246953D}"/>
              </a:ext>
            </a:extLst>
          </p:cNvPr>
          <p:cNvSpPr>
            <a:spLocks noGrp="1"/>
          </p:cNvSpPr>
          <p:nvPr>
            <p:ph type="body" idx="1"/>
          </p:nvPr>
        </p:nvSpPr>
        <p:spPr/>
        <p:txBody>
          <a:bodyPr>
            <a:normAutofit/>
          </a:bodyPr>
          <a:lstStyle/>
          <a:p>
            <a:r>
              <a:rPr lang="en-US" b="1" dirty="0">
                <a:solidFill>
                  <a:srgbClr val="FF0000"/>
                </a:solidFill>
              </a:rPr>
              <a:t>Navigation</a:t>
            </a:r>
            <a:r>
              <a:rPr lang="en-US" dirty="0"/>
              <a:t> means browsing between various parts of the application. In React mostly SPA(Single Page Application) are developed so Navigation is complex. </a:t>
            </a:r>
          </a:p>
          <a:p>
            <a:r>
              <a:rPr lang="en-US" dirty="0"/>
              <a:t>We do not load new pages from the server side each time a navigation link is pressed instead </a:t>
            </a:r>
            <a:r>
              <a:rPr lang="en-US" b="1" dirty="0"/>
              <a:t>routing</a:t>
            </a:r>
            <a:r>
              <a:rPr lang="en-US" dirty="0"/>
              <a:t> is implemented on the client side.</a:t>
            </a:r>
          </a:p>
          <a:p>
            <a:r>
              <a:rPr lang="en-US" dirty="0"/>
              <a:t>To implement routing in React we use the </a:t>
            </a:r>
            <a:r>
              <a:rPr lang="en-US" b="1" dirty="0"/>
              <a:t>react-router-</a:t>
            </a:r>
            <a:r>
              <a:rPr lang="en-US" b="1" dirty="0" err="1"/>
              <a:t>dom</a:t>
            </a:r>
            <a:r>
              <a:rPr lang="en-US" dirty="0"/>
              <a:t> module after installing and importing it.</a:t>
            </a:r>
          </a:p>
        </p:txBody>
      </p:sp>
    </p:spTree>
    <p:extLst>
      <p:ext uri="{BB962C8B-B14F-4D97-AF65-F5344CB8AC3E}">
        <p14:creationId xmlns:p14="http://schemas.microsoft.com/office/powerpoint/2010/main" val="974681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E2C0F-F116-21F2-037B-6646D6F4470E}"/>
              </a:ext>
            </a:extLst>
          </p:cNvPr>
          <p:cNvSpPr>
            <a:spLocks noGrp="1"/>
          </p:cNvSpPr>
          <p:nvPr>
            <p:ph type="title"/>
          </p:nvPr>
        </p:nvSpPr>
        <p:spPr/>
        <p:txBody>
          <a:bodyPr/>
          <a:lstStyle/>
          <a:p>
            <a:r>
              <a:rPr lang="en-US" b="1" dirty="0"/>
              <a:t>Navigation and Routing</a:t>
            </a:r>
            <a:endParaRPr lang="en-US" dirty="0"/>
          </a:p>
        </p:txBody>
      </p:sp>
      <p:sp>
        <p:nvSpPr>
          <p:cNvPr id="3" name="Text Placeholder 2">
            <a:extLst>
              <a:ext uri="{FF2B5EF4-FFF2-40B4-BE49-F238E27FC236}">
                <a16:creationId xmlns:a16="http://schemas.microsoft.com/office/drawing/2014/main" id="{C413C17F-F9F2-7448-52FF-D8213C785FE4}"/>
              </a:ext>
            </a:extLst>
          </p:cNvPr>
          <p:cNvSpPr>
            <a:spLocks noGrp="1"/>
          </p:cNvSpPr>
          <p:nvPr>
            <p:ph type="body" idx="1"/>
          </p:nvPr>
        </p:nvSpPr>
        <p:spPr/>
        <p:txBody>
          <a:bodyPr/>
          <a:lstStyle/>
          <a:p>
            <a:r>
              <a:rPr lang="en-US" b="1" dirty="0">
                <a:solidFill>
                  <a:srgbClr val="FF0000"/>
                </a:solidFill>
              </a:rPr>
              <a:t>Navigation and Routing </a:t>
            </a:r>
            <a:r>
              <a:rPr lang="en-US" dirty="0"/>
              <a:t>refer to the process of determining which component to render based on the current URL or user interaction.</a:t>
            </a:r>
          </a:p>
          <a:p>
            <a:pPr lvl="1"/>
            <a:r>
              <a:rPr lang="en-US" b="1" dirty="0"/>
              <a:t>In a multi-page application</a:t>
            </a:r>
            <a:r>
              <a:rPr lang="en-US" dirty="0"/>
              <a:t>, this typically involves loading entirely new HTML pages from the server</a:t>
            </a:r>
          </a:p>
          <a:p>
            <a:pPr lvl="1"/>
            <a:r>
              <a:rPr lang="en-US" b="1" dirty="0"/>
              <a:t>in a single-page application (SPA) </a:t>
            </a:r>
            <a:r>
              <a:rPr lang="en-US" dirty="0"/>
              <a:t>like those built with React, routing and navigation are handled on the client side without full page reloads</a:t>
            </a:r>
          </a:p>
          <a:p>
            <a:endParaRPr lang="en-US" dirty="0"/>
          </a:p>
        </p:txBody>
      </p:sp>
    </p:spTree>
    <p:extLst>
      <p:ext uri="{BB962C8B-B14F-4D97-AF65-F5344CB8AC3E}">
        <p14:creationId xmlns:p14="http://schemas.microsoft.com/office/powerpoint/2010/main" val="3051451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6D9CD-D43B-A200-9932-8F27D5F0C626}"/>
              </a:ext>
            </a:extLst>
          </p:cNvPr>
          <p:cNvSpPr>
            <a:spLocks noGrp="1"/>
          </p:cNvSpPr>
          <p:nvPr>
            <p:ph type="title"/>
          </p:nvPr>
        </p:nvSpPr>
        <p:spPr/>
        <p:txBody>
          <a:bodyPr/>
          <a:lstStyle/>
          <a:p>
            <a:r>
              <a:rPr lang="en-US" b="1" dirty="0"/>
              <a:t>Routing and navigation</a:t>
            </a:r>
            <a:endParaRPr lang="en-US" dirty="0"/>
          </a:p>
        </p:txBody>
      </p:sp>
      <p:sp>
        <p:nvSpPr>
          <p:cNvPr id="3" name="Text Placeholder 2">
            <a:extLst>
              <a:ext uri="{FF2B5EF4-FFF2-40B4-BE49-F238E27FC236}">
                <a16:creationId xmlns:a16="http://schemas.microsoft.com/office/drawing/2014/main" id="{1C00EC18-E8A4-351C-D7B9-8EB8C9420779}"/>
              </a:ext>
            </a:extLst>
          </p:cNvPr>
          <p:cNvSpPr>
            <a:spLocks noGrp="1"/>
          </p:cNvSpPr>
          <p:nvPr>
            <p:ph type="body" idx="1"/>
          </p:nvPr>
        </p:nvSpPr>
        <p:spPr/>
        <p:txBody>
          <a:bodyPr/>
          <a:lstStyle/>
          <a:p>
            <a:pPr marL="0" indent="0">
              <a:buNone/>
            </a:pPr>
            <a:r>
              <a:rPr lang="en-US" b="1" dirty="0"/>
              <a:t>React provides </a:t>
            </a:r>
            <a:r>
              <a:rPr lang="en-US" dirty="0"/>
              <a:t>a library called </a:t>
            </a:r>
            <a:r>
              <a:rPr lang="en-US" b="1" dirty="0"/>
              <a:t>React Router </a:t>
            </a:r>
            <a:r>
              <a:rPr lang="en-US" dirty="0"/>
              <a:t>that simplifies the process of adding routing and navigation to your applications. </a:t>
            </a:r>
          </a:p>
          <a:p>
            <a:pPr marL="0" indent="0">
              <a:buNone/>
            </a:pPr>
            <a:r>
              <a:rPr lang="en-US" b="1" dirty="0"/>
              <a:t>React Router </a:t>
            </a:r>
            <a:r>
              <a:rPr lang="en-US" dirty="0"/>
              <a:t>allows you to define routes and components associated with those routes, making it easy to display the appropriate content based on the current URL.</a:t>
            </a:r>
          </a:p>
        </p:txBody>
      </p:sp>
    </p:spTree>
    <p:extLst>
      <p:ext uri="{BB962C8B-B14F-4D97-AF65-F5344CB8AC3E}">
        <p14:creationId xmlns:p14="http://schemas.microsoft.com/office/powerpoint/2010/main" val="3969809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99BD1-2626-E8BE-BF8F-4DD8E752A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DC9B2-5ADC-F66D-2574-A33656B3ADE7}"/>
              </a:ext>
            </a:extLst>
          </p:cNvPr>
          <p:cNvSpPr>
            <a:spLocks noGrp="1"/>
          </p:cNvSpPr>
          <p:nvPr>
            <p:ph type="title"/>
          </p:nvPr>
        </p:nvSpPr>
        <p:spPr/>
        <p:txBody>
          <a:bodyPr/>
          <a:lstStyle/>
          <a:p>
            <a:r>
              <a:rPr lang="en-US" dirty="0"/>
              <a:t>Why Use Routing and Navigation?</a:t>
            </a:r>
          </a:p>
        </p:txBody>
      </p:sp>
      <p:sp>
        <p:nvSpPr>
          <p:cNvPr id="3" name="Text Placeholder 2">
            <a:extLst>
              <a:ext uri="{FF2B5EF4-FFF2-40B4-BE49-F238E27FC236}">
                <a16:creationId xmlns:a16="http://schemas.microsoft.com/office/drawing/2014/main" id="{8E21455E-3B5A-88D7-9501-0D0E817A32B0}"/>
              </a:ext>
            </a:extLst>
          </p:cNvPr>
          <p:cNvSpPr>
            <a:spLocks noGrp="1"/>
          </p:cNvSpPr>
          <p:nvPr>
            <p:ph type="body" idx="1"/>
          </p:nvPr>
        </p:nvSpPr>
        <p:spPr/>
        <p:txBody>
          <a:bodyPr>
            <a:normAutofit/>
          </a:bodyPr>
          <a:lstStyle/>
          <a:p>
            <a:r>
              <a:rPr lang="en-US" b="1" dirty="0"/>
              <a:t>Enhanced User Experience</a:t>
            </a:r>
            <a:r>
              <a:rPr lang="en-US" dirty="0"/>
              <a:t>: SPAs provide a smoother and faster user experience by loading only the necessary content when navigating between pages, reducing the need for full page refreshes.</a:t>
            </a:r>
          </a:p>
          <a:p>
            <a:r>
              <a:rPr lang="en-US" b="1" dirty="0"/>
              <a:t>Better Organization</a:t>
            </a:r>
            <a:r>
              <a:rPr lang="en-US" dirty="0"/>
              <a:t>: Routing allows you to organize your application into multiple views or pages, making the codebase more manageable and maintainable.</a:t>
            </a:r>
          </a:p>
        </p:txBody>
      </p:sp>
    </p:spTree>
    <p:extLst>
      <p:ext uri="{BB962C8B-B14F-4D97-AF65-F5344CB8AC3E}">
        <p14:creationId xmlns:p14="http://schemas.microsoft.com/office/powerpoint/2010/main" val="3752153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F2AF-C2F9-85E0-28E3-E2F96F3E5217}"/>
              </a:ext>
            </a:extLst>
          </p:cNvPr>
          <p:cNvSpPr>
            <a:spLocks noGrp="1"/>
          </p:cNvSpPr>
          <p:nvPr>
            <p:ph type="title"/>
          </p:nvPr>
        </p:nvSpPr>
        <p:spPr/>
        <p:txBody>
          <a:bodyPr/>
          <a:lstStyle/>
          <a:p>
            <a:r>
              <a:rPr lang="en-US" dirty="0"/>
              <a:t>Why Use Routing and Navigation?</a:t>
            </a:r>
          </a:p>
        </p:txBody>
      </p:sp>
      <p:sp>
        <p:nvSpPr>
          <p:cNvPr id="3" name="Text Placeholder 2">
            <a:extLst>
              <a:ext uri="{FF2B5EF4-FFF2-40B4-BE49-F238E27FC236}">
                <a16:creationId xmlns:a16="http://schemas.microsoft.com/office/drawing/2014/main" id="{568421FF-767D-CCD8-D24B-01CFCA95A128}"/>
              </a:ext>
            </a:extLst>
          </p:cNvPr>
          <p:cNvSpPr>
            <a:spLocks noGrp="1"/>
          </p:cNvSpPr>
          <p:nvPr>
            <p:ph type="body" idx="1"/>
          </p:nvPr>
        </p:nvSpPr>
        <p:spPr/>
        <p:txBody>
          <a:bodyPr>
            <a:normAutofit/>
          </a:bodyPr>
          <a:lstStyle/>
          <a:p>
            <a:r>
              <a:rPr lang="en-US" b="1" dirty="0"/>
              <a:t>Bookmarkable URLs</a:t>
            </a:r>
            <a:r>
              <a:rPr lang="en-US" dirty="0"/>
              <a:t>: SPAs can still have bookmarkable URLs, allowing users to share or save specific application states.</a:t>
            </a:r>
          </a:p>
          <a:p>
            <a:r>
              <a:rPr lang="en-US" b="1" dirty="0"/>
              <a:t>Search Engine Optimization (SEO): </a:t>
            </a:r>
            <a:r>
              <a:rPr lang="en-US" dirty="0"/>
              <a:t>Properly configured SPAs with server-side rendering can be SEO-friendly, improving search engine visibility</a:t>
            </a:r>
          </a:p>
        </p:txBody>
      </p:sp>
    </p:spTree>
    <p:extLst>
      <p:ext uri="{BB962C8B-B14F-4D97-AF65-F5344CB8AC3E}">
        <p14:creationId xmlns:p14="http://schemas.microsoft.com/office/powerpoint/2010/main" val="379615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71815-8190-6F1A-CA40-6763631FC334}"/>
              </a:ext>
            </a:extLst>
          </p:cNvPr>
          <p:cNvSpPr>
            <a:spLocks noGrp="1"/>
          </p:cNvSpPr>
          <p:nvPr>
            <p:ph type="title"/>
          </p:nvPr>
        </p:nvSpPr>
        <p:spPr/>
        <p:txBody>
          <a:bodyPr/>
          <a:lstStyle/>
          <a:p>
            <a:r>
              <a:rPr lang="en-US" dirty="0"/>
              <a:t>What is React Router?</a:t>
            </a:r>
          </a:p>
        </p:txBody>
      </p:sp>
      <p:sp>
        <p:nvSpPr>
          <p:cNvPr id="3" name="Text Placeholder 2">
            <a:extLst>
              <a:ext uri="{FF2B5EF4-FFF2-40B4-BE49-F238E27FC236}">
                <a16:creationId xmlns:a16="http://schemas.microsoft.com/office/drawing/2014/main" id="{8B2B9F06-0609-BBC2-E11E-FADB28C73E21}"/>
              </a:ext>
            </a:extLst>
          </p:cNvPr>
          <p:cNvSpPr>
            <a:spLocks noGrp="1"/>
          </p:cNvSpPr>
          <p:nvPr>
            <p:ph type="body" idx="1"/>
          </p:nvPr>
        </p:nvSpPr>
        <p:spPr/>
        <p:txBody>
          <a:bodyPr>
            <a:normAutofit/>
          </a:bodyPr>
          <a:lstStyle/>
          <a:p>
            <a:r>
              <a:rPr lang="en-US" b="1" dirty="0">
                <a:solidFill>
                  <a:srgbClr val="FF0000"/>
                </a:solidFill>
              </a:rPr>
              <a:t>React Router </a:t>
            </a:r>
            <a:r>
              <a:rPr lang="en-US" dirty="0"/>
              <a:t>is a standard library for creating dynamic routes and navigation in React JS Applications. It allows you to manage navigation in your app by defining routes that connect the URL paths to specific components.</a:t>
            </a:r>
          </a:p>
          <a:p>
            <a:r>
              <a:rPr lang="en-US" dirty="0"/>
              <a:t>With </a:t>
            </a:r>
            <a:r>
              <a:rPr lang="en-US" b="1" dirty="0"/>
              <a:t>React Router</a:t>
            </a:r>
            <a:r>
              <a:rPr lang="en-US" dirty="0"/>
              <a:t>, you can implement different views for different parts of your application without the need for a full-page refresh. This is a key feature of single-page applications (SPAs), where only the necessary content is updated as the user navigates.</a:t>
            </a:r>
          </a:p>
        </p:txBody>
      </p:sp>
    </p:spTree>
    <p:extLst>
      <p:ext uri="{BB962C8B-B14F-4D97-AF65-F5344CB8AC3E}">
        <p14:creationId xmlns:p14="http://schemas.microsoft.com/office/powerpoint/2010/main" val="3588866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3D071-3E6E-D7FF-F527-64D27D860054}"/>
              </a:ext>
            </a:extLst>
          </p:cNvPr>
          <p:cNvSpPr>
            <a:spLocks noGrp="1"/>
          </p:cNvSpPr>
          <p:nvPr>
            <p:ph type="title"/>
          </p:nvPr>
        </p:nvSpPr>
        <p:spPr/>
        <p:txBody>
          <a:bodyPr/>
          <a:lstStyle/>
          <a:p>
            <a:r>
              <a:rPr lang="en-US" dirty="0"/>
              <a:t>Features of React Router</a:t>
            </a:r>
          </a:p>
        </p:txBody>
      </p:sp>
      <p:sp>
        <p:nvSpPr>
          <p:cNvPr id="3" name="Text Placeholder 2">
            <a:extLst>
              <a:ext uri="{FF2B5EF4-FFF2-40B4-BE49-F238E27FC236}">
                <a16:creationId xmlns:a16="http://schemas.microsoft.com/office/drawing/2014/main" id="{36AB4CB0-8B9A-59C5-BB09-CB5F9FEDC3C5}"/>
              </a:ext>
            </a:extLst>
          </p:cNvPr>
          <p:cNvSpPr>
            <a:spLocks noGrp="1"/>
          </p:cNvSpPr>
          <p:nvPr>
            <p:ph type="body" idx="1"/>
          </p:nvPr>
        </p:nvSpPr>
        <p:spPr/>
        <p:txBody>
          <a:bodyPr>
            <a:normAutofit/>
          </a:bodyPr>
          <a:lstStyle/>
          <a:p>
            <a:r>
              <a:rPr lang="en-US" b="1" dirty="0"/>
              <a:t>Declarative Routing</a:t>
            </a:r>
            <a:r>
              <a:rPr lang="en-US" dirty="0"/>
              <a:t>: React Router v6 uses the Routes and Route components to define routes declaratively, making the routing configuration simple and easy to read.</a:t>
            </a:r>
          </a:p>
          <a:p>
            <a:r>
              <a:rPr lang="en-US" b="1" dirty="0"/>
              <a:t>Nested Routes</a:t>
            </a:r>
            <a:r>
              <a:rPr lang="en-US" dirty="0"/>
              <a:t>: It supports nested routes, allowing for complex and hierarchical routing structures, which helps in organizing the application better.</a:t>
            </a:r>
          </a:p>
          <a:p>
            <a:r>
              <a:rPr lang="en-US" b="1" dirty="0"/>
              <a:t>Programmatic Navigation</a:t>
            </a:r>
            <a:r>
              <a:rPr lang="en-US" dirty="0"/>
              <a:t>: The </a:t>
            </a:r>
            <a:r>
              <a:rPr lang="en-US" dirty="0" err="1"/>
              <a:t>useNavigate</a:t>
            </a:r>
            <a:r>
              <a:rPr lang="en-US" dirty="0"/>
              <a:t> hook enables programmatic navigation, allowing developers to navigate between routes based on certain conditions or user actions.</a:t>
            </a:r>
          </a:p>
        </p:txBody>
      </p:sp>
    </p:spTree>
    <p:extLst>
      <p:ext uri="{BB962C8B-B14F-4D97-AF65-F5344CB8AC3E}">
        <p14:creationId xmlns:p14="http://schemas.microsoft.com/office/powerpoint/2010/main" val="2849381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82E0-DAFE-F8E4-93B8-70991E834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8E1C7-5BC2-72C9-BCC9-67F5A22EF221}"/>
              </a:ext>
            </a:extLst>
          </p:cNvPr>
          <p:cNvSpPr>
            <a:spLocks noGrp="1"/>
          </p:cNvSpPr>
          <p:nvPr>
            <p:ph type="title"/>
          </p:nvPr>
        </p:nvSpPr>
        <p:spPr/>
        <p:txBody>
          <a:bodyPr/>
          <a:lstStyle/>
          <a:p>
            <a:r>
              <a:rPr lang="en-US" dirty="0"/>
              <a:t>Features of React Router</a:t>
            </a:r>
          </a:p>
        </p:txBody>
      </p:sp>
      <p:sp>
        <p:nvSpPr>
          <p:cNvPr id="3" name="Text Placeholder 2">
            <a:extLst>
              <a:ext uri="{FF2B5EF4-FFF2-40B4-BE49-F238E27FC236}">
                <a16:creationId xmlns:a16="http://schemas.microsoft.com/office/drawing/2014/main" id="{654F3A08-0F54-8F83-A0C9-1ECF54FAB92B}"/>
              </a:ext>
            </a:extLst>
          </p:cNvPr>
          <p:cNvSpPr>
            <a:spLocks noGrp="1"/>
          </p:cNvSpPr>
          <p:nvPr>
            <p:ph type="body" idx="1"/>
          </p:nvPr>
        </p:nvSpPr>
        <p:spPr/>
        <p:txBody>
          <a:bodyPr>
            <a:normAutofit/>
          </a:bodyPr>
          <a:lstStyle/>
          <a:p>
            <a:r>
              <a:rPr lang="en-US" b="1" dirty="0"/>
              <a:t>Route Parameters</a:t>
            </a:r>
            <a:r>
              <a:rPr lang="en-US" dirty="0"/>
              <a:t>: It provides dynamic routing with route parameters, enabling the creation of routes that can match multiple URL patterns.</a:t>
            </a:r>
          </a:p>
          <a:p>
            <a:r>
              <a:rPr lang="en-US" b="1" dirty="0"/>
              <a:t>Improved TypeScript Support</a:t>
            </a:r>
            <a:r>
              <a:rPr lang="en-US" dirty="0"/>
              <a:t>: Enhanced TypeScript support ensures that developers can build type-safe applications, improving development efficiency and reducing errors.</a:t>
            </a:r>
          </a:p>
        </p:txBody>
      </p:sp>
    </p:spTree>
    <p:extLst>
      <p:ext uri="{BB962C8B-B14F-4D97-AF65-F5344CB8AC3E}">
        <p14:creationId xmlns:p14="http://schemas.microsoft.com/office/powerpoint/2010/main" val="92249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AEBC-E86B-1990-D763-9615BC50786B}"/>
              </a:ext>
            </a:extLst>
          </p:cNvPr>
          <p:cNvSpPr>
            <a:spLocks noGrp="1"/>
          </p:cNvSpPr>
          <p:nvPr>
            <p:ph type="title"/>
          </p:nvPr>
        </p:nvSpPr>
        <p:spPr/>
        <p:txBody>
          <a:bodyPr/>
          <a:lstStyle/>
          <a:p>
            <a:r>
              <a:rPr lang="en-US" dirty="0"/>
              <a:t>Understanding React Router’s router</a:t>
            </a:r>
          </a:p>
        </p:txBody>
      </p:sp>
      <p:sp>
        <p:nvSpPr>
          <p:cNvPr id="3" name="Text Placeholder 2">
            <a:extLst>
              <a:ext uri="{FF2B5EF4-FFF2-40B4-BE49-F238E27FC236}">
                <a16:creationId xmlns:a16="http://schemas.microsoft.com/office/drawing/2014/main" id="{1716E5F2-B695-7C62-B206-1E25EE3ACEDA}"/>
              </a:ext>
            </a:extLst>
          </p:cNvPr>
          <p:cNvSpPr>
            <a:spLocks noGrp="1"/>
          </p:cNvSpPr>
          <p:nvPr>
            <p:ph type="body" idx="1"/>
          </p:nvPr>
        </p:nvSpPr>
        <p:spPr>
          <a:xfrm>
            <a:off x="1104900" y="1600200"/>
            <a:ext cx="10266106" cy="4572000"/>
          </a:xfrm>
        </p:spPr>
        <p:txBody>
          <a:bodyPr/>
          <a:lstStyle/>
          <a:p>
            <a:r>
              <a:rPr lang="en-US" b="1" dirty="0">
                <a:solidFill>
                  <a:srgbClr val="FF0000"/>
                </a:solidFill>
              </a:rPr>
              <a:t>A router in React Router </a:t>
            </a:r>
            <a:r>
              <a:rPr lang="en-US" dirty="0"/>
              <a:t>is a component that tracks the browser’s URL and performs navigation.</a:t>
            </a:r>
          </a:p>
          <a:p>
            <a:r>
              <a:rPr lang="en-US" dirty="0"/>
              <a:t>Several routers are available in React Router, and the one recommended for web applications is called a </a:t>
            </a:r>
            <a:r>
              <a:rPr lang="en-US" b="1" dirty="0"/>
              <a:t>browser router</a:t>
            </a:r>
            <a:r>
              <a:rPr lang="en-US" dirty="0"/>
              <a:t>.</a:t>
            </a:r>
          </a:p>
          <a:p>
            <a:r>
              <a:rPr lang="en-US" dirty="0"/>
              <a:t>The </a:t>
            </a:r>
            <a:r>
              <a:rPr lang="en-US" b="1" dirty="0" err="1"/>
              <a:t>createBrowserRouter</a:t>
            </a:r>
            <a:r>
              <a:rPr lang="en-US" dirty="0"/>
              <a:t> function creates a </a:t>
            </a:r>
            <a:r>
              <a:rPr lang="en-US" b="1" dirty="0"/>
              <a:t>browser router</a:t>
            </a:r>
            <a:r>
              <a:rPr lang="en-US" dirty="0"/>
              <a:t>.</a:t>
            </a:r>
          </a:p>
          <a:p>
            <a:r>
              <a:rPr lang="en-US" b="1" dirty="0" err="1"/>
              <a:t>createBrowserRouter</a:t>
            </a:r>
            <a:r>
              <a:rPr lang="en-US" dirty="0"/>
              <a:t> function requires an argument containing all the routes in the application.</a:t>
            </a:r>
          </a:p>
        </p:txBody>
      </p:sp>
    </p:spTree>
    <p:extLst>
      <p:ext uri="{BB962C8B-B14F-4D97-AF65-F5344CB8AC3E}">
        <p14:creationId xmlns:p14="http://schemas.microsoft.com/office/powerpoint/2010/main" val="2403605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516EE-7562-67C0-AAA0-88A28034A743}"/>
              </a:ext>
            </a:extLst>
          </p:cNvPr>
          <p:cNvSpPr>
            <a:spLocks noGrp="1"/>
          </p:cNvSpPr>
          <p:nvPr>
            <p:ph type="title"/>
          </p:nvPr>
        </p:nvSpPr>
        <p:spPr/>
        <p:txBody>
          <a:bodyPr/>
          <a:lstStyle/>
          <a:p>
            <a:r>
              <a:rPr lang="en-US" dirty="0"/>
              <a:t>Understanding React Router’s router</a:t>
            </a:r>
          </a:p>
        </p:txBody>
      </p:sp>
      <p:sp>
        <p:nvSpPr>
          <p:cNvPr id="3" name="Text Placeholder 2">
            <a:extLst>
              <a:ext uri="{FF2B5EF4-FFF2-40B4-BE49-F238E27FC236}">
                <a16:creationId xmlns:a16="http://schemas.microsoft.com/office/drawing/2014/main" id="{4DEC66B6-64B4-88FE-5852-40EE4DA361A8}"/>
              </a:ext>
            </a:extLst>
          </p:cNvPr>
          <p:cNvSpPr>
            <a:spLocks noGrp="1"/>
          </p:cNvSpPr>
          <p:nvPr>
            <p:ph type="body" idx="1"/>
          </p:nvPr>
        </p:nvSpPr>
        <p:spPr/>
        <p:txBody>
          <a:bodyPr/>
          <a:lstStyle/>
          <a:p>
            <a:r>
              <a:rPr lang="en-US" dirty="0"/>
              <a:t>The following code snippet creates a router with two routes:</a:t>
            </a:r>
          </a:p>
        </p:txBody>
      </p:sp>
      <p:pic>
        <p:nvPicPr>
          <p:cNvPr id="5" name="Picture 4">
            <a:extLst>
              <a:ext uri="{FF2B5EF4-FFF2-40B4-BE49-F238E27FC236}">
                <a16:creationId xmlns:a16="http://schemas.microsoft.com/office/drawing/2014/main" id="{421815BD-ABB3-FA04-7548-308CEFAD3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7410" y="2430743"/>
            <a:ext cx="6875661" cy="37414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55407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9F56C-27F4-C091-7002-569E13C818F6}"/>
              </a:ext>
            </a:extLst>
          </p:cNvPr>
          <p:cNvSpPr>
            <a:spLocks noGrp="1"/>
          </p:cNvSpPr>
          <p:nvPr>
            <p:ph type="title"/>
          </p:nvPr>
        </p:nvSpPr>
        <p:spPr/>
        <p:txBody>
          <a:bodyPr/>
          <a:lstStyle/>
          <a:p>
            <a:r>
              <a:rPr lang="en-US" dirty="0"/>
              <a:t>Components of React Router</a:t>
            </a:r>
          </a:p>
        </p:txBody>
      </p:sp>
      <p:sp>
        <p:nvSpPr>
          <p:cNvPr id="3" name="Text Placeholder 2">
            <a:extLst>
              <a:ext uri="{FF2B5EF4-FFF2-40B4-BE49-F238E27FC236}">
                <a16:creationId xmlns:a16="http://schemas.microsoft.com/office/drawing/2014/main" id="{38C1350F-1B08-81AF-BC87-58CE23B80756}"/>
              </a:ext>
            </a:extLst>
          </p:cNvPr>
          <p:cNvSpPr>
            <a:spLocks noGrp="1"/>
          </p:cNvSpPr>
          <p:nvPr>
            <p:ph type="body" idx="1"/>
          </p:nvPr>
        </p:nvSpPr>
        <p:spPr/>
        <p:txBody>
          <a:bodyPr/>
          <a:lstStyle/>
          <a:p>
            <a:r>
              <a:rPr lang="en-US" b="1" dirty="0" err="1">
                <a:solidFill>
                  <a:srgbClr val="FF0000"/>
                </a:solidFill>
              </a:rPr>
              <a:t>BrowserRouter</a:t>
            </a:r>
            <a:r>
              <a:rPr lang="en-US" b="1" dirty="0">
                <a:solidFill>
                  <a:srgbClr val="FF0000"/>
                </a:solidFill>
              </a:rPr>
              <a:t> and </a:t>
            </a:r>
            <a:r>
              <a:rPr lang="en-US" b="1" dirty="0" err="1">
                <a:solidFill>
                  <a:srgbClr val="FF0000"/>
                </a:solidFill>
              </a:rPr>
              <a:t>HashRouter</a:t>
            </a:r>
            <a:endParaRPr lang="en-US" b="1" dirty="0">
              <a:solidFill>
                <a:srgbClr val="FF0000"/>
              </a:solidFill>
            </a:endParaRPr>
          </a:p>
          <a:p>
            <a:pPr lvl="1"/>
            <a:r>
              <a:rPr lang="en-US" b="1" dirty="0" err="1"/>
              <a:t>BrowserRouter</a:t>
            </a:r>
            <a:r>
              <a:rPr lang="en-US" b="1" dirty="0"/>
              <a:t>:</a:t>
            </a:r>
            <a:r>
              <a:rPr lang="en-US" dirty="0"/>
              <a:t> Uses the HTML5 history API to keep your UI in sync with the URL.</a:t>
            </a:r>
          </a:p>
          <a:p>
            <a:pPr lvl="1"/>
            <a:r>
              <a:rPr lang="en-US" b="1" dirty="0" err="1"/>
              <a:t>HashRouter</a:t>
            </a:r>
            <a:r>
              <a:rPr lang="en-US" dirty="0"/>
              <a:t>: Uses the hash portion of the URL (i.e., </a:t>
            </a:r>
            <a:r>
              <a:rPr lang="en-US" dirty="0" err="1"/>
              <a:t>window.location.hash</a:t>
            </a:r>
            <a:r>
              <a:rPr lang="en-US" dirty="0"/>
              <a:t>) to keep your UI in sync with the URL.</a:t>
            </a:r>
          </a:p>
        </p:txBody>
      </p:sp>
      <p:sp>
        <p:nvSpPr>
          <p:cNvPr id="5" name="TextBox 4">
            <a:extLst>
              <a:ext uri="{FF2B5EF4-FFF2-40B4-BE49-F238E27FC236}">
                <a16:creationId xmlns:a16="http://schemas.microsoft.com/office/drawing/2014/main" id="{F6FF3BF7-F243-216A-1488-492505303A75}"/>
              </a:ext>
            </a:extLst>
          </p:cNvPr>
          <p:cNvSpPr txBox="1"/>
          <p:nvPr/>
        </p:nvSpPr>
        <p:spPr>
          <a:xfrm>
            <a:off x="3047241" y="4057471"/>
            <a:ext cx="6096000" cy="1200329"/>
          </a:xfrm>
          <a:prstGeom prst="rect">
            <a:avLst/>
          </a:prstGeom>
          <a:noFill/>
          <a:ln>
            <a:solidFill>
              <a:schemeClr val="tx1"/>
            </a:solidFill>
          </a:ln>
        </p:spPr>
        <p:txBody>
          <a:bodyPr wrap="square">
            <a:spAutoFit/>
          </a:bodyPr>
          <a:lstStyle/>
          <a:p>
            <a:r>
              <a:rPr lang="en-US" sz="2400" b="1" dirty="0">
                <a:solidFill>
                  <a:srgbClr val="800000"/>
                </a:solidFill>
                <a:effectLst/>
                <a:latin typeface="Consolas" panose="020B0609020204030204" pitchFamily="49" charset="0"/>
              </a:rPr>
              <a:t>&lt;</a:t>
            </a:r>
            <a:r>
              <a:rPr lang="en-US" sz="2400" b="1" dirty="0" err="1">
                <a:solidFill>
                  <a:srgbClr val="800000"/>
                </a:solidFill>
                <a:effectLst/>
                <a:latin typeface="Consolas" panose="020B0609020204030204" pitchFamily="49" charset="0"/>
              </a:rPr>
              <a:t>BrowserRouter</a:t>
            </a:r>
            <a:r>
              <a:rPr lang="en-US" sz="2400" b="1" dirty="0">
                <a:solidFill>
                  <a:srgbClr val="800000"/>
                </a:solidFill>
                <a:effectLst/>
                <a:latin typeface="Consolas" panose="020B0609020204030204" pitchFamily="49" charset="0"/>
              </a:rPr>
              <a:t>&gt;</a:t>
            </a:r>
            <a:endParaRPr lang="en-US" sz="2400" b="1" dirty="0">
              <a:solidFill>
                <a:srgbClr val="000000"/>
              </a:solidFill>
              <a:effectLst/>
              <a:latin typeface="Consolas" panose="020B0609020204030204" pitchFamily="49" charset="0"/>
            </a:endParaRPr>
          </a:p>
          <a:p>
            <a:r>
              <a:rPr lang="en-US" sz="2400" b="1" dirty="0">
                <a:solidFill>
                  <a:srgbClr val="000000"/>
                </a:solidFill>
                <a:effectLst/>
                <a:latin typeface="Consolas" panose="020B0609020204030204" pitchFamily="49" charset="0"/>
              </a:rPr>
              <a:t>    (/* Your routes go here */}</a:t>
            </a:r>
          </a:p>
          <a:p>
            <a:r>
              <a:rPr lang="en-US" sz="2400" b="1" dirty="0">
                <a:solidFill>
                  <a:srgbClr val="800000"/>
                </a:solidFill>
                <a:effectLst/>
                <a:latin typeface="Consolas" panose="020B0609020204030204" pitchFamily="49" charset="0"/>
              </a:rPr>
              <a:t>&lt;/</a:t>
            </a:r>
            <a:r>
              <a:rPr lang="en-US" sz="2400" b="1" dirty="0" err="1">
                <a:solidFill>
                  <a:srgbClr val="800000"/>
                </a:solidFill>
                <a:effectLst/>
                <a:latin typeface="Consolas" panose="020B0609020204030204" pitchFamily="49" charset="0"/>
              </a:rPr>
              <a:t>BrowserRouter</a:t>
            </a:r>
            <a:r>
              <a:rPr lang="en-US" sz="2400" b="1" dirty="0">
                <a:solidFill>
                  <a:srgbClr val="800000"/>
                </a:solidFill>
                <a:effectLst/>
                <a:latin typeface="Consolas" panose="020B0609020204030204" pitchFamily="49" charset="0"/>
              </a:rPr>
              <a:t>&gt;</a:t>
            </a:r>
            <a:endParaRPr lang="en-US" sz="2400" b="1"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87511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395E6-751A-44ED-A5CF-312DFA9F636D}"/>
              </a:ext>
            </a:extLst>
          </p:cNvPr>
          <p:cNvSpPr>
            <a:spLocks noGrp="1"/>
          </p:cNvSpPr>
          <p:nvPr>
            <p:ph type="title"/>
          </p:nvPr>
        </p:nvSpPr>
        <p:spPr/>
        <p:txBody>
          <a:bodyPr/>
          <a:lstStyle/>
          <a:p>
            <a:r>
              <a:rPr lang="en-US" dirty="0"/>
              <a:t>Components of React Router</a:t>
            </a:r>
          </a:p>
        </p:txBody>
      </p:sp>
      <p:sp>
        <p:nvSpPr>
          <p:cNvPr id="3" name="Text Placeholder 2">
            <a:extLst>
              <a:ext uri="{FF2B5EF4-FFF2-40B4-BE49-F238E27FC236}">
                <a16:creationId xmlns:a16="http://schemas.microsoft.com/office/drawing/2014/main" id="{9D6E03F5-D935-CF57-0CCD-19A7FA698AD5}"/>
              </a:ext>
            </a:extLst>
          </p:cNvPr>
          <p:cNvSpPr>
            <a:spLocks noGrp="1"/>
          </p:cNvSpPr>
          <p:nvPr>
            <p:ph type="body" idx="1"/>
          </p:nvPr>
        </p:nvSpPr>
        <p:spPr/>
        <p:txBody>
          <a:bodyPr/>
          <a:lstStyle/>
          <a:p>
            <a:r>
              <a:rPr lang="en-US" dirty="0"/>
              <a:t> </a:t>
            </a:r>
            <a:r>
              <a:rPr lang="en-US" b="1" dirty="0">
                <a:solidFill>
                  <a:srgbClr val="FF0000"/>
                </a:solidFill>
              </a:rPr>
              <a:t>Routes and Route</a:t>
            </a:r>
          </a:p>
          <a:p>
            <a:pPr lvl="1"/>
            <a:r>
              <a:rPr lang="en-US" b="1" dirty="0"/>
              <a:t>Routes</a:t>
            </a:r>
            <a:r>
              <a:rPr lang="en-US" dirty="0"/>
              <a:t>: A container for all your route definitions.</a:t>
            </a:r>
          </a:p>
          <a:p>
            <a:pPr lvl="1"/>
            <a:r>
              <a:rPr lang="en-US" b="1" dirty="0"/>
              <a:t>Route</a:t>
            </a:r>
            <a:r>
              <a:rPr lang="en-US" dirty="0"/>
              <a:t>: Defines a single route with a path and the component to render.</a:t>
            </a:r>
          </a:p>
        </p:txBody>
      </p:sp>
      <p:sp>
        <p:nvSpPr>
          <p:cNvPr id="5" name="TextBox 4">
            <a:extLst>
              <a:ext uri="{FF2B5EF4-FFF2-40B4-BE49-F238E27FC236}">
                <a16:creationId xmlns:a16="http://schemas.microsoft.com/office/drawing/2014/main" id="{98537665-4889-4032-5BFF-736897EC80D5}"/>
              </a:ext>
            </a:extLst>
          </p:cNvPr>
          <p:cNvSpPr txBox="1"/>
          <p:nvPr/>
        </p:nvSpPr>
        <p:spPr>
          <a:xfrm>
            <a:off x="1916793" y="3546286"/>
            <a:ext cx="8356896" cy="1569660"/>
          </a:xfrm>
          <a:prstGeom prst="rect">
            <a:avLst/>
          </a:prstGeom>
          <a:noFill/>
          <a:ln>
            <a:solidFill>
              <a:schemeClr val="tx1"/>
            </a:solidFill>
          </a:ln>
        </p:spPr>
        <p:txBody>
          <a:bodyPr wrap="square">
            <a:spAutoFit/>
          </a:bodyPr>
          <a:lstStyle/>
          <a:p>
            <a:r>
              <a:rPr lang="en-US" sz="2400" b="1" dirty="0">
                <a:solidFill>
                  <a:srgbClr val="800000"/>
                </a:solidFill>
                <a:effectLst/>
                <a:latin typeface="Consolas" panose="020B0609020204030204" pitchFamily="49" charset="0"/>
              </a:rPr>
              <a:t>&lt;Routes&gt;</a:t>
            </a:r>
            <a:endParaRPr lang="en-US" sz="2400" b="1" dirty="0">
              <a:solidFill>
                <a:srgbClr val="000000"/>
              </a:solidFill>
              <a:effectLst/>
              <a:latin typeface="Consolas" panose="020B0609020204030204" pitchFamily="49" charset="0"/>
            </a:endParaRPr>
          </a:p>
          <a:p>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&lt;Route</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path</a:t>
            </a:r>
            <a:r>
              <a:rPr lang="en-US" sz="2400" b="1" dirty="0">
                <a:solidFill>
                  <a:srgbClr val="000000"/>
                </a:solidFill>
                <a:effectLst/>
                <a:latin typeface="Consolas" panose="020B0609020204030204" pitchFamily="49" charset="0"/>
              </a:rPr>
              <a:t>=</a:t>
            </a:r>
            <a:r>
              <a:rPr lang="en-US" sz="2400" b="1" dirty="0">
                <a:solidFill>
                  <a:srgbClr val="A31515"/>
                </a:solidFill>
                <a:effectLst/>
                <a:latin typeface="Consolas" panose="020B0609020204030204" pitchFamily="49" charset="0"/>
              </a:rPr>
              <a:t>"/"</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element</a:t>
            </a:r>
            <a:r>
              <a:rPr lang="en-US" sz="2400" b="1" dirty="0">
                <a:solidFill>
                  <a:srgbClr val="000000"/>
                </a:solidFill>
                <a:effectLst/>
                <a:latin typeface="Consolas" panose="020B0609020204030204" pitchFamily="49" charset="0"/>
              </a:rPr>
              <a:t>=</a:t>
            </a:r>
            <a:r>
              <a:rPr lang="en-US" sz="2400" b="1" dirty="0">
                <a:solidFill>
                  <a:srgbClr val="0000FF"/>
                </a:solidFill>
                <a:effectLst/>
                <a:latin typeface="Consolas" panose="020B0609020204030204" pitchFamily="49" charset="0"/>
              </a:rPr>
              <a:t>{</a:t>
            </a:r>
            <a:r>
              <a:rPr lang="en-US" sz="2400" b="1" dirty="0">
                <a:solidFill>
                  <a:srgbClr val="800000"/>
                </a:solidFill>
                <a:effectLst/>
                <a:latin typeface="Consolas" panose="020B0609020204030204" pitchFamily="49" charset="0"/>
              </a:rPr>
              <a:t>&lt;Home</a:t>
            </a:r>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/&gt;</a:t>
            </a:r>
            <a:r>
              <a:rPr lang="en-US" sz="2400" b="1" dirty="0">
                <a:solidFill>
                  <a:srgbClr val="0000FF"/>
                </a:solidFill>
                <a:effectLst/>
                <a:latin typeface="Consolas" panose="020B0609020204030204" pitchFamily="49" charset="0"/>
              </a:rPr>
              <a:t>}</a:t>
            </a:r>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/&gt;</a:t>
            </a:r>
            <a:endParaRPr lang="en-US" sz="2400" b="1" dirty="0">
              <a:solidFill>
                <a:srgbClr val="000000"/>
              </a:solidFill>
              <a:effectLst/>
              <a:latin typeface="Consolas" panose="020B0609020204030204" pitchFamily="49" charset="0"/>
            </a:endParaRPr>
          </a:p>
          <a:p>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&lt;Route</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path</a:t>
            </a:r>
            <a:r>
              <a:rPr lang="en-US" sz="2400" b="1" dirty="0">
                <a:solidFill>
                  <a:srgbClr val="000000"/>
                </a:solidFill>
                <a:effectLst/>
                <a:latin typeface="Consolas" panose="020B0609020204030204" pitchFamily="49" charset="0"/>
              </a:rPr>
              <a:t>=</a:t>
            </a:r>
            <a:r>
              <a:rPr lang="en-US" sz="2400" b="1" dirty="0">
                <a:solidFill>
                  <a:srgbClr val="A31515"/>
                </a:solidFill>
                <a:effectLst/>
                <a:latin typeface="Consolas" panose="020B0609020204030204" pitchFamily="49" charset="0"/>
              </a:rPr>
              <a:t>"/about"</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element</a:t>
            </a:r>
            <a:r>
              <a:rPr lang="en-US" sz="2400" b="1" dirty="0">
                <a:solidFill>
                  <a:srgbClr val="000000"/>
                </a:solidFill>
                <a:effectLst/>
                <a:latin typeface="Consolas" panose="020B0609020204030204" pitchFamily="49" charset="0"/>
              </a:rPr>
              <a:t>=</a:t>
            </a:r>
            <a:r>
              <a:rPr lang="en-US" sz="2400" b="1" dirty="0">
                <a:solidFill>
                  <a:srgbClr val="0000FF"/>
                </a:solidFill>
                <a:effectLst/>
                <a:latin typeface="Consolas" panose="020B0609020204030204" pitchFamily="49" charset="0"/>
              </a:rPr>
              <a:t>{</a:t>
            </a:r>
            <a:r>
              <a:rPr lang="en-US" sz="2400" b="1" dirty="0">
                <a:solidFill>
                  <a:srgbClr val="800000"/>
                </a:solidFill>
                <a:effectLst/>
                <a:latin typeface="Consolas" panose="020B0609020204030204" pitchFamily="49" charset="0"/>
              </a:rPr>
              <a:t>&lt;About</a:t>
            </a:r>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/&gt;</a:t>
            </a:r>
            <a:r>
              <a:rPr lang="en-US" sz="2400" b="1" dirty="0">
                <a:solidFill>
                  <a:srgbClr val="0000FF"/>
                </a:solidFill>
                <a:effectLst/>
                <a:latin typeface="Consolas" panose="020B0609020204030204" pitchFamily="49" charset="0"/>
              </a:rPr>
              <a:t>}</a:t>
            </a:r>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/&gt;</a:t>
            </a:r>
            <a:endParaRPr lang="en-US" sz="2400" b="1" dirty="0">
              <a:solidFill>
                <a:srgbClr val="000000"/>
              </a:solidFill>
              <a:effectLst/>
              <a:latin typeface="Consolas" panose="020B0609020204030204" pitchFamily="49" charset="0"/>
            </a:endParaRPr>
          </a:p>
          <a:p>
            <a:r>
              <a:rPr lang="en-US" sz="2400" b="1" dirty="0">
                <a:solidFill>
                  <a:srgbClr val="800000"/>
                </a:solidFill>
                <a:effectLst/>
                <a:latin typeface="Consolas" panose="020B0609020204030204" pitchFamily="49" charset="0"/>
              </a:rPr>
              <a:t>&lt;/Routes&gt;</a:t>
            </a:r>
            <a:endParaRPr lang="en-US" sz="2400" b="1"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71712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167FB-7221-0D2A-36D3-E2392614862D}"/>
              </a:ext>
            </a:extLst>
          </p:cNvPr>
          <p:cNvSpPr>
            <a:spLocks noGrp="1"/>
          </p:cNvSpPr>
          <p:nvPr>
            <p:ph type="title"/>
          </p:nvPr>
        </p:nvSpPr>
        <p:spPr/>
        <p:txBody>
          <a:bodyPr/>
          <a:lstStyle/>
          <a:p>
            <a:r>
              <a:rPr lang="en-US" dirty="0"/>
              <a:t>Components of React Router</a:t>
            </a:r>
          </a:p>
        </p:txBody>
      </p:sp>
      <p:sp>
        <p:nvSpPr>
          <p:cNvPr id="3" name="Text Placeholder 2">
            <a:extLst>
              <a:ext uri="{FF2B5EF4-FFF2-40B4-BE49-F238E27FC236}">
                <a16:creationId xmlns:a16="http://schemas.microsoft.com/office/drawing/2014/main" id="{4A833326-EF86-E78B-14CE-7D43A6FE2A13}"/>
              </a:ext>
            </a:extLst>
          </p:cNvPr>
          <p:cNvSpPr>
            <a:spLocks noGrp="1"/>
          </p:cNvSpPr>
          <p:nvPr>
            <p:ph type="body" idx="1"/>
          </p:nvPr>
        </p:nvSpPr>
        <p:spPr/>
        <p:txBody>
          <a:bodyPr/>
          <a:lstStyle/>
          <a:p>
            <a:r>
              <a:rPr lang="en-US" dirty="0"/>
              <a:t> </a:t>
            </a:r>
            <a:r>
              <a:rPr lang="en-US" b="1" dirty="0">
                <a:solidFill>
                  <a:srgbClr val="FF0000"/>
                </a:solidFill>
              </a:rPr>
              <a:t>Link and </a:t>
            </a:r>
            <a:r>
              <a:rPr lang="en-US" b="1" dirty="0" err="1">
                <a:solidFill>
                  <a:srgbClr val="FF0000"/>
                </a:solidFill>
              </a:rPr>
              <a:t>NavLink</a:t>
            </a:r>
            <a:endParaRPr lang="en-US" b="1" dirty="0">
              <a:solidFill>
                <a:srgbClr val="FF0000"/>
              </a:solidFill>
            </a:endParaRPr>
          </a:p>
          <a:p>
            <a:pPr lvl="1"/>
            <a:r>
              <a:rPr lang="en-US" b="1" dirty="0"/>
              <a:t>Link</a:t>
            </a:r>
            <a:r>
              <a:rPr lang="en-US" dirty="0"/>
              <a:t>: Creates navigational links in your application.</a:t>
            </a:r>
          </a:p>
          <a:p>
            <a:pPr lvl="1"/>
            <a:r>
              <a:rPr lang="en-US" b="1" dirty="0" err="1"/>
              <a:t>NavLink</a:t>
            </a:r>
            <a:r>
              <a:rPr lang="en-US" dirty="0"/>
              <a:t>: Similar to Link but provides additional styling attributes when the link is active.</a:t>
            </a:r>
          </a:p>
        </p:txBody>
      </p:sp>
      <p:sp>
        <p:nvSpPr>
          <p:cNvPr id="5" name="TextBox 4">
            <a:extLst>
              <a:ext uri="{FF2B5EF4-FFF2-40B4-BE49-F238E27FC236}">
                <a16:creationId xmlns:a16="http://schemas.microsoft.com/office/drawing/2014/main" id="{D82E7D80-08CF-C1ED-03B4-659275EE4933}"/>
              </a:ext>
            </a:extLst>
          </p:cNvPr>
          <p:cNvSpPr txBox="1"/>
          <p:nvPr/>
        </p:nvSpPr>
        <p:spPr>
          <a:xfrm>
            <a:off x="1011232" y="3505200"/>
            <a:ext cx="10168017" cy="1569660"/>
          </a:xfrm>
          <a:prstGeom prst="rect">
            <a:avLst/>
          </a:prstGeom>
          <a:noFill/>
          <a:ln>
            <a:solidFill>
              <a:schemeClr val="tx1"/>
            </a:solidFill>
          </a:ln>
        </p:spPr>
        <p:txBody>
          <a:bodyPr wrap="square">
            <a:spAutoFit/>
          </a:bodyPr>
          <a:lstStyle/>
          <a:p>
            <a:r>
              <a:rPr lang="en-US" sz="2400" b="1" dirty="0">
                <a:solidFill>
                  <a:srgbClr val="800000"/>
                </a:solidFill>
                <a:effectLst/>
                <a:latin typeface="Consolas" panose="020B0609020204030204" pitchFamily="49" charset="0"/>
              </a:rPr>
              <a:t>&lt;nav&gt;</a:t>
            </a:r>
            <a:endParaRPr lang="en-US" sz="2400" b="1" dirty="0">
              <a:solidFill>
                <a:srgbClr val="000000"/>
              </a:solidFill>
              <a:effectLst/>
              <a:latin typeface="Consolas" panose="020B0609020204030204" pitchFamily="49" charset="0"/>
            </a:endParaRPr>
          </a:p>
          <a:p>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&lt;</a:t>
            </a:r>
            <a:r>
              <a:rPr lang="en-US" sz="2400" b="1" dirty="0" err="1">
                <a:solidFill>
                  <a:srgbClr val="800000"/>
                </a:solidFill>
                <a:effectLst/>
                <a:latin typeface="Consolas" panose="020B0609020204030204" pitchFamily="49" charset="0"/>
              </a:rPr>
              <a:t>NavLink</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to</a:t>
            </a:r>
            <a:r>
              <a:rPr lang="en-US" sz="2400" b="1" dirty="0">
                <a:solidFill>
                  <a:srgbClr val="000000"/>
                </a:solidFill>
                <a:effectLst/>
                <a:latin typeface="Consolas" panose="020B0609020204030204" pitchFamily="49" charset="0"/>
              </a:rPr>
              <a:t>=</a:t>
            </a:r>
            <a:r>
              <a:rPr lang="en-US" sz="2400" b="1" dirty="0">
                <a:solidFill>
                  <a:srgbClr val="A31515"/>
                </a:solidFill>
                <a:effectLst/>
                <a:latin typeface="Consolas" panose="020B0609020204030204" pitchFamily="49" charset="0"/>
              </a:rPr>
              <a:t>"/"</a:t>
            </a:r>
            <a:r>
              <a:rPr lang="en-US" sz="2400" b="1" dirty="0">
                <a:solidFill>
                  <a:srgbClr val="000000"/>
                </a:solidFill>
                <a:effectLst/>
                <a:latin typeface="Consolas" panose="020B0609020204030204" pitchFamily="49" charset="0"/>
              </a:rPr>
              <a:t> </a:t>
            </a:r>
            <a:r>
              <a:rPr lang="en-US" sz="2400" b="1" dirty="0" err="1">
                <a:solidFill>
                  <a:srgbClr val="E50000"/>
                </a:solidFill>
                <a:effectLst/>
                <a:latin typeface="Consolas" panose="020B0609020204030204" pitchFamily="49" charset="0"/>
              </a:rPr>
              <a:t>activeClassName</a:t>
            </a:r>
            <a:r>
              <a:rPr lang="en-US" sz="2400" b="1" dirty="0">
                <a:solidFill>
                  <a:srgbClr val="000000"/>
                </a:solidFill>
                <a:effectLst/>
                <a:latin typeface="Consolas" panose="020B0609020204030204" pitchFamily="49" charset="0"/>
              </a:rPr>
              <a:t>=</a:t>
            </a:r>
            <a:r>
              <a:rPr lang="en-US" sz="2400" b="1" dirty="0">
                <a:solidFill>
                  <a:srgbClr val="A31515"/>
                </a:solidFill>
                <a:effectLst/>
                <a:latin typeface="Consolas" panose="020B0609020204030204" pitchFamily="49" charset="0"/>
              </a:rPr>
              <a:t>"active"</a:t>
            </a:r>
            <a:r>
              <a:rPr lang="en-US" sz="2400" b="1" dirty="0">
                <a:solidFill>
                  <a:srgbClr val="800000"/>
                </a:solidFill>
                <a:effectLst/>
                <a:latin typeface="Consolas" panose="020B0609020204030204" pitchFamily="49" charset="0"/>
              </a:rPr>
              <a:t>&gt;</a:t>
            </a:r>
            <a:r>
              <a:rPr lang="en-US" sz="2400" b="1" dirty="0">
                <a:solidFill>
                  <a:srgbClr val="000000"/>
                </a:solidFill>
                <a:effectLst/>
                <a:latin typeface="Consolas" panose="020B0609020204030204" pitchFamily="49" charset="0"/>
              </a:rPr>
              <a:t>Home</a:t>
            </a:r>
            <a:r>
              <a:rPr lang="en-US" sz="2400" b="1" dirty="0">
                <a:solidFill>
                  <a:srgbClr val="800000"/>
                </a:solidFill>
                <a:effectLst/>
                <a:latin typeface="Consolas" panose="020B0609020204030204" pitchFamily="49" charset="0"/>
              </a:rPr>
              <a:t>&lt;/</a:t>
            </a:r>
            <a:r>
              <a:rPr lang="en-US" sz="2400" b="1" dirty="0" err="1">
                <a:solidFill>
                  <a:srgbClr val="800000"/>
                </a:solidFill>
                <a:effectLst/>
                <a:latin typeface="Consolas" panose="020B0609020204030204" pitchFamily="49" charset="0"/>
              </a:rPr>
              <a:t>NavLink</a:t>
            </a:r>
            <a:r>
              <a:rPr lang="en-US" sz="2400" b="1" dirty="0">
                <a:solidFill>
                  <a:srgbClr val="800000"/>
                </a:solidFill>
                <a:effectLst/>
                <a:latin typeface="Consolas" panose="020B0609020204030204" pitchFamily="49" charset="0"/>
              </a:rPr>
              <a:t>&gt;</a:t>
            </a:r>
            <a:endParaRPr lang="en-US" sz="2400" b="1" dirty="0">
              <a:solidFill>
                <a:srgbClr val="000000"/>
              </a:solidFill>
              <a:effectLst/>
              <a:latin typeface="Consolas" panose="020B0609020204030204" pitchFamily="49" charset="0"/>
            </a:endParaRPr>
          </a:p>
          <a:p>
            <a:r>
              <a:rPr lang="en-US" sz="2400" b="1"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&lt;Link</a:t>
            </a:r>
            <a:r>
              <a:rPr lang="en-US" sz="2400" b="1" dirty="0">
                <a:solidFill>
                  <a:srgbClr val="000000"/>
                </a:solidFill>
                <a:effectLst/>
                <a:latin typeface="Consolas" panose="020B0609020204030204" pitchFamily="49" charset="0"/>
              </a:rPr>
              <a:t> </a:t>
            </a:r>
            <a:r>
              <a:rPr lang="en-US" sz="2400" b="1" dirty="0">
                <a:solidFill>
                  <a:srgbClr val="E50000"/>
                </a:solidFill>
                <a:effectLst/>
                <a:latin typeface="Consolas" panose="020B0609020204030204" pitchFamily="49" charset="0"/>
              </a:rPr>
              <a:t>to</a:t>
            </a:r>
            <a:r>
              <a:rPr lang="en-US" sz="2400" b="1" dirty="0">
                <a:solidFill>
                  <a:srgbClr val="000000"/>
                </a:solidFill>
                <a:effectLst/>
                <a:latin typeface="Consolas" panose="020B0609020204030204" pitchFamily="49" charset="0"/>
              </a:rPr>
              <a:t>=</a:t>
            </a:r>
            <a:r>
              <a:rPr lang="en-US" sz="2400" b="1" dirty="0">
                <a:solidFill>
                  <a:srgbClr val="A31515"/>
                </a:solidFill>
                <a:effectLst/>
                <a:latin typeface="Consolas" panose="020B0609020204030204" pitchFamily="49" charset="0"/>
              </a:rPr>
              <a:t>"/about"</a:t>
            </a:r>
            <a:r>
              <a:rPr lang="en-US" sz="2400" b="1" dirty="0">
                <a:solidFill>
                  <a:srgbClr val="800000"/>
                </a:solidFill>
                <a:effectLst/>
                <a:latin typeface="Consolas" panose="020B0609020204030204" pitchFamily="49" charset="0"/>
              </a:rPr>
              <a:t>&gt;</a:t>
            </a:r>
            <a:r>
              <a:rPr lang="en-US" sz="2400" b="1" dirty="0">
                <a:solidFill>
                  <a:srgbClr val="000000"/>
                </a:solidFill>
                <a:effectLst/>
                <a:latin typeface="Consolas" panose="020B0609020204030204" pitchFamily="49" charset="0"/>
              </a:rPr>
              <a:t>About</a:t>
            </a:r>
            <a:r>
              <a:rPr lang="en-US" sz="2400" b="1" dirty="0">
                <a:solidFill>
                  <a:srgbClr val="800000"/>
                </a:solidFill>
                <a:effectLst/>
                <a:latin typeface="Consolas" panose="020B0609020204030204" pitchFamily="49" charset="0"/>
              </a:rPr>
              <a:t>&lt;/Link&gt;</a:t>
            </a:r>
            <a:endParaRPr lang="en-US" sz="2400" b="1" dirty="0">
              <a:solidFill>
                <a:srgbClr val="000000"/>
              </a:solidFill>
              <a:effectLst/>
              <a:latin typeface="Consolas" panose="020B0609020204030204" pitchFamily="49" charset="0"/>
            </a:endParaRPr>
          </a:p>
          <a:p>
            <a:r>
              <a:rPr lang="en-US" sz="2400" b="1" dirty="0">
                <a:solidFill>
                  <a:srgbClr val="800000"/>
                </a:solidFill>
                <a:effectLst/>
                <a:latin typeface="Consolas" panose="020B0609020204030204" pitchFamily="49" charset="0"/>
              </a:rPr>
              <a:t>&lt;/nav&gt;</a:t>
            </a:r>
            <a:endParaRPr lang="en-US" sz="2400" b="1"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39957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20BBC-DBD1-E337-CAFC-0E9558947A55}"/>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BBB50728-CB1A-0EA5-11C8-99AA5E125A60}"/>
              </a:ext>
            </a:extLst>
          </p:cNvPr>
          <p:cNvSpPr>
            <a:spLocks noGrp="1"/>
          </p:cNvSpPr>
          <p:nvPr>
            <p:ph type="body" idx="1"/>
          </p:nvPr>
        </p:nvSpPr>
        <p:spPr/>
        <p:txBody>
          <a:bodyPr/>
          <a:lstStyle/>
          <a:p>
            <a:r>
              <a:rPr lang="en-US" b="1" dirty="0"/>
              <a:t>Step 1</a:t>
            </a:r>
            <a:r>
              <a:rPr lang="en-US" dirty="0"/>
              <a:t>: </a:t>
            </a:r>
            <a:r>
              <a:rPr lang="en-US" b="1" dirty="0"/>
              <a:t>Initialize React Project</a:t>
            </a:r>
          </a:p>
          <a:p>
            <a:pPr lvl="1"/>
            <a:r>
              <a:rPr lang="en-US" dirty="0"/>
              <a:t>Create React application using the following command.</a:t>
            </a:r>
          </a:p>
          <a:p>
            <a:pPr lvl="1"/>
            <a:endParaRPr lang="en-US" dirty="0"/>
          </a:p>
          <a:p>
            <a:pPr lvl="1"/>
            <a:endParaRPr lang="en-US" dirty="0"/>
          </a:p>
          <a:p>
            <a:r>
              <a:rPr lang="en-US" b="1" dirty="0"/>
              <a:t>Step 2: Install React Router</a:t>
            </a:r>
          </a:p>
          <a:p>
            <a:pPr lvl="1"/>
            <a:r>
              <a:rPr lang="en-US" dirty="0"/>
              <a:t>Install react-router in your application write the following command in your terminal</a:t>
            </a:r>
          </a:p>
          <a:p>
            <a:pPr lvl="1"/>
            <a:endParaRPr lang="en-US" dirty="0"/>
          </a:p>
        </p:txBody>
      </p:sp>
      <p:sp>
        <p:nvSpPr>
          <p:cNvPr id="5" name="Rectangle 1">
            <a:extLst>
              <a:ext uri="{FF2B5EF4-FFF2-40B4-BE49-F238E27FC236}">
                <a16:creationId xmlns:a16="http://schemas.microsoft.com/office/drawing/2014/main" id="{E3DA2854-1ABA-2625-DA9C-386C7245673D}"/>
              </a:ext>
            </a:extLst>
          </p:cNvPr>
          <p:cNvSpPr>
            <a:spLocks noChangeArrowheads="1"/>
          </p:cNvSpPr>
          <p:nvPr/>
        </p:nvSpPr>
        <p:spPr bwMode="auto">
          <a:xfrm>
            <a:off x="2297531" y="2637467"/>
            <a:ext cx="7595419" cy="828404"/>
          </a:xfrm>
          <a:prstGeom prst="rect">
            <a:avLst/>
          </a:prstGeom>
          <a:noFill/>
          <a:ln>
            <a:solidFill>
              <a:schemeClr val="accent1"/>
            </a:solidFill>
          </a:ln>
          <a:effectLst/>
        </p:spPr>
        <p:txBody>
          <a:bodyPr vert="horz" wrap="square" lIns="0" tIns="0" rIns="0" bIns="88872" numCol="1" anchor="ctr" anchorCtr="0" compatLnSpc="1">
            <a:prstTxWarp prst="textNoShape">
              <a:avLst/>
            </a:prstTxWarp>
            <a:spAutoFit/>
          </a:bodyPr>
          <a:lstStyle/>
          <a:p>
            <a:pPr marL="176213" marR="0" lvl="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chemeClr val="tx1"/>
                </a:solidFill>
                <a:effectLst/>
                <a:latin typeface="Consolas" panose="020B0609020204030204" pitchFamily="49" charset="0"/>
              </a:rPr>
              <a:t>npx</a:t>
            </a:r>
            <a:r>
              <a:rPr kumimoji="0" lang="en-US" altLang="en-US" sz="2400" b="1" i="0" u="none" strike="noStrike" cap="none" normalizeH="0" baseline="0" dirty="0">
                <a:ln>
                  <a:noFill/>
                </a:ln>
                <a:solidFill>
                  <a:schemeClr val="tx1"/>
                </a:solidFill>
                <a:effectLst/>
                <a:latin typeface="Consolas" panose="020B0609020204030204" pitchFamily="49" charset="0"/>
              </a:rPr>
              <a:t> create-react-app react-router-example </a:t>
            </a:r>
          </a:p>
          <a:p>
            <a:pPr marL="176213" marR="0" lvl="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onsolas" panose="020B0609020204030204" pitchFamily="49" charset="0"/>
              </a:rPr>
              <a:t>cd react-router-example</a:t>
            </a:r>
            <a:r>
              <a:rPr kumimoji="0" lang="en-US" altLang="en-US" sz="2000" b="1" i="0" u="none" strike="noStrike" cap="none" normalizeH="0" baseline="0" dirty="0">
                <a:ln>
                  <a:noFill/>
                </a:ln>
                <a:solidFill>
                  <a:schemeClr val="tx1"/>
                </a:solidFill>
                <a:effectLst/>
                <a:latin typeface="Consolas" panose="020B0609020204030204" pitchFamily="49" charset="0"/>
              </a:rPr>
              <a:t> </a:t>
            </a:r>
            <a:endParaRPr kumimoji="0" lang="en-US" altLang="en-US" sz="3600" b="1" i="0" u="none" strike="noStrike" cap="none" normalizeH="0" baseline="0" dirty="0">
              <a:ln>
                <a:noFill/>
              </a:ln>
              <a:solidFill>
                <a:schemeClr val="tx1"/>
              </a:solidFill>
              <a:effectLst/>
              <a:latin typeface="Consolas" panose="020B0609020204030204" pitchFamily="49" charset="0"/>
            </a:endParaRPr>
          </a:p>
        </p:txBody>
      </p:sp>
      <p:sp>
        <p:nvSpPr>
          <p:cNvPr id="6" name="Rectangle 2">
            <a:extLst>
              <a:ext uri="{FF2B5EF4-FFF2-40B4-BE49-F238E27FC236}">
                <a16:creationId xmlns:a16="http://schemas.microsoft.com/office/drawing/2014/main" id="{E59BA114-9EE0-A21D-A469-256BC35D953C}"/>
              </a:ext>
            </a:extLst>
          </p:cNvPr>
          <p:cNvSpPr>
            <a:spLocks noChangeArrowheads="1"/>
          </p:cNvSpPr>
          <p:nvPr/>
        </p:nvSpPr>
        <p:spPr bwMode="auto">
          <a:xfrm>
            <a:off x="2325799" y="4921840"/>
            <a:ext cx="5073445" cy="397516"/>
          </a:xfrm>
          <a:prstGeom prst="rect">
            <a:avLst/>
          </a:prstGeom>
          <a:noFill/>
          <a:ln w="9525">
            <a:solidFill>
              <a:schemeClr val="tx1"/>
            </a:solidFill>
            <a:miter lim="800000"/>
            <a:headEnd/>
            <a:tailEnd/>
          </a:ln>
          <a:effectLst/>
        </p:spPr>
        <p:txBody>
          <a:bodyPr vert="horz" wrap="square" lIns="0" tIns="0" rIns="0" bIns="88872" numCol="1" anchor="ctr" anchorCtr="0" compatLnSpc="1">
            <a:prstTxWarp prst="textNoShape">
              <a:avLst/>
            </a:prstTxWarp>
            <a:spAutoFit/>
          </a:bodyPr>
          <a:lstStyle/>
          <a:p>
            <a:pPr marL="176213" marR="0" lvl="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Consolas" panose="020B0609020204030204" pitchFamily="49" charset="0"/>
              </a:rPr>
              <a:t>npm</a:t>
            </a:r>
            <a:r>
              <a:rPr kumimoji="0" lang="en-US" altLang="en-US" sz="2000" b="1" i="0" u="none" strike="noStrike" cap="none" normalizeH="0" baseline="0" dirty="0">
                <a:ln>
                  <a:noFill/>
                </a:ln>
                <a:solidFill>
                  <a:schemeClr val="tx1"/>
                </a:solidFill>
                <a:effectLst/>
                <a:latin typeface="Consolas" panose="020B0609020204030204" pitchFamily="49" charset="0"/>
              </a:rPr>
              <a:t> install react-router-dom@6</a:t>
            </a:r>
            <a:r>
              <a:rPr kumimoji="0" lang="en-US" altLang="en-US" b="1" i="0" u="none" strike="noStrike" cap="none" normalizeH="0" baseline="0" dirty="0">
                <a:ln>
                  <a:noFill/>
                </a:ln>
                <a:solidFill>
                  <a:schemeClr val="tx1"/>
                </a:solidFill>
                <a:effectLst/>
                <a:latin typeface="Consolas" panose="020B0609020204030204" pitchFamily="49" charset="0"/>
              </a:rPr>
              <a:t> </a:t>
            </a:r>
            <a:endParaRPr kumimoji="0" lang="en-US" altLang="en-US" sz="3200" b="1"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852715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7C6-CE34-F4B6-6013-0E44EE5B29FE}"/>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CFFB5C6E-F64D-9622-22EA-32138DDD5D7F}"/>
              </a:ext>
            </a:extLst>
          </p:cNvPr>
          <p:cNvSpPr>
            <a:spLocks noGrp="1"/>
          </p:cNvSpPr>
          <p:nvPr>
            <p:ph type="body" idx="1"/>
          </p:nvPr>
        </p:nvSpPr>
        <p:spPr>
          <a:xfrm>
            <a:off x="1104900" y="1600200"/>
            <a:ext cx="10325100" cy="4572000"/>
          </a:xfrm>
        </p:spPr>
        <p:txBody>
          <a:bodyPr/>
          <a:lstStyle/>
          <a:p>
            <a:r>
              <a:rPr lang="en-US" b="1" dirty="0"/>
              <a:t>Step 3</a:t>
            </a:r>
            <a:r>
              <a:rPr lang="en-US" dirty="0"/>
              <a:t>: set up and configure the React router for project.</a:t>
            </a:r>
          </a:p>
          <a:p>
            <a:pPr lvl="1"/>
            <a:r>
              <a:rPr lang="en-US" dirty="0"/>
              <a:t>Navigate to the </a:t>
            </a:r>
            <a:r>
              <a:rPr lang="en-US" b="1" dirty="0"/>
              <a:t>index.js </a:t>
            </a:r>
            <a:r>
              <a:rPr lang="en-US" dirty="0"/>
              <a:t>file, which is the root file, and import </a:t>
            </a:r>
            <a:r>
              <a:rPr lang="en-US" b="1" dirty="0" err="1"/>
              <a:t>BrowserRouter</a:t>
            </a:r>
            <a:r>
              <a:rPr lang="en-US" dirty="0"/>
              <a:t> from the </a:t>
            </a:r>
            <a:r>
              <a:rPr lang="en-US" b="1" dirty="0"/>
              <a:t>react-router-</a:t>
            </a:r>
            <a:r>
              <a:rPr lang="en-US" b="1" dirty="0" err="1"/>
              <a:t>dom</a:t>
            </a:r>
            <a:r>
              <a:rPr lang="en-US" b="1" dirty="0"/>
              <a:t> </a:t>
            </a:r>
            <a:r>
              <a:rPr lang="en-US" dirty="0"/>
              <a:t>package that we installed, wrapping it around our App component as follows:</a:t>
            </a:r>
          </a:p>
        </p:txBody>
      </p:sp>
      <p:pic>
        <p:nvPicPr>
          <p:cNvPr id="7" name="Picture 6">
            <a:extLst>
              <a:ext uri="{FF2B5EF4-FFF2-40B4-BE49-F238E27FC236}">
                <a16:creationId xmlns:a16="http://schemas.microsoft.com/office/drawing/2014/main" id="{49752EE3-F88E-1B41-4215-8490F6A4A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352" y="3248563"/>
            <a:ext cx="7181777" cy="33506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039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D28B-5796-3FC7-9964-616D306E7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358E6-9B01-D04A-C281-E655B8684245}"/>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053764BC-C678-25D5-0AD9-85048DF89160}"/>
              </a:ext>
            </a:extLst>
          </p:cNvPr>
          <p:cNvSpPr>
            <a:spLocks noGrp="1"/>
          </p:cNvSpPr>
          <p:nvPr>
            <p:ph type="body" idx="1"/>
          </p:nvPr>
        </p:nvSpPr>
        <p:spPr/>
        <p:txBody>
          <a:bodyPr/>
          <a:lstStyle/>
          <a:p>
            <a:r>
              <a:rPr lang="en-US" b="1" dirty="0"/>
              <a:t>Step 4: Configure routes in React</a:t>
            </a:r>
          </a:p>
          <a:p>
            <a:pPr lvl="1"/>
            <a:r>
              <a:rPr lang="en-US" dirty="0"/>
              <a:t>Use </a:t>
            </a:r>
            <a:r>
              <a:rPr lang="en-US" b="1" dirty="0"/>
              <a:t>React router </a:t>
            </a:r>
            <a:r>
              <a:rPr lang="en-US" dirty="0"/>
              <a:t>to implement routing. The first step is configuring all of our routes (all the pages/components we want to navigate).</a:t>
            </a:r>
          </a:p>
          <a:p>
            <a:pPr lvl="1"/>
            <a:r>
              <a:rPr lang="en-US" dirty="0"/>
              <a:t>Create those components: the </a:t>
            </a:r>
            <a:r>
              <a:rPr lang="en-US" b="1" dirty="0"/>
              <a:t>Home page</a:t>
            </a:r>
            <a:r>
              <a:rPr lang="en-US" dirty="0"/>
              <a:t>, the </a:t>
            </a:r>
            <a:r>
              <a:rPr lang="en-US" b="1" dirty="0"/>
              <a:t>About Page</a:t>
            </a:r>
            <a:r>
              <a:rPr lang="en-US" dirty="0"/>
              <a:t>, and the </a:t>
            </a:r>
            <a:r>
              <a:rPr lang="en-US" b="1" dirty="0"/>
              <a:t>Products Page</a:t>
            </a:r>
            <a:r>
              <a:rPr lang="en-US" dirty="0"/>
              <a:t>. This GitHub repository contains the content for these pages.</a:t>
            </a:r>
          </a:p>
          <a:p>
            <a:pPr lvl="1"/>
            <a:endParaRPr lang="en-US" dirty="0"/>
          </a:p>
          <a:p>
            <a:pPr lvl="1"/>
            <a:endParaRPr lang="en-US" dirty="0"/>
          </a:p>
        </p:txBody>
      </p:sp>
    </p:spTree>
    <p:extLst>
      <p:ext uri="{BB962C8B-B14F-4D97-AF65-F5344CB8AC3E}">
        <p14:creationId xmlns:p14="http://schemas.microsoft.com/office/powerpoint/2010/main" val="721527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A80DF-5458-2BF7-C855-A19382A08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2B32F-84E0-64D6-CABD-C08E2ECD1000}"/>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ABD788A3-CBEB-A298-8566-B7C975708C9F}"/>
              </a:ext>
            </a:extLst>
          </p:cNvPr>
          <p:cNvSpPr>
            <a:spLocks noGrp="1"/>
          </p:cNvSpPr>
          <p:nvPr>
            <p:ph type="body" idx="1"/>
          </p:nvPr>
        </p:nvSpPr>
        <p:spPr/>
        <p:txBody>
          <a:bodyPr/>
          <a:lstStyle/>
          <a:p>
            <a:r>
              <a:rPr lang="en-US" b="1" dirty="0"/>
              <a:t>Step 4: Configure routes in React</a:t>
            </a:r>
          </a:p>
          <a:p>
            <a:endParaRPr lang="en-US" dirty="0"/>
          </a:p>
        </p:txBody>
      </p:sp>
      <p:pic>
        <p:nvPicPr>
          <p:cNvPr id="5" name="Picture 4">
            <a:extLst>
              <a:ext uri="{FF2B5EF4-FFF2-40B4-BE49-F238E27FC236}">
                <a16:creationId xmlns:a16="http://schemas.microsoft.com/office/drawing/2014/main" id="{B96C7770-02B8-71EE-7D27-757818213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845" y="2142941"/>
            <a:ext cx="7334309" cy="44005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8699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06D7E-4939-5433-5BF4-97C51F341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DDFA8-DE70-40FD-28EE-B4D027171E81}"/>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F7DD95AF-933E-1919-91E8-37C640C6933E}"/>
              </a:ext>
            </a:extLst>
          </p:cNvPr>
          <p:cNvSpPr>
            <a:spLocks noGrp="1"/>
          </p:cNvSpPr>
          <p:nvPr>
            <p:ph type="body" idx="1"/>
          </p:nvPr>
        </p:nvSpPr>
        <p:spPr>
          <a:xfrm>
            <a:off x="1104899" y="1600200"/>
            <a:ext cx="10752804" cy="4572000"/>
          </a:xfrm>
        </p:spPr>
        <p:txBody>
          <a:bodyPr>
            <a:normAutofit/>
          </a:bodyPr>
          <a:lstStyle/>
          <a:p>
            <a:r>
              <a:rPr lang="en-US" dirty="0"/>
              <a:t>The above code, we imported </a:t>
            </a:r>
            <a:r>
              <a:rPr lang="en-US" b="1" dirty="0"/>
              <a:t>Routes</a:t>
            </a:r>
            <a:r>
              <a:rPr lang="en-US" dirty="0"/>
              <a:t> and </a:t>
            </a:r>
            <a:r>
              <a:rPr lang="en-US" b="1" dirty="0"/>
              <a:t>Route components </a:t>
            </a:r>
            <a:r>
              <a:rPr lang="en-US" dirty="0"/>
              <a:t>from r</a:t>
            </a:r>
            <a:r>
              <a:rPr lang="en-US" b="1" dirty="0"/>
              <a:t>eact-router-</a:t>
            </a:r>
            <a:r>
              <a:rPr lang="en-US" b="1" dirty="0" err="1"/>
              <a:t>dom</a:t>
            </a:r>
            <a:r>
              <a:rPr lang="en-US" dirty="0"/>
              <a:t> and then used them to declare the routes we want. </a:t>
            </a:r>
          </a:p>
          <a:p>
            <a:r>
              <a:rPr lang="en-US" dirty="0"/>
              <a:t>All Routes are wrapped in the </a:t>
            </a:r>
            <a:r>
              <a:rPr lang="en-US" b="1" dirty="0"/>
              <a:t>Routes tag</a:t>
            </a:r>
            <a:r>
              <a:rPr lang="en-US" dirty="0"/>
              <a:t>, and these Routes have two major </a:t>
            </a:r>
            <a:r>
              <a:rPr lang="en-US" b="1" dirty="0"/>
              <a:t>properties</a:t>
            </a:r>
            <a:r>
              <a:rPr lang="en-US" dirty="0"/>
              <a:t>:</a:t>
            </a:r>
          </a:p>
          <a:p>
            <a:pPr lvl="1"/>
            <a:r>
              <a:rPr lang="en-US" b="1" i="1" dirty="0"/>
              <a:t>path</a:t>
            </a:r>
            <a:r>
              <a:rPr lang="en-US" dirty="0"/>
              <a:t>: identifies the path we want users to take to reach the set component. When we set the path to /about, for example, when the user adds /about to the URL link, it navigates to that page.</a:t>
            </a:r>
          </a:p>
          <a:p>
            <a:pPr lvl="1"/>
            <a:r>
              <a:rPr lang="en-US" b="1" i="1" dirty="0"/>
              <a:t>element</a:t>
            </a:r>
            <a:r>
              <a:rPr lang="en-US" dirty="0"/>
              <a:t>: This contains the component that we want the set path to load.</a:t>
            </a:r>
          </a:p>
        </p:txBody>
      </p:sp>
    </p:spTree>
    <p:extLst>
      <p:ext uri="{BB962C8B-B14F-4D97-AF65-F5344CB8AC3E}">
        <p14:creationId xmlns:p14="http://schemas.microsoft.com/office/powerpoint/2010/main" val="2990948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CF7B-9829-F6A7-E1B5-AC03734CC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9AEE-79D6-8743-C9DB-24971115FD25}"/>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7186A413-041B-4AE6-E058-DB6D73672A0D}"/>
              </a:ext>
            </a:extLst>
          </p:cNvPr>
          <p:cNvSpPr>
            <a:spLocks noGrp="1"/>
          </p:cNvSpPr>
          <p:nvPr>
            <p:ph type="body" idx="1"/>
          </p:nvPr>
        </p:nvSpPr>
        <p:spPr/>
        <p:txBody>
          <a:bodyPr/>
          <a:lstStyle/>
          <a:p>
            <a:r>
              <a:rPr lang="en-US" b="1" dirty="0"/>
              <a:t>Step 5</a:t>
            </a:r>
            <a:r>
              <a:rPr lang="en-US" dirty="0"/>
              <a:t>: Adding a navigation bar</a:t>
            </a:r>
          </a:p>
          <a:p>
            <a:pPr lvl="1"/>
            <a:endParaRPr lang="en-US" dirty="0"/>
          </a:p>
        </p:txBody>
      </p:sp>
      <p:pic>
        <p:nvPicPr>
          <p:cNvPr id="5" name="Picture 4">
            <a:extLst>
              <a:ext uri="{FF2B5EF4-FFF2-40B4-BE49-F238E27FC236}">
                <a16:creationId xmlns:a16="http://schemas.microsoft.com/office/drawing/2014/main" id="{1A427197-44F5-A7AF-63B6-A52FB6837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1265" y="2202824"/>
            <a:ext cx="5576433" cy="4359543"/>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EF871DE-0D9E-0CF7-2748-D30A0D9CBFC2}"/>
              </a:ext>
            </a:extLst>
          </p:cNvPr>
          <p:cNvSpPr txBox="1"/>
          <p:nvPr/>
        </p:nvSpPr>
        <p:spPr>
          <a:xfrm>
            <a:off x="1101502" y="2202824"/>
            <a:ext cx="4709363" cy="4185569"/>
          </a:xfrm>
          <a:prstGeom prst="rect">
            <a:avLst/>
          </a:prstGeom>
          <a:noFill/>
        </p:spPr>
        <p:txBody>
          <a:bodyPr wrap="square">
            <a:spAutoFit/>
          </a:bodyPr>
          <a:lstStyle/>
          <a:p>
            <a:pPr marL="342900" indent="-342900">
              <a:lnSpc>
                <a:spcPct val="130000"/>
              </a:lnSpc>
              <a:buFont typeface="Arial" panose="020B0604020202020204" pitchFamily="34" charset="0"/>
              <a:buChar char="•"/>
            </a:pPr>
            <a:r>
              <a:rPr lang="en-US" sz="2300" b="1" dirty="0"/>
              <a:t>The</a:t>
            </a:r>
            <a:r>
              <a:rPr lang="en-US" sz="2300" dirty="0"/>
              <a:t> </a:t>
            </a:r>
            <a:r>
              <a:rPr lang="en-US" sz="2300" b="1" dirty="0" err="1"/>
              <a:t>NavLink</a:t>
            </a:r>
            <a:r>
              <a:rPr lang="en-US" sz="2300" b="1" dirty="0"/>
              <a:t> component </a:t>
            </a:r>
            <a:r>
              <a:rPr lang="en-US" sz="2300" dirty="0"/>
              <a:t>from </a:t>
            </a:r>
            <a:r>
              <a:rPr lang="en-US" sz="2300" b="1" dirty="0"/>
              <a:t>react-router-</a:t>
            </a:r>
            <a:r>
              <a:rPr lang="en-US" sz="2300" b="1" dirty="0" err="1"/>
              <a:t>dom</a:t>
            </a:r>
            <a:r>
              <a:rPr lang="en-US" sz="2300" dirty="0"/>
              <a:t> is a special component that helps you navigate different routes using the to prop. </a:t>
            </a:r>
          </a:p>
          <a:p>
            <a:pPr marL="342900" indent="-342900">
              <a:lnSpc>
                <a:spcPct val="130000"/>
              </a:lnSpc>
              <a:buFont typeface="Arial" panose="020B0604020202020204" pitchFamily="34" charset="0"/>
              <a:buChar char="•"/>
            </a:pPr>
            <a:r>
              <a:rPr lang="en-US" sz="2300" b="1" dirty="0"/>
              <a:t>The </a:t>
            </a:r>
            <a:r>
              <a:rPr lang="en-US" sz="2300" b="1" dirty="0" err="1"/>
              <a:t>NavLink</a:t>
            </a:r>
            <a:r>
              <a:rPr lang="en-US" sz="2300" b="1" dirty="0"/>
              <a:t> component </a:t>
            </a:r>
            <a:r>
              <a:rPr lang="en-US" sz="2300" dirty="0"/>
              <a:t>also knows whether the </a:t>
            </a:r>
            <a:r>
              <a:rPr lang="en-US" sz="2300" b="1" dirty="0"/>
              <a:t>route</a:t>
            </a:r>
            <a:r>
              <a:rPr lang="en-US" sz="2300" dirty="0"/>
              <a:t> is currently "active" and adds a default active class to the link.</a:t>
            </a:r>
          </a:p>
        </p:txBody>
      </p:sp>
    </p:spTree>
    <p:extLst>
      <p:ext uri="{BB962C8B-B14F-4D97-AF65-F5344CB8AC3E}">
        <p14:creationId xmlns:p14="http://schemas.microsoft.com/office/powerpoint/2010/main" val="175734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9058C-C34F-F6E6-1BE5-3DEFF46E9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B987B-9C4A-E08E-77DB-418F1D1FE8D5}"/>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778C66A3-F9AB-CEC4-7691-439AEF1D2332}"/>
              </a:ext>
            </a:extLst>
          </p:cNvPr>
          <p:cNvSpPr>
            <a:spLocks noGrp="1"/>
          </p:cNvSpPr>
          <p:nvPr>
            <p:ph type="body" idx="1"/>
          </p:nvPr>
        </p:nvSpPr>
        <p:spPr/>
        <p:txBody>
          <a:bodyPr/>
          <a:lstStyle/>
          <a:p>
            <a:r>
              <a:rPr lang="en-US" b="1" dirty="0"/>
              <a:t>The </a:t>
            </a:r>
            <a:r>
              <a:rPr lang="en-US" b="1" dirty="0" err="1"/>
              <a:t>NavLink</a:t>
            </a:r>
            <a:r>
              <a:rPr lang="en-US" b="1" dirty="0"/>
              <a:t> component </a:t>
            </a:r>
            <a:r>
              <a:rPr lang="en-US" dirty="0"/>
              <a:t>gives us access to properties like </a:t>
            </a:r>
            <a:r>
              <a:rPr lang="en-US" b="1" dirty="0" err="1"/>
              <a:t>isActive</a:t>
            </a:r>
            <a:endParaRPr lang="en-US" b="1" dirty="0"/>
          </a:p>
        </p:txBody>
      </p:sp>
      <p:pic>
        <p:nvPicPr>
          <p:cNvPr id="5" name="Picture 4">
            <a:extLst>
              <a:ext uri="{FF2B5EF4-FFF2-40B4-BE49-F238E27FC236}">
                <a16:creationId xmlns:a16="http://schemas.microsoft.com/office/drawing/2014/main" id="{4C3DEA8E-DBD6-CB7E-63E9-7C1790950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793" y="2257656"/>
            <a:ext cx="6114413" cy="42021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74300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691A2-040B-088F-0640-61A47B6ED9F9}"/>
              </a:ext>
            </a:extLst>
          </p:cNvPr>
          <p:cNvSpPr>
            <a:spLocks noGrp="1"/>
          </p:cNvSpPr>
          <p:nvPr>
            <p:ph type="title"/>
          </p:nvPr>
        </p:nvSpPr>
        <p:spPr/>
        <p:txBody>
          <a:bodyPr/>
          <a:lstStyle/>
          <a:p>
            <a:r>
              <a:rPr lang="en-US" dirty="0"/>
              <a:t>Steps to Create Routes using React Router</a:t>
            </a:r>
          </a:p>
        </p:txBody>
      </p:sp>
      <p:sp>
        <p:nvSpPr>
          <p:cNvPr id="3" name="Text Placeholder 2">
            <a:extLst>
              <a:ext uri="{FF2B5EF4-FFF2-40B4-BE49-F238E27FC236}">
                <a16:creationId xmlns:a16="http://schemas.microsoft.com/office/drawing/2014/main" id="{6C73305D-517C-630D-6B7D-1E4FA08B27F0}"/>
              </a:ext>
            </a:extLst>
          </p:cNvPr>
          <p:cNvSpPr>
            <a:spLocks noGrp="1"/>
          </p:cNvSpPr>
          <p:nvPr>
            <p:ph type="body" idx="1"/>
          </p:nvPr>
        </p:nvSpPr>
        <p:spPr/>
        <p:txBody>
          <a:bodyPr/>
          <a:lstStyle/>
          <a:p>
            <a:r>
              <a:rPr lang="en-US" b="1" dirty="0"/>
              <a:t>Finally</a:t>
            </a:r>
            <a:r>
              <a:rPr lang="en-US" dirty="0"/>
              <a:t>, let us use the Navbar component inside our App.</a:t>
            </a:r>
          </a:p>
        </p:txBody>
      </p:sp>
      <p:pic>
        <p:nvPicPr>
          <p:cNvPr id="5" name="Picture 4">
            <a:extLst>
              <a:ext uri="{FF2B5EF4-FFF2-40B4-BE49-F238E27FC236}">
                <a16:creationId xmlns:a16="http://schemas.microsoft.com/office/drawing/2014/main" id="{B943FAAF-B5CA-BD5D-C040-C9A3CB75DD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5163" y="2336684"/>
            <a:ext cx="6520156" cy="37110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796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FA88D-AD9E-19A0-C6A8-9C44C27A8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C36AF-AF45-A255-9A7F-3919BB902E46}"/>
              </a:ext>
            </a:extLst>
          </p:cNvPr>
          <p:cNvSpPr>
            <a:spLocks noGrp="1"/>
          </p:cNvSpPr>
          <p:nvPr>
            <p:ph type="title"/>
          </p:nvPr>
        </p:nvSpPr>
        <p:spPr/>
        <p:txBody>
          <a:bodyPr/>
          <a:lstStyle/>
          <a:p>
            <a:r>
              <a:rPr lang="en-US" dirty="0"/>
              <a:t>Creating navigation</a:t>
            </a:r>
          </a:p>
        </p:txBody>
      </p:sp>
      <p:sp>
        <p:nvSpPr>
          <p:cNvPr id="3" name="Text Placeholder 2">
            <a:extLst>
              <a:ext uri="{FF2B5EF4-FFF2-40B4-BE49-F238E27FC236}">
                <a16:creationId xmlns:a16="http://schemas.microsoft.com/office/drawing/2014/main" id="{B97825F5-2438-45CB-5562-7F3D320E1631}"/>
              </a:ext>
            </a:extLst>
          </p:cNvPr>
          <p:cNvSpPr>
            <a:spLocks noGrp="1"/>
          </p:cNvSpPr>
          <p:nvPr>
            <p:ph type="body" idx="1"/>
          </p:nvPr>
        </p:nvSpPr>
        <p:spPr>
          <a:xfrm>
            <a:off x="1104899" y="1600200"/>
            <a:ext cx="10516829" cy="4572000"/>
          </a:xfrm>
        </p:spPr>
        <p:txBody>
          <a:bodyPr/>
          <a:lstStyle/>
          <a:p>
            <a:r>
              <a:rPr lang="en-US" b="1" dirty="0"/>
              <a:t>React Router </a:t>
            </a:r>
            <a:r>
              <a:rPr lang="en-US" dirty="0"/>
              <a:t>comes with components called </a:t>
            </a:r>
            <a:r>
              <a:rPr lang="en-US" b="1" dirty="0"/>
              <a:t>Link</a:t>
            </a:r>
            <a:r>
              <a:rPr lang="en-US" dirty="0"/>
              <a:t> and </a:t>
            </a:r>
            <a:r>
              <a:rPr lang="en-US" b="1" dirty="0" err="1"/>
              <a:t>NavLink</a:t>
            </a:r>
            <a:r>
              <a:rPr lang="en-US" dirty="0"/>
              <a:t>, which provide navigation.</a:t>
            </a:r>
          </a:p>
          <a:p>
            <a:r>
              <a:rPr lang="en-US" b="1" dirty="0">
                <a:solidFill>
                  <a:srgbClr val="FF0000"/>
                </a:solidFill>
              </a:rPr>
              <a:t>Using the Link component</a:t>
            </a:r>
          </a:p>
          <a:p>
            <a:pPr lvl="1"/>
            <a:r>
              <a:rPr lang="en-US" dirty="0"/>
              <a:t>The </a:t>
            </a:r>
            <a:r>
              <a:rPr lang="en-US" b="1" dirty="0"/>
              <a:t>Link component </a:t>
            </a:r>
            <a:r>
              <a:rPr lang="en-US" dirty="0"/>
              <a:t>is the basic building block for creating navigation links in React application. It renders an anchor tag (&lt;a&gt;) in the DOM and allows you to navigate between components without a full page reload</a:t>
            </a:r>
          </a:p>
        </p:txBody>
      </p:sp>
    </p:spTree>
    <p:extLst>
      <p:ext uri="{BB962C8B-B14F-4D97-AF65-F5344CB8AC3E}">
        <p14:creationId xmlns:p14="http://schemas.microsoft.com/office/powerpoint/2010/main" val="1424478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8CFF-1574-B241-3455-2659A5573FE3}"/>
              </a:ext>
            </a:extLst>
          </p:cNvPr>
          <p:cNvSpPr>
            <a:spLocks noGrp="1"/>
          </p:cNvSpPr>
          <p:nvPr>
            <p:ph type="title"/>
          </p:nvPr>
        </p:nvSpPr>
        <p:spPr/>
        <p:txBody>
          <a:bodyPr/>
          <a:lstStyle/>
          <a:p>
            <a:r>
              <a:rPr lang="en-US" dirty="0"/>
              <a:t>Creating navigation</a:t>
            </a:r>
          </a:p>
        </p:txBody>
      </p:sp>
      <p:sp>
        <p:nvSpPr>
          <p:cNvPr id="3" name="Text Placeholder 2">
            <a:extLst>
              <a:ext uri="{FF2B5EF4-FFF2-40B4-BE49-F238E27FC236}">
                <a16:creationId xmlns:a16="http://schemas.microsoft.com/office/drawing/2014/main" id="{EF0B329D-4408-AE64-DCC1-CB59A719B5AF}"/>
              </a:ext>
            </a:extLst>
          </p:cNvPr>
          <p:cNvSpPr>
            <a:spLocks noGrp="1"/>
          </p:cNvSpPr>
          <p:nvPr>
            <p:ph type="body" idx="1"/>
          </p:nvPr>
        </p:nvSpPr>
        <p:spPr>
          <a:xfrm>
            <a:off x="1104899" y="1600200"/>
            <a:ext cx="10516829" cy="4572000"/>
          </a:xfrm>
        </p:spPr>
        <p:txBody>
          <a:bodyPr/>
          <a:lstStyle/>
          <a:p>
            <a:r>
              <a:rPr lang="en-US" b="1" dirty="0">
                <a:solidFill>
                  <a:srgbClr val="FF0000"/>
                </a:solidFill>
              </a:rPr>
              <a:t>Using the Link component</a:t>
            </a:r>
          </a:p>
        </p:txBody>
      </p:sp>
      <p:pic>
        <p:nvPicPr>
          <p:cNvPr id="5" name="Picture 4">
            <a:extLst>
              <a:ext uri="{FF2B5EF4-FFF2-40B4-BE49-F238E27FC236}">
                <a16:creationId xmlns:a16="http://schemas.microsoft.com/office/drawing/2014/main" id="{F3886DCF-E94F-F307-1541-374417964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4601" y="2249791"/>
            <a:ext cx="7502797" cy="43494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94568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42F7-D4A5-CFB0-2E19-283C88C12C9F}"/>
              </a:ext>
            </a:extLst>
          </p:cNvPr>
          <p:cNvSpPr>
            <a:spLocks noGrp="1"/>
          </p:cNvSpPr>
          <p:nvPr>
            <p:ph type="title"/>
          </p:nvPr>
        </p:nvSpPr>
        <p:spPr/>
        <p:txBody>
          <a:bodyPr/>
          <a:lstStyle/>
          <a:p>
            <a:r>
              <a:rPr lang="en-US" dirty="0"/>
              <a:t>Creating navigation</a:t>
            </a:r>
          </a:p>
        </p:txBody>
      </p:sp>
      <p:sp>
        <p:nvSpPr>
          <p:cNvPr id="3" name="Text Placeholder 2">
            <a:extLst>
              <a:ext uri="{FF2B5EF4-FFF2-40B4-BE49-F238E27FC236}">
                <a16:creationId xmlns:a16="http://schemas.microsoft.com/office/drawing/2014/main" id="{7423A861-B9C2-ECEB-DFA9-1F73EE110D7B}"/>
              </a:ext>
            </a:extLst>
          </p:cNvPr>
          <p:cNvSpPr>
            <a:spLocks noGrp="1"/>
          </p:cNvSpPr>
          <p:nvPr>
            <p:ph type="body" idx="1"/>
          </p:nvPr>
        </p:nvSpPr>
        <p:spPr/>
        <p:txBody>
          <a:bodyPr/>
          <a:lstStyle/>
          <a:p>
            <a:r>
              <a:rPr lang="en-US" b="1" dirty="0">
                <a:solidFill>
                  <a:srgbClr val="FF0000"/>
                </a:solidFill>
              </a:rPr>
              <a:t>Using the </a:t>
            </a:r>
            <a:r>
              <a:rPr lang="en-US" b="1" dirty="0" err="1">
                <a:solidFill>
                  <a:srgbClr val="FF0000"/>
                </a:solidFill>
              </a:rPr>
              <a:t>NavLink</a:t>
            </a:r>
            <a:r>
              <a:rPr lang="en-US" b="1" dirty="0">
                <a:solidFill>
                  <a:srgbClr val="FF0000"/>
                </a:solidFill>
              </a:rPr>
              <a:t> Component</a:t>
            </a:r>
          </a:p>
          <a:p>
            <a:pPr lvl="1"/>
            <a:r>
              <a:rPr lang="en-US" b="1" dirty="0" err="1"/>
              <a:t>NavLink</a:t>
            </a:r>
            <a:r>
              <a:rPr lang="en-US" dirty="0"/>
              <a:t> is a special version of Link that can style itself as "</a:t>
            </a:r>
            <a:r>
              <a:rPr lang="en-US" b="1" dirty="0"/>
              <a:t>active</a:t>
            </a:r>
            <a:r>
              <a:rPr lang="en-US" dirty="0"/>
              <a:t>" when it matches the current URL. This is particularly useful for highlighting the current page in a navigation menu.</a:t>
            </a:r>
          </a:p>
          <a:p>
            <a:pPr lvl="1"/>
            <a:endParaRPr lang="en-US" dirty="0"/>
          </a:p>
        </p:txBody>
      </p:sp>
      <p:pic>
        <p:nvPicPr>
          <p:cNvPr id="5" name="Picture 4">
            <a:extLst>
              <a:ext uri="{FF2B5EF4-FFF2-40B4-BE49-F238E27FC236}">
                <a16:creationId xmlns:a16="http://schemas.microsoft.com/office/drawing/2014/main" id="{D7E8213B-E3CF-2355-273A-33A5FDBF9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0577" y="3429000"/>
            <a:ext cx="8238042" cy="30821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2819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3639-6E1C-A20D-1E15-A9B82859656B}"/>
              </a:ext>
            </a:extLst>
          </p:cNvPr>
          <p:cNvSpPr>
            <a:spLocks noGrp="1"/>
          </p:cNvSpPr>
          <p:nvPr>
            <p:ph type="title"/>
          </p:nvPr>
        </p:nvSpPr>
        <p:spPr/>
        <p:txBody>
          <a:bodyPr/>
          <a:lstStyle/>
          <a:p>
            <a:r>
              <a:rPr lang="en-US" dirty="0"/>
              <a:t>URL Parameters in React Router</a:t>
            </a:r>
          </a:p>
        </p:txBody>
      </p:sp>
      <p:sp>
        <p:nvSpPr>
          <p:cNvPr id="3" name="Text Placeholder 2">
            <a:extLst>
              <a:ext uri="{FF2B5EF4-FFF2-40B4-BE49-F238E27FC236}">
                <a16:creationId xmlns:a16="http://schemas.microsoft.com/office/drawing/2014/main" id="{9226FA7E-3050-A8C9-047E-9AE2396DB24F}"/>
              </a:ext>
            </a:extLst>
          </p:cNvPr>
          <p:cNvSpPr>
            <a:spLocks noGrp="1"/>
          </p:cNvSpPr>
          <p:nvPr>
            <p:ph type="body" idx="1"/>
          </p:nvPr>
        </p:nvSpPr>
        <p:spPr>
          <a:xfrm>
            <a:off x="1104900" y="1600200"/>
            <a:ext cx="10487332" cy="4572000"/>
          </a:xfrm>
        </p:spPr>
        <p:txBody>
          <a:bodyPr/>
          <a:lstStyle/>
          <a:p>
            <a:r>
              <a:rPr lang="en-US" b="1" dirty="0">
                <a:solidFill>
                  <a:srgbClr val="FF0000"/>
                </a:solidFill>
              </a:rPr>
              <a:t>URL parameters </a:t>
            </a:r>
            <a:r>
              <a:rPr lang="en-US" dirty="0"/>
              <a:t>are a fundamental aspect of web development, allowing us to create dynamic routes that respond to different data inputs</a:t>
            </a:r>
          </a:p>
          <a:p>
            <a:r>
              <a:rPr lang="en-US" dirty="0"/>
              <a:t>To define a route with parameters in React Router, </a:t>
            </a:r>
            <a:r>
              <a:rPr lang="en-US" b="1" i="1" dirty="0"/>
              <a:t>use a </a:t>
            </a:r>
            <a:r>
              <a:rPr lang="en-US" b="1" i="1" dirty="0">
                <a:solidFill>
                  <a:srgbClr val="FF0000"/>
                </a:solidFill>
              </a:rPr>
              <a:t>colon:</a:t>
            </a:r>
            <a:r>
              <a:rPr lang="en-US" b="1" i="1" dirty="0"/>
              <a:t> followed by the parameter name in the path prop of the Route component</a:t>
            </a:r>
            <a:r>
              <a:rPr lang="en-US" dirty="0"/>
              <a:t>.</a:t>
            </a:r>
          </a:p>
          <a:p>
            <a:r>
              <a:rPr lang="en-US" dirty="0" err="1"/>
              <a:t>Examp</a:t>
            </a:r>
            <a:r>
              <a:rPr lang="en-US" dirty="0"/>
              <a:t>:</a:t>
            </a:r>
          </a:p>
        </p:txBody>
      </p:sp>
      <p:pic>
        <p:nvPicPr>
          <p:cNvPr id="5" name="Picture 4">
            <a:extLst>
              <a:ext uri="{FF2B5EF4-FFF2-40B4-BE49-F238E27FC236}">
                <a16:creationId xmlns:a16="http://schemas.microsoft.com/office/drawing/2014/main" id="{26257A6D-D3ED-7C43-EF52-EF039C451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4921" y="4628838"/>
            <a:ext cx="6942202" cy="21529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16736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2215-2A10-C654-F282-5AFCA336E0C8}"/>
              </a:ext>
            </a:extLst>
          </p:cNvPr>
          <p:cNvSpPr>
            <a:spLocks noGrp="1"/>
          </p:cNvSpPr>
          <p:nvPr>
            <p:ph type="title"/>
          </p:nvPr>
        </p:nvSpPr>
        <p:spPr/>
        <p:txBody>
          <a:bodyPr/>
          <a:lstStyle/>
          <a:p>
            <a:r>
              <a:rPr lang="en-US" dirty="0"/>
              <a:t>URL Parameters in React Router</a:t>
            </a:r>
          </a:p>
        </p:txBody>
      </p:sp>
      <p:sp>
        <p:nvSpPr>
          <p:cNvPr id="3" name="Text Placeholder 2">
            <a:extLst>
              <a:ext uri="{FF2B5EF4-FFF2-40B4-BE49-F238E27FC236}">
                <a16:creationId xmlns:a16="http://schemas.microsoft.com/office/drawing/2014/main" id="{8E0CF02B-6ED1-F6E3-8CCF-4DF24815E652}"/>
              </a:ext>
            </a:extLst>
          </p:cNvPr>
          <p:cNvSpPr>
            <a:spLocks noGrp="1"/>
          </p:cNvSpPr>
          <p:nvPr>
            <p:ph type="body" idx="1"/>
          </p:nvPr>
        </p:nvSpPr>
        <p:spPr>
          <a:xfrm>
            <a:off x="1104900" y="1600199"/>
            <a:ext cx="9982200" cy="5181601"/>
          </a:xfrm>
        </p:spPr>
        <p:txBody>
          <a:bodyPr>
            <a:normAutofit/>
          </a:bodyPr>
          <a:lstStyle/>
          <a:p>
            <a:r>
              <a:rPr lang="en-US" b="1" dirty="0">
                <a:solidFill>
                  <a:srgbClr val="FF0000"/>
                </a:solidFill>
              </a:rPr>
              <a:t>Accessing URL Parameters</a:t>
            </a:r>
            <a:r>
              <a:rPr lang="en-US" dirty="0"/>
              <a:t>: use the </a:t>
            </a:r>
            <a:r>
              <a:rPr lang="en-US" b="1" dirty="0" err="1"/>
              <a:t>useParams</a:t>
            </a:r>
            <a:r>
              <a:rPr lang="en-US" dirty="0"/>
              <a:t> </a:t>
            </a:r>
            <a:r>
              <a:rPr lang="en-US" b="1" dirty="0"/>
              <a:t>hook</a:t>
            </a:r>
            <a:r>
              <a:rPr lang="en-US" dirty="0"/>
              <a:t> provided by </a:t>
            </a:r>
            <a:r>
              <a:rPr lang="en-US" b="1" dirty="0"/>
              <a:t>React Router</a:t>
            </a:r>
            <a:r>
              <a:rPr lang="en-US" dirty="0"/>
              <a:t>. This hook returns an object with key-value pairs:</a:t>
            </a:r>
          </a:p>
          <a:p>
            <a:pPr lvl="1"/>
            <a:r>
              <a:rPr lang="en-US" dirty="0"/>
              <a:t>The key is the </a:t>
            </a:r>
            <a:r>
              <a:rPr lang="en-US" b="1" dirty="0"/>
              <a:t>name</a:t>
            </a:r>
            <a:r>
              <a:rPr lang="en-US" dirty="0"/>
              <a:t> of the URL parameter</a:t>
            </a:r>
          </a:p>
          <a:p>
            <a:pPr lvl="1"/>
            <a:r>
              <a:rPr lang="en-US" dirty="0"/>
              <a:t>The value is the actual </a:t>
            </a:r>
            <a:r>
              <a:rPr lang="en-US" b="1" dirty="0"/>
              <a:t>value</a:t>
            </a:r>
            <a:r>
              <a:rPr lang="en-US" dirty="0"/>
              <a:t> from the URL</a:t>
            </a:r>
          </a:p>
          <a:p>
            <a:r>
              <a:rPr lang="en-US" dirty="0" err="1"/>
              <a:t>Examp</a:t>
            </a:r>
            <a:r>
              <a:rPr lang="en-US" dirty="0"/>
              <a:t>: </a:t>
            </a:r>
          </a:p>
          <a:p>
            <a:endParaRPr lang="en-US" dirty="0"/>
          </a:p>
          <a:p>
            <a:endParaRPr lang="en-US" dirty="0"/>
          </a:p>
          <a:p>
            <a:pPr marL="457200" lvl="1" indent="0">
              <a:buNone/>
            </a:pPr>
            <a:r>
              <a:rPr lang="en-US" i="1" dirty="0"/>
              <a:t>When you navigate to /profile/</a:t>
            </a:r>
            <a:r>
              <a:rPr lang="en-US" i="1" dirty="0" err="1"/>
              <a:t>johndoe</a:t>
            </a:r>
            <a:r>
              <a:rPr lang="en-US" i="1" dirty="0"/>
              <a:t>, the Profile component will render "Welcome to </a:t>
            </a:r>
            <a:r>
              <a:rPr lang="en-US" i="1" dirty="0" err="1"/>
              <a:t>johndoe's</a:t>
            </a:r>
            <a:r>
              <a:rPr lang="en-US" i="1" dirty="0"/>
              <a:t> profile!".</a:t>
            </a:r>
          </a:p>
        </p:txBody>
      </p:sp>
      <p:pic>
        <p:nvPicPr>
          <p:cNvPr id="5" name="Picture 4">
            <a:extLst>
              <a:ext uri="{FF2B5EF4-FFF2-40B4-BE49-F238E27FC236}">
                <a16:creationId xmlns:a16="http://schemas.microsoft.com/office/drawing/2014/main" id="{9A0268B2-D98F-F9B1-0CD3-8E11FB4AD4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593" y="3851950"/>
            <a:ext cx="7250058" cy="15513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4951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7867-16BC-B6DF-1F22-030ECF1A7629}"/>
              </a:ext>
            </a:extLst>
          </p:cNvPr>
          <p:cNvSpPr>
            <a:spLocks noGrp="1"/>
          </p:cNvSpPr>
          <p:nvPr>
            <p:ph type="title"/>
          </p:nvPr>
        </p:nvSpPr>
        <p:spPr/>
        <p:txBody>
          <a:bodyPr/>
          <a:lstStyle/>
          <a:p>
            <a:r>
              <a:rPr lang="en-US" dirty="0"/>
              <a:t>URL Parameters in React Router</a:t>
            </a:r>
          </a:p>
        </p:txBody>
      </p:sp>
      <p:sp>
        <p:nvSpPr>
          <p:cNvPr id="3" name="Text Placeholder 2">
            <a:extLst>
              <a:ext uri="{FF2B5EF4-FFF2-40B4-BE49-F238E27FC236}">
                <a16:creationId xmlns:a16="http://schemas.microsoft.com/office/drawing/2014/main" id="{48E33BD0-AC87-DA2B-350A-94DE915BCA60}"/>
              </a:ext>
            </a:extLst>
          </p:cNvPr>
          <p:cNvSpPr>
            <a:spLocks noGrp="1"/>
          </p:cNvSpPr>
          <p:nvPr>
            <p:ph type="body" idx="1"/>
          </p:nvPr>
        </p:nvSpPr>
        <p:spPr/>
        <p:txBody>
          <a:bodyPr/>
          <a:lstStyle/>
          <a:p>
            <a:r>
              <a:rPr lang="en-US" b="1" dirty="0">
                <a:solidFill>
                  <a:srgbClr val="FF0000"/>
                </a:solidFill>
              </a:rPr>
              <a:t>Working with Multiple Parameters</a:t>
            </a:r>
            <a:r>
              <a:rPr lang="en-US" dirty="0"/>
              <a:t>: We can also define multiple parameters in a single route:</a:t>
            </a:r>
          </a:p>
          <a:p>
            <a:r>
              <a:rPr lang="en-US" dirty="0" err="1"/>
              <a:t>Examp</a:t>
            </a:r>
            <a:r>
              <a:rPr lang="en-US" dirty="0"/>
              <a:t>:</a:t>
            </a:r>
          </a:p>
          <a:p>
            <a:pPr lvl="1"/>
            <a:endParaRPr lang="en-US" dirty="0"/>
          </a:p>
          <a:p>
            <a:endParaRPr lang="en-US" dirty="0"/>
          </a:p>
        </p:txBody>
      </p:sp>
      <p:pic>
        <p:nvPicPr>
          <p:cNvPr id="5" name="Picture 4">
            <a:extLst>
              <a:ext uri="{FF2B5EF4-FFF2-40B4-BE49-F238E27FC236}">
                <a16:creationId xmlns:a16="http://schemas.microsoft.com/office/drawing/2014/main" id="{A2A4F42C-8066-45CC-04E3-664686921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7353" y="2829553"/>
            <a:ext cx="7748750" cy="34348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62517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51A4-C011-8EB1-7304-C31F533A2AA0}"/>
              </a:ext>
            </a:extLst>
          </p:cNvPr>
          <p:cNvSpPr>
            <a:spLocks noGrp="1"/>
          </p:cNvSpPr>
          <p:nvPr>
            <p:ph type="title"/>
          </p:nvPr>
        </p:nvSpPr>
        <p:spPr/>
        <p:txBody>
          <a:bodyPr/>
          <a:lstStyle/>
          <a:p>
            <a:r>
              <a:rPr lang="en-US" dirty="0"/>
              <a:t>URL Parameters in React Router</a:t>
            </a:r>
          </a:p>
        </p:txBody>
      </p:sp>
      <p:sp>
        <p:nvSpPr>
          <p:cNvPr id="3" name="Text Placeholder 2">
            <a:extLst>
              <a:ext uri="{FF2B5EF4-FFF2-40B4-BE49-F238E27FC236}">
                <a16:creationId xmlns:a16="http://schemas.microsoft.com/office/drawing/2014/main" id="{39B84A1B-C1FA-8512-3B47-26577D1DC1D6}"/>
              </a:ext>
            </a:extLst>
          </p:cNvPr>
          <p:cNvSpPr>
            <a:spLocks noGrp="1"/>
          </p:cNvSpPr>
          <p:nvPr>
            <p:ph type="body" idx="1"/>
          </p:nvPr>
        </p:nvSpPr>
        <p:spPr>
          <a:xfrm>
            <a:off x="1104900" y="1600200"/>
            <a:ext cx="10310352" cy="4572000"/>
          </a:xfrm>
        </p:spPr>
        <p:txBody>
          <a:bodyPr/>
          <a:lstStyle/>
          <a:p>
            <a:r>
              <a:rPr lang="en-US" b="1" dirty="0">
                <a:solidFill>
                  <a:srgbClr val="FF0000"/>
                </a:solidFill>
              </a:rPr>
              <a:t>Nested Routes and Parameters</a:t>
            </a:r>
            <a:r>
              <a:rPr lang="en-US" dirty="0"/>
              <a:t>: When working with nested routes, each level of routing can have its own parameters.</a:t>
            </a:r>
          </a:p>
          <a:p>
            <a:r>
              <a:rPr lang="en-US" dirty="0"/>
              <a:t>In the State component, you would access both </a:t>
            </a:r>
            <a:r>
              <a:rPr lang="en-US" b="1" dirty="0" err="1"/>
              <a:t>countryName</a:t>
            </a:r>
            <a:r>
              <a:rPr lang="en-US" dirty="0"/>
              <a:t> and </a:t>
            </a:r>
            <a:r>
              <a:rPr lang="en-US" b="1" dirty="0" err="1"/>
              <a:t>stateName</a:t>
            </a:r>
            <a:r>
              <a:rPr lang="en-US" dirty="0"/>
              <a:t> parameters:</a:t>
            </a:r>
          </a:p>
        </p:txBody>
      </p:sp>
      <p:pic>
        <p:nvPicPr>
          <p:cNvPr id="6" name="Picture 5">
            <a:extLst>
              <a:ext uri="{FF2B5EF4-FFF2-40B4-BE49-F238E27FC236}">
                <a16:creationId xmlns:a16="http://schemas.microsoft.com/office/drawing/2014/main" id="{645C2BFB-18CA-D481-FEBA-E8CE367BB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2706" y="3712304"/>
            <a:ext cx="8606588" cy="2886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87575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4B33B-637B-C903-3AED-210C0EC17027}"/>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6778E8C8-1455-914E-DAE1-ED79BD6814FA}"/>
              </a:ext>
            </a:extLst>
          </p:cNvPr>
          <p:cNvSpPr>
            <a:spLocks noGrp="1"/>
          </p:cNvSpPr>
          <p:nvPr>
            <p:ph type="body" idx="1"/>
          </p:nvPr>
        </p:nvSpPr>
        <p:spPr>
          <a:xfrm>
            <a:off x="1104900" y="1600200"/>
            <a:ext cx="10310352" cy="4572000"/>
          </a:xfrm>
        </p:spPr>
        <p:txBody>
          <a:bodyPr>
            <a:normAutofit/>
          </a:bodyPr>
          <a:lstStyle/>
          <a:p>
            <a:r>
              <a:rPr lang="en-US" b="1" dirty="0">
                <a:solidFill>
                  <a:srgbClr val="FF0000"/>
                </a:solidFill>
              </a:rPr>
              <a:t>Nested routes </a:t>
            </a:r>
            <a:r>
              <a:rPr lang="en-US" dirty="0"/>
              <a:t>in React Router allow you to create a hierarchy of components that correspond to a hierarchy of URLs. </a:t>
            </a:r>
          </a:p>
          <a:p>
            <a:r>
              <a:rPr lang="en-US" dirty="0"/>
              <a:t>Nested routes are routes within routes. They allow you to render different components based on the nested path in the URL. </a:t>
            </a:r>
          </a:p>
          <a:p>
            <a:r>
              <a:rPr lang="en-US" dirty="0"/>
              <a:t>Example: an application with the following URL structure:</a:t>
            </a:r>
          </a:p>
          <a:p>
            <a:pPr lvl="1"/>
            <a:r>
              <a:rPr lang="en-US" dirty="0"/>
              <a:t>/products - displays a list of products</a:t>
            </a:r>
          </a:p>
          <a:p>
            <a:pPr lvl="1"/>
            <a:r>
              <a:rPr lang="en-US" dirty="0"/>
              <a:t>/products/:</a:t>
            </a:r>
            <a:r>
              <a:rPr lang="en-US" dirty="0" err="1"/>
              <a:t>productId</a:t>
            </a:r>
            <a:r>
              <a:rPr lang="en-US" dirty="0"/>
              <a:t> - displays details for a specific product</a:t>
            </a:r>
          </a:p>
        </p:txBody>
      </p:sp>
    </p:spTree>
    <p:extLst>
      <p:ext uri="{BB962C8B-B14F-4D97-AF65-F5344CB8AC3E}">
        <p14:creationId xmlns:p14="http://schemas.microsoft.com/office/powerpoint/2010/main" val="3284035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AF4C-C637-F469-28B6-AF7928B40930}"/>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33B8D13E-C33B-3221-9C53-FF44B53B1916}"/>
              </a:ext>
            </a:extLst>
          </p:cNvPr>
          <p:cNvSpPr>
            <a:spLocks noGrp="1"/>
          </p:cNvSpPr>
          <p:nvPr>
            <p:ph type="body" idx="1"/>
          </p:nvPr>
        </p:nvSpPr>
        <p:spPr/>
        <p:txBody>
          <a:bodyPr/>
          <a:lstStyle/>
          <a:p>
            <a:r>
              <a:rPr lang="en-US" b="1" dirty="0">
                <a:solidFill>
                  <a:srgbClr val="FF0000"/>
                </a:solidFill>
              </a:rPr>
              <a:t>Setting Up Nested Routes</a:t>
            </a:r>
            <a:r>
              <a:rPr lang="en-US" dirty="0"/>
              <a:t>: use the </a:t>
            </a:r>
            <a:r>
              <a:rPr lang="en-US" b="1" dirty="0"/>
              <a:t>&lt;Route&gt; </a:t>
            </a:r>
            <a:r>
              <a:rPr lang="en-US" dirty="0"/>
              <a:t>component from React Router. </a:t>
            </a:r>
          </a:p>
          <a:p>
            <a:endParaRPr lang="en-US" dirty="0"/>
          </a:p>
        </p:txBody>
      </p:sp>
      <p:pic>
        <p:nvPicPr>
          <p:cNvPr id="5" name="Picture 4">
            <a:extLst>
              <a:ext uri="{FF2B5EF4-FFF2-40B4-BE49-F238E27FC236}">
                <a16:creationId xmlns:a16="http://schemas.microsoft.com/office/drawing/2014/main" id="{C23DD3CE-E95F-B174-EFC3-593805DFA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2617899"/>
            <a:ext cx="10438081" cy="39444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5394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2D92-2753-8E81-8964-B8F638317A3D}"/>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73D64A89-7494-B639-E443-AA67253B7D22}"/>
              </a:ext>
            </a:extLst>
          </p:cNvPr>
          <p:cNvSpPr>
            <a:spLocks noGrp="1"/>
          </p:cNvSpPr>
          <p:nvPr>
            <p:ph type="body" idx="1"/>
          </p:nvPr>
        </p:nvSpPr>
        <p:spPr/>
        <p:txBody>
          <a:bodyPr/>
          <a:lstStyle/>
          <a:p>
            <a:r>
              <a:rPr lang="en-US" dirty="0"/>
              <a:t> </a:t>
            </a:r>
            <a:r>
              <a:rPr lang="en-US" b="1" dirty="0">
                <a:solidFill>
                  <a:srgbClr val="FF0000"/>
                </a:solidFill>
              </a:rPr>
              <a:t>Setting Up Nested Routes</a:t>
            </a:r>
            <a:endParaRPr lang="en-US" dirty="0"/>
          </a:p>
          <a:p>
            <a:pPr lvl="1"/>
            <a:r>
              <a:rPr lang="en-US" dirty="0"/>
              <a:t>add the nested route for product details:</a:t>
            </a:r>
          </a:p>
        </p:txBody>
      </p:sp>
      <p:pic>
        <p:nvPicPr>
          <p:cNvPr id="5" name="Picture 4">
            <a:extLst>
              <a:ext uri="{FF2B5EF4-FFF2-40B4-BE49-F238E27FC236}">
                <a16:creationId xmlns:a16="http://schemas.microsoft.com/office/drawing/2014/main" id="{5BBB7498-55F8-68FD-2980-C9F3F00834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2776823"/>
            <a:ext cx="10062402" cy="22518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80838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8941C-BBEB-64F8-78F4-1CC754B22734}"/>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50B7D532-2F17-F2DA-5A5F-132AADEC9FA9}"/>
              </a:ext>
            </a:extLst>
          </p:cNvPr>
          <p:cNvSpPr>
            <a:spLocks noGrp="1"/>
          </p:cNvSpPr>
          <p:nvPr>
            <p:ph type="body" idx="1"/>
          </p:nvPr>
        </p:nvSpPr>
        <p:spPr/>
        <p:txBody>
          <a:bodyPr/>
          <a:lstStyle/>
          <a:p>
            <a:r>
              <a:rPr lang="en-US" b="1" dirty="0">
                <a:solidFill>
                  <a:srgbClr val="FF0000"/>
                </a:solidFill>
              </a:rPr>
              <a:t>Using Switch for Nested Routes</a:t>
            </a:r>
            <a:r>
              <a:rPr lang="en-US" dirty="0"/>
              <a:t>: To ensure that only one route is rendered at a time within the nested structure, you can use the </a:t>
            </a:r>
            <a:r>
              <a:rPr lang="en-US" b="1" dirty="0"/>
              <a:t>&lt;Switch&gt; </a:t>
            </a:r>
            <a:r>
              <a:rPr lang="en-US" dirty="0"/>
              <a:t>component:</a:t>
            </a:r>
          </a:p>
          <a:p>
            <a:endParaRPr lang="en-US" dirty="0"/>
          </a:p>
        </p:txBody>
      </p:sp>
      <p:pic>
        <p:nvPicPr>
          <p:cNvPr id="5" name="Picture 4">
            <a:extLst>
              <a:ext uri="{FF2B5EF4-FFF2-40B4-BE49-F238E27FC236}">
                <a16:creationId xmlns:a16="http://schemas.microsoft.com/office/drawing/2014/main" id="{DE7725CB-3311-CA0E-2741-6943A39927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946" y="3306580"/>
            <a:ext cx="10683084" cy="27623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42971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4DFA-E80C-2F0C-E55C-668AAF9D5760}"/>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E42BC5C9-E9D7-0842-B7FC-EEA341B56E5D}"/>
              </a:ext>
            </a:extLst>
          </p:cNvPr>
          <p:cNvSpPr>
            <a:spLocks noGrp="1"/>
          </p:cNvSpPr>
          <p:nvPr>
            <p:ph type="body" idx="1"/>
          </p:nvPr>
        </p:nvSpPr>
        <p:spPr/>
        <p:txBody>
          <a:bodyPr/>
          <a:lstStyle/>
          <a:p>
            <a:r>
              <a:rPr lang="en-US" b="1" dirty="0">
                <a:solidFill>
                  <a:srgbClr val="FF0000"/>
                </a:solidFill>
              </a:rPr>
              <a:t>Linking to Nested Routes</a:t>
            </a:r>
            <a:r>
              <a:rPr lang="en-US" dirty="0"/>
              <a:t>: To link to nested routes, you can use the </a:t>
            </a:r>
            <a:r>
              <a:rPr lang="en-US" b="1" dirty="0"/>
              <a:t>&lt;Link&gt; </a:t>
            </a:r>
            <a:r>
              <a:rPr lang="en-US" dirty="0"/>
              <a:t>component:</a:t>
            </a:r>
          </a:p>
        </p:txBody>
      </p:sp>
      <p:pic>
        <p:nvPicPr>
          <p:cNvPr id="6" name="Picture 5">
            <a:extLst>
              <a:ext uri="{FF2B5EF4-FFF2-40B4-BE49-F238E27FC236}">
                <a16:creationId xmlns:a16="http://schemas.microsoft.com/office/drawing/2014/main" id="{CB368BE4-5CA0-063E-EDA4-DC54FDAC6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304" y="2748088"/>
            <a:ext cx="10103874" cy="35637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84070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9DAEB-096C-F8E6-217E-80149BE20585}"/>
              </a:ext>
            </a:extLst>
          </p:cNvPr>
          <p:cNvSpPr>
            <a:spLocks noGrp="1"/>
          </p:cNvSpPr>
          <p:nvPr>
            <p:ph type="title"/>
          </p:nvPr>
        </p:nvSpPr>
        <p:spPr/>
        <p:txBody>
          <a:bodyPr/>
          <a:lstStyle/>
          <a:p>
            <a:r>
              <a:rPr lang="en-US" dirty="0"/>
              <a:t>Nested routes</a:t>
            </a:r>
          </a:p>
        </p:txBody>
      </p:sp>
      <p:sp>
        <p:nvSpPr>
          <p:cNvPr id="3" name="Text Placeholder 2">
            <a:extLst>
              <a:ext uri="{FF2B5EF4-FFF2-40B4-BE49-F238E27FC236}">
                <a16:creationId xmlns:a16="http://schemas.microsoft.com/office/drawing/2014/main" id="{9197D86D-0847-4BA8-8647-1347673EB723}"/>
              </a:ext>
            </a:extLst>
          </p:cNvPr>
          <p:cNvSpPr>
            <a:spLocks noGrp="1"/>
          </p:cNvSpPr>
          <p:nvPr>
            <p:ph type="body" idx="1"/>
          </p:nvPr>
        </p:nvSpPr>
        <p:spPr/>
        <p:txBody>
          <a:bodyPr/>
          <a:lstStyle/>
          <a:p>
            <a:r>
              <a:rPr lang="en-US" b="1" dirty="0">
                <a:solidFill>
                  <a:srgbClr val="FF0000"/>
                </a:solidFill>
              </a:rPr>
              <a:t>Passing Props to Nested Routes</a:t>
            </a:r>
            <a:r>
              <a:rPr lang="en-US" dirty="0"/>
              <a:t>: Sometimes you need to pass additional props to components rendered by a route. You can do this using the </a:t>
            </a:r>
            <a:r>
              <a:rPr lang="en-US" b="1" dirty="0"/>
              <a:t>render</a:t>
            </a:r>
            <a:r>
              <a:rPr lang="en-US" dirty="0"/>
              <a:t> </a:t>
            </a:r>
            <a:r>
              <a:rPr lang="en-US" b="1" dirty="0"/>
              <a:t>prop</a:t>
            </a:r>
            <a:r>
              <a:rPr lang="en-US" dirty="0"/>
              <a:t> instead of component</a:t>
            </a:r>
          </a:p>
        </p:txBody>
      </p:sp>
      <p:pic>
        <p:nvPicPr>
          <p:cNvPr id="6" name="Picture 5">
            <a:extLst>
              <a:ext uri="{FF2B5EF4-FFF2-40B4-BE49-F238E27FC236}">
                <a16:creationId xmlns:a16="http://schemas.microsoft.com/office/drawing/2014/main" id="{70DD2030-3B89-CF36-3E9A-D5D3BB04D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429" y="3177580"/>
            <a:ext cx="10689141" cy="14762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54332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D9177-B883-D8F9-FCA4-17559C9E498D}"/>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6421F486-2A2A-1C8A-D235-3918CDC44E99}"/>
              </a:ext>
            </a:extLst>
          </p:cNvPr>
          <p:cNvSpPr>
            <a:spLocks noGrp="1"/>
          </p:cNvSpPr>
          <p:nvPr>
            <p:ph type="body" idx="1"/>
          </p:nvPr>
        </p:nvSpPr>
        <p:spPr/>
        <p:txBody>
          <a:bodyPr/>
          <a:lstStyle/>
          <a:p>
            <a:r>
              <a:rPr lang="en-US" b="1" dirty="0">
                <a:solidFill>
                  <a:srgbClr val="FF0000"/>
                </a:solidFill>
              </a:rPr>
              <a:t>Programmatic navigation </a:t>
            </a:r>
            <a:r>
              <a:rPr lang="en-US" dirty="0"/>
              <a:t>is a powerful feature in React Router that allows you to navigate through your application without the need for anchor tags or buttons. </a:t>
            </a:r>
          </a:p>
          <a:p>
            <a:r>
              <a:rPr lang="en-US" dirty="0"/>
              <a:t>This can be particularly useful in situations where you need to redirect a user after an event, such as a form submission or an authentication process.</a:t>
            </a:r>
          </a:p>
        </p:txBody>
      </p:sp>
    </p:spTree>
    <p:extLst>
      <p:ext uri="{BB962C8B-B14F-4D97-AF65-F5344CB8AC3E}">
        <p14:creationId xmlns:p14="http://schemas.microsoft.com/office/powerpoint/2010/main" val="1983519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0156-272B-C0A5-62BB-46C500720309}"/>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BA6D7E99-746A-2331-B801-65F8D29339B0}"/>
              </a:ext>
            </a:extLst>
          </p:cNvPr>
          <p:cNvSpPr>
            <a:spLocks noGrp="1"/>
          </p:cNvSpPr>
          <p:nvPr>
            <p:ph type="body" idx="1"/>
          </p:nvPr>
        </p:nvSpPr>
        <p:spPr/>
        <p:txBody>
          <a:bodyPr/>
          <a:lstStyle/>
          <a:p>
            <a:r>
              <a:rPr lang="en-US" b="1" dirty="0">
                <a:solidFill>
                  <a:srgbClr val="FF0000"/>
                </a:solidFill>
              </a:rPr>
              <a:t>The history Object</a:t>
            </a:r>
            <a:r>
              <a:rPr lang="en-US" dirty="0"/>
              <a:t>: React Router provides a history object which is responsible for managing session history for a web page. </a:t>
            </a:r>
          </a:p>
          <a:p>
            <a:r>
              <a:rPr lang="en-US" dirty="0"/>
              <a:t>This object contains methods to navigate forward and backward through the history stack, as well as pushing and replacing entries</a:t>
            </a:r>
          </a:p>
        </p:txBody>
      </p:sp>
    </p:spTree>
    <p:extLst>
      <p:ext uri="{BB962C8B-B14F-4D97-AF65-F5344CB8AC3E}">
        <p14:creationId xmlns:p14="http://schemas.microsoft.com/office/powerpoint/2010/main" val="21877346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7795-350E-89B6-A291-3A3B849F4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7B800-7268-5D41-0F50-49BDD4CB1BB9}"/>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2923CA81-65B3-BB6C-1A52-6E8E62458904}"/>
              </a:ext>
            </a:extLst>
          </p:cNvPr>
          <p:cNvSpPr>
            <a:spLocks noGrp="1"/>
          </p:cNvSpPr>
          <p:nvPr>
            <p:ph type="body" idx="1"/>
          </p:nvPr>
        </p:nvSpPr>
        <p:spPr/>
        <p:txBody>
          <a:bodyPr/>
          <a:lstStyle/>
          <a:p>
            <a:r>
              <a:rPr lang="en-US" b="1" dirty="0">
                <a:solidFill>
                  <a:srgbClr val="FF0000"/>
                </a:solidFill>
              </a:rPr>
              <a:t>The methods available on the history object</a:t>
            </a:r>
            <a:r>
              <a:rPr lang="en-US" dirty="0"/>
              <a:t>:</a:t>
            </a:r>
          </a:p>
          <a:p>
            <a:pPr lvl="1"/>
            <a:r>
              <a:rPr lang="en-US" b="1" dirty="0" err="1"/>
              <a:t>history.push</a:t>
            </a:r>
            <a:r>
              <a:rPr lang="en-US" b="1" dirty="0"/>
              <a:t>(path, [state]): </a:t>
            </a:r>
            <a:r>
              <a:rPr lang="en-US" dirty="0"/>
              <a:t>Navigates to a new page by pushing a new entry onto the history stack.</a:t>
            </a:r>
          </a:p>
          <a:p>
            <a:pPr lvl="1"/>
            <a:r>
              <a:rPr lang="en-US" b="1" dirty="0" err="1"/>
              <a:t>history.replace</a:t>
            </a:r>
            <a:r>
              <a:rPr lang="en-US" b="1" dirty="0"/>
              <a:t>(path, [state]): </a:t>
            </a:r>
            <a:r>
              <a:rPr lang="en-US" dirty="0"/>
              <a:t>Navigates to a new page by replacing the current entry on the history stack.</a:t>
            </a:r>
          </a:p>
          <a:p>
            <a:pPr lvl="1"/>
            <a:r>
              <a:rPr lang="en-US" b="1" dirty="0" err="1"/>
              <a:t>history.goBack</a:t>
            </a:r>
            <a:r>
              <a:rPr lang="en-US" b="1" dirty="0"/>
              <a:t>(): </a:t>
            </a:r>
            <a:r>
              <a:rPr lang="en-US" dirty="0"/>
              <a:t>Moves back one step in the history stack.</a:t>
            </a:r>
          </a:p>
          <a:p>
            <a:pPr lvl="1"/>
            <a:r>
              <a:rPr lang="en-US" b="1" dirty="0" err="1"/>
              <a:t>history.goForward</a:t>
            </a:r>
            <a:r>
              <a:rPr lang="en-US" b="1" dirty="0"/>
              <a:t>(): </a:t>
            </a:r>
            <a:r>
              <a:rPr lang="en-US" dirty="0"/>
              <a:t>Moves forward one step in the history stack.</a:t>
            </a:r>
          </a:p>
          <a:p>
            <a:pPr lvl="1"/>
            <a:r>
              <a:rPr lang="en-US" b="1" dirty="0" err="1"/>
              <a:t>history.go</a:t>
            </a:r>
            <a:r>
              <a:rPr lang="en-US" b="1" dirty="0"/>
              <a:t>(n): </a:t>
            </a:r>
            <a:r>
              <a:rPr lang="en-US" dirty="0"/>
              <a:t>Moves n steps in the history stack (positive for forward, negative for backward).</a:t>
            </a:r>
          </a:p>
        </p:txBody>
      </p:sp>
    </p:spTree>
    <p:extLst>
      <p:ext uri="{BB962C8B-B14F-4D97-AF65-F5344CB8AC3E}">
        <p14:creationId xmlns:p14="http://schemas.microsoft.com/office/powerpoint/2010/main" val="1441184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4931-88B7-C92E-B2FB-862FBCFF0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C4B68-15ED-6277-06D7-400EDDAA9A83}"/>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620395C0-6588-B918-4C46-C1B04AF77E3D}"/>
              </a:ext>
            </a:extLst>
          </p:cNvPr>
          <p:cNvSpPr>
            <a:spLocks noGrp="1"/>
          </p:cNvSpPr>
          <p:nvPr>
            <p:ph type="body" idx="1"/>
          </p:nvPr>
        </p:nvSpPr>
        <p:spPr>
          <a:xfrm>
            <a:off x="1104900" y="1600200"/>
            <a:ext cx="10177616" cy="4572000"/>
          </a:xfrm>
        </p:spPr>
        <p:txBody>
          <a:bodyPr/>
          <a:lstStyle/>
          <a:p>
            <a:r>
              <a:rPr lang="en-US" b="1" dirty="0">
                <a:solidFill>
                  <a:srgbClr val="FF0000"/>
                </a:solidFill>
              </a:rPr>
              <a:t>Accessing history in Components</a:t>
            </a:r>
            <a:r>
              <a:rPr lang="en-US" dirty="0"/>
              <a:t>: There are several ways to do this:</a:t>
            </a:r>
          </a:p>
          <a:p>
            <a:pPr lvl="1"/>
            <a:r>
              <a:rPr lang="en-US" b="1" dirty="0">
                <a:solidFill>
                  <a:srgbClr val="C00000"/>
                </a:solidFill>
              </a:rPr>
              <a:t>Using </a:t>
            </a:r>
            <a:r>
              <a:rPr lang="en-US" b="1" dirty="0" err="1">
                <a:solidFill>
                  <a:srgbClr val="C00000"/>
                </a:solidFill>
              </a:rPr>
              <a:t>useHistory</a:t>
            </a:r>
            <a:r>
              <a:rPr lang="en-US" b="1" dirty="0">
                <a:solidFill>
                  <a:srgbClr val="C00000"/>
                </a:solidFill>
              </a:rPr>
              <a:t> Hook</a:t>
            </a:r>
            <a:r>
              <a:rPr lang="en-US" b="1" dirty="0"/>
              <a:t>: </a:t>
            </a:r>
            <a:r>
              <a:rPr lang="en-US" dirty="0"/>
              <a:t>For functional components, the </a:t>
            </a:r>
            <a:r>
              <a:rPr lang="en-US" b="1" i="1" dirty="0" err="1"/>
              <a:t>useHistory</a:t>
            </a:r>
            <a:r>
              <a:rPr lang="en-US" dirty="0"/>
              <a:t> hook from r</a:t>
            </a:r>
            <a:r>
              <a:rPr lang="en-US" i="1" dirty="0"/>
              <a:t>eact-router-</a:t>
            </a:r>
            <a:r>
              <a:rPr lang="en-US" i="1" dirty="0" err="1"/>
              <a:t>dom</a:t>
            </a:r>
            <a:r>
              <a:rPr lang="en-US" dirty="0"/>
              <a:t> provides access to the history object.</a:t>
            </a:r>
          </a:p>
          <a:p>
            <a:pPr lvl="1"/>
            <a:r>
              <a:rPr lang="en-US" dirty="0" err="1"/>
              <a:t>Examp</a:t>
            </a:r>
            <a:r>
              <a:rPr lang="en-US" dirty="0"/>
              <a:t>:</a:t>
            </a:r>
          </a:p>
          <a:p>
            <a:pPr lvl="1"/>
            <a:endParaRPr lang="en-US" dirty="0"/>
          </a:p>
        </p:txBody>
      </p:sp>
      <p:pic>
        <p:nvPicPr>
          <p:cNvPr id="5" name="Picture 4">
            <a:extLst>
              <a:ext uri="{FF2B5EF4-FFF2-40B4-BE49-F238E27FC236}">
                <a16:creationId xmlns:a16="http://schemas.microsoft.com/office/drawing/2014/main" id="{A428DE05-254D-28BD-351D-1C75C2DF3C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103" y="3429000"/>
            <a:ext cx="7991339" cy="31702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72821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139D4-EDC6-97FF-1C0C-A771E8AA0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C3F1E-7654-8974-2D1E-6BCB7C752F32}"/>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E93C7487-FAAB-EC18-0499-684111C60AC3}"/>
              </a:ext>
            </a:extLst>
          </p:cNvPr>
          <p:cNvSpPr>
            <a:spLocks noGrp="1"/>
          </p:cNvSpPr>
          <p:nvPr>
            <p:ph type="body" idx="1"/>
          </p:nvPr>
        </p:nvSpPr>
        <p:spPr/>
        <p:txBody>
          <a:bodyPr/>
          <a:lstStyle/>
          <a:p>
            <a:pPr lvl="1"/>
            <a:r>
              <a:rPr lang="en-US" b="1" dirty="0">
                <a:solidFill>
                  <a:srgbClr val="C00000"/>
                </a:solidFill>
              </a:rPr>
              <a:t>Using </a:t>
            </a:r>
            <a:r>
              <a:rPr lang="en-US" b="1" dirty="0" err="1">
                <a:solidFill>
                  <a:srgbClr val="C00000"/>
                </a:solidFill>
              </a:rPr>
              <a:t>withRouter</a:t>
            </a:r>
            <a:r>
              <a:rPr lang="en-US" b="1" dirty="0">
                <a:solidFill>
                  <a:srgbClr val="C00000"/>
                </a:solidFill>
              </a:rPr>
              <a:t> Higher-Order Component: </a:t>
            </a:r>
            <a:r>
              <a:rPr lang="en-US" dirty="0">
                <a:solidFill>
                  <a:schemeClr val="tx2"/>
                </a:solidFill>
              </a:rPr>
              <a:t>For class components, you can use the </a:t>
            </a:r>
            <a:r>
              <a:rPr lang="en-US" b="1" dirty="0" err="1">
                <a:solidFill>
                  <a:schemeClr val="tx2"/>
                </a:solidFill>
              </a:rPr>
              <a:t>withRouter</a:t>
            </a:r>
            <a:r>
              <a:rPr lang="en-US" dirty="0">
                <a:solidFill>
                  <a:schemeClr val="tx2"/>
                </a:solidFill>
              </a:rPr>
              <a:t> </a:t>
            </a:r>
            <a:r>
              <a:rPr lang="en-US" b="1" dirty="0">
                <a:solidFill>
                  <a:schemeClr val="tx2"/>
                </a:solidFill>
              </a:rPr>
              <a:t>higher-order</a:t>
            </a:r>
            <a:r>
              <a:rPr lang="en-US" dirty="0">
                <a:solidFill>
                  <a:schemeClr val="tx2"/>
                </a:solidFill>
              </a:rPr>
              <a:t> component to inject the history object as a prop.</a:t>
            </a:r>
          </a:p>
          <a:p>
            <a:pPr lvl="1"/>
            <a:r>
              <a:rPr lang="en-US">
                <a:solidFill>
                  <a:schemeClr val="tx2"/>
                </a:solidFill>
              </a:rPr>
              <a:t>Example:  </a:t>
            </a:r>
            <a:endParaRPr lang="en-US" dirty="0">
              <a:solidFill>
                <a:schemeClr val="tx2"/>
              </a:solidFill>
            </a:endParaRPr>
          </a:p>
          <a:p>
            <a:pPr lvl="1"/>
            <a:endParaRPr lang="en-US" dirty="0"/>
          </a:p>
        </p:txBody>
      </p:sp>
      <p:pic>
        <p:nvPicPr>
          <p:cNvPr id="6" name="Picture 5">
            <a:extLst>
              <a:ext uri="{FF2B5EF4-FFF2-40B4-BE49-F238E27FC236}">
                <a16:creationId xmlns:a16="http://schemas.microsoft.com/office/drawing/2014/main" id="{9A53DE68-76B4-4680-FF7E-7273A49C7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4349" y="3248583"/>
            <a:ext cx="8351115" cy="32990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9030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0BBAB-61BA-30F7-DBB8-D0AB3D1A2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C959C-EAB7-3755-23E0-01A1FEFB3ABE}"/>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8A675BB3-6900-9AC0-1717-27902E336A80}"/>
              </a:ext>
            </a:extLst>
          </p:cNvPr>
          <p:cNvSpPr>
            <a:spLocks noGrp="1"/>
          </p:cNvSpPr>
          <p:nvPr>
            <p:ph type="body" idx="1"/>
          </p:nvPr>
        </p:nvSpPr>
        <p:spPr>
          <a:xfrm>
            <a:off x="1104899" y="1600200"/>
            <a:ext cx="10118623" cy="4572000"/>
          </a:xfrm>
        </p:spPr>
        <p:txBody>
          <a:bodyPr/>
          <a:lstStyle/>
          <a:p>
            <a:pPr lvl="1"/>
            <a:r>
              <a:rPr lang="en-US" b="1" dirty="0">
                <a:solidFill>
                  <a:srgbClr val="C00000"/>
                </a:solidFill>
              </a:rPr>
              <a:t>Using </a:t>
            </a:r>
            <a:r>
              <a:rPr lang="en-US" b="1" dirty="0" err="1">
                <a:solidFill>
                  <a:srgbClr val="C00000"/>
                </a:solidFill>
              </a:rPr>
              <a:t>useParams</a:t>
            </a:r>
            <a:r>
              <a:rPr lang="en-US" b="1" dirty="0">
                <a:solidFill>
                  <a:srgbClr val="C00000"/>
                </a:solidFill>
              </a:rPr>
              <a:t>, </a:t>
            </a:r>
            <a:r>
              <a:rPr lang="en-US" b="1" dirty="0" err="1">
                <a:solidFill>
                  <a:srgbClr val="C00000"/>
                </a:solidFill>
              </a:rPr>
              <a:t>useLocation</a:t>
            </a:r>
            <a:r>
              <a:rPr lang="en-US" b="1" dirty="0">
                <a:solidFill>
                  <a:srgbClr val="C00000"/>
                </a:solidFill>
              </a:rPr>
              <a:t>, and </a:t>
            </a:r>
            <a:r>
              <a:rPr lang="en-US" b="1" dirty="0" err="1">
                <a:solidFill>
                  <a:srgbClr val="C00000"/>
                </a:solidFill>
              </a:rPr>
              <a:t>useRouteMatch</a:t>
            </a:r>
            <a:endParaRPr lang="en-US" b="1" dirty="0">
              <a:solidFill>
                <a:srgbClr val="C00000"/>
              </a:solidFill>
            </a:endParaRPr>
          </a:p>
          <a:p>
            <a:pPr lvl="2"/>
            <a:r>
              <a:rPr lang="en-US" sz="2400" dirty="0"/>
              <a:t>Other hooks like </a:t>
            </a:r>
            <a:r>
              <a:rPr lang="en-US" sz="2400" b="1" i="1" dirty="0" err="1"/>
              <a:t>useParams</a:t>
            </a:r>
            <a:r>
              <a:rPr lang="en-US" sz="2400" dirty="0"/>
              <a:t>, </a:t>
            </a:r>
            <a:r>
              <a:rPr lang="en-US" sz="2400" b="1" i="1" dirty="0" err="1"/>
              <a:t>useLocation</a:t>
            </a:r>
            <a:r>
              <a:rPr lang="en-US" sz="2400" b="1" i="1" dirty="0"/>
              <a:t>, and </a:t>
            </a:r>
            <a:r>
              <a:rPr lang="en-US" sz="2400" b="1" i="1" dirty="0" err="1"/>
              <a:t>useRouteMatch</a:t>
            </a:r>
            <a:r>
              <a:rPr lang="en-US" sz="2400" b="1" i="1" dirty="0"/>
              <a:t> </a:t>
            </a:r>
            <a:r>
              <a:rPr lang="en-US" sz="2400" dirty="0"/>
              <a:t>can also provide access to the history object indirectly by providing the necessary context to perform navigation.</a:t>
            </a:r>
          </a:p>
        </p:txBody>
      </p:sp>
    </p:spTree>
    <p:extLst>
      <p:ext uri="{BB962C8B-B14F-4D97-AF65-F5344CB8AC3E}">
        <p14:creationId xmlns:p14="http://schemas.microsoft.com/office/powerpoint/2010/main" val="4262471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1E7A-40F2-DF3F-E469-399805972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F386A-22EF-7F84-EC54-73ED0C269AE5}"/>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17BAB996-24F7-12A7-E63E-064DC9816211}"/>
              </a:ext>
            </a:extLst>
          </p:cNvPr>
          <p:cNvSpPr>
            <a:spLocks noGrp="1"/>
          </p:cNvSpPr>
          <p:nvPr>
            <p:ph type="body" idx="1"/>
          </p:nvPr>
        </p:nvSpPr>
        <p:spPr/>
        <p:txBody>
          <a:bodyPr/>
          <a:lstStyle/>
          <a:p>
            <a:r>
              <a:rPr lang="en-US" b="1" dirty="0">
                <a:solidFill>
                  <a:srgbClr val="FF0000"/>
                </a:solidFill>
              </a:rPr>
              <a:t>Redirecting After Actions: </a:t>
            </a:r>
            <a:r>
              <a:rPr lang="en-US" dirty="0"/>
              <a:t>One common use case for programmatic navigation is redirecting the user after an action, such as a successful form submission.</a:t>
            </a:r>
          </a:p>
          <a:p>
            <a:r>
              <a:rPr lang="en-US" dirty="0"/>
              <a:t>Example: </a:t>
            </a:r>
          </a:p>
          <a:p>
            <a:endParaRPr lang="en-US" dirty="0"/>
          </a:p>
        </p:txBody>
      </p:sp>
      <p:pic>
        <p:nvPicPr>
          <p:cNvPr id="5" name="Picture 4">
            <a:extLst>
              <a:ext uri="{FF2B5EF4-FFF2-40B4-BE49-F238E27FC236}">
                <a16:creationId xmlns:a16="http://schemas.microsoft.com/office/drawing/2014/main" id="{BDA3AEF6-7772-2671-706B-D06939552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6329" y="3124673"/>
            <a:ext cx="5879341" cy="36571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09415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D84B-55D5-BC18-3960-1E283845C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ECF2-0DA4-0E6C-6963-C96683C8D159}"/>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DB150514-9416-60E8-4759-CFB4A117DA45}"/>
              </a:ext>
            </a:extLst>
          </p:cNvPr>
          <p:cNvSpPr>
            <a:spLocks noGrp="1"/>
          </p:cNvSpPr>
          <p:nvPr>
            <p:ph type="body" idx="1"/>
          </p:nvPr>
        </p:nvSpPr>
        <p:spPr/>
        <p:txBody>
          <a:bodyPr/>
          <a:lstStyle/>
          <a:p>
            <a:r>
              <a:rPr lang="en-US" b="1" dirty="0">
                <a:solidFill>
                  <a:srgbClr val="FF0000"/>
                </a:solidFill>
              </a:rPr>
              <a:t>Protecting Routes with Redirects: </a:t>
            </a:r>
            <a:r>
              <a:rPr lang="en-US" dirty="0"/>
              <a:t>Sometimes, you may want to protect certain routes and redirect users if they are not authorized to view them. Programmatic navigation can be used to achieve this.</a:t>
            </a:r>
          </a:p>
          <a:p>
            <a:r>
              <a:rPr lang="en-US" dirty="0"/>
              <a:t>Example:</a:t>
            </a:r>
          </a:p>
        </p:txBody>
      </p:sp>
      <p:pic>
        <p:nvPicPr>
          <p:cNvPr id="5" name="Picture 4">
            <a:extLst>
              <a:ext uri="{FF2B5EF4-FFF2-40B4-BE49-F238E27FC236}">
                <a16:creationId xmlns:a16="http://schemas.microsoft.com/office/drawing/2014/main" id="{220599C1-667F-A3D8-B4F8-7365A2953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9477" y="3886200"/>
            <a:ext cx="8508660" cy="23380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94215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64ABB-23CB-319B-A541-4D3005C56485}"/>
              </a:ext>
            </a:extLst>
          </p:cNvPr>
          <p:cNvSpPr>
            <a:spLocks noGrp="1"/>
          </p:cNvSpPr>
          <p:nvPr>
            <p:ph type="title"/>
          </p:nvPr>
        </p:nvSpPr>
        <p:spPr/>
        <p:txBody>
          <a:bodyPr/>
          <a:lstStyle/>
          <a:p>
            <a:r>
              <a:rPr lang="en-US" dirty="0"/>
              <a:t>Programmatic navigation</a:t>
            </a:r>
          </a:p>
        </p:txBody>
      </p:sp>
      <p:sp>
        <p:nvSpPr>
          <p:cNvPr id="3" name="Text Placeholder 2">
            <a:extLst>
              <a:ext uri="{FF2B5EF4-FFF2-40B4-BE49-F238E27FC236}">
                <a16:creationId xmlns:a16="http://schemas.microsoft.com/office/drawing/2014/main" id="{251DB767-77B9-CAF8-5635-C3E0A9A35BE4}"/>
              </a:ext>
            </a:extLst>
          </p:cNvPr>
          <p:cNvSpPr>
            <a:spLocks noGrp="1"/>
          </p:cNvSpPr>
          <p:nvPr>
            <p:ph type="body" idx="1"/>
          </p:nvPr>
        </p:nvSpPr>
        <p:spPr/>
        <p:txBody>
          <a:bodyPr/>
          <a:lstStyle/>
          <a:p>
            <a:r>
              <a:rPr lang="en-US" b="1" dirty="0">
                <a:solidFill>
                  <a:srgbClr val="FF0000"/>
                </a:solidFill>
              </a:rPr>
              <a:t>Handling Not Found Pages</a:t>
            </a:r>
            <a:r>
              <a:rPr lang="en-US" dirty="0"/>
              <a:t>: When a user navigates to a route that doesn't exist, you can use programmatic navigation to redirect them to a "Not Found" page or back to the home page</a:t>
            </a:r>
          </a:p>
          <a:p>
            <a:r>
              <a:rPr lang="en-US" dirty="0"/>
              <a:t>Example: </a:t>
            </a:r>
          </a:p>
        </p:txBody>
      </p:sp>
      <p:pic>
        <p:nvPicPr>
          <p:cNvPr id="5" name="Picture 4">
            <a:extLst>
              <a:ext uri="{FF2B5EF4-FFF2-40B4-BE49-F238E27FC236}">
                <a16:creationId xmlns:a16="http://schemas.microsoft.com/office/drawing/2014/main" id="{AC6472CA-3825-DB79-E8F0-043ED71F1A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105" y="3202075"/>
            <a:ext cx="5648271" cy="32872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3085838"/>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1671</TotalTime>
  <Words>2415</Words>
  <Application>Microsoft Office PowerPoint</Application>
  <PresentationFormat>Widescreen</PresentationFormat>
  <Paragraphs>199</Paragraphs>
  <Slides>44</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__body_b202d1</vt:lpstr>
      <vt:lpstr>Arial</vt:lpstr>
      <vt:lpstr>Arial (Heading)</vt:lpstr>
      <vt:lpstr>Arial Black</vt:lpstr>
      <vt:lpstr>Consolas</vt:lpstr>
      <vt:lpstr>Euphemia</vt:lpstr>
      <vt:lpstr>Roboto</vt:lpstr>
      <vt:lpstr>var(--font-heading)</vt:lpstr>
      <vt:lpstr>Wingdings</vt:lpstr>
      <vt:lpstr>Academic Literature 16x9</vt:lpstr>
      <vt:lpstr>PowerPoint Presentation</vt:lpstr>
      <vt:lpstr>What is Navigation in React?</vt:lpstr>
      <vt:lpstr>Navigation and Routing</vt:lpstr>
      <vt:lpstr>Routing and navigation</vt:lpstr>
      <vt:lpstr>Why Use Routing and Navigation?</vt:lpstr>
      <vt:lpstr>Why Use Routing and Navigation?</vt:lpstr>
      <vt:lpstr>What is React Router?</vt:lpstr>
      <vt:lpstr>Features of React Router</vt:lpstr>
      <vt:lpstr>Features of React Router</vt:lpstr>
      <vt:lpstr>Understanding React Router’s router</vt:lpstr>
      <vt:lpstr>Understanding React Router’s router</vt:lpstr>
      <vt:lpstr>Components of React Router</vt:lpstr>
      <vt:lpstr>Components of React Router</vt:lpstr>
      <vt:lpstr>Components of React Router</vt:lpstr>
      <vt:lpstr>Steps to Create Routes using React Router</vt:lpstr>
      <vt:lpstr>Steps to Create Routes using React Router</vt:lpstr>
      <vt:lpstr>Steps to Create Routes using React Router</vt:lpstr>
      <vt:lpstr>Steps to Create Routes using React Router</vt:lpstr>
      <vt:lpstr>Steps to Create Routes using React Router</vt:lpstr>
      <vt:lpstr>Steps to Create Routes using React Router</vt:lpstr>
      <vt:lpstr>Steps to Create Routes using React Router</vt:lpstr>
      <vt:lpstr>Steps to Create Routes using React Router</vt:lpstr>
      <vt:lpstr>Creating navigation</vt:lpstr>
      <vt:lpstr>Creating navigation</vt:lpstr>
      <vt:lpstr>Creating navigation</vt:lpstr>
      <vt:lpstr>URL Parameters in React Router</vt:lpstr>
      <vt:lpstr>URL Parameters in React Router</vt:lpstr>
      <vt:lpstr>URL Parameters in React Router</vt:lpstr>
      <vt:lpstr>URL Parameters in React Router</vt:lpstr>
      <vt:lpstr>Nested routes</vt:lpstr>
      <vt:lpstr>Nested routes</vt:lpstr>
      <vt:lpstr>Nested routes</vt:lpstr>
      <vt:lpstr>Nested routes</vt:lpstr>
      <vt:lpstr>Nested routes</vt:lpstr>
      <vt:lpstr>Nested routes</vt:lpstr>
      <vt:lpstr>Programmatic navigation</vt:lpstr>
      <vt:lpstr>Programmatic navigation</vt:lpstr>
      <vt:lpstr>Programmatic navigation</vt:lpstr>
      <vt:lpstr>Programmatic navigation</vt:lpstr>
      <vt:lpstr>Programmatic navigation</vt:lpstr>
      <vt:lpstr>Programmatic navigation</vt:lpstr>
      <vt:lpstr>Programmatic navigation</vt:lpstr>
      <vt:lpstr>Programmatic navigation</vt:lpstr>
      <vt:lpstr>Programmatic navigation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39</cp:revision>
  <dcterms:created xsi:type="dcterms:W3CDTF">2024-10-17T15:22:21Z</dcterms:created>
  <dcterms:modified xsi:type="dcterms:W3CDTF">2024-12-10T18:53:34Z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