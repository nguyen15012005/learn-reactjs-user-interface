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2"/>
  </p:notesMasterIdLst>
  <p:handoutMasterIdLst>
    <p:handoutMasterId r:id="rId53"/>
  </p:handoutMasterIdLst>
  <p:sldIdLst>
    <p:sldId id="256" r:id="rId5"/>
    <p:sldId id="275" r:id="rId6"/>
    <p:sldId id="280" r:id="rId7"/>
    <p:sldId id="281" r:id="rId8"/>
    <p:sldId id="282" r:id="rId9"/>
    <p:sldId id="321" r:id="rId10"/>
    <p:sldId id="260" r:id="rId11"/>
    <p:sldId id="283" r:id="rId12"/>
    <p:sldId id="322" r:id="rId13"/>
    <p:sldId id="284" r:id="rId14"/>
    <p:sldId id="285" r:id="rId15"/>
    <p:sldId id="286" r:id="rId16"/>
    <p:sldId id="287" r:id="rId17"/>
    <p:sldId id="288" r:id="rId18"/>
    <p:sldId id="323" r:id="rId19"/>
    <p:sldId id="324" r:id="rId20"/>
    <p:sldId id="325" r:id="rId21"/>
    <p:sldId id="326" r:id="rId22"/>
    <p:sldId id="289" r:id="rId23"/>
    <p:sldId id="277" r:id="rId24"/>
    <p:sldId id="317" r:id="rId25"/>
    <p:sldId id="318" r:id="rId26"/>
    <p:sldId id="319" r:id="rId27"/>
    <p:sldId id="292" r:id="rId28"/>
    <p:sldId id="296" r:id="rId29"/>
    <p:sldId id="295"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11" r:id="rId43"/>
    <p:sldId id="290" r:id="rId44"/>
    <p:sldId id="309" r:id="rId45"/>
    <p:sldId id="310" r:id="rId46"/>
    <p:sldId id="312" r:id="rId47"/>
    <p:sldId id="313" r:id="rId48"/>
    <p:sldId id="314" r:id="rId49"/>
    <p:sldId id="315" r:id="rId50"/>
    <p:sldId id="31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82" autoAdjust="0"/>
    <p:restoredTop sz="80532" autoAdjust="0"/>
  </p:normalViewPr>
  <p:slideViewPr>
    <p:cSldViewPr snapToGrid="0" showGuides="1">
      <p:cViewPr varScale="1">
        <p:scale>
          <a:sx n="52" d="100"/>
          <a:sy n="52" d="100"/>
        </p:scale>
        <p:origin x="1004" y="40"/>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2/15/2025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2/15/2025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eeksforgeeks.org/html-tags-a-to-z-list/"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a:t>
            </a:r>
            <a:r>
              <a:rPr lang="en-US" b="1" dirty="0"/>
              <a:t>functional component </a:t>
            </a:r>
            <a:r>
              <a:rPr lang="vi-VN" dirty="0"/>
              <a:t> phù hợp nhất cho các trường hợp mà thành phần không cần tương tác với các thành phần khác hoặc quản lý các trạng thái phức tạp. Các thành phần chức năng lý tưởng để trình bày các thành phần UI tĩnh hoặc kết hợp nhiều thành phần đơn giản lại với nhau dưới một thành phần cha duy nhất.</a:t>
            </a:r>
          </a:p>
          <a:p>
            <a:endParaRPr lang="vi-VN" dirty="0"/>
          </a:p>
          <a:p>
            <a:r>
              <a:rPr lang="vi-VN" dirty="0"/>
              <a:t>Các </a:t>
            </a:r>
            <a:r>
              <a:rPr lang="en-US" b="1" dirty="0"/>
              <a:t>class component </a:t>
            </a:r>
            <a:r>
              <a:rPr lang="vi-VN" dirty="0"/>
              <a:t>có thể đạt được kết quả tương tự, chúng thường kém hiệu quả hơn so với các thành phần chức năng. Do đó, không nên sử dụng các thành phần lớp cho mục đích sử dụng chung.</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10</a:t>
            </a:fld>
            <a:endParaRPr lang="en-US"/>
          </a:p>
        </p:txBody>
      </p:sp>
    </p:spTree>
    <p:extLst>
      <p:ext uri="{BB962C8B-B14F-4D97-AF65-F5344CB8AC3E}">
        <p14:creationId xmlns:p14="http://schemas.microsoft.com/office/powerpoint/2010/main" val="540471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73239"/>
                </a:solidFill>
                <a:effectLst/>
                <a:latin typeface="Nunito" pitchFamily="2" charset="0"/>
              </a:rPr>
              <a:t>Note</a:t>
            </a:r>
            <a:r>
              <a:rPr lang="en-US" b="0" i="0" dirty="0">
                <a:solidFill>
                  <a:srgbClr val="273239"/>
                </a:solidFill>
                <a:effectLst/>
                <a:latin typeface="Nunito" pitchFamily="2" charset="0"/>
              </a:rPr>
              <a:t>: The name of a component should always start with a capital letter. This is done to differentiate a component tag from an </a:t>
            </a:r>
            <a:r>
              <a:rPr lang="en-US" b="1" i="0" u="sng" dirty="0">
                <a:effectLst/>
                <a:latin typeface="Nunito" pitchFamily="2" charset="0"/>
                <a:hlinkClick r:id="rId3"/>
              </a:rPr>
              <a:t>HTML tag</a:t>
            </a:r>
            <a:r>
              <a:rPr lang="en-US" b="0" i="0" dirty="0">
                <a:solidFill>
                  <a:srgbClr val="273239"/>
                </a:solidFill>
                <a:effectLst/>
                <a:latin typeface="Nunito" pitchFamily="2" charset="0"/>
              </a:rPr>
              <a: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11</a:t>
            </a:fld>
            <a:endParaRPr lang="en-US"/>
          </a:p>
        </p:txBody>
      </p:sp>
    </p:spTree>
    <p:extLst>
      <p:ext uri="{BB962C8B-B14F-4D97-AF65-F5344CB8AC3E}">
        <p14:creationId xmlns:p14="http://schemas.microsoft.com/office/powerpoint/2010/main" val="3383890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14</a:t>
            </a:fld>
            <a:endParaRPr lang="en-US"/>
          </a:p>
        </p:txBody>
      </p:sp>
    </p:spTree>
    <p:extLst>
      <p:ext uri="{BB962C8B-B14F-4D97-AF65-F5344CB8AC3E}">
        <p14:creationId xmlns:p14="http://schemas.microsoft.com/office/powerpoint/2010/main" val="2894198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vi-VN" b="1" dirty="0"/>
              <a:t>Truyền dữ liệu từ parent đến child:</a:t>
            </a:r>
            <a:endParaRPr lang="vi-VN" dirty="0"/>
          </a:p>
          <a:p>
            <a:pPr marL="742950" lvl="1" indent="-285750">
              <a:buFont typeface="+mj-lt"/>
              <a:buAutoNum type="arabicPeriod"/>
            </a:pPr>
            <a:r>
              <a:rPr lang="vi-VN" dirty="0"/>
              <a:t>Trong App.jsx, props message và number được truyền cho Child bằng cách sử dụng cú pháp:jsx</a:t>
            </a:r>
          </a:p>
          <a:p>
            <a:pPr marL="742950" lvl="1" indent="-285750">
              <a:buFont typeface="+mj-lt"/>
              <a:buAutoNum type="arabicPeriod"/>
            </a:pPr>
            <a:r>
              <a:rPr lang="vi-VN" dirty="0"/>
              <a:t>CopyEdit</a:t>
            </a:r>
          </a:p>
          <a:p>
            <a:pPr marL="742950" lvl="1" indent="-285750" rtl="0">
              <a:buFont typeface="+mj-lt"/>
              <a:buAutoNum type="arabicPeriod"/>
            </a:pPr>
            <a:r>
              <a:rPr lang="vi-VN" dirty="0"/>
              <a:t>&lt;Child message={parentMessage} number={parentNumber} /&gt; </a:t>
            </a:r>
          </a:p>
          <a:p>
            <a:pPr>
              <a:buFont typeface="+mj-lt"/>
              <a:buAutoNum type="arabicPeriod"/>
            </a:pPr>
            <a:r>
              <a:rPr lang="vi-VN" b="1" dirty="0"/>
              <a:t>Nhận dữ liệu trong child:</a:t>
            </a:r>
            <a:endParaRPr lang="vi-VN" dirty="0"/>
          </a:p>
          <a:p>
            <a:pPr marL="742950" lvl="1" indent="-285750">
              <a:buFont typeface="+mj-lt"/>
              <a:buAutoNum type="arabicPeriod"/>
            </a:pPr>
            <a:r>
              <a:rPr lang="vi-VN" dirty="0"/>
              <a:t>Trong Child.jsx, dữ liệu được nhận qua tham số props và destructuring:jsx</a:t>
            </a:r>
          </a:p>
          <a:p>
            <a:pPr marL="742950" lvl="1" indent="-285750">
              <a:buFont typeface="+mj-lt"/>
              <a:buAutoNum type="arabicPeriod"/>
            </a:pPr>
            <a:r>
              <a:rPr lang="vi-VN" dirty="0"/>
              <a:t>CopyEdit</a:t>
            </a:r>
          </a:p>
          <a:p>
            <a:pPr marL="742950" lvl="1" indent="-285750" rtl="0">
              <a:buFont typeface="+mj-lt"/>
              <a:buAutoNum type="arabicPeriod"/>
            </a:pPr>
            <a:r>
              <a:rPr lang="vi-VN" dirty="0"/>
              <a:t>function Child({ message, number }) { </a:t>
            </a:r>
          </a:p>
          <a:p>
            <a:pPr>
              <a:buFont typeface="+mj-lt"/>
              <a:buAutoNum type="arabicPeriod"/>
            </a:pPr>
            <a:r>
              <a:rPr lang="vi-VN" b="1" dirty="0"/>
              <a:t>Hiển thị dữ liệu:</a:t>
            </a:r>
            <a:endParaRPr lang="vi-VN" dirty="0"/>
          </a:p>
          <a:p>
            <a:pPr marL="742950" lvl="1" indent="-285750">
              <a:buFont typeface="+mj-lt"/>
              <a:buAutoNum type="arabicPeriod"/>
            </a:pPr>
            <a:r>
              <a:rPr lang="vi-VN" dirty="0"/>
              <a:t>Child hiển thị dữ liệu nhận được từ </a:t>
            </a:r>
            <a:r>
              <a:rPr lang="vi-VN" b="1" dirty="0"/>
              <a:t>parent</a:t>
            </a:r>
            <a:r>
              <a:rPr lang="vi-VN" dirty="0"/>
              <a:t> bằng cách truy cập giá trị từ props.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18</a:t>
            </a:fld>
            <a:endParaRPr lang="en-US"/>
          </a:p>
        </p:txBody>
      </p:sp>
    </p:spTree>
    <p:extLst>
      <p:ext uri="{BB962C8B-B14F-4D97-AF65-F5344CB8AC3E}">
        <p14:creationId xmlns:p14="http://schemas.microsoft.com/office/powerpoint/2010/main" val="76184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API là cơ chế cho phép hai thành phần phần mềm giao tiếp với nhau bằng một tập hợp các định nghĩa và giao thức.</a:t>
            </a:r>
          </a:p>
          <a:p>
            <a:r>
              <a:rPr lang="vi-VN" dirty="0"/>
              <a:t>Ví dụ, hệ thống phần mềm của cơ quan thời tiết chứa dữ liệu thời tiết hàng ngày. Ứng dụng thời tiết trên điện thoại của bạn "giao tiếp" với hệ thống này thông qua API và hiển thị cho bạn thông tin cập nhật thời tiết hàng ngày trên điện thoại.</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24</a:t>
            </a:fld>
            <a:endParaRPr lang="en-US"/>
          </a:p>
        </p:txBody>
      </p:sp>
    </p:spTree>
    <p:extLst>
      <p:ext uri="{BB962C8B-B14F-4D97-AF65-F5344CB8AC3E}">
        <p14:creationId xmlns:p14="http://schemas.microsoft.com/office/powerpoint/2010/main" val="1708498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Sử dụng Promises để xử lý các tác vụ không đồng bộ.</a:t>
            </a:r>
          </a:p>
          <a:p>
            <a:r>
              <a:rPr lang="vi-VN" dirty="0"/>
              <a:t>Hỗ trợ các phương thức HTTP: GET, POST, PUT, DELETE, v.v.</a:t>
            </a:r>
          </a:p>
          <a:p>
            <a:r>
              <a:rPr lang="vi-VN" dirty="0"/>
              <a:t>Xử lý JSON và các loại nội dung khác một cách liền mạch.</a:t>
            </a:r>
          </a:p>
          <a:p>
            <a:r>
              <a:rPr lang="vi-VN" dirty="0"/>
              <a:t>Cung cấp khả năng xử lý yêu cầu/phản hồi linh hoạt hơn.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29</a:t>
            </a:fld>
            <a:endParaRPr lang="en-US"/>
          </a:p>
        </p:txBody>
      </p:sp>
    </p:spTree>
    <p:extLst>
      <p:ext uri="{BB962C8B-B14F-4D97-AF65-F5344CB8AC3E}">
        <p14:creationId xmlns:p14="http://schemas.microsoft.com/office/powerpoint/2010/main" val="2441066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Specifies </a:t>
            </a:r>
            <a:r>
              <a:rPr lang="en-US" dirty="0" err="1"/>
              <a:t>POST.headers</a:t>
            </a:r>
            <a:r>
              <a:rPr lang="en-US" dirty="0"/>
              <a:t>: Defines the content </a:t>
            </a:r>
            <a:r>
              <a:rPr lang="en-US" dirty="0" err="1"/>
              <a:t>type.body</a:t>
            </a:r>
            <a:r>
              <a:rPr lang="en-US" dirty="0"/>
              <a:t>: The data to send (converted to JSON)</a:t>
            </a:r>
          </a:p>
        </p:txBody>
      </p:sp>
      <p:sp>
        <p:nvSpPr>
          <p:cNvPr id="4" name="Slide Number Placeholder 3"/>
          <p:cNvSpPr>
            <a:spLocks noGrp="1"/>
          </p:cNvSpPr>
          <p:nvPr>
            <p:ph type="sldNum" sz="quarter" idx="5"/>
          </p:nvPr>
        </p:nvSpPr>
        <p:spPr/>
        <p:txBody>
          <a:bodyPr/>
          <a:lstStyle/>
          <a:p>
            <a:fld id="{0A3C37BE-C303-496D-B5CD-85F2937540FC}" type="slidenum">
              <a:rPr lang="en-US" smtClean="0"/>
              <a:t>32</a:t>
            </a:fld>
            <a:endParaRPr lang="en-US"/>
          </a:p>
        </p:txBody>
      </p:sp>
    </p:spTree>
    <p:extLst>
      <p:ext uri="{BB962C8B-B14F-4D97-AF65-F5344CB8AC3E}">
        <p14:creationId xmlns:p14="http://schemas.microsoft.com/office/powerpoint/2010/main" val="152392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Responses: Fetch </a:t>
            </a:r>
            <a:r>
              <a:rPr lang="en-US" dirty="0" err="1"/>
              <a:t>hỗ</a:t>
            </a:r>
            <a:r>
              <a:rPr lang="en-US" dirty="0"/>
              <a:t> </a:t>
            </a:r>
            <a:r>
              <a:rPr lang="en-US" dirty="0" err="1"/>
              <a:t>trợ</a:t>
            </a:r>
            <a:r>
              <a:rPr lang="en-US" dirty="0"/>
              <a:t> </a:t>
            </a:r>
            <a:r>
              <a:rPr lang="en-US" dirty="0" err="1"/>
              <a:t>đọc</a:t>
            </a:r>
            <a:r>
              <a:rPr lang="en-US" dirty="0"/>
              <a:t> </a:t>
            </a:r>
            <a:r>
              <a:rPr lang="en-US" dirty="0" err="1"/>
              <a:t>các</a:t>
            </a:r>
            <a:r>
              <a:rPr lang="en-US" dirty="0"/>
              <a:t> </a:t>
            </a:r>
            <a:r>
              <a:rPr lang="en-US" dirty="0" err="1"/>
              <a:t>phản</a:t>
            </a:r>
            <a:r>
              <a:rPr lang="en-US" dirty="0"/>
              <a:t> </a:t>
            </a:r>
            <a:r>
              <a:rPr lang="en-US" dirty="0" err="1"/>
              <a:t>hồi</a:t>
            </a:r>
            <a:r>
              <a:rPr lang="en-US" dirty="0"/>
              <a:t> </a:t>
            </a:r>
            <a:r>
              <a:rPr lang="en-US" dirty="0" err="1"/>
              <a:t>lớn</a:t>
            </a:r>
            <a:r>
              <a:rPr lang="en-US" dirty="0"/>
              <a:t> </a:t>
            </a:r>
            <a:r>
              <a:rPr lang="en-US" dirty="0" err="1"/>
              <a:t>theo</a:t>
            </a:r>
            <a:r>
              <a:rPr lang="en-US" dirty="0"/>
              <a:t> </a:t>
            </a:r>
            <a:r>
              <a:rPr lang="en-US" dirty="0" err="1"/>
              <a:t>từng</a:t>
            </a:r>
            <a:r>
              <a:rPr lang="en-US" dirty="0"/>
              <a:t> </a:t>
            </a:r>
            <a:r>
              <a:rPr lang="en-US" dirty="0" err="1"/>
              <a:t>phần</a:t>
            </a:r>
            <a:r>
              <a:rPr lang="en-US" dirty="0"/>
              <a:t>.</a:t>
            </a:r>
          </a:p>
          <a:p>
            <a:r>
              <a:rPr lang="en-US" dirty="0" err="1"/>
              <a:t>AbortController</a:t>
            </a:r>
            <a:r>
              <a:rPr lang="en-US" dirty="0"/>
              <a:t>: Cho </a:t>
            </a:r>
            <a:r>
              <a:rPr lang="en-US" dirty="0" err="1"/>
              <a:t>phép</a:t>
            </a:r>
            <a:r>
              <a:rPr lang="en-US" dirty="0"/>
              <a:t> </a:t>
            </a:r>
            <a:r>
              <a:rPr lang="en-US" dirty="0" err="1"/>
              <a:t>bạn</a:t>
            </a:r>
            <a:r>
              <a:rPr lang="en-US" dirty="0"/>
              <a:t> </a:t>
            </a:r>
            <a:r>
              <a:rPr lang="en-US" dirty="0" err="1"/>
              <a:t>hủy</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đang</a:t>
            </a:r>
            <a:r>
              <a:rPr lang="en-US" dirty="0"/>
              <a:t> </a:t>
            </a:r>
            <a:r>
              <a:rPr lang="en-US" dirty="0" err="1"/>
              <a:t>diễn</a:t>
            </a:r>
            <a:r>
              <a:rPr lang="en-US" dirty="0"/>
              <a:t> </a:t>
            </a:r>
            <a:r>
              <a:rPr lang="en-US" dirty="0" err="1"/>
              <a:t>ra.</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35</a:t>
            </a:fld>
            <a:endParaRPr lang="en-US"/>
          </a:p>
        </p:txBody>
      </p:sp>
    </p:spTree>
    <p:extLst>
      <p:ext uri="{BB962C8B-B14F-4D97-AF65-F5344CB8AC3E}">
        <p14:creationId xmlns:p14="http://schemas.microsoft.com/office/powerpoint/2010/main" val="4233490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36</a:t>
            </a:fld>
            <a:endParaRPr lang="en-US"/>
          </a:p>
        </p:txBody>
      </p:sp>
    </p:spTree>
    <p:extLst>
      <p:ext uri="{BB962C8B-B14F-4D97-AF65-F5344CB8AC3E}">
        <p14:creationId xmlns:p14="http://schemas.microsoft.com/office/powerpoint/2010/main" val="786508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Không hỗ trợ thời gian chờ gốc (yêu cầu triển khai tùy chỉnh).</a:t>
            </a:r>
          </a:p>
          <a:p>
            <a:r>
              <a:rPr lang="vi-VN" dirty="0"/>
              <a:t>Lỗi HTTP (như 404, 500) không từ chối Promise.</a:t>
            </a:r>
          </a:p>
          <a:p>
            <a:r>
              <a:rPr lang="vi-VN" dirty="0"/>
              <a:t>Hỗ trợ trình duyệt hạn chế trong các phiên bản cũ hơn.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37</a:t>
            </a:fld>
            <a:endParaRPr lang="en-US"/>
          </a:p>
        </p:txBody>
      </p:sp>
    </p:spTree>
    <p:extLst>
      <p:ext uri="{BB962C8B-B14F-4D97-AF65-F5344CB8AC3E}">
        <p14:creationId xmlns:p14="http://schemas.microsoft.com/office/powerpoint/2010/main" val="4204740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Nó dựa trên Promises và hoạt động trên cả trình duyệt và Node.js.</a:t>
            </a:r>
          </a:p>
          <a:p>
            <a:r>
              <a:rPr lang="vi-VN" dirty="0"/>
              <a:t>Cung cấp API đơn giản để gửi các yêu cầu không đồng bộ đến API và xử lý phản hồi.</a:t>
            </a:r>
          </a:p>
          <a:p>
            <a:r>
              <a:rPr lang="vi-VN" dirty="0"/>
              <a:t>Hỗ trợ các tính năng JavaScript hiện đại và tích hợp dễ dàng với các khung như React, Vue và Angular.</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38</a:t>
            </a:fld>
            <a:endParaRPr lang="en-US"/>
          </a:p>
        </p:txBody>
      </p:sp>
    </p:spTree>
    <p:extLst>
      <p:ext uri="{BB962C8B-B14F-4D97-AF65-F5344CB8AC3E}">
        <p14:creationId xmlns:p14="http://schemas.microsoft.com/office/powerpoint/2010/main" val="502090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err="1"/>
              <a:t>Explanation:get</a:t>
            </a:r>
            <a:r>
              <a:rPr lang="en-US" dirty="0"/>
              <a:t> method is used to fetch data.</a:t>
            </a:r>
          </a:p>
          <a:p>
            <a:pPr>
              <a:buFont typeface="Arial" panose="020B0604020202020204" pitchFamily="34" charset="0"/>
              <a:buChar char="•"/>
            </a:pPr>
            <a:r>
              <a:rPr lang="en-US" dirty="0" err="1"/>
              <a:t>response.data</a:t>
            </a:r>
            <a:r>
              <a:rPr lang="en-US" dirty="0"/>
              <a:t> contains the fetched data.</a:t>
            </a:r>
          </a:p>
          <a:p>
            <a:pPr>
              <a:buFont typeface="Arial" panose="020B0604020202020204" pitchFamily="34" charset="0"/>
              <a:buChar char="•"/>
            </a:pPr>
            <a:r>
              <a:rPr lang="en-US" dirty="0"/>
              <a:t>Handles both success and error cases.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42</a:t>
            </a:fld>
            <a:endParaRPr lang="en-US"/>
          </a:p>
        </p:txBody>
      </p:sp>
    </p:spTree>
    <p:extLst>
      <p:ext uri="{BB962C8B-B14F-4D97-AF65-F5344CB8AC3E}">
        <p14:creationId xmlns:p14="http://schemas.microsoft.com/office/powerpoint/2010/main" val="390491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Explanation:Async</a:t>
            </a:r>
            <a:r>
              <a:rPr lang="en-US" dirty="0"/>
              <a:t>/Await syntax provides cleaner and more readable code for asynchronous requests.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43</a:t>
            </a:fld>
            <a:endParaRPr lang="en-US"/>
          </a:p>
        </p:txBody>
      </p:sp>
    </p:spTree>
    <p:extLst>
      <p:ext uri="{BB962C8B-B14F-4D97-AF65-F5344CB8AC3E}">
        <p14:creationId xmlns:p14="http://schemas.microsoft.com/office/powerpoint/2010/main" val="22746304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Explanation:Interceptors</a:t>
            </a:r>
            <a:r>
              <a:rPr lang="en-US" dirty="0"/>
              <a:t> allow modification or logging of requests/responses before they are processed.</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45</a:t>
            </a:fld>
            <a:endParaRPr lang="en-US"/>
          </a:p>
        </p:txBody>
      </p:sp>
    </p:spTree>
    <p:extLst>
      <p:ext uri="{BB962C8B-B14F-4D97-AF65-F5344CB8AC3E}">
        <p14:creationId xmlns:p14="http://schemas.microsoft.com/office/powerpoint/2010/main" val="414458613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2/15/2025</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2/15/2025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2/15/2025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2/15/2025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2/15/2025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2/15/2025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2/15/2025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2/15/2025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2/15/2025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2/15/2025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2/15/2025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38A3-49C8-3939-5514-DFD2197B09C6}"/>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321ED9C-3F93-0473-3127-832B687404A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5189B-B69D-2360-30B6-5EAF8AC927B2}"/>
              </a:ext>
            </a:extLst>
          </p:cNvPr>
          <p:cNvSpPr>
            <a:spLocks noGrp="1"/>
          </p:cNvSpPr>
          <p:nvPr>
            <p:ph type="dt" sz="half" idx="10"/>
          </p:nvPr>
        </p:nvSpPr>
        <p:spPr/>
        <p:txBody>
          <a:bodyPr/>
          <a:lstStyle/>
          <a:p>
            <a:fld id="{E1A63BDD-BD48-499A-A2D9-DFA08F8444CC}" type="datetimeFigureOut">
              <a:rPr lang="en-US" smtClean="0"/>
              <a:t>2/15/2025</a:t>
            </a:fld>
            <a:endParaRPr lang="en-US"/>
          </a:p>
        </p:txBody>
      </p:sp>
      <p:sp>
        <p:nvSpPr>
          <p:cNvPr id="5" name="Footer Placeholder 4">
            <a:extLst>
              <a:ext uri="{FF2B5EF4-FFF2-40B4-BE49-F238E27FC236}">
                <a16:creationId xmlns:a16="http://schemas.microsoft.com/office/drawing/2014/main" id="{B407A681-DF48-FF54-3802-2680C559B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E3943-6181-007B-EE2D-020A388CAD8C}"/>
              </a:ext>
            </a:extLst>
          </p:cNvPr>
          <p:cNvSpPr>
            <a:spLocks noGrp="1"/>
          </p:cNvSpPr>
          <p:nvPr>
            <p:ph type="sldNum" sz="quarter" idx="12"/>
          </p:nvPr>
        </p:nvSpPr>
        <p:spPr/>
        <p:txBody>
          <a:bodyPr/>
          <a:lstStyle/>
          <a:p>
            <a:fld id="{C6629478-052B-42EB-8DB9-04044E8495EC}" type="slidenum">
              <a:rPr lang="en-US" smtClean="0"/>
              <a:t>‹#›</a:t>
            </a:fld>
            <a:endParaRPr lang="en-US"/>
          </a:p>
        </p:txBody>
      </p:sp>
    </p:spTree>
    <p:extLst>
      <p:ext uri="{BB962C8B-B14F-4D97-AF65-F5344CB8AC3E}">
        <p14:creationId xmlns:p14="http://schemas.microsoft.com/office/powerpoint/2010/main" val="266372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2/15/2025</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8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6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tm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104900" y="4511784"/>
            <a:ext cx="5734050" cy="955565"/>
          </a:xfrm>
        </p:spPr>
        <p:txBody>
          <a:bodyPr/>
          <a:lstStyle/>
          <a:p>
            <a:r>
              <a:rPr lang="en-US" dirty="0" err="1"/>
              <a:t>Giảng</a:t>
            </a:r>
            <a:r>
              <a:rPr lang="en-US" dirty="0"/>
              <a:t> </a:t>
            </a:r>
            <a:r>
              <a:rPr lang="en-US" dirty="0" err="1"/>
              <a:t>viên</a:t>
            </a:r>
            <a:r>
              <a:rPr lang="en-US" dirty="0"/>
              <a:t>: </a:t>
            </a:r>
            <a:r>
              <a:rPr lang="en-US" dirty="0" err="1"/>
              <a:t>Từ</a:t>
            </a:r>
            <a:r>
              <a:rPr lang="en-US" dirty="0"/>
              <a:t> </a:t>
            </a:r>
            <a:r>
              <a:rPr lang="en-US" dirty="0" err="1"/>
              <a:t>Thị</a:t>
            </a:r>
            <a:r>
              <a:rPr lang="en-US" dirty="0"/>
              <a:t> Xuân </a:t>
            </a:r>
            <a:r>
              <a:rPr lang="en-US" dirty="0" err="1"/>
              <a:t>Hiền</a:t>
            </a:r>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p:blipFill>
        <p:spPr>
          <a:xfrm>
            <a:off x="6981063" y="1310656"/>
            <a:ext cx="5210937" cy="4208604"/>
          </a:xfrm>
        </p:spPr>
      </p:pic>
      <p:grpSp>
        <p:nvGrpSpPr>
          <p:cNvPr id="15" name="Group 14">
            <a:extLst>
              <a:ext uri="{FF2B5EF4-FFF2-40B4-BE49-F238E27FC236}">
                <a16:creationId xmlns:a16="http://schemas.microsoft.com/office/drawing/2014/main" id="{4D51ED84-5E96-E622-252E-09B155E63681}"/>
              </a:ext>
            </a:extLst>
          </p:cNvPr>
          <p:cNvGrpSpPr/>
          <p:nvPr/>
        </p:nvGrpSpPr>
        <p:grpSpPr>
          <a:xfrm>
            <a:off x="1104900" y="2700050"/>
            <a:ext cx="8900097" cy="1457900"/>
            <a:chOff x="871699" y="2712615"/>
            <a:chExt cx="5451920" cy="1457900"/>
          </a:xfrm>
          <a:effectLst>
            <a:reflection blurRad="6350" stA="52000" endA="300" endPos="35000" dir="5400000" sy="-100000" algn="bl" rotWithShape="0"/>
          </a:effectLst>
        </p:grpSpPr>
        <p:pic>
          <p:nvPicPr>
            <p:cNvPr id="13" name="Picture 12">
              <a:extLst>
                <a:ext uri="{FF2B5EF4-FFF2-40B4-BE49-F238E27FC236}">
                  <a16:creationId xmlns:a16="http://schemas.microsoft.com/office/drawing/2014/main" id="{52914BAE-8E30-A092-0C7D-8302CE2CB145}"/>
                </a:ext>
              </a:extLst>
            </p:cNvPr>
            <p:cNvPicPr>
              <a:picLocks noChangeAspect="1"/>
            </p:cNvPicPr>
            <p:nvPr/>
          </p:nvPicPr>
          <p:blipFill>
            <a:blip r:embed="rId4">
              <a:extLst>
                <a:ext uri="{28A0092B-C50C-407E-A947-70E740481C1C}">
                  <a14:useLocalDpi xmlns:a14="http://schemas.microsoft.com/office/drawing/2010/main" val="0"/>
                </a:ext>
              </a:extLst>
            </a:blip>
            <a:srcRect l="21349" r="19027" b="24624"/>
            <a:stretch/>
          </p:blipFill>
          <p:spPr>
            <a:xfrm>
              <a:off x="871699" y="2712615"/>
              <a:ext cx="1106176" cy="1457900"/>
            </a:xfrm>
            <a:prstGeom prst="rect">
              <a:avLst/>
            </a:prstGeom>
          </p:spPr>
        </p:pic>
        <p:sp>
          <p:nvSpPr>
            <p:cNvPr id="14" name="Rectangle 13">
              <a:extLst>
                <a:ext uri="{FF2B5EF4-FFF2-40B4-BE49-F238E27FC236}">
                  <a16:creationId xmlns:a16="http://schemas.microsoft.com/office/drawing/2014/main" id="{D4251CA6-DC4D-3BE8-EB98-667D80B71479}"/>
                </a:ext>
              </a:extLst>
            </p:cNvPr>
            <p:cNvSpPr/>
            <p:nvPr/>
          </p:nvSpPr>
          <p:spPr>
            <a:xfrm>
              <a:off x="1842557" y="2712615"/>
              <a:ext cx="4481062" cy="1457900"/>
            </a:xfrm>
            <a:prstGeom prst="rect">
              <a:avLst/>
            </a:prstGeom>
            <a:solidFill>
              <a:schemeClr val="tx2"/>
            </a:solidFill>
          </p:spPr>
          <p:txBody>
            <a:bodyPr wrap="square" lIns="91440" tIns="45720" rIns="91440" bIns="45720">
              <a:spAutoFit/>
            </a:bodyPr>
            <a:lstStyle/>
            <a:p>
              <a:pPr algn="ctr">
                <a:lnSpc>
                  <a:spcPct val="150000"/>
                </a:lnSpc>
              </a:pPr>
              <a:r>
                <a:rPr lang="en-US" sz="6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Arial Black" panose="020B0A04020102020204" pitchFamily="34" charset="0"/>
                </a:rPr>
                <a:t>Components</a:t>
              </a:r>
            </a:p>
          </p:txBody>
        </p:sp>
      </p:grpSp>
      <p:sp>
        <p:nvSpPr>
          <p:cNvPr id="2" name="TextBox 1">
            <a:extLst>
              <a:ext uri="{FF2B5EF4-FFF2-40B4-BE49-F238E27FC236}">
                <a16:creationId xmlns:a16="http://schemas.microsoft.com/office/drawing/2014/main" id="{5335ED9E-1249-F0E0-95D7-E34BCBA970E0}"/>
              </a:ext>
            </a:extLst>
          </p:cNvPr>
          <p:cNvSpPr txBox="1"/>
          <p:nvPr/>
        </p:nvSpPr>
        <p:spPr>
          <a:xfrm>
            <a:off x="3920553" y="1981758"/>
            <a:ext cx="3060510" cy="707886"/>
          </a:xfrm>
          <a:prstGeom prst="rect">
            <a:avLst/>
          </a:prstGeom>
          <a:noFill/>
        </p:spPr>
        <p:txBody>
          <a:bodyPr wrap="square">
            <a:spAutoFit/>
          </a:bodyPr>
          <a:lstStyle/>
          <a:p>
            <a:r>
              <a:rPr lang="nl-NL" sz="4000" b="1" cap="none" spc="50">
                <a:ln w="9525" cmpd="sng">
                  <a:solidFill>
                    <a:schemeClr val="accent1"/>
                  </a:solidFill>
                  <a:prstDash val="solid"/>
                </a:ln>
                <a:solidFill>
                  <a:sysClr val="windowText" lastClr="000000"/>
                </a:solidFill>
                <a:effectLst>
                  <a:glow rad="38100">
                    <a:schemeClr val="accent1">
                      <a:alpha val="40000"/>
                    </a:schemeClr>
                  </a:glow>
                </a:effectLst>
                <a:latin typeface="Arial Black" panose="020B0A04020102020204" pitchFamily="34" charset="0"/>
              </a:rPr>
              <a:t>Chương </a:t>
            </a:r>
            <a:r>
              <a:rPr lang="nl-NL" sz="4000" b="1" spc="50">
                <a:ln w="9525" cmpd="sng">
                  <a:solidFill>
                    <a:schemeClr val="accent1"/>
                  </a:solidFill>
                  <a:prstDash val="solid"/>
                </a:ln>
                <a:solidFill>
                  <a:sysClr val="windowText" lastClr="000000"/>
                </a:solidFill>
                <a:effectLst>
                  <a:glow rad="38100">
                    <a:schemeClr val="accent1">
                      <a:alpha val="40000"/>
                    </a:schemeClr>
                  </a:glow>
                </a:effectLst>
                <a:latin typeface="Arial Black" panose="020B0A04020102020204" pitchFamily="34" charset="0"/>
              </a:rPr>
              <a:t>2</a:t>
            </a:r>
            <a:r>
              <a:rPr lang="nl-NL" sz="4000" b="1" cap="none" spc="50">
                <a:ln w="9525" cmpd="sng">
                  <a:solidFill>
                    <a:schemeClr val="accent1"/>
                  </a:solidFill>
                  <a:prstDash val="solid"/>
                </a:ln>
                <a:solidFill>
                  <a:sysClr val="windowText" lastClr="000000"/>
                </a:solidFill>
                <a:effectLst>
                  <a:glow rad="38100">
                    <a:schemeClr val="accent1">
                      <a:alpha val="40000"/>
                    </a:schemeClr>
                  </a:glow>
                </a:effectLst>
                <a:latin typeface="Arial Black" panose="020B0A04020102020204" pitchFamily="34" charset="0"/>
              </a:rPr>
              <a:t>.</a:t>
            </a:r>
            <a:endParaRPr lang="en-US" sz="4000" dirty="0">
              <a:solidFill>
                <a:sysClr val="windowText" lastClr="000000"/>
              </a:solidFill>
            </a:endParaRPr>
          </a:p>
        </p:txBody>
      </p:sp>
    </p:spTree>
    <p:extLst>
      <p:ext uri="{BB962C8B-B14F-4D97-AF65-F5344CB8AC3E}">
        <p14:creationId xmlns:p14="http://schemas.microsoft.com/office/powerpoint/2010/main" val="1652133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E1EF1-913D-94B1-1584-EADF8EC5D310}"/>
              </a:ext>
            </a:extLst>
          </p:cNvPr>
          <p:cNvSpPr>
            <a:spLocks noGrp="1"/>
          </p:cNvSpPr>
          <p:nvPr>
            <p:ph type="title"/>
          </p:nvPr>
        </p:nvSpPr>
        <p:spPr/>
        <p:txBody>
          <a:bodyPr/>
          <a:lstStyle/>
          <a:p>
            <a:r>
              <a:rPr lang="en-US" dirty="0"/>
              <a:t>Core Components and APIs</a:t>
            </a:r>
            <a:endParaRPr lang="en-US" dirty="0">
              <a:effectLst>
                <a:reflection blurRad="6350" stA="55000" endA="300" endPos="45500" dir="5400000" sy="-100000" algn="bl" rotWithShape="0"/>
              </a:effectLst>
            </a:endParaRPr>
          </a:p>
        </p:txBody>
      </p:sp>
      <p:sp>
        <p:nvSpPr>
          <p:cNvPr id="3" name="Text Placeholder 2">
            <a:extLst>
              <a:ext uri="{FF2B5EF4-FFF2-40B4-BE49-F238E27FC236}">
                <a16:creationId xmlns:a16="http://schemas.microsoft.com/office/drawing/2014/main" id="{4FACC2A1-07B2-0BCA-56C4-93CCE739DF55}"/>
              </a:ext>
            </a:extLst>
          </p:cNvPr>
          <p:cNvSpPr>
            <a:spLocks noGrp="1"/>
          </p:cNvSpPr>
          <p:nvPr>
            <p:ph type="body" idx="1"/>
          </p:nvPr>
        </p:nvSpPr>
        <p:spPr/>
        <p:txBody>
          <a:bodyPr/>
          <a:lstStyle/>
          <a:p>
            <a:r>
              <a:rPr lang="en-US" dirty="0" err="1"/>
              <a:t>Giảng</a:t>
            </a:r>
            <a:r>
              <a:rPr lang="en-US" dirty="0"/>
              <a:t> </a:t>
            </a:r>
            <a:r>
              <a:rPr lang="en-US" dirty="0" err="1"/>
              <a:t>viên</a:t>
            </a:r>
            <a:r>
              <a:rPr lang="en-US" dirty="0"/>
              <a:t>: </a:t>
            </a:r>
            <a:r>
              <a:rPr lang="en-US" dirty="0" err="1"/>
              <a:t>Từ</a:t>
            </a:r>
            <a:r>
              <a:rPr lang="en-US" dirty="0"/>
              <a:t> </a:t>
            </a:r>
            <a:r>
              <a:rPr lang="en-US" dirty="0" err="1"/>
              <a:t>Thị</a:t>
            </a:r>
            <a:r>
              <a:rPr lang="en-US" dirty="0"/>
              <a:t> Xuân </a:t>
            </a:r>
            <a:r>
              <a:rPr lang="en-US" dirty="0" err="1"/>
              <a:t>Hiền</a:t>
            </a:r>
            <a:endParaRPr lang="en-US" dirty="0"/>
          </a:p>
        </p:txBody>
      </p:sp>
    </p:spTree>
    <p:extLst>
      <p:ext uri="{BB962C8B-B14F-4D97-AF65-F5344CB8AC3E}">
        <p14:creationId xmlns:p14="http://schemas.microsoft.com/office/powerpoint/2010/main" val="206464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4D94-507F-C99D-CD7E-05923DC295BC}"/>
              </a:ext>
            </a:extLst>
          </p:cNvPr>
          <p:cNvSpPr>
            <a:spLocks noGrp="1"/>
          </p:cNvSpPr>
          <p:nvPr>
            <p:ph type="title"/>
          </p:nvPr>
        </p:nvSpPr>
        <p:spPr/>
        <p:txBody>
          <a:bodyPr/>
          <a:lstStyle/>
          <a:p>
            <a:r>
              <a:rPr lang="en-US" dirty="0"/>
              <a:t>Components</a:t>
            </a:r>
          </a:p>
        </p:txBody>
      </p:sp>
      <p:sp>
        <p:nvSpPr>
          <p:cNvPr id="3" name="Text Placeholder 2">
            <a:extLst>
              <a:ext uri="{FF2B5EF4-FFF2-40B4-BE49-F238E27FC236}">
                <a16:creationId xmlns:a16="http://schemas.microsoft.com/office/drawing/2014/main" id="{A119F0AA-8BF0-FAC2-AA4C-5155463726DB}"/>
              </a:ext>
            </a:extLst>
          </p:cNvPr>
          <p:cNvSpPr>
            <a:spLocks noGrp="1"/>
          </p:cNvSpPr>
          <p:nvPr>
            <p:ph type="body" idx="1"/>
          </p:nvPr>
        </p:nvSpPr>
        <p:spPr/>
        <p:txBody>
          <a:bodyPr>
            <a:normAutofit/>
          </a:bodyPr>
          <a:lstStyle/>
          <a:p>
            <a:r>
              <a:rPr lang="en-US" b="1" dirty="0">
                <a:solidFill>
                  <a:srgbClr val="FF0000"/>
                </a:solidFill>
              </a:rPr>
              <a:t>Components</a:t>
            </a:r>
            <a:r>
              <a:rPr lang="en-US" dirty="0"/>
              <a:t> are independent and reusable bits of code. They serve the same purpose as JavaScript functions, but work in isolation and return HTML.</a:t>
            </a:r>
          </a:p>
          <a:p>
            <a:r>
              <a:rPr lang="en-US" b="1" dirty="0"/>
              <a:t>Types of Components in React: </a:t>
            </a:r>
            <a:r>
              <a:rPr lang="en-US" dirty="0"/>
              <a:t>In React, we mainly have two types of components:</a:t>
            </a:r>
          </a:p>
          <a:p>
            <a:pPr lvl="1"/>
            <a:r>
              <a:rPr lang="en-US" b="1" dirty="0"/>
              <a:t>Functional Components</a:t>
            </a:r>
          </a:p>
          <a:p>
            <a:pPr lvl="1"/>
            <a:r>
              <a:rPr lang="en-US" b="1" dirty="0"/>
              <a:t>Class based Components</a:t>
            </a:r>
          </a:p>
        </p:txBody>
      </p:sp>
    </p:spTree>
    <p:extLst>
      <p:ext uri="{BB962C8B-B14F-4D97-AF65-F5344CB8AC3E}">
        <p14:creationId xmlns:p14="http://schemas.microsoft.com/office/powerpoint/2010/main" val="268037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0E21-F092-1438-3437-13F1CC579653}"/>
              </a:ext>
            </a:extLst>
          </p:cNvPr>
          <p:cNvSpPr>
            <a:spLocks noGrp="1"/>
          </p:cNvSpPr>
          <p:nvPr>
            <p:ph type="title"/>
          </p:nvPr>
        </p:nvSpPr>
        <p:spPr/>
        <p:txBody>
          <a:bodyPr/>
          <a:lstStyle/>
          <a:p>
            <a:r>
              <a:rPr lang="en-US" dirty="0"/>
              <a:t>Components</a:t>
            </a:r>
          </a:p>
        </p:txBody>
      </p:sp>
      <p:sp>
        <p:nvSpPr>
          <p:cNvPr id="3" name="Text Placeholder 2">
            <a:extLst>
              <a:ext uri="{FF2B5EF4-FFF2-40B4-BE49-F238E27FC236}">
                <a16:creationId xmlns:a16="http://schemas.microsoft.com/office/drawing/2014/main" id="{0055E5D7-5B34-CEE0-6779-515CE150759A}"/>
              </a:ext>
            </a:extLst>
          </p:cNvPr>
          <p:cNvSpPr>
            <a:spLocks noGrp="1"/>
          </p:cNvSpPr>
          <p:nvPr>
            <p:ph type="body" idx="1"/>
          </p:nvPr>
        </p:nvSpPr>
        <p:spPr/>
        <p:txBody>
          <a:bodyPr/>
          <a:lstStyle/>
          <a:p>
            <a:r>
              <a:rPr lang="en-US" b="1" i="0" dirty="0">
                <a:solidFill>
                  <a:srgbClr val="FF0000"/>
                </a:solidFill>
                <a:effectLst/>
                <a:latin typeface="Nunito" pitchFamily="2" charset="0"/>
              </a:rPr>
              <a:t>Functional Component in React</a:t>
            </a:r>
          </a:p>
          <a:p>
            <a:pPr lvl="1"/>
            <a:r>
              <a:rPr lang="en-US" b="1" dirty="0"/>
              <a:t>Functional components </a:t>
            </a:r>
            <a:r>
              <a:rPr lang="en-US" dirty="0"/>
              <a:t>are just like JavaScript functions that accept properties and return a </a:t>
            </a:r>
            <a:r>
              <a:rPr lang="en-US" b="1" dirty="0"/>
              <a:t>React element</a:t>
            </a:r>
            <a:r>
              <a:rPr lang="en-US" dirty="0"/>
              <a:t>.</a:t>
            </a:r>
          </a:p>
          <a:p>
            <a:pPr lvl="1"/>
            <a:r>
              <a:rPr lang="en-US" dirty="0"/>
              <a:t>We can create a functional component in React by writing a </a:t>
            </a:r>
            <a:r>
              <a:rPr lang="en-US" b="1" i="1" dirty="0"/>
              <a:t>JavaScript function</a:t>
            </a:r>
            <a:r>
              <a:rPr lang="en-US" dirty="0"/>
              <a:t>. These functions may or may not receive data as parameters</a:t>
            </a:r>
          </a:p>
          <a:p>
            <a:pPr lvl="1"/>
            <a:r>
              <a:rPr lang="en-US" b="1" dirty="0"/>
              <a:t>Syntax</a:t>
            </a:r>
            <a:r>
              <a:rPr lang="en-US" dirty="0"/>
              <a:t>: </a:t>
            </a:r>
          </a:p>
        </p:txBody>
      </p:sp>
      <p:sp>
        <p:nvSpPr>
          <p:cNvPr id="4" name="Rectangle 1">
            <a:extLst>
              <a:ext uri="{FF2B5EF4-FFF2-40B4-BE49-F238E27FC236}">
                <a16:creationId xmlns:a16="http://schemas.microsoft.com/office/drawing/2014/main" id="{E8D7250C-B4CB-D7DF-546C-AE3655C66538}"/>
              </a:ext>
            </a:extLst>
          </p:cNvPr>
          <p:cNvSpPr>
            <a:spLocks noChangeArrowheads="1"/>
          </p:cNvSpPr>
          <p:nvPr/>
        </p:nvSpPr>
        <p:spPr bwMode="auto">
          <a:xfrm>
            <a:off x="3112491" y="4224447"/>
            <a:ext cx="6934034" cy="2244176"/>
          </a:xfrm>
          <a:prstGeom prst="rect">
            <a:avLst/>
          </a:prstGeom>
          <a:ln w="6350">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88872" numCol="1" anchor="ctr" anchorCtr="0" compatLnSpc="1">
            <a:prstTxWarp prst="textNoShape">
              <a:avLst/>
            </a:prstTxWarp>
            <a:spAutoFit/>
          </a:bodyPr>
          <a:lstStyle/>
          <a:p>
            <a:pPr marL="520700" marR="0" lvl="0" indent="-40640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onsolas" panose="020B0609020204030204" pitchFamily="49" charset="0"/>
              </a:rPr>
              <a:t>function </a:t>
            </a:r>
            <a:r>
              <a:rPr kumimoji="0" lang="en-US" altLang="en-US" sz="2800" b="0" i="0" u="none" strike="noStrike" cap="none" normalizeH="0" baseline="0" dirty="0" err="1">
                <a:ln>
                  <a:noFill/>
                </a:ln>
                <a:solidFill>
                  <a:schemeClr val="tx1"/>
                </a:solidFill>
                <a:effectLst/>
                <a:latin typeface="Consolas" panose="020B0609020204030204" pitchFamily="49" charset="0"/>
              </a:rPr>
              <a:t>demoComponent</a:t>
            </a:r>
            <a:r>
              <a:rPr kumimoji="0" lang="en-US" altLang="en-US" sz="2800" b="0" i="0" u="none" strike="noStrike" cap="none" normalizeH="0" baseline="0" dirty="0">
                <a:ln>
                  <a:noFill/>
                </a:ln>
                <a:solidFill>
                  <a:schemeClr val="tx1"/>
                </a:solidFill>
                <a:effectLst/>
                <a:latin typeface="Consolas" panose="020B0609020204030204" pitchFamily="49" charset="0"/>
              </a:rPr>
              <a:t>() {</a:t>
            </a:r>
            <a:br>
              <a:rPr kumimoji="0" lang="en-US" altLang="en-US" sz="2800" b="0" i="0" u="none" strike="noStrike" cap="none" normalizeH="0" baseline="0" dirty="0">
                <a:ln>
                  <a:noFill/>
                </a:ln>
                <a:solidFill>
                  <a:schemeClr val="tx1"/>
                </a:solidFill>
                <a:effectLst/>
                <a:latin typeface="Consolas" panose="020B0609020204030204" pitchFamily="49" charset="0"/>
              </a:rPr>
            </a:br>
            <a:r>
              <a:rPr kumimoji="0" lang="en-US" altLang="en-US" sz="2800" b="0" i="0" u="none" strike="noStrike" cap="none" normalizeH="0" baseline="0" dirty="0">
                <a:ln>
                  <a:noFill/>
                </a:ln>
                <a:solidFill>
                  <a:schemeClr val="tx1"/>
                </a:solidFill>
                <a:effectLst/>
                <a:latin typeface="Consolas" panose="020B0609020204030204" pitchFamily="49" charset="0"/>
              </a:rPr>
              <a:t>return (&lt;h1&gt;</a:t>
            </a:r>
            <a:br>
              <a:rPr kumimoji="0" lang="en-US" altLang="en-US" sz="2800" b="0" i="0" u="none" strike="noStrike" cap="none" normalizeH="0" baseline="0" dirty="0">
                <a:ln>
                  <a:noFill/>
                </a:ln>
                <a:solidFill>
                  <a:schemeClr val="tx1"/>
                </a:solidFill>
                <a:effectLst/>
                <a:latin typeface="Consolas" panose="020B0609020204030204" pitchFamily="49" charset="0"/>
              </a:rPr>
            </a:br>
            <a:r>
              <a:rPr kumimoji="0" lang="en-US" altLang="en-US" sz="2800" b="0" i="0" u="none" strike="noStrike" cap="none" normalizeH="0" baseline="0" dirty="0">
                <a:ln>
                  <a:noFill/>
                </a:ln>
                <a:solidFill>
                  <a:schemeClr val="tx1"/>
                </a:solidFill>
                <a:effectLst/>
                <a:latin typeface="Consolas" panose="020B0609020204030204" pitchFamily="49" charset="0"/>
              </a:rPr>
              <a:t>Welcome Message!</a:t>
            </a:r>
            <a:br>
              <a:rPr kumimoji="0" lang="en-US" altLang="en-US" sz="2800" b="0" i="0" u="none" strike="noStrike" cap="none" normalizeH="0" baseline="0" dirty="0">
                <a:ln>
                  <a:noFill/>
                </a:ln>
                <a:solidFill>
                  <a:schemeClr val="tx1"/>
                </a:solidFill>
                <a:effectLst/>
                <a:latin typeface="Consolas" panose="020B0609020204030204" pitchFamily="49" charset="0"/>
              </a:rPr>
            </a:br>
            <a:r>
              <a:rPr kumimoji="0" lang="en-US" altLang="en-US" sz="2800" b="0" i="0" u="none" strike="noStrike" cap="none" normalizeH="0" baseline="0" dirty="0">
                <a:ln>
                  <a:noFill/>
                </a:ln>
                <a:solidFill>
                  <a:schemeClr val="tx1"/>
                </a:solidFill>
                <a:effectLst/>
                <a:latin typeface="Consolas" panose="020B0609020204030204" pitchFamily="49" charset="0"/>
              </a:rPr>
              <a:t>&lt;/h1&gt;);</a:t>
            </a:r>
            <a:endParaRPr lang="en-US" altLang="en-US" sz="2800" dirty="0">
              <a:solidFill>
                <a:schemeClr val="tx1"/>
              </a:solidFill>
              <a:latin typeface="Consolas" panose="020B0609020204030204" pitchFamily="49" charset="0"/>
            </a:endParaRPr>
          </a:p>
          <a:p>
            <a:pPr marL="520700" marR="0" lvl="0" indent="-40640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onsolas" panose="020B0609020204030204" pitchFamily="49" charset="0"/>
              </a:rPr>
              <a:t>}</a:t>
            </a:r>
            <a:r>
              <a:rPr kumimoji="0" lang="en-US" altLang="en-US" sz="24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22614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528E5-D964-3B71-AE0C-DD964649952B}"/>
              </a:ext>
            </a:extLst>
          </p:cNvPr>
          <p:cNvSpPr>
            <a:spLocks noGrp="1"/>
          </p:cNvSpPr>
          <p:nvPr>
            <p:ph type="title"/>
          </p:nvPr>
        </p:nvSpPr>
        <p:spPr/>
        <p:txBody>
          <a:bodyPr/>
          <a:lstStyle/>
          <a:p>
            <a:r>
              <a:rPr lang="en-US" dirty="0"/>
              <a:t>Components</a:t>
            </a:r>
          </a:p>
        </p:txBody>
      </p:sp>
      <p:sp>
        <p:nvSpPr>
          <p:cNvPr id="3" name="Text Placeholder 2">
            <a:extLst>
              <a:ext uri="{FF2B5EF4-FFF2-40B4-BE49-F238E27FC236}">
                <a16:creationId xmlns:a16="http://schemas.microsoft.com/office/drawing/2014/main" id="{B93DD3B1-E12A-1712-0112-6AC1172095AC}"/>
              </a:ext>
            </a:extLst>
          </p:cNvPr>
          <p:cNvSpPr>
            <a:spLocks noGrp="1"/>
          </p:cNvSpPr>
          <p:nvPr>
            <p:ph type="body" idx="1"/>
          </p:nvPr>
        </p:nvSpPr>
        <p:spPr/>
        <p:txBody>
          <a:bodyPr/>
          <a:lstStyle/>
          <a:p>
            <a:r>
              <a:rPr lang="en-US" dirty="0"/>
              <a:t>Example: Create a function component called</a:t>
            </a:r>
            <a:r>
              <a:rPr lang="en-US" b="1" dirty="0"/>
              <a:t> welcome</a:t>
            </a:r>
            <a:r>
              <a:rPr lang="en-US" dirty="0"/>
              <a:t>.</a:t>
            </a:r>
          </a:p>
          <a:p>
            <a:endParaRPr lang="en-US" dirty="0"/>
          </a:p>
        </p:txBody>
      </p:sp>
      <p:pic>
        <p:nvPicPr>
          <p:cNvPr id="5" name="Picture 4">
            <a:extLst>
              <a:ext uri="{FF2B5EF4-FFF2-40B4-BE49-F238E27FC236}">
                <a16:creationId xmlns:a16="http://schemas.microsoft.com/office/drawing/2014/main" id="{D54EEFF4-1CBE-BB1F-B880-67A85B898B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2543" y="2298619"/>
            <a:ext cx="7929934" cy="1143053"/>
          </a:xfrm>
          <a:prstGeom prst="rect">
            <a:avLst/>
          </a:prstGeom>
          <a:ln>
            <a:solidFill>
              <a:schemeClr val="tx1"/>
            </a:solidFill>
          </a:ln>
        </p:spPr>
      </p:pic>
    </p:spTree>
    <p:extLst>
      <p:ext uri="{BB962C8B-B14F-4D97-AF65-F5344CB8AC3E}">
        <p14:creationId xmlns:p14="http://schemas.microsoft.com/office/powerpoint/2010/main" val="4009128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D9885-8D16-BF3A-FD50-DA8C25A20B8B}"/>
              </a:ext>
            </a:extLst>
          </p:cNvPr>
          <p:cNvSpPr>
            <a:spLocks noGrp="1"/>
          </p:cNvSpPr>
          <p:nvPr>
            <p:ph type="title"/>
          </p:nvPr>
        </p:nvSpPr>
        <p:spPr/>
        <p:txBody>
          <a:bodyPr/>
          <a:lstStyle/>
          <a:p>
            <a:r>
              <a:rPr lang="en-US" dirty="0"/>
              <a:t>Components</a:t>
            </a:r>
          </a:p>
        </p:txBody>
      </p:sp>
      <p:sp>
        <p:nvSpPr>
          <p:cNvPr id="3" name="Text Placeholder 2">
            <a:extLst>
              <a:ext uri="{FF2B5EF4-FFF2-40B4-BE49-F238E27FC236}">
                <a16:creationId xmlns:a16="http://schemas.microsoft.com/office/drawing/2014/main" id="{FD04C6D8-D91B-D61C-527E-CB260A95AC0C}"/>
              </a:ext>
            </a:extLst>
          </p:cNvPr>
          <p:cNvSpPr>
            <a:spLocks noGrp="1"/>
          </p:cNvSpPr>
          <p:nvPr>
            <p:ph type="body" idx="1"/>
          </p:nvPr>
        </p:nvSpPr>
        <p:spPr/>
        <p:txBody>
          <a:bodyPr/>
          <a:lstStyle/>
          <a:p>
            <a:r>
              <a:rPr lang="en-US" dirty="0"/>
              <a:t>Example: </a:t>
            </a:r>
            <a:r>
              <a:rPr lang="en-US" dirty="0" err="1"/>
              <a:t>tạo</a:t>
            </a:r>
            <a:r>
              <a:rPr lang="en-US" dirty="0"/>
              <a:t> </a:t>
            </a:r>
            <a:r>
              <a:rPr lang="en-US" dirty="0" err="1"/>
              <a:t>một</a:t>
            </a:r>
            <a:r>
              <a:rPr lang="en-US" dirty="0"/>
              <a:t> </a:t>
            </a:r>
            <a:r>
              <a:rPr lang="en-US" dirty="0" err="1"/>
              <a:t>ứng</a:t>
            </a:r>
            <a:r>
              <a:rPr lang="en-US" dirty="0"/>
              <a:t> </a:t>
            </a:r>
            <a:r>
              <a:rPr lang="en-US" dirty="0" err="1"/>
              <a:t>dụng</a:t>
            </a:r>
            <a:r>
              <a:rPr lang="en-US" dirty="0"/>
              <a:t> Counter App, </a:t>
            </a:r>
            <a:r>
              <a:rPr lang="en-US" dirty="0" err="1"/>
              <a:t>sử</a:t>
            </a:r>
            <a:r>
              <a:rPr lang="en-US" dirty="0"/>
              <a:t> </a:t>
            </a:r>
            <a:r>
              <a:rPr lang="en-US" dirty="0" err="1"/>
              <a:t>dụng</a:t>
            </a:r>
            <a:r>
              <a:rPr lang="en-US" dirty="0"/>
              <a:t> function component</a:t>
            </a:r>
          </a:p>
        </p:txBody>
      </p:sp>
      <p:pic>
        <p:nvPicPr>
          <p:cNvPr id="5" name="Picture 4">
            <a:extLst>
              <a:ext uri="{FF2B5EF4-FFF2-40B4-BE49-F238E27FC236}">
                <a16:creationId xmlns:a16="http://schemas.microsoft.com/office/drawing/2014/main" id="{EC3F67E7-19E0-5A01-2961-E0D737BCD9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6502" y="2857928"/>
            <a:ext cx="3575234" cy="25909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13995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4769F-8BAC-7D04-87BA-A31EFAD92F3C}"/>
              </a:ext>
            </a:extLst>
          </p:cNvPr>
          <p:cNvSpPr>
            <a:spLocks noGrp="1"/>
          </p:cNvSpPr>
          <p:nvPr>
            <p:ph type="title"/>
          </p:nvPr>
        </p:nvSpPr>
        <p:spPr>
          <a:xfrm>
            <a:off x="1104900" y="76200"/>
            <a:ext cx="9980682" cy="1096962"/>
          </a:xfrm>
        </p:spPr>
        <p:txBody>
          <a:bodyPr/>
          <a:lstStyle/>
          <a:p>
            <a:r>
              <a:rPr lang="en-US" dirty="0"/>
              <a:t>Components</a:t>
            </a:r>
          </a:p>
        </p:txBody>
      </p:sp>
      <p:sp>
        <p:nvSpPr>
          <p:cNvPr id="3" name="Text Placeholder 2">
            <a:extLst>
              <a:ext uri="{FF2B5EF4-FFF2-40B4-BE49-F238E27FC236}">
                <a16:creationId xmlns:a16="http://schemas.microsoft.com/office/drawing/2014/main" id="{D0B23B06-7C4E-CC87-7992-F17DFAC09B0D}"/>
              </a:ext>
            </a:extLst>
          </p:cNvPr>
          <p:cNvSpPr>
            <a:spLocks noGrp="1"/>
          </p:cNvSpPr>
          <p:nvPr>
            <p:ph type="body" idx="1"/>
          </p:nvPr>
        </p:nvSpPr>
        <p:spPr>
          <a:xfrm>
            <a:off x="1104900" y="1600200"/>
            <a:ext cx="10172700" cy="4572000"/>
          </a:xfrm>
        </p:spPr>
        <p:txBody>
          <a:bodyPr/>
          <a:lstStyle/>
          <a:p>
            <a:r>
              <a:rPr lang="en-US" b="1" dirty="0">
                <a:solidFill>
                  <a:srgbClr val="FF0000"/>
                </a:solidFill>
              </a:rPr>
              <a:t>Class Component in React</a:t>
            </a:r>
          </a:p>
          <a:p>
            <a:pPr lvl="1"/>
            <a:r>
              <a:rPr lang="en-US" b="1" dirty="0"/>
              <a:t>The class components </a:t>
            </a:r>
            <a:r>
              <a:rPr lang="en-US" dirty="0"/>
              <a:t>are a little more complex than the functional components. A class component can show inheritance and access data of other components.</a:t>
            </a:r>
          </a:p>
          <a:p>
            <a:pPr lvl="1"/>
            <a:r>
              <a:rPr lang="en-US" dirty="0"/>
              <a:t>Class Component must include the line “extends </a:t>
            </a:r>
            <a:r>
              <a:rPr lang="en-US" b="1" i="1" dirty="0" err="1"/>
              <a:t>React.Component</a:t>
            </a:r>
            <a:r>
              <a:rPr lang="en-US" dirty="0"/>
              <a:t>” to pass data from one class component to another class component.</a:t>
            </a:r>
          </a:p>
          <a:p>
            <a:r>
              <a:rPr lang="en-US" dirty="0"/>
              <a:t>Syntax:  </a:t>
            </a:r>
          </a:p>
        </p:txBody>
      </p:sp>
      <p:sp>
        <p:nvSpPr>
          <p:cNvPr id="4" name="Rectangle 1">
            <a:extLst>
              <a:ext uri="{FF2B5EF4-FFF2-40B4-BE49-F238E27FC236}">
                <a16:creationId xmlns:a16="http://schemas.microsoft.com/office/drawing/2014/main" id="{7F27868C-24B5-34BB-8099-5F28BA9246C6}"/>
              </a:ext>
            </a:extLst>
          </p:cNvPr>
          <p:cNvSpPr>
            <a:spLocks noChangeArrowheads="1"/>
          </p:cNvSpPr>
          <p:nvPr/>
        </p:nvSpPr>
        <p:spPr bwMode="auto">
          <a:xfrm>
            <a:off x="2928752" y="4565641"/>
            <a:ext cx="7735290" cy="1936399"/>
          </a:xfrm>
          <a:prstGeom prst="rect">
            <a:avLst/>
          </a:prstGeom>
          <a:ln>
            <a:solidFill>
              <a:schemeClr val="accent1">
                <a:lumMod val="40000"/>
                <a:lumOff val="60000"/>
              </a:schemeClr>
            </a:solidFill>
          </a:ln>
        </p:spPr>
        <p:style>
          <a:lnRef idx="2">
            <a:schemeClr val="accent2"/>
          </a:lnRef>
          <a:fillRef idx="1">
            <a:schemeClr val="lt1"/>
          </a:fillRef>
          <a:effectRef idx="0">
            <a:schemeClr val="accent2"/>
          </a:effectRef>
          <a:fontRef idx="minor">
            <a:schemeClr val="dk1"/>
          </a:fontRef>
        </p:style>
        <p:txBody>
          <a:bodyPr vert="horz" wrap="square" lIns="0" tIns="0" rIns="0" bIns="88872" numCol="1" anchor="ctr" anchorCtr="0" compatLnSpc="1">
            <a:prstTxWarp prst="textNoShape">
              <a:avLst/>
            </a:prstTxWarp>
            <a:spAutoFit/>
          </a:bodyPr>
          <a:lstStyle/>
          <a:p>
            <a:pPr marL="63500" marR="0" lvl="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olas" panose="020B0609020204030204" pitchFamily="49" charset="0"/>
              </a:rPr>
              <a:t>class </a:t>
            </a:r>
            <a:r>
              <a:rPr kumimoji="0" lang="en-US" altLang="en-US" sz="2400" b="0" i="0" u="none" strike="noStrike" cap="none" normalizeH="0" baseline="0" dirty="0" err="1">
                <a:ln>
                  <a:noFill/>
                </a:ln>
                <a:solidFill>
                  <a:schemeClr val="tx1"/>
                </a:solidFill>
                <a:effectLst/>
                <a:latin typeface="Consolas" panose="020B0609020204030204" pitchFamily="49" charset="0"/>
              </a:rPr>
              <a:t>Democomponent</a:t>
            </a:r>
            <a:r>
              <a:rPr kumimoji="0" lang="en-US" altLang="en-US" sz="2400" b="0" i="0" u="none" strike="noStrike" cap="none" normalizeH="0" baseline="0" dirty="0">
                <a:ln>
                  <a:noFill/>
                </a:ln>
                <a:solidFill>
                  <a:schemeClr val="tx1"/>
                </a:solidFill>
                <a:effectLst/>
                <a:latin typeface="Consolas" panose="020B0609020204030204" pitchFamily="49" charset="0"/>
              </a:rPr>
              <a:t> </a:t>
            </a:r>
            <a:r>
              <a:rPr kumimoji="0" lang="en-US" altLang="en-US" sz="2400" b="1" i="0" u="none" strike="noStrike" cap="none" normalizeH="0" baseline="0" dirty="0">
                <a:ln>
                  <a:noFill/>
                </a:ln>
                <a:solidFill>
                  <a:schemeClr val="tx1"/>
                </a:solidFill>
                <a:effectLst/>
                <a:latin typeface="Consolas" panose="020B0609020204030204" pitchFamily="49" charset="0"/>
              </a:rPr>
              <a:t>extends</a:t>
            </a:r>
            <a:r>
              <a:rPr kumimoji="0" lang="en-US" altLang="en-US" sz="2400" b="0" i="0" u="none" strike="noStrike" cap="none" normalizeH="0" baseline="0" dirty="0">
                <a:ln>
                  <a:noFill/>
                </a:ln>
                <a:solidFill>
                  <a:schemeClr val="tx1"/>
                </a:solidFill>
                <a:effectLst/>
                <a:latin typeface="Consolas" panose="020B0609020204030204" pitchFamily="49" charset="0"/>
              </a:rPr>
              <a:t> </a:t>
            </a:r>
            <a:r>
              <a:rPr kumimoji="0" lang="en-US" altLang="en-US" sz="2400" b="0" i="0" u="none" strike="noStrike" cap="none" normalizeH="0" baseline="0" dirty="0" err="1">
                <a:ln>
                  <a:noFill/>
                </a:ln>
                <a:solidFill>
                  <a:schemeClr val="tx1"/>
                </a:solidFill>
                <a:effectLst/>
                <a:latin typeface="Consolas" panose="020B0609020204030204" pitchFamily="49" charset="0"/>
              </a:rPr>
              <a:t>React.Component</a:t>
            </a:r>
            <a:r>
              <a:rPr kumimoji="0" lang="en-US" altLang="en-US" sz="2400" b="0" i="0" u="none" strike="noStrike" cap="none" normalizeH="0" baseline="0" dirty="0">
                <a:ln>
                  <a:noFill/>
                </a:ln>
                <a:solidFill>
                  <a:schemeClr val="tx1"/>
                </a:solidFill>
                <a:effectLst/>
                <a:latin typeface="Consolas" panose="020B0609020204030204" pitchFamily="49" charset="0"/>
              </a:rPr>
              <a:t> {</a:t>
            </a:r>
            <a:br>
              <a:rPr kumimoji="0" lang="en-US" altLang="en-US" sz="2400" b="0" i="0" u="none" strike="noStrike" cap="none" normalizeH="0" baseline="0" dirty="0">
                <a:ln>
                  <a:noFill/>
                </a:ln>
                <a:solidFill>
                  <a:schemeClr val="tx1"/>
                </a:solidFill>
                <a:effectLst/>
                <a:latin typeface="Consolas" panose="020B0609020204030204" pitchFamily="49" charset="0"/>
              </a:rPr>
            </a:br>
            <a:r>
              <a:rPr kumimoji="0" lang="en-US" altLang="en-US" sz="2400" b="0" i="0" u="none" strike="noStrike" cap="none" normalizeH="0" baseline="0" dirty="0">
                <a:ln>
                  <a:noFill/>
                </a:ln>
                <a:solidFill>
                  <a:schemeClr val="tx1"/>
                </a:solidFill>
                <a:effectLst/>
                <a:latin typeface="Consolas" panose="020B0609020204030204" pitchFamily="49" charset="0"/>
              </a:rPr>
              <a:t>    </a:t>
            </a:r>
            <a:r>
              <a:rPr kumimoji="0" lang="en-US" altLang="en-US" sz="2400" b="1" i="0" u="none" strike="noStrike" cap="none" normalizeH="0" baseline="0" dirty="0">
                <a:ln>
                  <a:noFill/>
                </a:ln>
                <a:solidFill>
                  <a:schemeClr val="tx1"/>
                </a:solidFill>
                <a:effectLst/>
                <a:latin typeface="Consolas" panose="020B0609020204030204" pitchFamily="49" charset="0"/>
              </a:rPr>
              <a:t>render</a:t>
            </a:r>
            <a:r>
              <a:rPr kumimoji="0" lang="en-US" altLang="en-US" sz="2400" b="0" i="0" u="none" strike="noStrike" cap="none" normalizeH="0" baseline="0" dirty="0">
                <a:ln>
                  <a:noFill/>
                </a:ln>
                <a:solidFill>
                  <a:schemeClr val="tx1"/>
                </a:solidFill>
                <a:effectLst/>
                <a:latin typeface="Consolas" panose="020B0609020204030204" pitchFamily="49" charset="0"/>
              </a:rPr>
              <a:t>() {</a:t>
            </a:r>
            <a:br>
              <a:rPr kumimoji="0" lang="en-US" altLang="en-US" sz="2400" b="0" i="0" u="none" strike="noStrike" cap="none" normalizeH="0" baseline="0" dirty="0">
                <a:ln>
                  <a:noFill/>
                </a:ln>
                <a:solidFill>
                  <a:schemeClr val="tx1"/>
                </a:solidFill>
                <a:effectLst/>
                <a:latin typeface="Consolas" panose="020B0609020204030204" pitchFamily="49" charset="0"/>
              </a:rPr>
            </a:br>
            <a:r>
              <a:rPr kumimoji="0" lang="en-US" altLang="en-US" sz="2400" b="0" i="0" u="none" strike="noStrike" cap="none" normalizeH="0" baseline="0" dirty="0">
                <a:ln>
                  <a:noFill/>
                </a:ln>
                <a:solidFill>
                  <a:schemeClr val="tx1"/>
                </a:solidFill>
                <a:effectLst/>
                <a:latin typeface="Consolas" panose="020B0609020204030204" pitchFamily="49" charset="0"/>
              </a:rPr>
              <a:t>    return &lt;h1&gt;Welcome Message!&lt;/h1&gt;;</a:t>
            </a:r>
            <a:br>
              <a:rPr kumimoji="0" lang="en-US" altLang="en-US" sz="2400" b="0" i="0" u="none" strike="noStrike" cap="none" normalizeH="0" baseline="0" dirty="0">
                <a:ln>
                  <a:noFill/>
                </a:ln>
                <a:solidFill>
                  <a:schemeClr val="tx1"/>
                </a:solidFill>
                <a:effectLst/>
                <a:latin typeface="Consolas" panose="020B0609020204030204" pitchFamily="49" charset="0"/>
              </a:rPr>
            </a:br>
            <a:r>
              <a:rPr kumimoji="0" lang="en-US" altLang="en-US" sz="2400" b="0" i="0" u="none" strike="noStrike" cap="none" normalizeH="0" baseline="0" dirty="0">
                <a:ln>
                  <a:noFill/>
                </a:ln>
                <a:solidFill>
                  <a:schemeClr val="tx1"/>
                </a:solidFill>
                <a:effectLst/>
                <a:latin typeface="Consolas" panose="020B0609020204030204" pitchFamily="49" charset="0"/>
              </a:rPr>
              <a:t>    }</a:t>
            </a:r>
            <a:br>
              <a:rPr kumimoji="0" lang="en-US" altLang="en-US" sz="2400" b="0" i="0" u="none" strike="noStrike" cap="none" normalizeH="0" baseline="0" dirty="0">
                <a:ln>
                  <a:noFill/>
                </a:ln>
                <a:solidFill>
                  <a:schemeClr val="tx1"/>
                </a:solidFill>
                <a:effectLst/>
                <a:latin typeface="Consolas" panose="020B0609020204030204" pitchFamily="49" charset="0"/>
              </a:rPr>
            </a:br>
            <a:r>
              <a:rPr kumimoji="0" lang="en-US" altLang="en-US" sz="2400" b="0" i="0" u="none" strike="noStrike" cap="none" normalizeH="0" baseline="0" dirty="0">
                <a:ln>
                  <a:noFill/>
                </a:ln>
                <a:solidFill>
                  <a:schemeClr val="tx1"/>
                </a:solidFill>
                <a:effectLst/>
                <a:latin typeface="Consolas" panose="020B0609020204030204" pitchFamily="49" charset="0"/>
              </a:rPr>
              <a:t>}</a:t>
            </a:r>
            <a:r>
              <a:rPr kumimoji="0" lang="en-US" altLang="en-US" sz="200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47634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5C6D7-0663-D1B7-4B52-ABFEDEABA6C0}"/>
              </a:ext>
            </a:extLst>
          </p:cNvPr>
          <p:cNvSpPr>
            <a:spLocks noGrp="1"/>
          </p:cNvSpPr>
          <p:nvPr>
            <p:ph type="title"/>
          </p:nvPr>
        </p:nvSpPr>
        <p:spPr/>
        <p:txBody>
          <a:bodyPr/>
          <a:lstStyle/>
          <a:p>
            <a:r>
              <a:rPr lang="en-US" dirty="0"/>
              <a:t>Components</a:t>
            </a:r>
          </a:p>
        </p:txBody>
      </p:sp>
      <p:sp>
        <p:nvSpPr>
          <p:cNvPr id="3" name="Text Placeholder 2">
            <a:extLst>
              <a:ext uri="{FF2B5EF4-FFF2-40B4-BE49-F238E27FC236}">
                <a16:creationId xmlns:a16="http://schemas.microsoft.com/office/drawing/2014/main" id="{53DD8420-3AD4-C3E7-733E-51A8BA096DE3}"/>
              </a:ext>
            </a:extLst>
          </p:cNvPr>
          <p:cNvSpPr>
            <a:spLocks noGrp="1"/>
          </p:cNvSpPr>
          <p:nvPr>
            <p:ph type="body" idx="1"/>
          </p:nvPr>
        </p:nvSpPr>
        <p:spPr/>
        <p:txBody>
          <a:bodyPr/>
          <a:lstStyle/>
          <a:p>
            <a:r>
              <a:rPr lang="en-US" b="1" i="0" dirty="0">
                <a:solidFill>
                  <a:srgbClr val="273239"/>
                </a:solidFill>
                <a:effectLst/>
                <a:latin typeface="Nunito" pitchFamily="2" charset="0"/>
              </a:rPr>
              <a:t>Example</a:t>
            </a:r>
            <a:endParaRPr lang="en-US" dirty="0"/>
          </a:p>
        </p:txBody>
      </p:sp>
      <p:pic>
        <p:nvPicPr>
          <p:cNvPr id="5" name="Picture 4">
            <a:extLst>
              <a:ext uri="{FF2B5EF4-FFF2-40B4-BE49-F238E27FC236}">
                <a16:creationId xmlns:a16="http://schemas.microsoft.com/office/drawing/2014/main" id="{2B427F29-B407-1A00-941A-F051BD0DA7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6819" y="2120901"/>
            <a:ext cx="7378362" cy="15939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01231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41025-F312-0579-5D41-46E360C623D8}"/>
              </a:ext>
            </a:extLst>
          </p:cNvPr>
          <p:cNvSpPr>
            <a:spLocks noGrp="1"/>
          </p:cNvSpPr>
          <p:nvPr>
            <p:ph type="title"/>
          </p:nvPr>
        </p:nvSpPr>
        <p:spPr/>
        <p:txBody>
          <a:bodyPr/>
          <a:lstStyle/>
          <a:p>
            <a:r>
              <a:rPr lang="en-US" dirty="0"/>
              <a:t>Components</a:t>
            </a:r>
          </a:p>
        </p:txBody>
      </p:sp>
      <p:sp>
        <p:nvSpPr>
          <p:cNvPr id="3" name="Text Placeholder 2">
            <a:extLst>
              <a:ext uri="{FF2B5EF4-FFF2-40B4-BE49-F238E27FC236}">
                <a16:creationId xmlns:a16="http://schemas.microsoft.com/office/drawing/2014/main" id="{8F7509CE-9686-96AE-214D-6FA37EFBDB62}"/>
              </a:ext>
            </a:extLst>
          </p:cNvPr>
          <p:cNvSpPr>
            <a:spLocks noGrp="1"/>
          </p:cNvSpPr>
          <p:nvPr>
            <p:ph type="body" idx="1"/>
          </p:nvPr>
        </p:nvSpPr>
        <p:spPr>
          <a:xfrm>
            <a:off x="1104900" y="1600200"/>
            <a:ext cx="10188534" cy="4572000"/>
          </a:xfrm>
        </p:spPr>
        <p:txBody>
          <a:bodyPr/>
          <a:lstStyle/>
          <a:p>
            <a:r>
              <a:rPr lang="en-US" dirty="0"/>
              <a:t>Example: </a:t>
            </a:r>
            <a:r>
              <a:rPr lang="en-US" dirty="0" err="1"/>
              <a:t>Xây</a:t>
            </a:r>
            <a:r>
              <a:rPr lang="en-US" dirty="0"/>
              <a:t> </a:t>
            </a:r>
            <a:r>
              <a:rPr lang="en-US" dirty="0" err="1"/>
              <a:t>dựng</a:t>
            </a:r>
            <a:r>
              <a:rPr lang="en-US" dirty="0"/>
              <a:t> </a:t>
            </a:r>
            <a:r>
              <a:rPr lang="en-US" dirty="0" err="1"/>
              <a:t>một</a:t>
            </a:r>
            <a:r>
              <a:rPr lang="en-US" dirty="0"/>
              <a:t> Timer App, </a:t>
            </a:r>
            <a:r>
              <a:rPr lang="en-US" dirty="0" err="1"/>
              <a:t>sử</a:t>
            </a:r>
            <a:r>
              <a:rPr lang="en-US" dirty="0"/>
              <a:t> </a:t>
            </a:r>
            <a:r>
              <a:rPr lang="en-US" dirty="0" err="1"/>
              <a:t>dụng</a:t>
            </a:r>
            <a:r>
              <a:rPr lang="en-US" dirty="0"/>
              <a:t> class component</a:t>
            </a:r>
          </a:p>
        </p:txBody>
      </p:sp>
      <p:pic>
        <p:nvPicPr>
          <p:cNvPr id="5" name="Picture 4">
            <a:extLst>
              <a:ext uri="{FF2B5EF4-FFF2-40B4-BE49-F238E27FC236}">
                <a16:creationId xmlns:a16="http://schemas.microsoft.com/office/drawing/2014/main" id="{7673DC0E-F84E-77D8-4678-AB0B1D82C4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547" y="2606128"/>
            <a:ext cx="3575015" cy="2225057"/>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64687977-BE52-0C6D-A63B-484C5E3B40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6202" y="2531907"/>
            <a:ext cx="3142810" cy="22250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51117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58838-7E8F-8E97-62C6-29A4FAB73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3313F-F50D-4819-C2B6-E3E548AC45FF}"/>
              </a:ext>
            </a:extLst>
          </p:cNvPr>
          <p:cNvSpPr>
            <a:spLocks noGrp="1"/>
          </p:cNvSpPr>
          <p:nvPr>
            <p:ph type="title"/>
          </p:nvPr>
        </p:nvSpPr>
        <p:spPr/>
        <p:txBody>
          <a:bodyPr/>
          <a:lstStyle/>
          <a:p>
            <a:r>
              <a:rPr lang="en-US" dirty="0"/>
              <a:t>Components</a:t>
            </a:r>
          </a:p>
        </p:txBody>
      </p:sp>
      <p:sp>
        <p:nvSpPr>
          <p:cNvPr id="3" name="Text Placeholder 2">
            <a:extLst>
              <a:ext uri="{FF2B5EF4-FFF2-40B4-BE49-F238E27FC236}">
                <a16:creationId xmlns:a16="http://schemas.microsoft.com/office/drawing/2014/main" id="{C1038C49-D229-E5DB-C816-F7D5AAD1036A}"/>
              </a:ext>
            </a:extLst>
          </p:cNvPr>
          <p:cNvSpPr>
            <a:spLocks noGrp="1"/>
          </p:cNvSpPr>
          <p:nvPr>
            <p:ph type="body" idx="1"/>
          </p:nvPr>
        </p:nvSpPr>
        <p:spPr/>
        <p:txBody>
          <a:bodyPr/>
          <a:lstStyle/>
          <a:p>
            <a:r>
              <a:rPr lang="en-US" b="1" dirty="0">
                <a:solidFill>
                  <a:srgbClr val="FF0000"/>
                </a:solidFill>
              </a:rPr>
              <a:t>Functional Component vs Class Component:</a:t>
            </a:r>
          </a:p>
          <a:p>
            <a:pPr lvl="1"/>
            <a:r>
              <a:rPr lang="en-US" b="1" dirty="0"/>
              <a:t>A functional component </a:t>
            </a:r>
            <a:r>
              <a:rPr lang="en-US" dirty="0"/>
              <a:t>is best suited for cases where the component doesn’t need to interact with other components or manage complex states. Functional components are ideal for presenting static UI elements or composing multiple simple components together under a single parent component.</a:t>
            </a:r>
          </a:p>
          <a:p>
            <a:pPr lvl="1"/>
            <a:r>
              <a:rPr lang="en-US" b="1" dirty="0"/>
              <a:t>Class-based components </a:t>
            </a:r>
            <a:r>
              <a:rPr lang="en-US" dirty="0"/>
              <a:t>can achieve the same result, they are generally less efficient compared to functional components. Therefore, it’s recommended to not use class components for general use.</a:t>
            </a:r>
          </a:p>
        </p:txBody>
      </p:sp>
    </p:spTree>
    <p:extLst>
      <p:ext uri="{BB962C8B-B14F-4D97-AF65-F5344CB8AC3E}">
        <p14:creationId xmlns:p14="http://schemas.microsoft.com/office/powerpoint/2010/main" val="2124364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A2BF0-6523-AAE2-ECA0-6317AEEDA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D1C0AE-ED4D-4E99-6412-513CECBE252C}"/>
              </a:ext>
            </a:extLst>
          </p:cNvPr>
          <p:cNvSpPr>
            <a:spLocks noGrp="1"/>
          </p:cNvSpPr>
          <p:nvPr>
            <p:ph type="title"/>
          </p:nvPr>
        </p:nvSpPr>
        <p:spPr/>
        <p:txBody>
          <a:bodyPr/>
          <a:lstStyle/>
          <a:p>
            <a:r>
              <a:rPr lang="en-US" dirty="0"/>
              <a:t>Rendering React Components</a:t>
            </a:r>
          </a:p>
        </p:txBody>
      </p:sp>
      <p:sp>
        <p:nvSpPr>
          <p:cNvPr id="3" name="Text Placeholder 2">
            <a:extLst>
              <a:ext uri="{FF2B5EF4-FFF2-40B4-BE49-F238E27FC236}">
                <a16:creationId xmlns:a16="http://schemas.microsoft.com/office/drawing/2014/main" id="{E523DBE5-D687-B732-E50F-0A224A7715CE}"/>
              </a:ext>
            </a:extLst>
          </p:cNvPr>
          <p:cNvSpPr>
            <a:spLocks noGrp="1"/>
          </p:cNvSpPr>
          <p:nvPr>
            <p:ph type="body" idx="1"/>
          </p:nvPr>
        </p:nvSpPr>
        <p:spPr/>
        <p:txBody>
          <a:bodyPr>
            <a:normAutofit/>
          </a:bodyPr>
          <a:lstStyle/>
          <a:p>
            <a:r>
              <a:rPr lang="en-US" b="1" dirty="0">
                <a:solidFill>
                  <a:srgbClr val="FF0000"/>
                </a:solidFill>
              </a:rPr>
              <a:t>Rendering Components </a:t>
            </a:r>
            <a:r>
              <a:rPr lang="en-US" dirty="0"/>
              <a:t>means turning your component code into the UI that users see on the screen.</a:t>
            </a:r>
          </a:p>
          <a:p>
            <a:pPr lvl="1"/>
            <a:r>
              <a:rPr lang="en-US" b="1" dirty="0"/>
              <a:t>React</a:t>
            </a:r>
            <a:r>
              <a:rPr lang="en-US" dirty="0"/>
              <a:t> is capable of rendering user-defined components. </a:t>
            </a:r>
          </a:p>
          <a:p>
            <a:pPr lvl="1"/>
            <a:r>
              <a:rPr lang="en-US" dirty="0"/>
              <a:t>To render a component in React we can initialize an element with a </a:t>
            </a:r>
            <a:r>
              <a:rPr lang="en-US" b="1" dirty="0"/>
              <a:t>user-defined component </a:t>
            </a:r>
            <a:r>
              <a:rPr lang="en-US" dirty="0"/>
              <a:t>and pass this element as the first parameter to </a:t>
            </a:r>
            <a:r>
              <a:rPr lang="en-US" b="1" i="1" dirty="0" err="1"/>
              <a:t>ReactDOM.render</a:t>
            </a:r>
            <a:r>
              <a:rPr lang="en-US" b="1" i="1" dirty="0"/>
              <a:t>() </a:t>
            </a:r>
            <a:r>
              <a:rPr lang="en-US" dirty="0"/>
              <a:t>or directly pass the component as the first argument to the </a:t>
            </a:r>
            <a:r>
              <a:rPr lang="en-US" b="1" i="1" dirty="0" err="1"/>
              <a:t>ReactDOM.render</a:t>
            </a:r>
            <a:r>
              <a:rPr lang="en-US" b="1" i="1" dirty="0"/>
              <a:t>() </a:t>
            </a:r>
            <a:r>
              <a:rPr lang="en-US" dirty="0"/>
              <a:t>method. </a:t>
            </a:r>
          </a:p>
          <a:p>
            <a:r>
              <a:rPr lang="en-US" dirty="0"/>
              <a:t>Syntax:</a:t>
            </a:r>
          </a:p>
          <a:p>
            <a:pPr lvl="1"/>
            <a:r>
              <a:rPr lang="en-US" i="1" dirty="0"/>
              <a:t>The </a:t>
            </a:r>
            <a:r>
              <a:rPr lang="en-US" i="1" dirty="0" err="1"/>
              <a:t>componentname</a:t>
            </a:r>
            <a:r>
              <a:rPr lang="en-US" i="1" dirty="0"/>
              <a:t> is the name of the user-defined component</a:t>
            </a:r>
          </a:p>
        </p:txBody>
      </p:sp>
      <p:sp>
        <p:nvSpPr>
          <p:cNvPr id="4" name="Rectangle 1">
            <a:extLst>
              <a:ext uri="{FF2B5EF4-FFF2-40B4-BE49-F238E27FC236}">
                <a16:creationId xmlns:a16="http://schemas.microsoft.com/office/drawing/2014/main" id="{BA3C80A6-FF3F-B1F7-5FF6-DDDFB032B7AE}"/>
              </a:ext>
            </a:extLst>
          </p:cNvPr>
          <p:cNvSpPr>
            <a:spLocks noChangeArrowheads="1"/>
          </p:cNvSpPr>
          <p:nvPr/>
        </p:nvSpPr>
        <p:spPr bwMode="auto">
          <a:xfrm>
            <a:off x="2793241" y="4781036"/>
            <a:ext cx="6604000" cy="369332"/>
          </a:xfrm>
          <a:prstGeom prst="rect">
            <a:avLst/>
          </a:prstGeom>
          <a:noFill/>
          <a:ln>
            <a:solidFill>
              <a:schemeClr val="accent1">
                <a:lumMod val="40000"/>
                <a:lumOff val="60000"/>
              </a:schemeClr>
            </a:solidFill>
          </a:ln>
          <a:effectLst/>
        </p:spPr>
        <p:txBody>
          <a:bodyPr vert="horz" wrap="square" lIns="0" tIns="0" rIns="0" bIns="0" numCol="1" anchor="ctr" anchorCtr="0" compatLnSpc="1">
            <a:prstTxWarp prst="textNoShape">
              <a:avLst/>
            </a:prstTxWarp>
            <a:spAutoFit/>
          </a:bodyPr>
          <a:lstStyle/>
          <a:p>
            <a:pPr marL="177800" marR="0" lvl="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C00000"/>
                </a:solidFill>
                <a:effectLst/>
                <a:latin typeface="Consolas" panose="020B0609020204030204" pitchFamily="49" charset="0"/>
              </a:rPr>
              <a:t>const </a:t>
            </a:r>
            <a:r>
              <a:rPr kumimoji="0" lang="en-US" altLang="en-US" sz="2400" b="1" i="0" u="none" strike="noStrike" cap="none" normalizeH="0" baseline="0" dirty="0" err="1">
                <a:ln>
                  <a:noFill/>
                </a:ln>
                <a:solidFill>
                  <a:srgbClr val="C00000"/>
                </a:solidFill>
                <a:effectLst/>
                <a:latin typeface="Consolas" panose="020B0609020204030204" pitchFamily="49" charset="0"/>
              </a:rPr>
              <a:t>elementName</a:t>
            </a:r>
            <a:r>
              <a:rPr kumimoji="0" lang="en-US" altLang="en-US" sz="2400" b="1" i="0" u="none" strike="noStrike" cap="none" normalizeH="0" baseline="0" dirty="0">
                <a:ln>
                  <a:noFill/>
                </a:ln>
                <a:solidFill>
                  <a:srgbClr val="C00000"/>
                </a:solidFill>
                <a:effectLst/>
                <a:latin typeface="Consolas" panose="020B0609020204030204" pitchFamily="49" charset="0"/>
              </a:rPr>
              <a:t> = &lt;</a:t>
            </a:r>
            <a:r>
              <a:rPr kumimoji="0" lang="en-US" altLang="en-US" sz="2400" b="1" i="0" u="none" strike="noStrike" cap="none" normalizeH="0" baseline="0" dirty="0" err="1">
                <a:ln>
                  <a:noFill/>
                </a:ln>
                <a:solidFill>
                  <a:srgbClr val="C00000"/>
                </a:solidFill>
                <a:effectLst/>
                <a:latin typeface="Consolas" panose="020B0609020204030204" pitchFamily="49" charset="0"/>
              </a:rPr>
              <a:t>ComponentName</a:t>
            </a:r>
            <a:r>
              <a:rPr kumimoji="0" lang="en-US" altLang="en-US" sz="2400" b="1" i="0" u="none" strike="noStrike" cap="none" normalizeH="0" baseline="0" dirty="0">
                <a:ln>
                  <a:noFill/>
                </a:ln>
                <a:solidFill>
                  <a:srgbClr val="C00000"/>
                </a:solidFill>
                <a:effectLst/>
                <a:latin typeface="Consolas" panose="020B0609020204030204" pitchFamily="49" charset="0"/>
              </a:rPr>
              <a:t> /&gt;;</a:t>
            </a:r>
            <a:r>
              <a:rPr kumimoji="0" lang="en-US" altLang="en-US" sz="2400" b="0" i="0" u="none" strike="noStrike" cap="none" normalizeH="0" baseline="0" dirty="0">
                <a:ln>
                  <a:noFill/>
                </a:ln>
                <a:solidFill>
                  <a:srgbClr val="C00000"/>
                </a:solidFill>
                <a:effectLst/>
              </a:rPr>
              <a:t> </a:t>
            </a:r>
            <a:endParaRPr kumimoji="0" lang="en-US" altLang="en-US" sz="2400" b="0" i="0" u="none" strike="noStrike" cap="none" normalizeH="0" baseline="0" dirty="0">
              <a:ln>
                <a:noFill/>
              </a:ln>
              <a:solidFill>
                <a:srgbClr val="C00000"/>
              </a:solidFill>
              <a:effectLst/>
              <a:latin typeface="Arial" panose="020B0604020202020204" pitchFamily="34" charset="0"/>
            </a:endParaRPr>
          </a:p>
        </p:txBody>
      </p:sp>
    </p:spTree>
    <p:extLst>
      <p:ext uri="{BB962C8B-B14F-4D97-AF65-F5344CB8AC3E}">
        <p14:creationId xmlns:p14="http://schemas.microsoft.com/office/powerpoint/2010/main" val="3423188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8C4D2-F6C9-A58C-D741-07A22B4DAE69}"/>
              </a:ext>
            </a:extLst>
          </p:cNvPr>
          <p:cNvSpPr>
            <a:spLocks noGrp="1"/>
          </p:cNvSpPr>
          <p:nvPr>
            <p:ph type="title"/>
          </p:nvPr>
        </p:nvSpPr>
        <p:spPr/>
        <p:txBody>
          <a:bodyPr/>
          <a:lstStyle/>
          <a:p>
            <a:r>
              <a:rPr lang="en-US" dirty="0"/>
              <a:t>Rendering React Components</a:t>
            </a:r>
          </a:p>
        </p:txBody>
      </p:sp>
      <p:sp>
        <p:nvSpPr>
          <p:cNvPr id="3" name="Text Placeholder 2">
            <a:extLst>
              <a:ext uri="{FF2B5EF4-FFF2-40B4-BE49-F238E27FC236}">
                <a16:creationId xmlns:a16="http://schemas.microsoft.com/office/drawing/2014/main" id="{526C46A9-6301-A903-882F-2E2791593316}"/>
              </a:ext>
            </a:extLst>
          </p:cNvPr>
          <p:cNvSpPr>
            <a:spLocks noGrp="1"/>
          </p:cNvSpPr>
          <p:nvPr>
            <p:ph type="body" idx="1"/>
          </p:nvPr>
        </p:nvSpPr>
        <p:spPr/>
        <p:txBody>
          <a:bodyPr/>
          <a:lstStyle/>
          <a:p>
            <a:r>
              <a:rPr lang="en-US" b="1" i="0" dirty="0">
                <a:solidFill>
                  <a:srgbClr val="273239"/>
                </a:solidFill>
                <a:effectLst/>
                <a:latin typeface="Nunito" pitchFamily="2" charset="0"/>
              </a:rPr>
              <a:t>Example</a:t>
            </a:r>
            <a:endParaRPr lang="en-US" dirty="0"/>
          </a:p>
        </p:txBody>
      </p:sp>
      <p:pic>
        <p:nvPicPr>
          <p:cNvPr id="5" name="Picture 4">
            <a:extLst>
              <a:ext uri="{FF2B5EF4-FFF2-40B4-BE49-F238E27FC236}">
                <a16:creationId xmlns:a16="http://schemas.microsoft.com/office/drawing/2014/main" id="{EA819FD1-673D-5889-18D8-2AA2DE896E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900" y="2160308"/>
            <a:ext cx="4991100" cy="4411054"/>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60A1B843-409C-9B8E-ADCE-55888032E53C}"/>
              </a:ext>
            </a:extLst>
          </p:cNvPr>
          <p:cNvSpPr txBox="1"/>
          <p:nvPr/>
        </p:nvSpPr>
        <p:spPr>
          <a:xfrm>
            <a:off x="6323841" y="2160308"/>
            <a:ext cx="5539467" cy="1200329"/>
          </a:xfrm>
          <a:prstGeom prst="rect">
            <a:avLst/>
          </a:prstGeom>
          <a:noFill/>
          <a:ln>
            <a:solidFill>
              <a:schemeClr val="accent1">
                <a:lumMod val="40000"/>
                <a:lumOff val="60000"/>
              </a:schemeClr>
            </a:solidFill>
          </a:ln>
        </p:spPr>
        <p:txBody>
          <a:bodyPr wrap="square">
            <a:spAutoFit/>
          </a:bodyPr>
          <a:lstStyle/>
          <a:p>
            <a:r>
              <a:rPr lang="en-US" sz="2400" b="1" i="0" dirty="0">
                <a:solidFill>
                  <a:srgbClr val="273239"/>
                </a:solidFill>
                <a:effectLst/>
                <a:latin typeface="Nunito" pitchFamily="2" charset="0"/>
              </a:rPr>
              <a:t>Output: </a:t>
            </a:r>
            <a:r>
              <a:rPr lang="en-US" sz="2400" b="0" i="0" dirty="0">
                <a:solidFill>
                  <a:srgbClr val="273239"/>
                </a:solidFill>
                <a:effectLst/>
                <a:latin typeface="Nunito" pitchFamily="2" charset="0"/>
              </a:rPr>
              <a:t>This output will be visible on the </a:t>
            </a:r>
            <a:r>
              <a:rPr lang="en-US" sz="2400" b="1" i="0" dirty="0">
                <a:solidFill>
                  <a:srgbClr val="273239"/>
                </a:solidFill>
                <a:effectLst/>
                <a:latin typeface="Nunito" pitchFamily="2" charset="0"/>
              </a:rPr>
              <a:t>http://localhost:3000/ </a:t>
            </a:r>
            <a:r>
              <a:rPr lang="en-US" sz="2400" b="0" i="0" dirty="0">
                <a:solidFill>
                  <a:srgbClr val="273239"/>
                </a:solidFill>
                <a:effectLst/>
                <a:latin typeface="Nunito" pitchFamily="2" charset="0"/>
              </a:rPr>
              <a:t>on the browser window.</a:t>
            </a:r>
            <a:endParaRPr lang="en-US" sz="2400" dirty="0"/>
          </a:p>
        </p:txBody>
      </p:sp>
      <p:pic>
        <p:nvPicPr>
          <p:cNvPr id="9" name="Picture 8">
            <a:extLst>
              <a:ext uri="{FF2B5EF4-FFF2-40B4-BE49-F238E27FC236}">
                <a16:creationId xmlns:a16="http://schemas.microsoft.com/office/drawing/2014/main" id="{5D1F19B4-CA76-A0B1-B918-32C1BFD287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5894" y="3787675"/>
            <a:ext cx="4079688" cy="963607"/>
          </a:xfrm>
          <a:prstGeom prst="rect">
            <a:avLst/>
          </a:prstGeom>
        </p:spPr>
      </p:pic>
    </p:spTree>
    <p:extLst>
      <p:ext uri="{BB962C8B-B14F-4D97-AF65-F5344CB8AC3E}">
        <p14:creationId xmlns:p14="http://schemas.microsoft.com/office/powerpoint/2010/main" val="1656403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2FF9F-A124-2177-7DF9-F1A35D288AF9}"/>
              </a:ext>
            </a:extLst>
          </p:cNvPr>
          <p:cNvSpPr>
            <a:spLocks noGrp="1"/>
          </p:cNvSpPr>
          <p:nvPr>
            <p:ph type="title"/>
          </p:nvPr>
        </p:nvSpPr>
        <p:spPr/>
        <p:txBody>
          <a:bodyPr/>
          <a:lstStyle/>
          <a:p>
            <a:r>
              <a:rPr lang="en-US" dirty="0"/>
              <a:t>Rendering React Components</a:t>
            </a:r>
          </a:p>
        </p:txBody>
      </p:sp>
      <p:sp>
        <p:nvSpPr>
          <p:cNvPr id="3" name="Text Placeholder 2">
            <a:extLst>
              <a:ext uri="{FF2B5EF4-FFF2-40B4-BE49-F238E27FC236}">
                <a16:creationId xmlns:a16="http://schemas.microsoft.com/office/drawing/2014/main" id="{9BF4C23E-AE55-2DE0-6E40-E2AA4E7C2BD6}"/>
              </a:ext>
            </a:extLst>
          </p:cNvPr>
          <p:cNvSpPr>
            <a:spLocks noGrp="1"/>
          </p:cNvSpPr>
          <p:nvPr>
            <p:ph type="body" idx="1"/>
          </p:nvPr>
        </p:nvSpPr>
        <p:spPr/>
        <p:txBody>
          <a:bodyPr>
            <a:normAutofit/>
          </a:bodyPr>
          <a:lstStyle/>
          <a:p>
            <a:r>
              <a:rPr lang="en-US" b="1" dirty="0"/>
              <a:t>Explanation</a:t>
            </a:r>
            <a:r>
              <a:rPr lang="en-US" dirty="0"/>
              <a:t>:</a:t>
            </a:r>
          </a:p>
          <a:p>
            <a:pPr lvl="1"/>
            <a:r>
              <a:rPr lang="en-US" dirty="0"/>
              <a:t>Call the </a:t>
            </a:r>
            <a:r>
              <a:rPr lang="en-US" b="1" dirty="0" err="1"/>
              <a:t>ReactDOM.render</a:t>
            </a:r>
            <a:r>
              <a:rPr lang="en-US" b="1" dirty="0"/>
              <a:t>() </a:t>
            </a:r>
            <a:r>
              <a:rPr lang="en-US" dirty="0"/>
              <a:t>as the first parameter.</a:t>
            </a:r>
          </a:p>
          <a:p>
            <a:pPr lvl="1"/>
            <a:r>
              <a:rPr lang="en-US" dirty="0"/>
              <a:t>React then calls the component </a:t>
            </a:r>
            <a:r>
              <a:rPr lang="en-US" b="1" dirty="0"/>
              <a:t>Welcome</a:t>
            </a:r>
            <a:r>
              <a:rPr lang="en-US" dirty="0"/>
              <a:t>, which returns </a:t>
            </a:r>
            <a:r>
              <a:rPr lang="en-US" b="1" dirty="0"/>
              <a:t>&lt;h1&gt;Hello World!&lt;/h1&gt;; </a:t>
            </a:r>
            <a:r>
              <a:rPr lang="en-US" dirty="0"/>
              <a:t>as the result.</a:t>
            </a:r>
          </a:p>
          <a:p>
            <a:pPr lvl="1"/>
            <a:r>
              <a:rPr lang="en-US" dirty="0"/>
              <a:t>Then the </a:t>
            </a:r>
            <a:r>
              <a:rPr lang="en-US" b="1" dirty="0" err="1"/>
              <a:t>ReactDOM</a:t>
            </a:r>
            <a:r>
              <a:rPr lang="en-US" dirty="0"/>
              <a:t> efficiently updates the DOM to match with the returned element and renders that element to the DOM element with id as “root”.</a:t>
            </a:r>
          </a:p>
        </p:txBody>
      </p:sp>
    </p:spTree>
    <p:extLst>
      <p:ext uri="{BB962C8B-B14F-4D97-AF65-F5344CB8AC3E}">
        <p14:creationId xmlns:p14="http://schemas.microsoft.com/office/powerpoint/2010/main" val="2300355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FDA5E-221A-183E-B708-391CE4720729}"/>
              </a:ext>
            </a:extLst>
          </p:cNvPr>
          <p:cNvSpPr>
            <a:spLocks noGrp="1"/>
          </p:cNvSpPr>
          <p:nvPr>
            <p:ph type="title"/>
          </p:nvPr>
        </p:nvSpPr>
        <p:spPr/>
        <p:txBody>
          <a:bodyPr/>
          <a:lstStyle/>
          <a:p>
            <a:r>
              <a:rPr lang="en-US" dirty="0"/>
              <a:t>Rendering React Components</a:t>
            </a:r>
          </a:p>
        </p:txBody>
      </p:sp>
      <p:sp>
        <p:nvSpPr>
          <p:cNvPr id="3" name="Text Placeholder 2">
            <a:extLst>
              <a:ext uri="{FF2B5EF4-FFF2-40B4-BE49-F238E27FC236}">
                <a16:creationId xmlns:a16="http://schemas.microsoft.com/office/drawing/2014/main" id="{AFC47048-88B3-48FB-87E2-902EC3B94D05}"/>
              </a:ext>
            </a:extLst>
          </p:cNvPr>
          <p:cNvSpPr>
            <a:spLocks noGrp="1"/>
          </p:cNvSpPr>
          <p:nvPr>
            <p:ph type="body" idx="1"/>
          </p:nvPr>
        </p:nvSpPr>
        <p:spPr/>
        <p:txBody>
          <a:bodyPr/>
          <a:lstStyle/>
          <a:p>
            <a:pPr algn="l" fontAlgn="base"/>
            <a:r>
              <a:rPr lang="en-US" b="1" i="0" dirty="0">
                <a:solidFill>
                  <a:srgbClr val="C00000"/>
                </a:solidFill>
                <a:effectLst/>
                <a:latin typeface="+mj-lt"/>
              </a:rPr>
              <a:t>Props: </a:t>
            </a:r>
            <a:r>
              <a:rPr lang="en-US" b="1" i="0" dirty="0">
                <a:solidFill>
                  <a:srgbClr val="273239"/>
                </a:solidFill>
                <a:effectLst/>
                <a:latin typeface="+mj-lt"/>
              </a:rPr>
              <a:t>(short for properties)</a:t>
            </a:r>
            <a:r>
              <a:rPr lang="en-US" b="0" i="0" dirty="0">
                <a:solidFill>
                  <a:srgbClr val="273239"/>
                </a:solidFill>
                <a:effectLst/>
                <a:latin typeface="+mj-lt"/>
              </a:rPr>
              <a:t> are a way to pass data from the parent component to the child component.</a:t>
            </a:r>
          </a:p>
          <a:p>
            <a:pPr lvl="1" fontAlgn="base">
              <a:spcAft>
                <a:spcPts val="1800"/>
              </a:spcAft>
              <a:buFont typeface="Arial" panose="020B0604020202020204" pitchFamily="34" charset="0"/>
              <a:buChar char="•"/>
            </a:pPr>
            <a:r>
              <a:rPr lang="en-US" b="0" i="0" dirty="0">
                <a:solidFill>
                  <a:srgbClr val="273239"/>
                </a:solidFill>
                <a:effectLst/>
                <a:latin typeface="+mj-lt"/>
              </a:rPr>
              <a:t>Props are like </a:t>
            </a:r>
            <a:r>
              <a:rPr lang="en-US" b="1" i="0" dirty="0">
                <a:solidFill>
                  <a:srgbClr val="273239"/>
                </a:solidFill>
                <a:effectLst/>
                <a:latin typeface="+mj-lt"/>
              </a:rPr>
              <a:t>function arguments</a:t>
            </a:r>
            <a:r>
              <a:rPr lang="en-US" b="0" i="0" dirty="0">
                <a:solidFill>
                  <a:srgbClr val="273239"/>
                </a:solidFill>
                <a:effectLst/>
                <a:latin typeface="+mj-lt"/>
              </a:rPr>
              <a:t>, you can use them as attributes in components.</a:t>
            </a:r>
          </a:p>
          <a:p>
            <a:pPr fontAlgn="base">
              <a:spcBef>
                <a:spcPts val="600"/>
              </a:spcBef>
              <a:spcAft>
                <a:spcPts val="600"/>
              </a:spcAft>
              <a:buFont typeface="Arial" panose="020B0604020202020204" pitchFamily="34" charset="0"/>
              <a:buChar char="•"/>
            </a:pPr>
            <a:r>
              <a:rPr lang="en-US" dirty="0">
                <a:solidFill>
                  <a:srgbClr val="273239"/>
                </a:solidFill>
                <a:latin typeface="+mj-lt"/>
              </a:rPr>
              <a:t>Example: </a:t>
            </a:r>
            <a:endParaRPr lang="en-US" b="0" i="0" dirty="0">
              <a:solidFill>
                <a:srgbClr val="273239"/>
              </a:solidFill>
              <a:effectLst/>
              <a:latin typeface="+mj-lt"/>
            </a:endParaRPr>
          </a:p>
          <a:p>
            <a:endParaRPr lang="en-US" dirty="0">
              <a:latin typeface="+mj-lt"/>
            </a:endParaRPr>
          </a:p>
        </p:txBody>
      </p:sp>
      <p:pic>
        <p:nvPicPr>
          <p:cNvPr id="5" name="Picture 4">
            <a:extLst>
              <a:ext uri="{FF2B5EF4-FFF2-40B4-BE49-F238E27FC236}">
                <a16:creationId xmlns:a16="http://schemas.microsoft.com/office/drawing/2014/main" id="{D1FE66C4-3914-99A9-90FE-C0748294F3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6882" y="3657377"/>
            <a:ext cx="7918700" cy="25148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94006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4425F-AE7C-4FEE-703A-DC8AEE00EC36}"/>
              </a:ext>
            </a:extLst>
          </p:cNvPr>
          <p:cNvSpPr>
            <a:spLocks noGrp="1"/>
          </p:cNvSpPr>
          <p:nvPr>
            <p:ph type="title"/>
          </p:nvPr>
        </p:nvSpPr>
        <p:spPr/>
        <p:txBody>
          <a:bodyPr/>
          <a:lstStyle/>
          <a:p>
            <a:r>
              <a:rPr lang="en-US" dirty="0"/>
              <a:t>Rendering React Components</a:t>
            </a:r>
          </a:p>
        </p:txBody>
      </p:sp>
      <p:sp>
        <p:nvSpPr>
          <p:cNvPr id="3" name="Text Placeholder 2">
            <a:extLst>
              <a:ext uri="{FF2B5EF4-FFF2-40B4-BE49-F238E27FC236}">
                <a16:creationId xmlns:a16="http://schemas.microsoft.com/office/drawing/2014/main" id="{22D91EEB-94DD-CA44-113D-F8A1C39E4764}"/>
              </a:ext>
            </a:extLst>
          </p:cNvPr>
          <p:cNvSpPr>
            <a:spLocks noGrp="1"/>
          </p:cNvSpPr>
          <p:nvPr>
            <p:ph type="body" idx="1"/>
          </p:nvPr>
        </p:nvSpPr>
        <p:spPr/>
        <p:txBody>
          <a:bodyPr/>
          <a:lstStyle/>
          <a:p>
            <a:r>
              <a:rPr lang="en-US" dirty="0"/>
              <a:t>Example: </a:t>
            </a:r>
            <a:r>
              <a:rPr lang="en-US" dirty="0" err="1"/>
              <a:t>tạo</a:t>
            </a:r>
            <a:r>
              <a:rPr lang="en-US" dirty="0"/>
              <a:t> project</a:t>
            </a:r>
          </a:p>
          <a:p>
            <a:pPr lvl="1"/>
            <a:r>
              <a:rPr lang="en-US" dirty="0" err="1"/>
              <a:t>npm</a:t>
            </a:r>
            <a:r>
              <a:rPr lang="en-US" dirty="0"/>
              <a:t> create </a:t>
            </a:r>
            <a:r>
              <a:rPr lang="en-US" dirty="0" err="1"/>
              <a:t>vite@latest</a:t>
            </a:r>
            <a:r>
              <a:rPr lang="en-US" dirty="0"/>
              <a:t> my-react-app --template react</a:t>
            </a:r>
          </a:p>
          <a:p>
            <a:pPr lvl="1"/>
            <a:r>
              <a:rPr lang="en-US" dirty="0"/>
              <a:t>cd my-react-app</a:t>
            </a:r>
          </a:p>
          <a:p>
            <a:pPr lvl="1"/>
            <a:r>
              <a:rPr lang="en-US" dirty="0" err="1"/>
              <a:t>npm</a:t>
            </a:r>
            <a:r>
              <a:rPr lang="en-US" dirty="0"/>
              <a:t> install</a:t>
            </a:r>
          </a:p>
          <a:p>
            <a:pPr lvl="1"/>
            <a:r>
              <a:rPr lang="en-US" dirty="0" err="1"/>
              <a:t>npm</a:t>
            </a:r>
            <a:r>
              <a:rPr lang="en-US" dirty="0"/>
              <a:t> run dev</a:t>
            </a:r>
          </a:p>
          <a:p>
            <a:r>
              <a:rPr lang="en-US" dirty="0" err="1"/>
              <a:t>Tạo</a:t>
            </a:r>
            <a:r>
              <a:rPr lang="en-US" dirty="0"/>
              <a:t> </a:t>
            </a:r>
            <a:r>
              <a:rPr lang="en-US" dirty="0" err="1"/>
              <a:t>hai</a:t>
            </a:r>
            <a:r>
              <a:rPr lang="en-US" dirty="0"/>
              <a:t> file:</a:t>
            </a:r>
          </a:p>
          <a:p>
            <a:pPr lvl="1"/>
            <a:r>
              <a:rPr lang="en-US" dirty="0" err="1"/>
              <a:t>App.jsx</a:t>
            </a:r>
            <a:r>
              <a:rPr lang="en-US" dirty="0"/>
              <a:t> (parent component)</a:t>
            </a:r>
          </a:p>
          <a:p>
            <a:pPr lvl="1"/>
            <a:r>
              <a:rPr lang="en-US" dirty="0" err="1"/>
              <a:t>Child.jsx</a:t>
            </a:r>
            <a:r>
              <a:rPr lang="en-US" dirty="0"/>
              <a:t> (child component)</a:t>
            </a:r>
          </a:p>
        </p:txBody>
      </p:sp>
    </p:spTree>
    <p:extLst>
      <p:ext uri="{BB962C8B-B14F-4D97-AF65-F5344CB8AC3E}">
        <p14:creationId xmlns:p14="http://schemas.microsoft.com/office/powerpoint/2010/main" val="2750549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2A16-E64F-0F65-A8CA-BCC775A67515}"/>
              </a:ext>
            </a:extLst>
          </p:cNvPr>
          <p:cNvSpPr>
            <a:spLocks noGrp="1"/>
          </p:cNvSpPr>
          <p:nvPr>
            <p:ph type="title"/>
          </p:nvPr>
        </p:nvSpPr>
        <p:spPr/>
        <p:txBody>
          <a:bodyPr/>
          <a:lstStyle/>
          <a:p>
            <a:r>
              <a:rPr lang="en-US" dirty="0"/>
              <a:t>Rendering React Components</a:t>
            </a:r>
          </a:p>
        </p:txBody>
      </p:sp>
      <p:sp>
        <p:nvSpPr>
          <p:cNvPr id="3" name="Text Placeholder 2">
            <a:extLst>
              <a:ext uri="{FF2B5EF4-FFF2-40B4-BE49-F238E27FC236}">
                <a16:creationId xmlns:a16="http://schemas.microsoft.com/office/drawing/2014/main" id="{692806F6-3877-3B05-72F0-BC57B40E3D7C}"/>
              </a:ext>
            </a:extLst>
          </p:cNvPr>
          <p:cNvSpPr>
            <a:spLocks noGrp="1"/>
          </p:cNvSpPr>
          <p:nvPr>
            <p:ph type="body" idx="1"/>
          </p:nvPr>
        </p:nvSpPr>
        <p:spPr/>
        <p:txBody>
          <a:bodyPr/>
          <a:lstStyle/>
          <a:p>
            <a:r>
              <a:rPr lang="vi-VN" dirty="0"/>
              <a:t>File </a:t>
            </a:r>
            <a:r>
              <a:rPr lang="vi-VN" b="1" dirty="0"/>
              <a:t>App.jsx </a:t>
            </a:r>
            <a:r>
              <a:rPr lang="vi-VN" dirty="0"/>
              <a:t>(Parent Component)</a:t>
            </a:r>
            <a:r>
              <a:rPr lang="en-US" dirty="0"/>
              <a:t> </a:t>
            </a:r>
            <a:r>
              <a:rPr lang="vi-VN" dirty="0"/>
              <a:t> là component cha, nơi dữ liệu được định nghĩa và truyền xuống cho component con qua </a:t>
            </a:r>
            <a:r>
              <a:rPr lang="vi-VN" b="1" dirty="0"/>
              <a:t>Props</a:t>
            </a:r>
            <a:r>
              <a:rPr lang="vi-VN" dirty="0"/>
              <a:t>.</a:t>
            </a:r>
            <a:endParaRPr lang="en-US" dirty="0"/>
          </a:p>
        </p:txBody>
      </p:sp>
    </p:spTree>
    <p:extLst>
      <p:ext uri="{BB962C8B-B14F-4D97-AF65-F5344CB8AC3E}">
        <p14:creationId xmlns:p14="http://schemas.microsoft.com/office/powerpoint/2010/main" val="498962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F943-E00F-2E52-B455-2C3D573AB02C}"/>
              </a:ext>
            </a:extLst>
          </p:cNvPr>
          <p:cNvSpPr>
            <a:spLocks noGrp="1"/>
          </p:cNvSpPr>
          <p:nvPr>
            <p:ph type="title"/>
          </p:nvPr>
        </p:nvSpPr>
        <p:spPr/>
        <p:txBody>
          <a:bodyPr/>
          <a:lstStyle/>
          <a:p>
            <a:r>
              <a:rPr lang="en-US" dirty="0"/>
              <a:t>Rendering React Components</a:t>
            </a:r>
          </a:p>
        </p:txBody>
      </p:sp>
      <p:sp>
        <p:nvSpPr>
          <p:cNvPr id="3" name="Text Placeholder 2">
            <a:extLst>
              <a:ext uri="{FF2B5EF4-FFF2-40B4-BE49-F238E27FC236}">
                <a16:creationId xmlns:a16="http://schemas.microsoft.com/office/drawing/2014/main" id="{1E84DD4C-1753-3E0C-ED73-FD8427249FC8}"/>
              </a:ext>
            </a:extLst>
          </p:cNvPr>
          <p:cNvSpPr>
            <a:spLocks noGrp="1"/>
          </p:cNvSpPr>
          <p:nvPr>
            <p:ph type="body" idx="1"/>
          </p:nvPr>
        </p:nvSpPr>
        <p:spPr/>
        <p:txBody>
          <a:bodyPr>
            <a:normAutofit fontScale="77500" lnSpcReduction="20000"/>
          </a:bodyPr>
          <a:lstStyle/>
          <a:p>
            <a:pPr marL="0" indent="0">
              <a:lnSpc>
                <a:spcPct val="120000"/>
              </a:lnSpc>
              <a:spcBef>
                <a:spcPts val="0"/>
              </a:spcBef>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React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pPr marL="0" indent="0">
              <a:lnSpc>
                <a:spcPct val="120000"/>
              </a:lnSpc>
              <a:spcBef>
                <a:spcPts val="0"/>
              </a:spcBef>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Child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'./Child'</a:t>
            </a:r>
            <a:r>
              <a:rPr lang="en-US" b="0" dirty="0">
                <a:solidFill>
                  <a:srgbClr val="000000"/>
                </a:solidFill>
                <a:effectLst/>
                <a:latin typeface="Consolas" panose="020B0609020204030204" pitchFamily="49" charset="0"/>
              </a:rPr>
              <a:t>;</a:t>
            </a:r>
          </a:p>
          <a:p>
            <a:pPr marL="0" indent="0">
              <a:lnSpc>
                <a:spcPct val="120000"/>
              </a:lnSpc>
              <a:spcBef>
                <a:spcPts val="0"/>
              </a:spcBef>
              <a:buNone/>
            </a:pP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App() {</a:t>
            </a:r>
          </a:p>
          <a:p>
            <a:pPr marL="0" indent="0">
              <a:lnSpc>
                <a:spcPct val="120000"/>
              </a:lnSpc>
              <a:spcBef>
                <a:spcPts val="0"/>
              </a:spcBef>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parentMessage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"Hello from Parent! 👋"</a:t>
            </a:r>
            <a:r>
              <a:rPr lang="en-US" b="0" dirty="0">
                <a:solidFill>
                  <a:srgbClr val="000000"/>
                </a:solidFill>
                <a:effectLst/>
                <a:latin typeface="Consolas" panose="020B0609020204030204" pitchFamily="49" charset="0"/>
              </a:rPr>
              <a:t>;</a:t>
            </a:r>
          </a:p>
          <a:p>
            <a:pPr marL="0" indent="0">
              <a:lnSpc>
                <a:spcPct val="120000"/>
              </a:lnSpc>
              <a:spcBef>
                <a:spcPts val="0"/>
              </a:spcBef>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parentNumber</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42</a:t>
            </a:r>
            <a:r>
              <a:rPr lang="en-US" b="0" dirty="0">
                <a:solidFill>
                  <a:srgbClr val="000000"/>
                </a:solidFill>
                <a:effectLst/>
                <a:latin typeface="Consolas" panose="020B0609020204030204" pitchFamily="49" charset="0"/>
              </a:rPr>
              <a:t>;</a:t>
            </a:r>
          </a:p>
          <a:p>
            <a:pPr marL="0" indent="0">
              <a:lnSpc>
                <a:spcPct val="120000"/>
              </a:lnSpc>
              <a:spcBef>
                <a:spcPts val="0"/>
              </a:spcBef>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pPr marL="0" indent="0">
              <a:lnSpc>
                <a:spcPct val="120000"/>
              </a:lnSpc>
              <a:spcBef>
                <a:spcPts val="0"/>
              </a:spcBef>
              <a:buNone/>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pPr marL="0" indent="0">
              <a:lnSpc>
                <a:spcPct val="120000"/>
              </a:lnSpc>
              <a:spcBef>
                <a:spcPts val="0"/>
              </a:spcBef>
              <a:buNone/>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Parent Component</a:t>
            </a:r>
            <a:r>
              <a:rPr lang="en-US" b="0" dirty="0">
                <a:solidFill>
                  <a:srgbClr val="800000"/>
                </a:solidFill>
                <a:effectLst/>
                <a:latin typeface="Consolas" panose="020B0609020204030204" pitchFamily="49" charset="0"/>
              </a:rPr>
              <a:t>&lt;/h1&gt;</a:t>
            </a:r>
            <a:endParaRPr lang="en-US" b="0" dirty="0">
              <a:solidFill>
                <a:srgbClr val="000000"/>
              </a:solidFill>
              <a:effectLst/>
              <a:latin typeface="Consolas" panose="020B0609020204030204" pitchFamily="49" charset="0"/>
            </a:endParaRPr>
          </a:p>
          <a:p>
            <a:pPr marL="0" indent="0">
              <a:lnSpc>
                <a:spcPct val="120000"/>
              </a:lnSpc>
              <a:spcBef>
                <a:spcPts val="0"/>
              </a:spcBef>
              <a:buNone/>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&lt;Child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message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parentMessage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parentNumber</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marL="0" indent="0">
              <a:lnSpc>
                <a:spcPct val="120000"/>
              </a:lnSpc>
              <a:spcBef>
                <a:spcPts val="0"/>
              </a:spcBef>
              <a:buNone/>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pPr marL="0" indent="0">
              <a:lnSpc>
                <a:spcPct val="120000"/>
              </a:lnSpc>
              <a:spcBef>
                <a:spcPts val="0"/>
              </a:spcBef>
              <a:buNone/>
            </a:pPr>
            <a:r>
              <a:rPr lang="en-US" b="0" dirty="0">
                <a:solidFill>
                  <a:srgbClr val="000000"/>
                </a:solidFill>
                <a:effectLst/>
                <a:latin typeface="Consolas" panose="020B0609020204030204" pitchFamily="49" charset="0"/>
              </a:rPr>
              <a:t>  );</a:t>
            </a:r>
          </a:p>
          <a:p>
            <a:pPr marL="0" indent="0">
              <a:lnSpc>
                <a:spcPct val="120000"/>
              </a:lnSpc>
              <a:spcBef>
                <a:spcPts val="0"/>
              </a:spcBef>
              <a:buNone/>
            </a:pPr>
            <a:r>
              <a:rPr lang="en-US" b="0" dirty="0">
                <a:solidFill>
                  <a:srgbClr val="000000"/>
                </a:solidFill>
                <a:effectLst/>
                <a:latin typeface="Consolas" panose="020B0609020204030204" pitchFamily="49" charset="0"/>
              </a:rPr>
              <a:t>}</a:t>
            </a:r>
          </a:p>
          <a:p>
            <a:pPr marL="0" indent="0">
              <a:lnSpc>
                <a:spcPct val="120000"/>
              </a:lnSpc>
              <a:spcBef>
                <a:spcPts val="0"/>
              </a:spcBef>
              <a:buNone/>
            </a:pP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App;</a:t>
            </a:r>
          </a:p>
        </p:txBody>
      </p:sp>
    </p:spTree>
    <p:extLst>
      <p:ext uri="{BB962C8B-B14F-4D97-AF65-F5344CB8AC3E}">
        <p14:creationId xmlns:p14="http://schemas.microsoft.com/office/powerpoint/2010/main" val="2876891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E11FC-0B88-559C-371E-3AF59B952695}"/>
              </a:ext>
            </a:extLst>
          </p:cNvPr>
          <p:cNvSpPr>
            <a:spLocks noGrp="1"/>
          </p:cNvSpPr>
          <p:nvPr>
            <p:ph type="title"/>
          </p:nvPr>
        </p:nvSpPr>
        <p:spPr/>
        <p:txBody>
          <a:bodyPr/>
          <a:lstStyle/>
          <a:p>
            <a:r>
              <a:rPr lang="en-US" dirty="0"/>
              <a:t>Rendering React Components</a:t>
            </a:r>
          </a:p>
        </p:txBody>
      </p:sp>
      <p:sp>
        <p:nvSpPr>
          <p:cNvPr id="3" name="Text Placeholder 2">
            <a:extLst>
              <a:ext uri="{FF2B5EF4-FFF2-40B4-BE49-F238E27FC236}">
                <a16:creationId xmlns:a16="http://schemas.microsoft.com/office/drawing/2014/main" id="{DA7429E9-08A7-D518-C4D3-DB9D32CDB186}"/>
              </a:ext>
            </a:extLst>
          </p:cNvPr>
          <p:cNvSpPr>
            <a:spLocks noGrp="1"/>
          </p:cNvSpPr>
          <p:nvPr>
            <p:ph type="body" idx="1"/>
          </p:nvPr>
        </p:nvSpPr>
        <p:spPr/>
        <p:txBody>
          <a:bodyPr/>
          <a:lstStyle/>
          <a:p>
            <a:r>
              <a:rPr lang="en-US" dirty="0"/>
              <a:t>File </a:t>
            </a:r>
            <a:r>
              <a:rPr lang="en-US" b="1" dirty="0" err="1"/>
              <a:t>Child.jsx</a:t>
            </a:r>
            <a:r>
              <a:rPr lang="en-US" b="1" dirty="0"/>
              <a:t> </a:t>
            </a:r>
            <a:r>
              <a:rPr lang="en-US" dirty="0"/>
              <a:t>(Child Component)</a:t>
            </a:r>
          </a:p>
        </p:txBody>
      </p:sp>
      <p:sp>
        <p:nvSpPr>
          <p:cNvPr id="5" name="TextBox 4">
            <a:extLst>
              <a:ext uri="{FF2B5EF4-FFF2-40B4-BE49-F238E27FC236}">
                <a16:creationId xmlns:a16="http://schemas.microsoft.com/office/drawing/2014/main" id="{8C30FBEA-34F5-6F02-EFEC-AD8A824598ED}"/>
              </a:ext>
            </a:extLst>
          </p:cNvPr>
          <p:cNvSpPr txBox="1"/>
          <p:nvPr/>
        </p:nvSpPr>
        <p:spPr>
          <a:xfrm>
            <a:off x="1695202" y="2241194"/>
            <a:ext cx="9390379" cy="4154984"/>
          </a:xfrm>
          <a:prstGeom prst="rect">
            <a:avLst/>
          </a:prstGeom>
          <a:noFill/>
        </p:spPr>
        <p:txBody>
          <a:bodyPr wrap="square">
            <a:spAutoFit/>
          </a:bodyPr>
          <a:lstStyle/>
          <a:p>
            <a:r>
              <a:rPr lang="en-US" sz="2400" b="0" dirty="0">
                <a:solidFill>
                  <a:srgbClr val="0000FF"/>
                </a:solidFill>
                <a:effectLst/>
                <a:latin typeface="Consolas" panose="020B0609020204030204" pitchFamily="49" charset="0"/>
              </a:rPr>
              <a:t>import</a:t>
            </a:r>
            <a:r>
              <a:rPr lang="en-US" sz="2400" b="0" dirty="0">
                <a:solidFill>
                  <a:srgbClr val="000000"/>
                </a:solidFill>
                <a:effectLst/>
                <a:latin typeface="Consolas" panose="020B0609020204030204" pitchFamily="49" charset="0"/>
              </a:rPr>
              <a:t> React </a:t>
            </a:r>
            <a:r>
              <a:rPr lang="en-US" sz="2400" b="0" dirty="0">
                <a:solidFill>
                  <a:srgbClr val="0000FF"/>
                </a:solidFill>
                <a:effectLst/>
                <a:latin typeface="Consolas" panose="020B0609020204030204" pitchFamily="49" charset="0"/>
              </a:rPr>
              <a:t>from</a:t>
            </a:r>
            <a:r>
              <a:rPr lang="en-US" sz="2400" b="0" dirty="0">
                <a:solidFill>
                  <a:srgbClr val="000000"/>
                </a:solidFill>
                <a:effectLst/>
                <a:latin typeface="Consolas" panose="020B0609020204030204" pitchFamily="49" charset="0"/>
              </a:rPr>
              <a:t> </a:t>
            </a:r>
            <a:r>
              <a:rPr lang="en-US" sz="2400" b="0" dirty="0">
                <a:solidFill>
                  <a:srgbClr val="A31515"/>
                </a:solidFill>
                <a:effectLst/>
                <a:latin typeface="Consolas" panose="020B0609020204030204" pitchFamily="49" charset="0"/>
              </a:rPr>
              <a:t>'react'</a:t>
            </a:r>
            <a:r>
              <a:rPr lang="en-US" sz="2400" b="0" dirty="0">
                <a:solidFill>
                  <a:srgbClr val="000000"/>
                </a:solidFill>
                <a:effectLst/>
                <a:latin typeface="Consolas" panose="020B0609020204030204" pitchFamily="49" charset="0"/>
              </a:rPr>
              <a:t>;</a:t>
            </a:r>
          </a:p>
          <a:p>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Child({ message, number })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&lt;div&gt;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&lt;h2&gt;</a:t>
            </a:r>
            <a:r>
              <a:rPr lang="en-US" sz="2400" b="0" dirty="0">
                <a:solidFill>
                  <a:srgbClr val="000000"/>
                </a:solidFill>
                <a:effectLst/>
                <a:latin typeface="Consolas" panose="020B0609020204030204" pitchFamily="49" charset="0"/>
              </a:rPr>
              <a:t>Child Component</a:t>
            </a:r>
            <a:r>
              <a:rPr lang="en-US" sz="2400" b="0" dirty="0">
                <a:solidFill>
                  <a:srgbClr val="800000"/>
                </a:solidFill>
                <a:effectLst/>
                <a:latin typeface="Consolas" panose="020B0609020204030204" pitchFamily="49" charset="0"/>
              </a:rPr>
              <a:t>&lt;/h2&gt;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&lt;p&gt;</a:t>
            </a:r>
            <a:r>
              <a:rPr lang="en-US" sz="2400" b="0" dirty="0">
                <a:solidFill>
                  <a:srgbClr val="000000"/>
                </a:solidFill>
                <a:effectLst/>
                <a:latin typeface="Consolas" panose="020B0609020204030204" pitchFamily="49" charset="0"/>
              </a:rPr>
              <a:t>Message from Parent: </a:t>
            </a:r>
            <a:r>
              <a:rPr lang="en-US" sz="2400" b="0" dirty="0">
                <a:solidFill>
                  <a:srgbClr val="0000FF"/>
                </a:solidFill>
                <a:effectLst/>
                <a:latin typeface="Consolas" panose="020B0609020204030204" pitchFamily="49" charset="0"/>
              </a:rPr>
              <a:t>{</a:t>
            </a:r>
            <a:r>
              <a:rPr lang="en-US" sz="2400" b="0" dirty="0">
                <a:solidFill>
                  <a:srgbClr val="000000"/>
                </a:solidFill>
                <a:effectLst/>
                <a:latin typeface="Consolas" panose="020B0609020204030204" pitchFamily="49" charset="0"/>
              </a:rPr>
              <a:t>message</a:t>
            </a:r>
            <a:r>
              <a:rPr lang="en-US" sz="2400" b="0" dirty="0">
                <a:solidFill>
                  <a:srgbClr val="0000FF"/>
                </a:solidFill>
                <a:effectLst/>
                <a:latin typeface="Consolas" panose="020B0609020204030204" pitchFamily="49" charset="0"/>
              </a:rPr>
              <a:t>}</a:t>
            </a:r>
            <a:r>
              <a:rPr lang="en-US" sz="2400" b="0" dirty="0">
                <a:solidFill>
                  <a:srgbClr val="800000"/>
                </a:solidFill>
                <a:effectLst/>
                <a:latin typeface="Consolas" panose="020B0609020204030204" pitchFamily="49" charset="0"/>
              </a:rPr>
              <a:t>&lt;/p&gt;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&lt;p&gt;</a:t>
            </a:r>
            <a:r>
              <a:rPr lang="en-US" sz="2400" b="0" dirty="0">
                <a:solidFill>
                  <a:srgbClr val="000000"/>
                </a:solidFill>
                <a:effectLst/>
                <a:latin typeface="Consolas" panose="020B0609020204030204" pitchFamily="49" charset="0"/>
              </a:rPr>
              <a:t>Number from Parent: </a:t>
            </a:r>
            <a:r>
              <a:rPr lang="en-US" sz="2400" b="0" dirty="0">
                <a:solidFill>
                  <a:srgbClr val="0000FF"/>
                </a:solidFill>
                <a:effectLst/>
                <a:latin typeface="Consolas" panose="020B0609020204030204" pitchFamily="49" charset="0"/>
              </a:rPr>
              <a:t>{</a:t>
            </a:r>
            <a:r>
              <a:rPr lang="en-US" sz="2400" b="0" dirty="0">
                <a:solidFill>
                  <a:srgbClr val="000000"/>
                </a:solidFill>
                <a:effectLst/>
                <a:latin typeface="Consolas" panose="020B0609020204030204" pitchFamily="49" charset="0"/>
              </a:rPr>
              <a:t>number</a:t>
            </a:r>
            <a:r>
              <a:rPr lang="en-US" sz="2400" b="0" dirty="0">
                <a:solidFill>
                  <a:srgbClr val="0000FF"/>
                </a:solidFill>
                <a:effectLst/>
                <a:latin typeface="Consolas" panose="020B0609020204030204" pitchFamily="49" charset="0"/>
              </a:rPr>
              <a:t>}</a:t>
            </a:r>
            <a:r>
              <a:rPr lang="en-US" sz="2400" b="0" dirty="0">
                <a:solidFill>
                  <a:srgbClr val="800000"/>
                </a:solidFill>
                <a:effectLst/>
                <a:latin typeface="Consolas" panose="020B0609020204030204" pitchFamily="49" charset="0"/>
              </a:rPr>
              <a:t>&lt;/p&gt;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&lt;/div&gt;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a:t>
            </a:r>
          </a:p>
          <a:p>
            <a:r>
              <a:rPr lang="en-US" sz="2400" b="0" dirty="0">
                <a:solidFill>
                  <a:srgbClr val="0000FF"/>
                </a:solidFill>
                <a:effectLst/>
                <a:latin typeface="Consolas" panose="020B0609020204030204" pitchFamily="49" charset="0"/>
              </a:rPr>
              <a:t>export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default</a:t>
            </a:r>
            <a:r>
              <a:rPr lang="en-US" sz="2400" b="0" dirty="0">
                <a:solidFill>
                  <a:srgbClr val="000000"/>
                </a:solidFill>
                <a:effectLst/>
                <a:latin typeface="Consolas" panose="020B0609020204030204" pitchFamily="49" charset="0"/>
              </a:rPr>
              <a:t> Child;</a:t>
            </a:r>
          </a:p>
        </p:txBody>
      </p:sp>
    </p:spTree>
    <p:extLst>
      <p:ext uri="{BB962C8B-B14F-4D97-AF65-F5344CB8AC3E}">
        <p14:creationId xmlns:p14="http://schemas.microsoft.com/office/powerpoint/2010/main" val="2788805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54E1-9DF8-DDCA-494F-91E8E5E7E133}"/>
              </a:ext>
            </a:extLst>
          </p:cNvPr>
          <p:cNvSpPr>
            <a:spLocks noGrp="1"/>
          </p:cNvSpPr>
          <p:nvPr>
            <p:ph type="title"/>
          </p:nvPr>
        </p:nvSpPr>
        <p:spPr/>
        <p:txBody>
          <a:bodyPr/>
          <a:lstStyle/>
          <a:p>
            <a:r>
              <a:rPr lang="en-US" dirty="0"/>
              <a:t>Components in Components</a:t>
            </a:r>
          </a:p>
        </p:txBody>
      </p:sp>
      <p:sp>
        <p:nvSpPr>
          <p:cNvPr id="3" name="Text Placeholder 2">
            <a:extLst>
              <a:ext uri="{FF2B5EF4-FFF2-40B4-BE49-F238E27FC236}">
                <a16:creationId xmlns:a16="http://schemas.microsoft.com/office/drawing/2014/main" id="{A39E706B-EE30-3696-2C7E-5D0E29FA015C}"/>
              </a:ext>
            </a:extLst>
          </p:cNvPr>
          <p:cNvSpPr>
            <a:spLocks noGrp="1"/>
          </p:cNvSpPr>
          <p:nvPr>
            <p:ph type="body" idx="1"/>
          </p:nvPr>
        </p:nvSpPr>
        <p:spPr/>
        <p:txBody>
          <a:bodyPr/>
          <a:lstStyle/>
          <a:p>
            <a:r>
              <a:rPr lang="en-US" dirty="0"/>
              <a:t>We can call components inside another component</a:t>
            </a:r>
          </a:p>
          <a:p>
            <a:r>
              <a:rPr lang="en-US" dirty="0"/>
              <a:t>Example: </a:t>
            </a:r>
          </a:p>
        </p:txBody>
      </p:sp>
      <p:pic>
        <p:nvPicPr>
          <p:cNvPr id="7" name="Picture 6">
            <a:extLst>
              <a:ext uri="{FF2B5EF4-FFF2-40B4-BE49-F238E27FC236}">
                <a16:creationId xmlns:a16="http://schemas.microsoft.com/office/drawing/2014/main" id="{EB4267A0-3769-FD2F-A5CE-49862922D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4682" y="2140872"/>
            <a:ext cx="4311004" cy="46409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88048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4769F-8BAC-7D04-87BA-A31EFAD92F3C}"/>
              </a:ext>
            </a:extLst>
          </p:cNvPr>
          <p:cNvSpPr>
            <a:spLocks noGrp="1"/>
          </p:cNvSpPr>
          <p:nvPr>
            <p:ph type="title"/>
          </p:nvPr>
        </p:nvSpPr>
        <p:spPr>
          <a:xfrm>
            <a:off x="1104900" y="76200"/>
            <a:ext cx="9980682" cy="1096962"/>
          </a:xfrm>
        </p:spPr>
        <p:txBody>
          <a:bodyPr/>
          <a:lstStyle/>
          <a:p>
            <a:r>
              <a:rPr lang="en-US" dirty="0"/>
              <a:t>Core Components</a:t>
            </a:r>
          </a:p>
        </p:txBody>
      </p:sp>
      <p:sp>
        <p:nvSpPr>
          <p:cNvPr id="3" name="Text Placeholder 2">
            <a:extLst>
              <a:ext uri="{FF2B5EF4-FFF2-40B4-BE49-F238E27FC236}">
                <a16:creationId xmlns:a16="http://schemas.microsoft.com/office/drawing/2014/main" id="{D0B23B06-7C4E-CC87-7992-F17DFAC09B0D}"/>
              </a:ext>
            </a:extLst>
          </p:cNvPr>
          <p:cNvSpPr>
            <a:spLocks noGrp="1"/>
          </p:cNvSpPr>
          <p:nvPr>
            <p:ph type="body" idx="1"/>
          </p:nvPr>
        </p:nvSpPr>
        <p:spPr>
          <a:xfrm>
            <a:off x="1104900" y="1600200"/>
            <a:ext cx="9982200" cy="4572000"/>
          </a:xfrm>
        </p:spPr>
        <p:txBody>
          <a:bodyPr/>
          <a:lstStyle/>
          <a:p>
            <a:r>
              <a:rPr lang="en-US" b="1" dirty="0">
                <a:solidFill>
                  <a:srgbClr val="FF0000"/>
                </a:solidFill>
              </a:rPr>
              <a:t>Core components </a:t>
            </a:r>
            <a:r>
              <a:rPr lang="en-US" dirty="0"/>
              <a:t>are ready-to-use components available from React Native, which include &lt;View&gt;, &lt;Text&gt;, &lt;Image&gt;, &lt;</a:t>
            </a:r>
            <a:r>
              <a:rPr lang="en-US" dirty="0" err="1"/>
              <a:t>ScrollView</a:t>
            </a:r>
            <a:r>
              <a:rPr lang="en-US" dirty="0"/>
              <a:t>&gt;, &lt;Button&gt;, and &lt;</a:t>
            </a:r>
            <a:r>
              <a:rPr lang="en-US" dirty="0" err="1"/>
              <a:t>TextInput</a:t>
            </a:r>
            <a:r>
              <a:rPr lang="en-US" dirty="0"/>
              <a:t>&gt;.</a:t>
            </a:r>
          </a:p>
          <a:p>
            <a:r>
              <a:rPr lang="en-US" b="1" dirty="0"/>
              <a:t>Importing Core Components: </a:t>
            </a:r>
            <a:r>
              <a:rPr lang="en-US" dirty="0"/>
              <a:t>You can import core components into your Expo project from the </a:t>
            </a:r>
            <a:r>
              <a:rPr lang="en-US" b="1" dirty="0"/>
              <a:t>react-native</a:t>
            </a:r>
            <a:r>
              <a:rPr lang="en-US" dirty="0"/>
              <a:t> package.</a:t>
            </a:r>
          </a:p>
        </p:txBody>
      </p:sp>
      <p:pic>
        <p:nvPicPr>
          <p:cNvPr id="5" name="Picture 4">
            <a:extLst>
              <a:ext uri="{FF2B5EF4-FFF2-40B4-BE49-F238E27FC236}">
                <a16:creationId xmlns:a16="http://schemas.microsoft.com/office/drawing/2014/main" id="{1EA22DA4-6EA9-C8CB-525E-50CF15FEA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9683" y="4767927"/>
            <a:ext cx="7123567" cy="4898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63039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3CCB7-5A15-CFE0-06FC-F75C3805A506}"/>
              </a:ext>
            </a:extLst>
          </p:cNvPr>
          <p:cNvSpPr>
            <a:spLocks noGrp="1"/>
          </p:cNvSpPr>
          <p:nvPr>
            <p:ph type="title"/>
          </p:nvPr>
        </p:nvSpPr>
        <p:spPr/>
        <p:txBody>
          <a:bodyPr/>
          <a:lstStyle/>
          <a:p>
            <a:r>
              <a:rPr lang="en-US" dirty="0"/>
              <a:t>Core Components</a:t>
            </a:r>
          </a:p>
        </p:txBody>
      </p:sp>
      <p:sp>
        <p:nvSpPr>
          <p:cNvPr id="3" name="Text Placeholder 2">
            <a:extLst>
              <a:ext uri="{FF2B5EF4-FFF2-40B4-BE49-F238E27FC236}">
                <a16:creationId xmlns:a16="http://schemas.microsoft.com/office/drawing/2014/main" id="{9ADA0735-6646-08DE-774F-7B66F04E4443}"/>
              </a:ext>
            </a:extLst>
          </p:cNvPr>
          <p:cNvSpPr>
            <a:spLocks noGrp="1"/>
          </p:cNvSpPr>
          <p:nvPr>
            <p:ph type="body" idx="1"/>
          </p:nvPr>
        </p:nvSpPr>
        <p:spPr/>
        <p:txBody>
          <a:bodyPr/>
          <a:lstStyle/>
          <a:p>
            <a:r>
              <a:rPr lang="en-US" b="1" dirty="0">
                <a:solidFill>
                  <a:srgbClr val="FF0000"/>
                </a:solidFill>
              </a:rPr>
              <a:t>Core Components Optional Functionality</a:t>
            </a:r>
            <a:r>
              <a:rPr lang="en-US" dirty="0"/>
              <a:t>:</a:t>
            </a:r>
          </a:p>
          <a:p>
            <a:pPr lvl="1"/>
            <a:r>
              <a:rPr lang="en-US" dirty="0"/>
              <a:t>Core components may have more optional functionality, which you can configure through the props.</a:t>
            </a:r>
          </a:p>
        </p:txBody>
      </p:sp>
    </p:spTree>
    <p:extLst>
      <p:ext uri="{BB962C8B-B14F-4D97-AF65-F5344CB8AC3E}">
        <p14:creationId xmlns:p14="http://schemas.microsoft.com/office/powerpoint/2010/main" val="1571074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705C9-18A0-4D5F-F6FA-E23946DFD216}"/>
              </a:ext>
            </a:extLst>
          </p:cNvPr>
          <p:cNvSpPr>
            <a:spLocks noGrp="1"/>
          </p:cNvSpPr>
          <p:nvPr>
            <p:ph type="title"/>
          </p:nvPr>
        </p:nvSpPr>
        <p:spPr/>
        <p:txBody>
          <a:bodyPr/>
          <a:lstStyle/>
          <a:p>
            <a:r>
              <a:rPr lang="en-US" dirty="0"/>
              <a:t>Core Components</a:t>
            </a:r>
          </a:p>
        </p:txBody>
      </p:sp>
      <p:sp>
        <p:nvSpPr>
          <p:cNvPr id="3" name="Text Placeholder 2">
            <a:extLst>
              <a:ext uri="{FF2B5EF4-FFF2-40B4-BE49-F238E27FC236}">
                <a16:creationId xmlns:a16="http://schemas.microsoft.com/office/drawing/2014/main" id="{9E57C697-A310-2645-8BE3-443701778EBF}"/>
              </a:ext>
            </a:extLst>
          </p:cNvPr>
          <p:cNvSpPr>
            <a:spLocks noGrp="1"/>
          </p:cNvSpPr>
          <p:nvPr>
            <p:ph type="body" idx="1"/>
          </p:nvPr>
        </p:nvSpPr>
        <p:spPr/>
        <p:txBody>
          <a:bodyPr/>
          <a:lstStyle/>
          <a:p>
            <a:r>
              <a:rPr lang="en-US" b="1" dirty="0">
                <a:solidFill>
                  <a:srgbClr val="FF0000"/>
                </a:solidFill>
              </a:rPr>
              <a:t>&lt;View&gt; Component</a:t>
            </a:r>
          </a:p>
          <a:p>
            <a:pPr lvl="1"/>
            <a:r>
              <a:rPr lang="en-US" dirty="0"/>
              <a:t>The &lt;View&gt; component is a generic “visible” container without any semantic meaning or noticeable performance impact, best translated as &lt;div&gt; from web.</a:t>
            </a:r>
          </a:p>
          <a:p>
            <a:r>
              <a:rPr lang="en-US" b="1" dirty="0">
                <a:solidFill>
                  <a:srgbClr val="FF0000"/>
                </a:solidFill>
              </a:rPr>
              <a:t>&lt;</a:t>
            </a:r>
            <a:r>
              <a:rPr lang="en-US" b="1" dirty="0" err="1">
                <a:solidFill>
                  <a:srgbClr val="FF0000"/>
                </a:solidFill>
              </a:rPr>
              <a:t>TextInput</a:t>
            </a:r>
            <a:r>
              <a:rPr lang="en-US" b="1" dirty="0">
                <a:solidFill>
                  <a:srgbClr val="FF0000"/>
                </a:solidFill>
              </a:rPr>
              <a:t>&gt; Component</a:t>
            </a:r>
          </a:p>
          <a:p>
            <a:pPr lvl="1"/>
            <a:r>
              <a:rPr lang="en-US" dirty="0"/>
              <a:t>The &lt;</a:t>
            </a:r>
            <a:r>
              <a:rPr lang="en-US" dirty="0" err="1"/>
              <a:t>TextInput</a:t>
            </a:r>
            <a:r>
              <a:rPr lang="en-US" dirty="0"/>
              <a:t>&gt; component can capture alphanumeric input from the user. Its behavior can be modified with the </a:t>
            </a:r>
            <a:r>
              <a:rPr lang="en-US" dirty="0" err="1"/>
              <a:t>onChangeText</a:t>
            </a:r>
            <a:r>
              <a:rPr lang="en-US" dirty="0"/>
              <a:t> prop, which accepts a function.</a:t>
            </a:r>
          </a:p>
          <a:p>
            <a:endParaRPr lang="en-US" dirty="0"/>
          </a:p>
          <a:p>
            <a:endParaRPr lang="en-US" dirty="0"/>
          </a:p>
        </p:txBody>
      </p:sp>
    </p:spTree>
    <p:extLst>
      <p:ext uri="{BB962C8B-B14F-4D97-AF65-F5344CB8AC3E}">
        <p14:creationId xmlns:p14="http://schemas.microsoft.com/office/powerpoint/2010/main" val="2766456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B1318-12CF-234B-F2FB-CF9511F73457}"/>
              </a:ext>
            </a:extLst>
          </p:cNvPr>
          <p:cNvSpPr>
            <a:spLocks noGrp="1"/>
          </p:cNvSpPr>
          <p:nvPr>
            <p:ph type="title"/>
          </p:nvPr>
        </p:nvSpPr>
        <p:spPr/>
        <p:txBody>
          <a:bodyPr/>
          <a:lstStyle/>
          <a:p>
            <a:r>
              <a:rPr lang="en-US" dirty="0"/>
              <a:t>Core Components</a:t>
            </a:r>
          </a:p>
        </p:txBody>
      </p:sp>
      <p:sp>
        <p:nvSpPr>
          <p:cNvPr id="3" name="Text Placeholder 2">
            <a:extLst>
              <a:ext uri="{FF2B5EF4-FFF2-40B4-BE49-F238E27FC236}">
                <a16:creationId xmlns:a16="http://schemas.microsoft.com/office/drawing/2014/main" id="{3D37089A-F8E0-3F72-5D0B-9155B9A225D8}"/>
              </a:ext>
            </a:extLst>
          </p:cNvPr>
          <p:cNvSpPr>
            <a:spLocks noGrp="1"/>
          </p:cNvSpPr>
          <p:nvPr>
            <p:ph type="body" idx="1"/>
          </p:nvPr>
        </p:nvSpPr>
        <p:spPr/>
        <p:txBody>
          <a:bodyPr/>
          <a:lstStyle/>
          <a:p>
            <a:r>
              <a:rPr lang="en-US" b="1" dirty="0">
                <a:solidFill>
                  <a:srgbClr val="FF0000"/>
                </a:solidFill>
              </a:rPr>
              <a:t>&lt;</a:t>
            </a:r>
            <a:r>
              <a:rPr lang="en-US" b="1" dirty="0" err="1">
                <a:solidFill>
                  <a:srgbClr val="FF0000"/>
                </a:solidFill>
              </a:rPr>
              <a:t>ScrollView</a:t>
            </a:r>
            <a:r>
              <a:rPr lang="en-US" b="1" dirty="0">
                <a:solidFill>
                  <a:srgbClr val="FF0000"/>
                </a:solidFill>
              </a:rPr>
              <a:t>&gt; Component</a:t>
            </a:r>
          </a:p>
          <a:p>
            <a:pPr lvl="1"/>
            <a:r>
              <a:rPr lang="en-US" dirty="0"/>
              <a:t>The </a:t>
            </a:r>
            <a:r>
              <a:rPr lang="en-US" b="1" dirty="0"/>
              <a:t>&lt;</a:t>
            </a:r>
            <a:r>
              <a:rPr lang="en-US" b="1" dirty="0" err="1"/>
              <a:t>ScrollView</a:t>
            </a:r>
            <a:r>
              <a:rPr lang="en-US" b="1" dirty="0"/>
              <a:t>&gt;</a:t>
            </a:r>
            <a:r>
              <a:rPr lang="en-US" dirty="0"/>
              <a:t> component is a generic “visible” container with scrolling, but it’s less performant than &lt;View&gt;, making it less suitable for simple styling and short lines of text.</a:t>
            </a:r>
          </a:p>
          <a:p>
            <a:r>
              <a:rPr lang="en-US" b="1" dirty="0">
                <a:solidFill>
                  <a:srgbClr val="FF0000"/>
                </a:solidFill>
              </a:rPr>
              <a:t>&lt;Text&gt; Component</a:t>
            </a:r>
          </a:p>
          <a:p>
            <a:pPr lvl="1"/>
            <a:r>
              <a:rPr lang="en-US" b="1" dirty="0"/>
              <a:t>The &lt;Text&gt; </a:t>
            </a:r>
            <a:r>
              <a:rPr lang="en-US" dirty="0"/>
              <a:t>component is the only way to display text in React Native. These components can be nested to inherit and modify styling.</a:t>
            </a:r>
          </a:p>
        </p:txBody>
      </p:sp>
    </p:spTree>
    <p:extLst>
      <p:ext uri="{BB962C8B-B14F-4D97-AF65-F5344CB8AC3E}">
        <p14:creationId xmlns:p14="http://schemas.microsoft.com/office/powerpoint/2010/main" val="220402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840FB-71AD-2ABA-596E-71944E4A922C}"/>
              </a:ext>
            </a:extLst>
          </p:cNvPr>
          <p:cNvSpPr>
            <a:spLocks noGrp="1"/>
          </p:cNvSpPr>
          <p:nvPr>
            <p:ph type="title"/>
          </p:nvPr>
        </p:nvSpPr>
        <p:spPr/>
        <p:txBody>
          <a:bodyPr/>
          <a:lstStyle/>
          <a:p>
            <a:r>
              <a:rPr lang="en-US" dirty="0"/>
              <a:t>Learn to Work with API- JavaScript</a:t>
            </a:r>
          </a:p>
        </p:txBody>
      </p:sp>
      <p:sp>
        <p:nvSpPr>
          <p:cNvPr id="3" name="Text Placeholder 2">
            <a:extLst>
              <a:ext uri="{FF2B5EF4-FFF2-40B4-BE49-F238E27FC236}">
                <a16:creationId xmlns:a16="http://schemas.microsoft.com/office/drawing/2014/main" id="{B0E7AE17-44E5-AD29-F173-C1CCF7CB82F5}"/>
              </a:ext>
            </a:extLst>
          </p:cNvPr>
          <p:cNvSpPr>
            <a:spLocks noGrp="1"/>
          </p:cNvSpPr>
          <p:nvPr>
            <p:ph type="body" idx="1"/>
          </p:nvPr>
        </p:nvSpPr>
        <p:spPr/>
        <p:txBody>
          <a:bodyPr/>
          <a:lstStyle/>
          <a:p>
            <a:r>
              <a:rPr lang="en-US" b="1" dirty="0">
                <a:solidFill>
                  <a:srgbClr val="FF0000"/>
                </a:solidFill>
              </a:rPr>
              <a:t>What is an API (Application Programming Interface)?</a:t>
            </a:r>
          </a:p>
          <a:p>
            <a:pPr lvl="1"/>
            <a:r>
              <a:rPr lang="en-US" b="1" dirty="0"/>
              <a:t>APIs</a:t>
            </a:r>
            <a:r>
              <a:rPr lang="en-US" dirty="0"/>
              <a:t> are mechanisms that enable two software components to communicate with each other using a set of definitions and protocols. </a:t>
            </a:r>
          </a:p>
          <a:p>
            <a:pPr lvl="1"/>
            <a:r>
              <a:rPr lang="en-US" dirty="0"/>
              <a:t>For example, the weather bureau’s software system contains daily weather data. The weather app on your phone “talks” to this system via APIs and shows you daily weather updates on your phone.</a:t>
            </a:r>
          </a:p>
        </p:txBody>
      </p:sp>
    </p:spTree>
    <p:extLst>
      <p:ext uri="{BB962C8B-B14F-4D97-AF65-F5344CB8AC3E}">
        <p14:creationId xmlns:p14="http://schemas.microsoft.com/office/powerpoint/2010/main" val="3423422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EC165-BF26-20F2-5107-681EF68625AA}"/>
              </a:ext>
            </a:extLst>
          </p:cNvPr>
          <p:cNvSpPr>
            <a:spLocks noGrp="1"/>
          </p:cNvSpPr>
          <p:nvPr>
            <p:ph type="title"/>
          </p:nvPr>
        </p:nvSpPr>
        <p:spPr/>
        <p:txBody>
          <a:bodyPr/>
          <a:lstStyle/>
          <a:p>
            <a:r>
              <a:rPr lang="en-US" dirty="0"/>
              <a:t>Learn to Work with API- JavaScript</a:t>
            </a:r>
          </a:p>
        </p:txBody>
      </p:sp>
      <p:sp>
        <p:nvSpPr>
          <p:cNvPr id="3" name="Text Placeholder 2">
            <a:extLst>
              <a:ext uri="{FF2B5EF4-FFF2-40B4-BE49-F238E27FC236}">
                <a16:creationId xmlns:a16="http://schemas.microsoft.com/office/drawing/2014/main" id="{5136B9C8-FD25-6768-A491-9519B9F2AAC0}"/>
              </a:ext>
            </a:extLst>
          </p:cNvPr>
          <p:cNvSpPr>
            <a:spLocks noGrp="1"/>
          </p:cNvSpPr>
          <p:nvPr>
            <p:ph type="body" idx="1"/>
          </p:nvPr>
        </p:nvSpPr>
        <p:spPr/>
        <p:txBody>
          <a:bodyPr>
            <a:normAutofit/>
          </a:bodyPr>
          <a:lstStyle/>
          <a:p>
            <a:r>
              <a:rPr lang="en-US" b="1" dirty="0">
                <a:solidFill>
                  <a:srgbClr val="FF0000"/>
                </a:solidFill>
              </a:rPr>
              <a:t>What is an API (Application Programming Interface)?</a:t>
            </a:r>
          </a:p>
          <a:p>
            <a:pPr>
              <a:buFont typeface="Arial" panose="020B0604020202020204" pitchFamily="34" charset="0"/>
              <a:buChar char="•"/>
            </a:pPr>
            <a:r>
              <a:rPr lang="en-US" b="1" dirty="0"/>
              <a:t>Common Uses</a:t>
            </a:r>
            <a:r>
              <a:rPr lang="en-US" dirty="0"/>
              <a:t>:</a:t>
            </a:r>
          </a:p>
          <a:p>
            <a:pPr lvl="1">
              <a:buFont typeface="Arial" panose="020B0604020202020204" pitchFamily="34" charset="0"/>
              <a:buChar char="•"/>
            </a:pPr>
            <a:r>
              <a:rPr lang="en-US" dirty="0"/>
              <a:t>Fetching data (e.g., weather, stock prices)</a:t>
            </a:r>
          </a:p>
          <a:p>
            <a:pPr lvl="1">
              <a:buFont typeface="Arial" panose="020B0604020202020204" pitchFamily="34" charset="0"/>
              <a:buChar char="•"/>
            </a:pPr>
            <a:r>
              <a:rPr lang="en-US" dirty="0"/>
              <a:t>Sending data (e.g., form submissions, payments)</a:t>
            </a:r>
          </a:p>
          <a:p>
            <a:pPr lvl="1">
              <a:buFont typeface="Arial" panose="020B0604020202020204" pitchFamily="34" charset="0"/>
              <a:buChar char="•"/>
            </a:pPr>
            <a:r>
              <a:rPr lang="en-US" dirty="0"/>
              <a:t>Integration with third-party services</a:t>
            </a:r>
          </a:p>
          <a:p>
            <a:r>
              <a:rPr lang="en-US" b="1" dirty="0"/>
              <a:t>Types of APIs</a:t>
            </a:r>
          </a:p>
          <a:p>
            <a:pPr lvl="1">
              <a:buFont typeface="Arial" panose="020B0604020202020204" pitchFamily="34" charset="0"/>
              <a:buChar char="•"/>
            </a:pPr>
            <a:r>
              <a:rPr lang="en-US" b="1" dirty="0"/>
              <a:t>Web APIs</a:t>
            </a:r>
            <a:r>
              <a:rPr lang="en-US" dirty="0"/>
              <a:t>: REST, </a:t>
            </a:r>
            <a:r>
              <a:rPr lang="en-US" dirty="0" err="1"/>
              <a:t>GraphQL</a:t>
            </a:r>
            <a:endParaRPr lang="en-US" dirty="0"/>
          </a:p>
          <a:p>
            <a:pPr lvl="1">
              <a:buFont typeface="Arial" panose="020B0604020202020204" pitchFamily="34" charset="0"/>
              <a:buChar char="•"/>
            </a:pPr>
            <a:r>
              <a:rPr lang="en-US" b="1" dirty="0"/>
              <a:t>Browser APIs</a:t>
            </a:r>
            <a:r>
              <a:rPr lang="en-US" dirty="0"/>
              <a:t>: DOM, Geolocation, Fetch</a:t>
            </a:r>
          </a:p>
          <a:p>
            <a:pPr lvl="1">
              <a:buFont typeface="Arial" panose="020B0604020202020204" pitchFamily="34" charset="0"/>
              <a:buChar char="•"/>
            </a:pPr>
            <a:r>
              <a:rPr lang="en-US" b="1" dirty="0"/>
              <a:t>Third-party APIs</a:t>
            </a:r>
            <a:r>
              <a:rPr lang="en-US" dirty="0"/>
              <a:t>: Social media, Payment gateways</a:t>
            </a:r>
          </a:p>
          <a:p>
            <a:endParaRPr lang="en-US" dirty="0"/>
          </a:p>
        </p:txBody>
      </p:sp>
    </p:spTree>
    <p:extLst>
      <p:ext uri="{BB962C8B-B14F-4D97-AF65-F5344CB8AC3E}">
        <p14:creationId xmlns:p14="http://schemas.microsoft.com/office/powerpoint/2010/main" val="478024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83664-2CA0-6E7C-415D-580039D71024}"/>
              </a:ext>
            </a:extLst>
          </p:cNvPr>
          <p:cNvSpPr>
            <a:spLocks noGrp="1"/>
          </p:cNvSpPr>
          <p:nvPr>
            <p:ph type="title"/>
          </p:nvPr>
        </p:nvSpPr>
        <p:spPr/>
        <p:txBody>
          <a:bodyPr/>
          <a:lstStyle/>
          <a:p>
            <a:r>
              <a:rPr lang="en-US" dirty="0"/>
              <a:t>HTTP Basics for APIs</a:t>
            </a:r>
          </a:p>
        </p:txBody>
      </p:sp>
      <p:sp>
        <p:nvSpPr>
          <p:cNvPr id="3" name="Text Placeholder 2">
            <a:extLst>
              <a:ext uri="{FF2B5EF4-FFF2-40B4-BE49-F238E27FC236}">
                <a16:creationId xmlns:a16="http://schemas.microsoft.com/office/drawing/2014/main" id="{4A3288E7-0B36-FCBD-F7C5-0B9B442EBFC7}"/>
              </a:ext>
            </a:extLst>
          </p:cNvPr>
          <p:cNvSpPr>
            <a:spLocks noGrp="1"/>
          </p:cNvSpPr>
          <p:nvPr>
            <p:ph type="body" idx="1"/>
          </p:nvPr>
        </p:nvSpPr>
        <p:spPr/>
        <p:txBody>
          <a:bodyPr>
            <a:normAutofit/>
          </a:bodyPr>
          <a:lstStyle/>
          <a:p>
            <a:r>
              <a:rPr lang="en-US" b="1" dirty="0">
                <a:solidFill>
                  <a:srgbClr val="FF0000"/>
                </a:solidFill>
              </a:rPr>
              <a:t>HTTP Methods</a:t>
            </a:r>
            <a:r>
              <a:rPr lang="en-US" dirty="0"/>
              <a:t>:</a:t>
            </a:r>
          </a:p>
          <a:p>
            <a:pPr lvl="1"/>
            <a:r>
              <a:rPr lang="en-US" dirty="0"/>
              <a:t>GET: Retrieve data</a:t>
            </a:r>
          </a:p>
          <a:p>
            <a:pPr lvl="1"/>
            <a:r>
              <a:rPr lang="en-US" dirty="0"/>
              <a:t>POST: Submit data</a:t>
            </a:r>
          </a:p>
          <a:p>
            <a:pPr lvl="1"/>
            <a:r>
              <a:rPr lang="en-US" dirty="0"/>
              <a:t>PUT/PATCH: Update data</a:t>
            </a:r>
          </a:p>
          <a:p>
            <a:pPr lvl="1"/>
            <a:r>
              <a:rPr lang="en-US" dirty="0"/>
              <a:t>DELETE: Remove data</a:t>
            </a:r>
          </a:p>
          <a:p>
            <a:r>
              <a:rPr lang="en-US" b="1" dirty="0">
                <a:solidFill>
                  <a:srgbClr val="FF0000"/>
                </a:solidFill>
              </a:rPr>
              <a:t>Status Codes:</a:t>
            </a:r>
          </a:p>
          <a:p>
            <a:pPr lvl="1"/>
            <a:r>
              <a:rPr lang="en-US" dirty="0"/>
              <a:t>200: Success</a:t>
            </a:r>
          </a:p>
          <a:p>
            <a:pPr lvl="1"/>
            <a:r>
              <a:rPr lang="en-US" dirty="0"/>
              <a:t>404: Not Found</a:t>
            </a:r>
          </a:p>
          <a:p>
            <a:pPr lvl="1"/>
            <a:r>
              <a:rPr lang="en-US" dirty="0"/>
              <a:t>500: Server Error</a:t>
            </a:r>
          </a:p>
          <a:p>
            <a:endParaRPr lang="en-US" dirty="0"/>
          </a:p>
        </p:txBody>
      </p:sp>
    </p:spTree>
    <p:extLst>
      <p:ext uri="{BB962C8B-B14F-4D97-AF65-F5344CB8AC3E}">
        <p14:creationId xmlns:p14="http://schemas.microsoft.com/office/powerpoint/2010/main" val="2425274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BFAFB-9639-8F09-BC74-706F00E3A923}"/>
              </a:ext>
            </a:extLst>
          </p:cNvPr>
          <p:cNvSpPr>
            <a:spLocks noGrp="1"/>
          </p:cNvSpPr>
          <p:nvPr>
            <p:ph type="title"/>
          </p:nvPr>
        </p:nvSpPr>
        <p:spPr/>
        <p:txBody>
          <a:bodyPr/>
          <a:lstStyle/>
          <a:p>
            <a:r>
              <a:rPr lang="en-US" b="1" dirty="0"/>
              <a:t>JavaScript Tools for API Work</a:t>
            </a:r>
            <a:endParaRPr lang="en-US" dirty="0"/>
          </a:p>
        </p:txBody>
      </p:sp>
      <p:sp>
        <p:nvSpPr>
          <p:cNvPr id="3" name="Text Placeholder 2">
            <a:extLst>
              <a:ext uri="{FF2B5EF4-FFF2-40B4-BE49-F238E27FC236}">
                <a16:creationId xmlns:a16="http://schemas.microsoft.com/office/drawing/2014/main" id="{1051B2B7-2D5F-8005-3BBE-34142A9BE555}"/>
              </a:ext>
            </a:extLst>
          </p:cNvPr>
          <p:cNvSpPr>
            <a:spLocks noGrp="1"/>
          </p:cNvSpPr>
          <p:nvPr>
            <p:ph type="body" idx="1"/>
          </p:nvPr>
        </p:nvSpPr>
        <p:spPr/>
        <p:txBody>
          <a:bodyPr/>
          <a:lstStyle/>
          <a:p>
            <a:pPr>
              <a:buFont typeface="Arial" panose="020B0604020202020204" pitchFamily="34" charset="0"/>
              <a:buChar char="•"/>
            </a:pPr>
            <a:r>
              <a:rPr lang="en-US" b="1" dirty="0"/>
              <a:t>Fetch API</a:t>
            </a:r>
            <a:r>
              <a:rPr lang="en-US" dirty="0"/>
              <a:t>: Built-in for making HTTP requests.</a:t>
            </a:r>
          </a:p>
          <a:p>
            <a:pPr>
              <a:buFont typeface="Arial" panose="020B0604020202020204" pitchFamily="34" charset="0"/>
              <a:buChar char="•"/>
            </a:pPr>
            <a:r>
              <a:rPr lang="en-US" b="1" dirty="0"/>
              <a:t>Axios</a:t>
            </a:r>
            <a:r>
              <a:rPr lang="en-US" dirty="0"/>
              <a:t>: A popular library for advanced use cases.</a:t>
            </a:r>
          </a:p>
          <a:p>
            <a:pPr>
              <a:buFont typeface="Arial" panose="020B0604020202020204" pitchFamily="34" charset="0"/>
              <a:buChar char="•"/>
            </a:pPr>
            <a:r>
              <a:rPr lang="en-US" b="1" dirty="0"/>
              <a:t>Promises and Async/Await</a:t>
            </a:r>
            <a:r>
              <a:rPr lang="en-US" dirty="0"/>
              <a:t>: Handle asynchronous operations.</a:t>
            </a:r>
          </a:p>
          <a:p>
            <a:endParaRPr lang="en-US" dirty="0"/>
          </a:p>
        </p:txBody>
      </p:sp>
    </p:spTree>
    <p:extLst>
      <p:ext uri="{BB962C8B-B14F-4D97-AF65-F5344CB8AC3E}">
        <p14:creationId xmlns:p14="http://schemas.microsoft.com/office/powerpoint/2010/main" val="595799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76570-011F-EF08-1B7C-32160EF3E501}"/>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60B2E76A-C9F1-9892-4CD0-BA8CB6BB0CD6}"/>
              </a:ext>
            </a:extLst>
          </p:cNvPr>
          <p:cNvSpPr>
            <a:spLocks noGrp="1"/>
          </p:cNvSpPr>
          <p:nvPr>
            <p:ph type="body" idx="1"/>
          </p:nvPr>
        </p:nvSpPr>
        <p:spPr/>
        <p:txBody>
          <a:bodyPr/>
          <a:lstStyle/>
          <a:p>
            <a:r>
              <a:rPr lang="vi-VN" dirty="0"/>
              <a:t>A modern interface for making HTTP requests in JavaScript.</a:t>
            </a:r>
            <a:endParaRPr lang="en-US" dirty="0"/>
          </a:p>
          <a:p>
            <a:r>
              <a:rPr lang="vi-VN" dirty="0"/>
              <a:t>Replaces XMLHttpRequest for cleaner and more powerful code.</a:t>
            </a:r>
            <a:endParaRPr lang="en-US" dirty="0"/>
          </a:p>
          <a:p>
            <a:r>
              <a:rPr lang="vi-VN" dirty="0"/>
              <a:t>Part of the browser's native JavaScript environment.</a:t>
            </a:r>
            <a:endParaRPr lang="en-US" dirty="0"/>
          </a:p>
        </p:txBody>
      </p:sp>
    </p:spTree>
    <p:extLst>
      <p:ext uri="{BB962C8B-B14F-4D97-AF65-F5344CB8AC3E}">
        <p14:creationId xmlns:p14="http://schemas.microsoft.com/office/powerpoint/2010/main" val="2271305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F234-20D0-F9D6-71C7-F3EA896CF0CE}"/>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B8555AC0-FE95-3531-F339-24B9C1DB3AFC}"/>
              </a:ext>
            </a:extLst>
          </p:cNvPr>
          <p:cNvSpPr>
            <a:spLocks noGrp="1"/>
          </p:cNvSpPr>
          <p:nvPr>
            <p:ph type="body" idx="1"/>
          </p:nvPr>
        </p:nvSpPr>
        <p:spPr/>
        <p:txBody>
          <a:bodyPr/>
          <a:lstStyle/>
          <a:p>
            <a:r>
              <a:rPr lang="en-US" b="1" dirty="0">
                <a:solidFill>
                  <a:srgbClr val="FF0000"/>
                </a:solidFill>
              </a:rPr>
              <a:t>Key Features of Fetch API:</a:t>
            </a:r>
          </a:p>
          <a:p>
            <a:pPr lvl="1"/>
            <a:r>
              <a:rPr lang="en-US" dirty="0"/>
              <a:t>Uses Promises for handling asynchronous tasks.</a:t>
            </a:r>
          </a:p>
          <a:p>
            <a:pPr lvl="1"/>
            <a:r>
              <a:rPr lang="en-US" dirty="0"/>
              <a:t>Supports HTTP methods: GET, POST, PUT, DELETE, etc.</a:t>
            </a:r>
          </a:p>
          <a:p>
            <a:pPr lvl="1"/>
            <a:r>
              <a:rPr lang="en-US" dirty="0"/>
              <a:t>Handles JSON and other content types seamlessly.</a:t>
            </a:r>
          </a:p>
          <a:p>
            <a:pPr lvl="1"/>
            <a:r>
              <a:rPr lang="en-US" dirty="0"/>
              <a:t>Provides more flexible request/response handling.</a:t>
            </a:r>
          </a:p>
        </p:txBody>
      </p:sp>
    </p:spTree>
    <p:extLst>
      <p:ext uri="{BB962C8B-B14F-4D97-AF65-F5344CB8AC3E}">
        <p14:creationId xmlns:p14="http://schemas.microsoft.com/office/powerpoint/2010/main" val="1404822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380D-8320-325B-93E6-D2A3E52BFF8E}"/>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16B94286-AD11-5A31-48E3-496C0EA5EA2C}"/>
              </a:ext>
            </a:extLst>
          </p:cNvPr>
          <p:cNvSpPr>
            <a:spLocks noGrp="1"/>
          </p:cNvSpPr>
          <p:nvPr>
            <p:ph type="body" idx="1"/>
          </p:nvPr>
        </p:nvSpPr>
        <p:spPr/>
        <p:txBody>
          <a:bodyPr/>
          <a:lstStyle/>
          <a:p>
            <a:r>
              <a:rPr lang="en-US" b="1" dirty="0">
                <a:solidFill>
                  <a:srgbClr val="FF0000"/>
                </a:solidFill>
              </a:rPr>
              <a:t>Basic Syntax</a:t>
            </a:r>
            <a:r>
              <a:rPr lang="en-US" dirty="0"/>
              <a:t>:</a:t>
            </a:r>
          </a:p>
          <a:p>
            <a:endParaRPr lang="en-US" dirty="0"/>
          </a:p>
          <a:p>
            <a:endParaRPr lang="en-US" dirty="0"/>
          </a:p>
          <a:p>
            <a:endParaRPr lang="en-US" dirty="0"/>
          </a:p>
          <a:p>
            <a:endParaRPr lang="en-US" dirty="0"/>
          </a:p>
          <a:p>
            <a:pPr lvl="1"/>
            <a:r>
              <a:rPr lang="en-US" i="1" dirty="0"/>
              <a:t>url: The endpoint of the </a:t>
            </a:r>
            <a:r>
              <a:rPr lang="en-US" i="1" dirty="0" err="1">
                <a:solidFill>
                  <a:srgbClr val="FF0000"/>
                </a:solidFill>
              </a:rPr>
              <a:t>request.options</a:t>
            </a:r>
            <a:r>
              <a:rPr lang="en-US" i="1" dirty="0"/>
              <a:t>: </a:t>
            </a:r>
          </a:p>
          <a:p>
            <a:pPr lvl="1"/>
            <a:r>
              <a:rPr lang="en-US" i="1" dirty="0"/>
              <a:t>Optional configurations (method, headers, body, etc.).</a:t>
            </a:r>
          </a:p>
        </p:txBody>
      </p:sp>
      <p:sp>
        <p:nvSpPr>
          <p:cNvPr id="5" name="TextBox 4">
            <a:extLst>
              <a:ext uri="{FF2B5EF4-FFF2-40B4-BE49-F238E27FC236}">
                <a16:creationId xmlns:a16="http://schemas.microsoft.com/office/drawing/2014/main" id="{5FE296D4-3222-D38A-025B-EED77B05F7D7}"/>
              </a:ext>
            </a:extLst>
          </p:cNvPr>
          <p:cNvSpPr txBox="1"/>
          <p:nvPr/>
        </p:nvSpPr>
        <p:spPr>
          <a:xfrm>
            <a:off x="3228669" y="2090172"/>
            <a:ext cx="5733144" cy="2677656"/>
          </a:xfrm>
          <a:prstGeom prst="rect">
            <a:avLst/>
          </a:prstGeom>
          <a:noFill/>
          <a:ln>
            <a:solidFill>
              <a:schemeClr val="accent1"/>
            </a:solidFill>
          </a:ln>
        </p:spPr>
        <p:txBody>
          <a:bodyPr wrap="square">
            <a:spAutoFit/>
          </a:bodyPr>
          <a:lstStyle/>
          <a:p>
            <a:r>
              <a:rPr lang="en-US" sz="2400" b="1" dirty="0">
                <a:latin typeface="Consolas" panose="020B0609020204030204" pitchFamily="49" charset="0"/>
              </a:rPr>
              <a:t>fetch(</a:t>
            </a:r>
            <a:r>
              <a:rPr lang="en-US" sz="2400" b="1" dirty="0" err="1">
                <a:latin typeface="Consolas" panose="020B0609020204030204" pitchFamily="49" charset="0"/>
              </a:rPr>
              <a:t>url</a:t>
            </a:r>
            <a:r>
              <a:rPr lang="en-US" sz="2400" b="1" dirty="0">
                <a:latin typeface="Consolas" panose="020B0609020204030204" pitchFamily="49" charset="0"/>
              </a:rPr>
              <a:t>, options)</a:t>
            </a:r>
          </a:p>
          <a:p>
            <a:r>
              <a:rPr lang="en-US" sz="2400" b="1" dirty="0">
                <a:latin typeface="Consolas" panose="020B0609020204030204" pitchFamily="49" charset="0"/>
              </a:rPr>
              <a:t>  .then(response =&gt; {</a:t>
            </a:r>
          </a:p>
          <a:p>
            <a:r>
              <a:rPr lang="en-US" sz="2400" b="1" dirty="0">
                <a:latin typeface="Consolas" panose="020B0609020204030204" pitchFamily="49" charset="0"/>
              </a:rPr>
              <a:t>    // Process the response</a:t>
            </a:r>
          </a:p>
          <a:p>
            <a:r>
              <a:rPr lang="en-US" sz="2400" b="1" dirty="0">
                <a:latin typeface="Consolas" panose="020B0609020204030204" pitchFamily="49" charset="0"/>
              </a:rPr>
              <a:t>  })</a:t>
            </a:r>
          </a:p>
          <a:p>
            <a:r>
              <a:rPr lang="en-US" sz="2400" b="1" dirty="0">
                <a:latin typeface="Consolas" panose="020B0609020204030204" pitchFamily="49" charset="0"/>
              </a:rPr>
              <a:t>  .catch(error =&gt; {</a:t>
            </a:r>
          </a:p>
          <a:p>
            <a:r>
              <a:rPr lang="en-US" sz="2400" b="1" dirty="0">
                <a:latin typeface="Consolas" panose="020B0609020204030204" pitchFamily="49" charset="0"/>
              </a:rPr>
              <a:t>    // Handle errors</a:t>
            </a:r>
          </a:p>
          <a:p>
            <a:r>
              <a:rPr lang="en-US" sz="2400" b="1" dirty="0">
                <a:latin typeface="Consolas" panose="020B0609020204030204" pitchFamily="49" charset="0"/>
              </a:rPr>
              <a:t>  });</a:t>
            </a:r>
          </a:p>
        </p:txBody>
      </p:sp>
    </p:spTree>
    <p:extLst>
      <p:ext uri="{BB962C8B-B14F-4D97-AF65-F5344CB8AC3E}">
        <p14:creationId xmlns:p14="http://schemas.microsoft.com/office/powerpoint/2010/main" val="35330602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755ED-89FF-6384-1783-17BEEBB558F3}"/>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A2D24C33-33AB-71B2-F6FA-131520F42F3C}"/>
              </a:ext>
            </a:extLst>
          </p:cNvPr>
          <p:cNvSpPr>
            <a:spLocks noGrp="1"/>
          </p:cNvSpPr>
          <p:nvPr>
            <p:ph type="body" idx="1"/>
          </p:nvPr>
        </p:nvSpPr>
        <p:spPr/>
        <p:txBody>
          <a:bodyPr/>
          <a:lstStyle/>
          <a:p>
            <a:r>
              <a:rPr lang="en-US" dirty="0"/>
              <a:t>Example: GET Request</a:t>
            </a:r>
          </a:p>
          <a:p>
            <a:endParaRPr lang="en-US" dirty="0"/>
          </a:p>
          <a:p>
            <a:endParaRPr lang="en-US" dirty="0"/>
          </a:p>
          <a:p>
            <a:endParaRPr lang="en-US" dirty="0"/>
          </a:p>
          <a:p>
            <a:endParaRPr lang="en-US" dirty="0"/>
          </a:p>
          <a:p>
            <a:pPr lvl="1"/>
            <a:r>
              <a:rPr lang="en-US" i="1" dirty="0" err="1"/>
              <a:t>response.json</a:t>
            </a:r>
            <a:r>
              <a:rPr lang="en-US" i="1" dirty="0"/>
              <a:t>(): Parses the JSON response.</a:t>
            </a:r>
          </a:p>
          <a:p>
            <a:pPr lvl="1"/>
            <a:r>
              <a:rPr lang="en-US" i="1" dirty="0"/>
              <a:t>Handles errors with .catch().</a:t>
            </a:r>
          </a:p>
        </p:txBody>
      </p:sp>
      <p:sp>
        <p:nvSpPr>
          <p:cNvPr id="5" name="TextBox 4">
            <a:extLst>
              <a:ext uri="{FF2B5EF4-FFF2-40B4-BE49-F238E27FC236}">
                <a16:creationId xmlns:a16="http://schemas.microsoft.com/office/drawing/2014/main" id="{3ABAE0BF-AFC7-532D-CF5C-8AA356487E1D}"/>
              </a:ext>
            </a:extLst>
          </p:cNvPr>
          <p:cNvSpPr txBox="1"/>
          <p:nvPr/>
        </p:nvSpPr>
        <p:spPr>
          <a:xfrm>
            <a:off x="2728685" y="2459504"/>
            <a:ext cx="7271657" cy="1938992"/>
          </a:xfrm>
          <a:prstGeom prst="rect">
            <a:avLst/>
          </a:prstGeom>
          <a:noFill/>
          <a:ln>
            <a:solidFill>
              <a:schemeClr val="accent1"/>
            </a:solidFill>
          </a:ln>
        </p:spPr>
        <p:txBody>
          <a:bodyPr wrap="square">
            <a:spAutoFit/>
          </a:bodyPr>
          <a:lstStyle/>
          <a:p>
            <a:r>
              <a:rPr lang="en-US" sz="2400" b="1" dirty="0">
                <a:solidFill>
                  <a:srgbClr val="0070C0"/>
                </a:solidFill>
                <a:latin typeface="Consolas" panose="020B0609020204030204" pitchFamily="49" charset="0"/>
              </a:rPr>
              <a:t>fetch</a:t>
            </a:r>
            <a:r>
              <a:rPr lang="en-US" sz="2400" b="1" dirty="0">
                <a:latin typeface="Consolas" panose="020B0609020204030204" pitchFamily="49" charset="0"/>
              </a:rPr>
              <a:t>('https://api.example.com/data')</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then</a:t>
            </a:r>
            <a:r>
              <a:rPr lang="en-US" sz="2400" b="1" dirty="0">
                <a:latin typeface="Consolas" panose="020B0609020204030204" pitchFamily="49" charset="0"/>
              </a:rPr>
              <a:t>(response =&gt; </a:t>
            </a:r>
            <a:r>
              <a:rPr lang="en-US" sz="2400" b="1" dirty="0" err="1">
                <a:solidFill>
                  <a:srgbClr val="FF0000"/>
                </a:solidFill>
                <a:latin typeface="Consolas" panose="020B0609020204030204" pitchFamily="49" charset="0"/>
              </a:rPr>
              <a:t>response.json</a:t>
            </a:r>
            <a:r>
              <a:rPr lang="en-US" sz="2400" b="1" dirty="0">
                <a:latin typeface="Consolas" panose="020B0609020204030204" pitchFamily="49" charset="0"/>
              </a:rPr>
              <a:t>())</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then</a:t>
            </a:r>
            <a:r>
              <a:rPr lang="en-US" sz="2400" b="1" dirty="0">
                <a:latin typeface="Consolas" panose="020B0609020204030204" pitchFamily="49" charset="0"/>
              </a:rPr>
              <a:t>(data =&gt; console.log(data))</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catch</a:t>
            </a:r>
            <a:r>
              <a:rPr lang="en-US" sz="2400" b="1" dirty="0">
                <a:latin typeface="Consolas" panose="020B0609020204030204" pitchFamily="49" charset="0"/>
              </a:rPr>
              <a:t>(error =&gt; </a:t>
            </a:r>
            <a:r>
              <a:rPr lang="en-US" sz="2400" b="1" dirty="0" err="1">
                <a:latin typeface="Consolas" panose="020B0609020204030204" pitchFamily="49" charset="0"/>
              </a:rPr>
              <a:t>console.error</a:t>
            </a:r>
            <a:r>
              <a:rPr lang="en-US" sz="2400" b="1" dirty="0">
                <a:latin typeface="Consolas" panose="020B0609020204030204" pitchFamily="49" charset="0"/>
              </a:rPr>
              <a:t>('Error:', error));</a:t>
            </a:r>
          </a:p>
        </p:txBody>
      </p:sp>
    </p:spTree>
    <p:extLst>
      <p:ext uri="{BB962C8B-B14F-4D97-AF65-F5344CB8AC3E}">
        <p14:creationId xmlns:p14="http://schemas.microsoft.com/office/powerpoint/2010/main" val="2623896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C4FB4-CF82-847C-19E8-9D6854F71CC5}"/>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716FBCC1-BD46-FB89-D25C-A1AD62632D0D}"/>
              </a:ext>
            </a:extLst>
          </p:cNvPr>
          <p:cNvSpPr>
            <a:spLocks noGrp="1"/>
          </p:cNvSpPr>
          <p:nvPr>
            <p:ph type="body" idx="1"/>
          </p:nvPr>
        </p:nvSpPr>
        <p:spPr/>
        <p:txBody>
          <a:bodyPr/>
          <a:lstStyle/>
          <a:p>
            <a:r>
              <a:rPr lang="en-US" dirty="0"/>
              <a:t>Example: POST Request</a:t>
            </a:r>
          </a:p>
          <a:p>
            <a:endParaRPr lang="en-US" dirty="0"/>
          </a:p>
        </p:txBody>
      </p:sp>
      <p:sp>
        <p:nvSpPr>
          <p:cNvPr id="5" name="TextBox 4">
            <a:extLst>
              <a:ext uri="{FF2B5EF4-FFF2-40B4-BE49-F238E27FC236}">
                <a16:creationId xmlns:a16="http://schemas.microsoft.com/office/drawing/2014/main" id="{C7EBF5A4-8E69-0AD4-F328-AE3184680D5B}"/>
              </a:ext>
            </a:extLst>
          </p:cNvPr>
          <p:cNvSpPr txBox="1"/>
          <p:nvPr/>
        </p:nvSpPr>
        <p:spPr>
          <a:xfrm>
            <a:off x="1306288" y="2204667"/>
            <a:ext cx="8969826" cy="3785652"/>
          </a:xfrm>
          <a:prstGeom prst="rect">
            <a:avLst/>
          </a:prstGeom>
          <a:noFill/>
          <a:ln>
            <a:solidFill>
              <a:schemeClr val="accent1"/>
            </a:solidFill>
          </a:ln>
        </p:spPr>
        <p:txBody>
          <a:bodyPr wrap="square">
            <a:spAutoFit/>
          </a:bodyPr>
          <a:lstStyle/>
          <a:p>
            <a:r>
              <a:rPr lang="en-US" sz="2400" b="1" dirty="0">
                <a:solidFill>
                  <a:srgbClr val="00B0F0"/>
                </a:solidFill>
                <a:latin typeface="Consolas" panose="020B0609020204030204" pitchFamily="49" charset="0"/>
              </a:rPr>
              <a:t>fetch</a:t>
            </a:r>
            <a:r>
              <a:rPr lang="en-US" sz="2400" b="1" dirty="0">
                <a:latin typeface="Consolas" panose="020B0609020204030204" pitchFamily="49" charset="0"/>
              </a:rPr>
              <a:t>('https://api.example.com/data', {</a:t>
            </a:r>
          </a:p>
          <a:p>
            <a:r>
              <a:rPr lang="en-US" sz="2400" b="1" dirty="0">
                <a:latin typeface="Consolas" panose="020B0609020204030204" pitchFamily="49" charset="0"/>
              </a:rPr>
              <a:t>  method: 'POST',</a:t>
            </a:r>
          </a:p>
          <a:p>
            <a:r>
              <a:rPr lang="en-US" sz="2400" b="1" dirty="0">
                <a:latin typeface="Consolas" panose="020B0609020204030204" pitchFamily="49" charset="0"/>
              </a:rPr>
              <a:t>  headers: {</a:t>
            </a:r>
          </a:p>
          <a:p>
            <a:r>
              <a:rPr lang="en-US" sz="2400" b="1" dirty="0">
                <a:latin typeface="Consolas" panose="020B0609020204030204" pitchFamily="49" charset="0"/>
              </a:rPr>
              <a:t>    'Content-Type': 'application/</a:t>
            </a:r>
            <a:r>
              <a:rPr lang="en-US" sz="2400" b="1" dirty="0" err="1">
                <a:latin typeface="Consolas" panose="020B0609020204030204" pitchFamily="49" charset="0"/>
              </a:rPr>
              <a:t>json</a:t>
            </a:r>
            <a:r>
              <a:rPr lang="en-US" sz="2400" b="1" dirty="0">
                <a:latin typeface="Consolas" panose="020B0609020204030204" pitchFamily="49" charset="0"/>
              </a:rPr>
              <a:t>',</a:t>
            </a:r>
          </a:p>
          <a:p>
            <a:r>
              <a:rPr lang="en-US" sz="2400" b="1" dirty="0">
                <a:latin typeface="Consolas" panose="020B0609020204030204" pitchFamily="49" charset="0"/>
              </a:rPr>
              <a:t>  },</a:t>
            </a:r>
          </a:p>
          <a:p>
            <a:r>
              <a:rPr lang="en-US" sz="2400" b="1" dirty="0">
                <a:latin typeface="Consolas" panose="020B0609020204030204" pitchFamily="49" charset="0"/>
              </a:rPr>
              <a:t>  </a:t>
            </a:r>
            <a:r>
              <a:rPr lang="en-US" sz="2400" b="1" dirty="0">
                <a:solidFill>
                  <a:srgbClr val="00B0F0"/>
                </a:solidFill>
                <a:latin typeface="Consolas" panose="020B0609020204030204" pitchFamily="49" charset="0"/>
              </a:rPr>
              <a:t>body: </a:t>
            </a:r>
            <a:r>
              <a:rPr lang="en-US" sz="2400" b="1" dirty="0" err="1">
                <a:solidFill>
                  <a:srgbClr val="00B0F0"/>
                </a:solidFill>
                <a:latin typeface="Consolas" panose="020B0609020204030204" pitchFamily="49" charset="0"/>
              </a:rPr>
              <a:t>JSON.stringify</a:t>
            </a:r>
            <a:r>
              <a:rPr lang="en-US" sz="2400" b="1" dirty="0">
                <a:latin typeface="Consolas" panose="020B0609020204030204" pitchFamily="49" charset="0"/>
              </a:rPr>
              <a:t>({ key: 'value' }),</a:t>
            </a:r>
          </a:p>
          <a:p>
            <a:r>
              <a:rPr lang="en-US" sz="2400" b="1" dirty="0">
                <a:latin typeface="Consolas" panose="020B0609020204030204" pitchFamily="49" charset="0"/>
              </a:rPr>
              <a:t>})</a:t>
            </a:r>
          </a:p>
          <a:p>
            <a:r>
              <a:rPr lang="en-US" sz="2400" b="1" dirty="0">
                <a:latin typeface="Consolas" panose="020B0609020204030204" pitchFamily="49" charset="0"/>
              </a:rPr>
              <a:t>  .</a:t>
            </a:r>
            <a:r>
              <a:rPr lang="en-US" sz="2400" b="1" dirty="0">
                <a:solidFill>
                  <a:srgbClr val="00B0F0"/>
                </a:solidFill>
                <a:latin typeface="Consolas" panose="020B0609020204030204" pitchFamily="49" charset="0"/>
              </a:rPr>
              <a:t>then</a:t>
            </a:r>
            <a:r>
              <a:rPr lang="en-US" sz="2400" b="1" dirty="0">
                <a:latin typeface="Consolas" panose="020B0609020204030204" pitchFamily="49" charset="0"/>
              </a:rPr>
              <a:t>(response =&gt; </a:t>
            </a:r>
            <a:r>
              <a:rPr lang="en-US" sz="2400" b="1" dirty="0" err="1">
                <a:latin typeface="Consolas" panose="020B0609020204030204" pitchFamily="49" charset="0"/>
              </a:rPr>
              <a:t>response.json</a:t>
            </a:r>
            <a:r>
              <a:rPr lang="en-US" sz="2400" b="1" dirty="0">
                <a:latin typeface="Consolas" panose="020B0609020204030204" pitchFamily="49" charset="0"/>
              </a:rPr>
              <a:t>())</a:t>
            </a:r>
          </a:p>
          <a:p>
            <a:r>
              <a:rPr lang="en-US" sz="2400" b="1" dirty="0">
                <a:latin typeface="Consolas" panose="020B0609020204030204" pitchFamily="49" charset="0"/>
              </a:rPr>
              <a:t>  .</a:t>
            </a:r>
            <a:r>
              <a:rPr lang="en-US" sz="2400" b="1" dirty="0">
                <a:solidFill>
                  <a:srgbClr val="00B0F0"/>
                </a:solidFill>
                <a:latin typeface="Consolas" panose="020B0609020204030204" pitchFamily="49" charset="0"/>
              </a:rPr>
              <a:t>then</a:t>
            </a:r>
            <a:r>
              <a:rPr lang="en-US" sz="2400" b="1" dirty="0">
                <a:latin typeface="Consolas" panose="020B0609020204030204" pitchFamily="49" charset="0"/>
              </a:rPr>
              <a:t>(data =&gt; console.log('Success:', data))</a:t>
            </a:r>
          </a:p>
          <a:p>
            <a:r>
              <a:rPr lang="en-US" sz="2400" b="1" dirty="0">
                <a:latin typeface="Consolas" panose="020B0609020204030204" pitchFamily="49" charset="0"/>
              </a:rPr>
              <a:t>  .</a:t>
            </a:r>
            <a:r>
              <a:rPr lang="en-US" sz="2400" b="1" dirty="0">
                <a:solidFill>
                  <a:srgbClr val="00B0F0"/>
                </a:solidFill>
                <a:latin typeface="Consolas" panose="020B0609020204030204" pitchFamily="49" charset="0"/>
              </a:rPr>
              <a:t>catch</a:t>
            </a:r>
            <a:r>
              <a:rPr lang="en-US" sz="2400" b="1" dirty="0">
                <a:latin typeface="Consolas" panose="020B0609020204030204" pitchFamily="49" charset="0"/>
              </a:rPr>
              <a:t>(error =&gt; </a:t>
            </a:r>
            <a:r>
              <a:rPr lang="en-US" sz="2400" b="1" dirty="0" err="1">
                <a:latin typeface="Consolas" panose="020B0609020204030204" pitchFamily="49" charset="0"/>
              </a:rPr>
              <a:t>console.error</a:t>
            </a:r>
            <a:r>
              <a:rPr lang="en-US" sz="2400" b="1" dirty="0">
                <a:latin typeface="Consolas" panose="020B0609020204030204" pitchFamily="49" charset="0"/>
              </a:rPr>
              <a:t>('Error:', error));</a:t>
            </a:r>
          </a:p>
        </p:txBody>
      </p:sp>
    </p:spTree>
    <p:extLst>
      <p:ext uri="{BB962C8B-B14F-4D97-AF65-F5344CB8AC3E}">
        <p14:creationId xmlns:p14="http://schemas.microsoft.com/office/powerpoint/2010/main" val="27244157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18AC-7AC8-2F88-E20E-34C5B9DB21AA}"/>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5A33DBD4-7DF8-0262-E556-94B63B9DACBC}"/>
              </a:ext>
            </a:extLst>
          </p:cNvPr>
          <p:cNvSpPr>
            <a:spLocks noGrp="1"/>
          </p:cNvSpPr>
          <p:nvPr>
            <p:ph type="body" idx="1"/>
          </p:nvPr>
        </p:nvSpPr>
        <p:spPr/>
        <p:txBody>
          <a:bodyPr/>
          <a:lstStyle/>
          <a:p>
            <a:r>
              <a:rPr lang="en-US" b="1" dirty="0"/>
              <a:t>Error Handling</a:t>
            </a:r>
            <a:r>
              <a:rPr lang="en-US" dirty="0"/>
              <a:t>:</a:t>
            </a:r>
          </a:p>
          <a:p>
            <a:pPr lvl="1"/>
            <a:r>
              <a:rPr lang="en-US" dirty="0"/>
              <a:t>Use </a:t>
            </a:r>
            <a:r>
              <a:rPr lang="en-US" b="1" i="1" dirty="0">
                <a:solidFill>
                  <a:srgbClr val="C00000"/>
                </a:solidFill>
              </a:rPr>
              <a:t>.catch() </a:t>
            </a:r>
            <a:r>
              <a:rPr lang="en-US" dirty="0"/>
              <a:t>to catch network or runtime errors.</a:t>
            </a:r>
          </a:p>
          <a:p>
            <a:pPr lvl="1"/>
            <a:r>
              <a:rPr lang="en-US" dirty="0"/>
              <a:t>Check </a:t>
            </a:r>
            <a:r>
              <a:rPr lang="en-US" b="1" i="1" dirty="0" err="1">
                <a:solidFill>
                  <a:srgbClr val="C00000"/>
                </a:solidFill>
              </a:rPr>
              <a:t>response.ok</a:t>
            </a:r>
            <a:r>
              <a:rPr lang="en-US" b="1" i="1" dirty="0">
                <a:solidFill>
                  <a:srgbClr val="C00000"/>
                </a:solidFill>
              </a:rPr>
              <a:t> </a:t>
            </a:r>
            <a:r>
              <a:rPr lang="en-US" dirty="0"/>
              <a:t>for HTTP status codes.</a:t>
            </a:r>
          </a:p>
        </p:txBody>
      </p:sp>
      <p:sp>
        <p:nvSpPr>
          <p:cNvPr id="6" name="TextBox 5">
            <a:extLst>
              <a:ext uri="{FF2B5EF4-FFF2-40B4-BE49-F238E27FC236}">
                <a16:creationId xmlns:a16="http://schemas.microsoft.com/office/drawing/2014/main" id="{E45DFAA4-B66D-1575-74BB-89447C70441B}"/>
              </a:ext>
            </a:extLst>
          </p:cNvPr>
          <p:cNvSpPr txBox="1"/>
          <p:nvPr/>
        </p:nvSpPr>
        <p:spPr>
          <a:xfrm>
            <a:off x="1103382" y="3184995"/>
            <a:ext cx="9980682" cy="2862322"/>
          </a:xfrm>
          <a:prstGeom prst="rect">
            <a:avLst/>
          </a:prstGeom>
          <a:noFill/>
          <a:ln>
            <a:solidFill>
              <a:schemeClr val="accent1"/>
            </a:solidFill>
          </a:ln>
        </p:spPr>
        <p:txBody>
          <a:bodyPr wrap="square">
            <a:spAutoFit/>
          </a:bodyPr>
          <a:lstStyle/>
          <a:p>
            <a:r>
              <a:rPr lang="en-US" sz="2000" b="1" dirty="0">
                <a:latin typeface="Consolas" panose="020B0609020204030204" pitchFamily="49" charset="0"/>
              </a:rPr>
              <a:t>fetch('https://api.example.com/data')</a:t>
            </a:r>
          </a:p>
          <a:p>
            <a:r>
              <a:rPr lang="en-US" sz="2000" b="1" dirty="0">
                <a:latin typeface="Consolas" panose="020B0609020204030204" pitchFamily="49" charset="0"/>
              </a:rPr>
              <a:t>  .then(response =&gt; {</a:t>
            </a:r>
          </a:p>
          <a:p>
            <a:r>
              <a:rPr lang="en-US" sz="2000" b="1" dirty="0">
                <a:latin typeface="Consolas" panose="020B0609020204030204" pitchFamily="49" charset="0"/>
              </a:rPr>
              <a:t>    if (!</a:t>
            </a:r>
            <a:r>
              <a:rPr lang="en-US" sz="2000" b="1" dirty="0" err="1">
                <a:latin typeface="Consolas" panose="020B0609020204030204" pitchFamily="49" charset="0"/>
              </a:rPr>
              <a:t>response.ok</a:t>
            </a:r>
            <a:r>
              <a:rPr lang="en-US" sz="2000" b="1" dirty="0">
                <a:latin typeface="Consolas" panose="020B0609020204030204" pitchFamily="49" charset="0"/>
              </a:rPr>
              <a:t>) {</a:t>
            </a:r>
          </a:p>
          <a:p>
            <a:r>
              <a:rPr lang="en-US" sz="2000" b="1" dirty="0">
                <a:latin typeface="Consolas" panose="020B0609020204030204" pitchFamily="49" charset="0"/>
              </a:rPr>
              <a:t>      throw new Error('Network response was not ok');</a:t>
            </a:r>
          </a:p>
          <a:p>
            <a:r>
              <a:rPr lang="en-US" sz="2000" b="1" dirty="0">
                <a:latin typeface="Consolas" panose="020B0609020204030204" pitchFamily="49" charset="0"/>
              </a:rPr>
              <a:t>    }</a:t>
            </a:r>
          </a:p>
          <a:p>
            <a:r>
              <a:rPr lang="en-US" sz="2000" b="1" dirty="0">
                <a:latin typeface="Consolas" panose="020B0609020204030204" pitchFamily="49" charset="0"/>
              </a:rPr>
              <a:t>    return </a:t>
            </a:r>
            <a:r>
              <a:rPr lang="en-US" sz="2000" b="1" dirty="0" err="1">
                <a:latin typeface="Consolas" panose="020B0609020204030204" pitchFamily="49" charset="0"/>
              </a:rPr>
              <a:t>response.json</a:t>
            </a:r>
            <a:r>
              <a:rPr lang="en-US" sz="2000" b="1" dirty="0">
                <a:latin typeface="Consolas" panose="020B0609020204030204" pitchFamily="49" charset="0"/>
              </a:rPr>
              <a:t>();</a:t>
            </a:r>
          </a:p>
          <a:p>
            <a:r>
              <a:rPr lang="en-US" sz="2000" b="1" dirty="0">
                <a:latin typeface="Consolas" panose="020B0609020204030204" pitchFamily="49" charset="0"/>
              </a:rPr>
              <a:t>  })</a:t>
            </a:r>
          </a:p>
          <a:p>
            <a:r>
              <a:rPr lang="en-US" sz="2000" b="1" dirty="0">
                <a:latin typeface="Consolas" panose="020B0609020204030204" pitchFamily="49" charset="0"/>
              </a:rPr>
              <a:t>  .catch(error =&gt; </a:t>
            </a:r>
            <a:r>
              <a:rPr lang="en-US" sz="2000" b="1" dirty="0" err="1">
                <a:latin typeface="Consolas" panose="020B0609020204030204" pitchFamily="49" charset="0"/>
              </a:rPr>
              <a:t>console.error</a:t>
            </a:r>
            <a:r>
              <a:rPr lang="en-US" sz="2000" b="1" dirty="0">
                <a:latin typeface="Consolas" panose="020B0609020204030204" pitchFamily="49" charset="0"/>
              </a:rPr>
              <a:t>('There was a problem with the fetch operation:', error));</a:t>
            </a:r>
          </a:p>
        </p:txBody>
      </p:sp>
    </p:spTree>
    <p:extLst>
      <p:ext uri="{BB962C8B-B14F-4D97-AF65-F5344CB8AC3E}">
        <p14:creationId xmlns:p14="http://schemas.microsoft.com/office/powerpoint/2010/main" val="1723559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58ADC-717E-4718-9E36-9083D2DADAD3}"/>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B9B2988F-47B8-B465-CCC2-9D578D00CEE2}"/>
              </a:ext>
            </a:extLst>
          </p:cNvPr>
          <p:cNvSpPr>
            <a:spLocks noGrp="1"/>
          </p:cNvSpPr>
          <p:nvPr>
            <p:ph type="body" idx="1"/>
          </p:nvPr>
        </p:nvSpPr>
        <p:spPr/>
        <p:txBody>
          <a:bodyPr/>
          <a:lstStyle/>
          <a:p>
            <a:r>
              <a:rPr lang="en-US" b="1" dirty="0">
                <a:solidFill>
                  <a:srgbClr val="FF0000"/>
                </a:solidFill>
              </a:rPr>
              <a:t>Fetch API vs. </a:t>
            </a:r>
            <a:r>
              <a:rPr lang="en-US" b="1" dirty="0" err="1">
                <a:solidFill>
                  <a:srgbClr val="FF0000"/>
                </a:solidFill>
              </a:rPr>
              <a:t>XMLHttpRequest</a:t>
            </a:r>
            <a:endParaRPr lang="en-US" b="1" dirty="0">
              <a:solidFill>
                <a:srgbClr val="FF0000"/>
              </a:solidFill>
            </a:endParaRPr>
          </a:p>
        </p:txBody>
      </p:sp>
      <p:graphicFrame>
        <p:nvGraphicFramePr>
          <p:cNvPr id="9" name="Table 8">
            <a:extLst>
              <a:ext uri="{FF2B5EF4-FFF2-40B4-BE49-F238E27FC236}">
                <a16:creationId xmlns:a16="http://schemas.microsoft.com/office/drawing/2014/main" id="{1802E184-667C-72B5-D147-8351AFD4AC9B}"/>
              </a:ext>
            </a:extLst>
          </p:cNvPr>
          <p:cNvGraphicFramePr>
            <a:graphicFrameLocks noGrp="1"/>
          </p:cNvGraphicFramePr>
          <p:nvPr>
            <p:extLst>
              <p:ext uri="{D42A27DB-BD31-4B8C-83A1-F6EECF244321}">
                <p14:modId xmlns:p14="http://schemas.microsoft.com/office/powerpoint/2010/main" val="745403053"/>
              </p:ext>
            </p:extLst>
          </p:nvPr>
        </p:nvGraphicFramePr>
        <p:xfrm>
          <a:off x="1104900" y="2376713"/>
          <a:ext cx="9980682" cy="2659745"/>
        </p:xfrm>
        <a:graphic>
          <a:graphicData uri="http://schemas.openxmlformats.org/drawingml/2006/table">
            <a:tbl>
              <a:tblPr>
                <a:tableStyleId>{D7AC3CCA-C797-4891-BE02-D94E43425B78}</a:tableStyleId>
              </a:tblPr>
              <a:tblGrid>
                <a:gridCol w="3326894">
                  <a:extLst>
                    <a:ext uri="{9D8B030D-6E8A-4147-A177-3AD203B41FA5}">
                      <a16:colId xmlns:a16="http://schemas.microsoft.com/office/drawing/2014/main" val="231975067"/>
                    </a:ext>
                  </a:extLst>
                </a:gridCol>
                <a:gridCol w="3326894">
                  <a:extLst>
                    <a:ext uri="{9D8B030D-6E8A-4147-A177-3AD203B41FA5}">
                      <a16:colId xmlns:a16="http://schemas.microsoft.com/office/drawing/2014/main" val="1619200049"/>
                    </a:ext>
                  </a:extLst>
                </a:gridCol>
                <a:gridCol w="3326894">
                  <a:extLst>
                    <a:ext uri="{9D8B030D-6E8A-4147-A177-3AD203B41FA5}">
                      <a16:colId xmlns:a16="http://schemas.microsoft.com/office/drawing/2014/main" val="3092253909"/>
                    </a:ext>
                  </a:extLst>
                </a:gridCol>
              </a:tblGrid>
              <a:tr h="531949">
                <a:tc>
                  <a:txBody>
                    <a:bodyPr/>
                    <a:lstStyle/>
                    <a:p>
                      <a:r>
                        <a:rPr lang="en-US" sz="2000" b="1" dirty="0"/>
                        <a:t>Feature</a:t>
                      </a:r>
                      <a:endParaRPr lang="en-US" sz="2000" dirty="0"/>
                    </a:p>
                  </a:txBody>
                  <a:tcPr anchor="ctr">
                    <a:solidFill>
                      <a:schemeClr val="accent3">
                        <a:lumMod val="20000"/>
                        <a:lumOff val="80000"/>
                      </a:schemeClr>
                    </a:solidFill>
                  </a:tcPr>
                </a:tc>
                <a:tc>
                  <a:txBody>
                    <a:bodyPr/>
                    <a:lstStyle/>
                    <a:p>
                      <a:r>
                        <a:rPr lang="en-US" sz="2000" b="1" dirty="0"/>
                        <a:t>Fetch API</a:t>
                      </a:r>
                      <a:endParaRPr lang="en-US" sz="2000" dirty="0"/>
                    </a:p>
                  </a:txBody>
                  <a:tcPr anchor="ctr">
                    <a:solidFill>
                      <a:schemeClr val="accent3">
                        <a:lumMod val="20000"/>
                        <a:lumOff val="80000"/>
                      </a:schemeClr>
                    </a:solidFill>
                  </a:tcPr>
                </a:tc>
                <a:tc>
                  <a:txBody>
                    <a:bodyPr/>
                    <a:lstStyle/>
                    <a:p>
                      <a:r>
                        <a:rPr lang="en-US" sz="2000" b="1" dirty="0" err="1"/>
                        <a:t>XMLHttpRequest</a:t>
                      </a:r>
                      <a:endParaRPr lang="en-US" sz="2000" dirty="0"/>
                    </a:p>
                  </a:txBody>
                  <a:tcPr anchor="ctr">
                    <a:solidFill>
                      <a:schemeClr val="accent3">
                        <a:lumMod val="20000"/>
                        <a:lumOff val="80000"/>
                      </a:schemeClr>
                    </a:solidFill>
                  </a:tcPr>
                </a:tc>
                <a:extLst>
                  <a:ext uri="{0D108BD9-81ED-4DB2-BD59-A6C34878D82A}">
                    <a16:rowId xmlns:a16="http://schemas.microsoft.com/office/drawing/2014/main" val="2296587623"/>
                  </a:ext>
                </a:extLst>
              </a:tr>
              <a:tr h="531949">
                <a:tc>
                  <a:txBody>
                    <a:bodyPr/>
                    <a:lstStyle/>
                    <a:p>
                      <a:r>
                        <a:rPr lang="en-US" sz="2000" dirty="0"/>
                        <a:t>Syntax</a:t>
                      </a:r>
                    </a:p>
                  </a:txBody>
                  <a:tcPr anchor="ctr">
                    <a:noFill/>
                  </a:tcPr>
                </a:tc>
                <a:tc>
                  <a:txBody>
                    <a:bodyPr/>
                    <a:lstStyle/>
                    <a:p>
                      <a:r>
                        <a:rPr lang="en-US" sz="2000"/>
                        <a:t>Cleaner, Promise-based</a:t>
                      </a:r>
                    </a:p>
                  </a:txBody>
                  <a:tcPr anchor="ctr">
                    <a:noFill/>
                  </a:tcPr>
                </a:tc>
                <a:tc>
                  <a:txBody>
                    <a:bodyPr/>
                    <a:lstStyle/>
                    <a:p>
                      <a:r>
                        <a:rPr lang="en-US" sz="2000"/>
                        <a:t>Callback-based</a:t>
                      </a:r>
                    </a:p>
                  </a:txBody>
                  <a:tcPr anchor="ctr">
                    <a:noFill/>
                  </a:tcPr>
                </a:tc>
                <a:extLst>
                  <a:ext uri="{0D108BD9-81ED-4DB2-BD59-A6C34878D82A}">
                    <a16:rowId xmlns:a16="http://schemas.microsoft.com/office/drawing/2014/main" val="2248382751"/>
                  </a:ext>
                </a:extLst>
              </a:tr>
              <a:tr h="531949">
                <a:tc>
                  <a:txBody>
                    <a:bodyPr/>
                    <a:lstStyle/>
                    <a:p>
                      <a:r>
                        <a:rPr lang="en-US" sz="2000"/>
                        <a:t>Native JSON Parsing</a:t>
                      </a:r>
                    </a:p>
                  </a:txBody>
                  <a:tcPr anchor="ctr">
                    <a:noFill/>
                  </a:tcPr>
                </a:tc>
                <a:tc>
                  <a:txBody>
                    <a:bodyPr/>
                    <a:lstStyle/>
                    <a:p>
                      <a:r>
                        <a:rPr lang="en-US" sz="2000" dirty="0"/>
                        <a:t>Yes</a:t>
                      </a:r>
                    </a:p>
                  </a:txBody>
                  <a:tcPr anchor="ctr">
                    <a:noFill/>
                  </a:tcPr>
                </a:tc>
                <a:tc>
                  <a:txBody>
                    <a:bodyPr/>
                    <a:lstStyle/>
                    <a:p>
                      <a:r>
                        <a:rPr lang="en-US" sz="2000"/>
                        <a:t>No</a:t>
                      </a:r>
                    </a:p>
                  </a:txBody>
                  <a:tcPr anchor="ctr">
                    <a:noFill/>
                  </a:tcPr>
                </a:tc>
                <a:extLst>
                  <a:ext uri="{0D108BD9-81ED-4DB2-BD59-A6C34878D82A}">
                    <a16:rowId xmlns:a16="http://schemas.microsoft.com/office/drawing/2014/main" val="3658534134"/>
                  </a:ext>
                </a:extLst>
              </a:tr>
              <a:tr h="531949">
                <a:tc>
                  <a:txBody>
                    <a:bodyPr/>
                    <a:lstStyle/>
                    <a:p>
                      <a:r>
                        <a:rPr lang="en-US" sz="2000"/>
                        <a:t>Streaming Responses</a:t>
                      </a:r>
                    </a:p>
                  </a:txBody>
                  <a:tcPr anchor="ctr">
                    <a:noFill/>
                  </a:tcPr>
                </a:tc>
                <a:tc>
                  <a:txBody>
                    <a:bodyPr/>
                    <a:lstStyle/>
                    <a:p>
                      <a:r>
                        <a:rPr lang="en-US" sz="2000"/>
                        <a:t>Supported</a:t>
                      </a:r>
                    </a:p>
                  </a:txBody>
                  <a:tcPr anchor="ctr">
                    <a:noFill/>
                  </a:tcPr>
                </a:tc>
                <a:tc>
                  <a:txBody>
                    <a:bodyPr/>
                    <a:lstStyle/>
                    <a:p>
                      <a:r>
                        <a:rPr lang="en-US" sz="2000"/>
                        <a:t>Not Supported</a:t>
                      </a:r>
                    </a:p>
                  </a:txBody>
                  <a:tcPr anchor="ctr">
                    <a:noFill/>
                  </a:tcPr>
                </a:tc>
                <a:extLst>
                  <a:ext uri="{0D108BD9-81ED-4DB2-BD59-A6C34878D82A}">
                    <a16:rowId xmlns:a16="http://schemas.microsoft.com/office/drawing/2014/main" val="1400225360"/>
                  </a:ext>
                </a:extLst>
              </a:tr>
              <a:tr h="531949">
                <a:tc>
                  <a:txBody>
                    <a:bodyPr/>
                    <a:lstStyle/>
                    <a:p>
                      <a:r>
                        <a:rPr lang="en-US" sz="2000"/>
                        <a:t>Modern Standards</a:t>
                      </a:r>
                    </a:p>
                  </a:txBody>
                  <a:tcPr anchor="ctr">
                    <a:noFill/>
                  </a:tcPr>
                </a:tc>
                <a:tc>
                  <a:txBody>
                    <a:bodyPr/>
                    <a:lstStyle/>
                    <a:p>
                      <a:r>
                        <a:rPr lang="en-US" sz="2000"/>
                        <a:t>Yes</a:t>
                      </a:r>
                    </a:p>
                  </a:txBody>
                  <a:tcPr anchor="ctr">
                    <a:noFill/>
                  </a:tcPr>
                </a:tc>
                <a:tc>
                  <a:txBody>
                    <a:bodyPr/>
                    <a:lstStyle/>
                    <a:p>
                      <a:r>
                        <a:rPr lang="en-US" sz="2000" dirty="0"/>
                        <a:t>Outdated</a:t>
                      </a:r>
                    </a:p>
                  </a:txBody>
                  <a:tcPr anchor="ctr">
                    <a:noFill/>
                  </a:tcPr>
                </a:tc>
                <a:extLst>
                  <a:ext uri="{0D108BD9-81ED-4DB2-BD59-A6C34878D82A}">
                    <a16:rowId xmlns:a16="http://schemas.microsoft.com/office/drawing/2014/main" val="2530877946"/>
                  </a:ext>
                </a:extLst>
              </a:tr>
            </a:tbl>
          </a:graphicData>
        </a:graphic>
      </p:graphicFrame>
    </p:spTree>
    <p:extLst>
      <p:ext uri="{BB962C8B-B14F-4D97-AF65-F5344CB8AC3E}">
        <p14:creationId xmlns:p14="http://schemas.microsoft.com/office/powerpoint/2010/main" val="1179131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40C00-B6C3-FE53-EFDF-CDB4BF0E7B0E}"/>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85CC7CB4-E512-B794-8E0C-1458F6E17EA3}"/>
              </a:ext>
            </a:extLst>
          </p:cNvPr>
          <p:cNvSpPr>
            <a:spLocks noGrp="1"/>
          </p:cNvSpPr>
          <p:nvPr>
            <p:ph type="body" idx="1"/>
          </p:nvPr>
        </p:nvSpPr>
        <p:spPr/>
        <p:txBody>
          <a:bodyPr/>
          <a:lstStyle/>
          <a:p>
            <a:r>
              <a:rPr lang="en-US" b="1" dirty="0">
                <a:solidFill>
                  <a:srgbClr val="C00000"/>
                </a:solidFill>
              </a:rPr>
              <a:t>Advanced Features</a:t>
            </a:r>
          </a:p>
          <a:p>
            <a:pPr lvl="1"/>
            <a:r>
              <a:rPr lang="en-US" dirty="0"/>
              <a:t>Streaming Responses: Fetch supports reading large responses in chunks.</a:t>
            </a:r>
          </a:p>
          <a:p>
            <a:pPr lvl="1"/>
            <a:r>
              <a:rPr lang="en-US" dirty="0" err="1"/>
              <a:t>AbortController</a:t>
            </a:r>
            <a:r>
              <a:rPr lang="en-US" dirty="0"/>
              <a:t>: Allows you to cancel ongoing requests.</a:t>
            </a:r>
          </a:p>
        </p:txBody>
      </p:sp>
    </p:spTree>
    <p:extLst>
      <p:ext uri="{BB962C8B-B14F-4D97-AF65-F5344CB8AC3E}">
        <p14:creationId xmlns:p14="http://schemas.microsoft.com/office/powerpoint/2010/main" val="2762437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BDC3-0F76-96DF-DB8F-452F0D6183AF}"/>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9D3A1064-50CF-6230-405F-E045AF1801BC}"/>
              </a:ext>
            </a:extLst>
          </p:cNvPr>
          <p:cNvSpPr>
            <a:spLocks noGrp="1"/>
          </p:cNvSpPr>
          <p:nvPr>
            <p:ph type="body" idx="1"/>
          </p:nvPr>
        </p:nvSpPr>
        <p:spPr/>
        <p:txBody>
          <a:bodyPr/>
          <a:lstStyle/>
          <a:p>
            <a:r>
              <a:rPr lang="en-US" dirty="0"/>
              <a:t>Example</a:t>
            </a:r>
          </a:p>
        </p:txBody>
      </p:sp>
      <p:sp>
        <p:nvSpPr>
          <p:cNvPr id="5" name="TextBox 4">
            <a:extLst>
              <a:ext uri="{FF2B5EF4-FFF2-40B4-BE49-F238E27FC236}">
                <a16:creationId xmlns:a16="http://schemas.microsoft.com/office/drawing/2014/main" id="{5D7E42B2-F65D-40B1-F63F-81C23B781C8C}"/>
              </a:ext>
            </a:extLst>
          </p:cNvPr>
          <p:cNvSpPr txBox="1"/>
          <p:nvPr/>
        </p:nvSpPr>
        <p:spPr>
          <a:xfrm>
            <a:off x="3047999" y="1600200"/>
            <a:ext cx="8037583" cy="4401205"/>
          </a:xfrm>
          <a:prstGeom prst="rect">
            <a:avLst/>
          </a:prstGeom>
          <a:noFill/>
          <a:ln>
            <a:solidFill>
              <a:schemeClr val="accent1"/>
            </a:solidFill>
          </a:ln>
        </p:spPr>
        <p:txBody>
          <a:bodyPr wrap="square">
            <a:spAutoFit/>
          </a:bodyPr>
          <a:lstStyle/>
          <a:p>
            <a:r>
              <a:rPr lang="en-US" sz="2000" b="1" dirty="0">
                <a:latin typeface="Consolas" panose="020B0609020204030204" pitchFamily="49" charset="0"/>
              </a:rPr>
              <a:t>const controller = new </a:t>
            </a:r>
            <a:r>
              <a:rPr lang="en-US" sz="2000" b="1" dirty="0" err="1">
                <a:latin typeface="Consolas" panose="020B0609020204030204" pitchFamily="49" charset="0"/>
              </a:rPr>
              <a:t>AbortController</a:t>
            </a:r>
            <a:r>
              <a:rPr lang="en-US" sz="2000" b="1" dirty="0">
                <a:latin typeface="Consolas" panose="020B0609020204030204" pitchFamily="49" charset="0"/>
              </a:rPr>
              <a:t>();</a:t>
            </a:r>
          </a:p>
          <a:p>
            <a:r>
              <a:rPr lang="en-US" sz="2000" b="1" dirty="0">
                <a:latin typeface="Consolas" panose="020B0609020204030204" pitchFamily="49" charset="0"/>
              </a:rPr>
              <a:t>const signal = </a:t>
            </a:r>
            <a:r>
              <a:rPr lang="en-US" sz="2000" b="1" dirty="0" err="1">
                <a:latin typeface="Consolas" panose="020B0609020204030204" pitchFamily="49" charset="0"/>
              </a:rPr>
              <a:t>controller.signal</a:t>
            </a:r>
            <a:r>
              <a:rPr lang="en-US" sz="2000" b="1" dirty="0">
                <a:latin typeface="Consolas" panose="020B0609020204030204" pitchFamily="49" charset="0"/>
              </a:rPr>
              <a:t>;</a:t>
            </a:r>
          </a:p>
          <a:p>
            <a:endParaRPr lang="en-US" sz="2000" b="1" dirty="0">
              <a:latin typeface="Consolas" panose="020B0609020204030204" pitchFamily="49" charset="0"/>
            </a:endParaRPr>
          </a:p>
          <a:p>
            <a:r>
              <a:rPr lang="en-US" sz="2000" b="1" dirty="0">
                <a:solidFill>
                  <a:srgbClr val="0070C0"/>
                </a:solidFill>
                <a:latin typeface="Consolas" panose="020B0609020204030204" pitchFamily="49" charset="0"/>
              </a:rPr>
              <a:t>fetch</a:t>
            </a:r>
            <a:r>
              <a:rPr lang="en-US" sz="2000" b="1" dirty="0">
                <a:latin typeface="Consolas" panose="020B0609020204030204" pitchFamily="49" charset="0"/>
              </a:rPr>
              <a:t>('https://api.example.com/data', { signal })</a:t>
            </a:r>
          </a:p>
          <a:p>
            <a:r>
              <a:rPr lang="en-US" sz="2000" b="1" dirty="0">
                <a:latin typeface="Consolas" panose="020B0609020204030204" pitchFamily="49" charset="0"/>
              </a:rPr>
              <a:t>  .</a:t>
            </a:r>
            <a:r>
              <a:rPr lang="en-US" sz="2000" b="1" dirty="0">
                <a:solidFill>
                  <a:srgbClr val="0070C0"/>
                </a:solidFill>
                <a:latin typeface="Consolas" panose="020B0609020204030204" pitchFamily="49" charset="0"/>
              </a:rPr>
              <a:t>then</a:t>
            </a:r>
            <a:r>
              <a:rPr lang="en-US" sz="2000" b="1" dirty="0">
                <a:latin typeface="Consolas" panose="020B0609020204030204" pitchFamily="49" charset="0"/>
              </a:rPr>
              <a:t>(response =&gt; </a:t>
            </a:r>
            <a:r>
              <a:rPr lang="en-US" sz="2000" b="1" dirty="0" err="1">
                <a:latin typeface="Consolas" panose="020B0609020204030204" pitchFamily="49" charset="0"/>
              </a:rPr>
              <a:t>response.json</a:t>
            </a:r>
            <a:r>
              <a:rPr lang="en-US" sz="2000" b="1" dirty="0">
                <a:latin typeface="Consolas" panose="020B0609020204030204" pitchFamily="49" charset="0"/>
              </a:rPr>
              <a:t>())</a:t>
            </a:r>
          </a:p>
          <a:p>
            <a:r>
              <a:rPr lang="en-US" sz="2000" b="1" dirty="0">
                <a:latin typeface="Consolas" panose="020B0609020204030204" pitchFamily="49" charset="0"/>
              </a:rPr>
              <a:t>  .</a:t>
            </a:r>
            <a:r>
              <a:rPr lang="en-US" sz="2000" b="1" dirty="0">
                <a:solidFill>
                  <a:srgbClr val="0070C0"/>
                </a:solidFill>
                <a:latin typeface="Consolas" panose="020B0609020204030204" pitchFamily="49" charset="0"/>
              </a:rPr>
              <a:t>then</a:t>
            </a:r>
            <a:r>
              <a:rPr lang="en-US" sz="2000" b="1" dirty="0">
                <a:latin typeface="Consolas" panose="020B0609020204030204" pitchFamily="49" charset="0"/>
              </a:rPr>
              <a:t>(data =&gt; console.log(data))</a:t>
            </a:r>
          </a:p>
          <a:p>
            <a:r>
              <a:rPr lang="en-US" sz="2000" b="1" dirty="0">
                <a:latin typeface="Consolas" panose="020B0609020204030204" pitchFamily="49" charset="0"/>
              </a:rPr>
              <a:t>  .</a:t>
            </a:r>
            <a:r>
              <a:rPr lang="en-US" sz="2000" b="1" dirty="0">
                <a:solidFill>
                  <a:srgbClr val="0070C0"/>
                </a:solidFill>
                <a:latin typeface="Consolas" panose="020B0609020204030204" pitchFamily="49" charset="0"/>
              </a:rPr>
              <a:t>catch</a:t>
            </a:r>
            <a:r>
              <a:rPr lang="en-US" sz="2000" b="1" dirty="0">
                <a:latin typeface="Consolas" panose="020B0609020204030204" pitchFamily="49" charset="0"/>
              </a:rPr>
              <a:t>(err =&gt; {</a:t>
            </a:r>
          </a:p>
          <a:p>
            <a:r>
              <a:rPr lang="en-US" sz="2000" b="1" dirty="0">
                <a:latin typeface="Consolas" panose="020B0609020204030204" pitchFamily="49" charset="0"/>
              </a:rPr>
              <a:t>    if (err.name === '</a:t>
            </a:r>
            <a:r>
              <a:rPr lang="en-US" sz="2000" b="1" dirty="0" err="1">
                <a:latin typeface="Consolas" panose="020B0609020204030204" pitchFamily="49" charset="0"/>
              </a:rPr>
              <a:t>AbortError</a:t>
            </a:r>
            <a:r>
              <a:rPr lang="en-US" sz="2000" b="1" dirty="0">
                <a:latin typeface="Consolas" panose="020B0609020204030204" pitchFamily="49" charset="0"/>
              </a:rPr>
              <a:t>') {</a:t>
            </a:r>
          </a:p>
          <a:p>
            <a:r>
              <a:rPr lang="en-US" sz="2000" b="1" dirty="0">
                <a:latin typeface="Consolas" panose="020B0609020204030204" pitchFamily="49" charset="0"/>
              </a:rPr>
              <a:t>      console.log('Request was aborted');</a:t>
            </a:r>
          </a:p>
          <a:p>
            <a:r>
              <a:rPr lang="en-US" sz="2000" b="1" dirty="0">
                <a:latin typeface="Consolas" panose="020B0609020204030204" pitchFamily="49" charset="0"/>
              </a:rPr>
              <a:t>    } else {</a:t>
            </a:r>
          </a:p>
          <a:p>
            <a:r>
              <a:rPr lang="en-US" sz="2000" b="1" dirty="0">
                <a:latin typeface="Consolas" panose="020B0609020204030204" pitchFamily="49" charset="0"/>
              </a:rPr>
              <a:t>      </a:t>
            </a:r>
            <a:r>
              <a:rPr lang="en-US" sz="2000" b="1" dirty="0" err="1">
                <a:latin typeface="Consolas" panose="020B0609020204030204" pitchFamily="49" charset="0"/>
              </a:rPr>
              <a:t>console.error</a:t>
            </a:r>
            <a:r>
              <a:rPr lang="en-US" sz="2000" b="1" dirty="0">
                <a:latin typeface="Consolas" panose="020B0609020204030204" pitchFamily="49" charset="0"/>
              </a:rPr>
              <a:t>(err);</a:t>
            </a:r>
          </a:p>
          <a:p>
            <a:r>
              <a:rPr lang="en-US" sz="2000" b="1" dirty="0">
                <a:latin typeface="Consolas" panose="020B0609020204030204" pitchFamily="49" charset="0"/>
              </a:rPr>
              <a:t>    }</a:t>
            </a:r>
          </a:p>
          <a:p>
            <a:r>
              <a:rPr lang="en-US" sz="2000" b="1" dirty="0">
                <a:latin typeface="Consolas" panose="020B0609020204030204" pitchFamily="49" charset="0"/>
              </a:rPr>
              <a:t>  });</a:t>
            </a:r>
          </a:p>
          <a:p>
            <a:r>
              <a:rPr lang="en-US" sz="2000" b="1" dirty="0" err="1">
                <a:solidFill>
                  <a:srgbClr val="0070C0"/>
                </a:solidFill>
                <a:latin typeface="Consolas" panose="020B0609020204030204" pitchFamily="49" charset="0"/>
              </a:rPr>
              <a:t>controller.abort</a:t>
            </a:r>
            <a:r>
              <a:rPr lang="en-US" sz="2000" b="1" dirty="0">
                <a:latin typeface="Consolas" panose="020B0609020204030204" pitchFamily="49" charset="0"/>
              </a:rPr>
              <a:t>(); // Cancels the fetch</a:t>
            </a:r>
          </a:p>
        </p:txBody>
      </p:sp>
    </p:spTree>
    <p:extLst>
      <p:ext uri="{BB962C8B-B14F-4D97-AF65-F5344CB8AC3E}">
        <p14:creationId xmlns:p14="http://schemas.microsoft.com/office/powerpoint/2010/main" val="28358647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1C066-E1FF-A428-CC48-6917434D708C}"/>
              </a:ext>
            </a:extLst>
          </p:cNvPr>
          <p:cNvSpPr>
            <a:spLocks noGrp="1"/>
          </p:cNvSpPr>
          <p:nvPr>
            <p:ph type="title"/>
          </p:nvPr>
        </p:nvSpPr>
        <p:spPr/>
        <p:txBody>
          <a:bodyPr/>
          <a:lstStyle/>
          <a:p>
            <a:r>
              <a:rPr lang="en-US" b="1" dirty="0"/>
              <a:t>Fetch API</a:t>
            </a:r>
            <a:endParaRPr lang="en-US" dirty="0"/>
          </a:p>
        </p:txBody>
      </p:sp>
      <p:sp>
        <p:nvSpPr>
          <p:cNvPr id="3" name="Text Placeholder 2">
            <a:extLst>
              <a:ext uri="{FF2B5EF4-FFF2-40B4-BE49-F238E27FC236}">
                <a16:creationId xmlns:a16="http://schemas.microsoft.com/office/drawing/2014/main" id="{E866E8BD-4B11-125D-8AEC-8EB9B37B1557}"/>
              </a:ext>
            </a:extLst>
          </p:cNvPr>
          <p:cNvSpPr>
            <a:spLocks noGrp="1"/>
          </p:cNvSpPr>
          <p:nvPr>
            <p:ph type="body" idx="1"/>
          </p:nvPr>
        </p:nvSpPr>
        <p:spPr/>
        <p:txBody>
          <a:bodyPr/>
          <a:lstStyle/>
          <a:p>
            <a:r>
              <a:rPr lang="en-US" b="1" dirty="0">
                <a:solidFill>
                  <a:srgbClr val="FF0000"/>
                </a:solidFill>
              </a:rPr>
              <a:t>Limitations of Fetch API</a:t>
            </a:r>
          </a:p>
          <a:p>
            <a:pPr lvl="1"/>
            <a:r>
              <a:rPr lang="en-US" dirty="0"/>
              <a:t>Doesn't support timeout natively (requires custom implementation).</a:t>
            </a:r>
          </a:p>
          <a:p>
            <a:pPr lvl="1"/>
            <a:r>
              <a:rPr lang="en-US" dirty="0"/>
              <a:t>HTTP errors (like 404, 500) do not reject the Promise.</a:t>
            </a:r>
          </a:p>
          <a:p>
            <a:pPr lvl="1"/>
            <a:r>
              <a:rPr lang="en-US" dirty="0"/>
              <a:t>Limited browser support in older versions.</a:t>
            </a:r>
          </a:p>
        </p:txBody>
      </p:sp>
    </p:spTree>
    <p:extLst>
      <p:ext uri="{BB962C8B-B14F-4D97-AF65-F5344CB8AC3E}">
        <p14:creationId xmlns:p14="http://schemas.microsoft.com/office/powerpoint/2010/main" val="3718569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0D258-0069-25BD-CC2E-43A3CC4AEF48}"/>
              </a:ext>
            </a:extLst>
          </p:cNvPr>
          <p:cNvSpPr>
            <a:spLocks noGrp="1"/>
          </p:cNvSpPr>
          <p:nvPr>
            <p:ph type="title"/>
          </p:nvPr>
        </p:nvSpPr>
        <p:spPr/>
        <p:txBody>
          <a:bodyPr/>
          <a:lstStyle/>
          <a:p>
            <a:r>
              <a:rPr lang="en-US" b="1" dirty="0">
                <a:solidFill>
                  <a:schemeClr val="tx2"/>
                </a:solidFill>
              </a:rPr>
              <a:t>Axios</a:t>
            </a:r>
            <a:endParaRPr lang="en-US" dirty="0">
              <a:solidFill>
                <a:schemeClr val="tx2"/>
              </a:solidFill>
            </a:endParaRPr>
          </a:p>
        </p:txBody>
      </p:sp>
      <p:sp>
        <p:nvSpPr>
          <p:cNvPr id="3" name="Text Placeholder 2">
            <a:extLst>
              <a:ext uri="{FF2B5EF4-FFF2-40B4-BE49-F238E27FC236}">
                <a16:creationId xmlns:a16="http://schemas.microsoft.com/office/drawing/2014/main" id="{7824F619-CFB2-8C90-C7B9-8BD516A6BB70}"/>
              </a:ext>
            </a:extLst>
          </p:cNvPr>
          <p:cNvSpPr>
            <a:spLocks noGrp="1"/>
          </p:cNvSpPr>
          <p:nvPr>
            <p:ph type="body" idx="1"/>
          </p:nvPr>
        </p:nvSpPr>
        <p:spPr/>
        <p:txBody>
          <a:bodyPr/>
          <a:lstStyle/>
          <a:p>
            <a:r>
              <a:rPr lang="en-US" b="1" dirty="0">
                <a:solidFill>
                  <a:srgbClr val="FF0000"/>
                </a:solidFill>
              </a:rPr>
              <a:t>Axios</a:t>
            </a:r>
            <a:r>
              <a:rPr lang="en-US" dirty="0"/>
              <a:t> is a JavaScript library that allows developers to make HTTP requests to servers to fetch data.</a:t>
            </a:r>
          </a:p>
          <a:p>
            <a:pPr lvl="1"/>
            <a:r>
              <a:rPr lang="en-US" dirty="0"/>
              <a:t>It is based on Promises and works both in the browser and Node.js.</a:t>
            </a:r>
          </a:p>
          <a:p>
            <a:pPr lvl="1"/>
            <a:r>
              <a:rPr lang="en-US" dirty="0"/>
              <a:t>Provides a simple API for sending asynchronous requests to APIs and handling responses.</a:t>
            </a:r>
          </a:p>
          <a:p>
            <a:pPr lvl="1"/>
            <a:r>
              <a:rPr lang="en-US" dirty="0"/>
              <a:t>Supports modern JavaScript features and integrates easily with frameworks like React, Vue, and Angular.</a:t>
            </a:r>
          </a:p>
        </p:txBody>
      </p:sp>
    </p:spTree>
    <p:extLst>
      <p:ext uri="{BB962C8B-B14F-4D97-AF65-F5344CB8AC3E}">
        <p14:creationId xmlns:p14="http://schemas.microsoft.com/office/powerpoint/2010/main" val="3941792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F491D-2CF8-ABAD-EE13-81BA7C53AC07}"/>
              </a:ext>
            </a:extLst>
          </p:cNvPr>
          <p:cNvSpPr>
            <a:spLocks noGrp="1"/>
          </p:cNvSpPr>
          <p:nvPr>
            <p:ph type="title"/>
          </p:nvPr>
        </p:nvSpPr>
        <p:spPr/>
        <p:txBody>
          <a:bodyPr/>
          <a:lstStyle/>
          <a:p>
            <a:r>
              <a:rPr lang="en-US" b="1" dirty="0">
                <a:solidFill>
                  <a:schemeClr val="tx2"/>
                </a:solidFill>
              </a:rPr>
              <a:t>Axios</a:t>
            </a:r>
            <a:endParaRPr lang="en-US" dirty="0"/>
          </a:p>
        </p:txBody>
      </p:sp>
      <p:sp>
        <p:nvSpPr>
          <p:cNvPr id="3" name="Text Placeholder 2">
            <a:extLst>
              <a:ext uri="{FF2B5EF4-FFF2-40B4-BE49-F238E27FC236}">
                <a16:creationId xmlns:a16="http://schemas.microsoft.com/office/drawing/2014/main" id="{2D9F5A9A-5F10-351F-C699-F9E899A627E0}"/>
              </a:ext>
            </a:extLst>
          </p:cNvPr>
          <p:cNvSpPr>
            <a:spLocks noGrp="1"/>
          </p:cNvSpPr>
          <p:nvPr>
            <p:ph type="body" idx="1"/>
          </p:nvPr>
        </p:nvSpPr>
        <p:spPr>
          <a:xfrm>
            <a:off x="1104900" y="1600200"/>
            <a:ext cx="4831444" cy="3450771"/>
          </a:xfrm>
        </p:spPr>
        <p:txBody>
          <a:bodyPr/>
          <a:lstStyle/>
          <a:p>
            <a:r>
              <a:rPr lang="en-US" dirty="0"/>
              <a:t>This diagram represents how Axios interacts with an application</a:t>
            </a:r>
          </a:p>
        </p:txBody>
      </p:sp>
      <p:pic>
        <p:nvPicPr>
          <p:cNvPr id="11266" name="Picture 2" descr="Axios interaction">
            <a:extLst>
              <a:ext uri="{FF2B5EF4-FFF2-40B4-BE49-F238E27FC236}">
                <a16:creationId xmlns:a16="http://schemas.microsoft.com/office/drawing/2014/main" id="{E0E9914A-9D6A-B08B-9782-E5A0599C4C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78" t="5858" r="5364" b="3225"/>
          <a:stretch/>
        </p:blipFill>
        <p:spPr bwMode="auto">
          <a:xfrm>
            <a:off x="6095241" y="370115"/>
            <a:ext cx="5105696" cy="56279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91981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B854-9B4E-83BA-E700-9C323FCB4836}"/>
              </a:ext>
            </a:extLst>
          </p:cNvPr>
          <p:cNvSpPr>
            <a:spLocks noGrp="1"/>
          </p:cNvSpPr>
          <p:nvPr>
            <p:ph type="title"/>
          </p:nvPr>
        </p:nvSpPr>
        <p:spPr/>
        <p:txBody>
          <a:bodyPr/>
          <a:lstStyle/>
          <a:p>
            <a:r>
              <a:rPr lang="en-US" b="1" dirty="0">
                <a:solidFill>
                  <a:schemeClr val="tx2"/>
                </a:solidFill>
              </a:rPr>
              <a:t>Axios</a:t>
            </a:r>
            <a:endParaRPr lang="en-US" dirty="0"/>
          </a:p>
        </p:txBody>
      </p:sp>
      <p:sp>
        <p:nvSpPr>
          <p:cNvPr id="3" name="Text Placeholder 2">
            <a:extLst>
              <a:ext uri="{FF2B5EF4-FFF2-40B4-BE49-F238E27FC236}">
                <a16:creationId xmlns:a16="http://schemas.microsoft.com/office/drawing/2014/main" id="{1E6B3B6A-C3A1-01B5-3648-8420FB097FAB}"/>
              </a:ext>
            </a:extLst>
          </p:cNvPr>
          <p:cNvSpPr>
            <a:spLocks noGrp="1"/>
          </p:cNvSpPr>
          <p:nvPr>
            <p:ph type="body" idx="1"/>
          </p:nvPr>
        </p:nvSpPr>
        <p:spPr/>
        <p:txBody>
          <a:bodyPr>
            <a:normAutofit lnSpcReduction="10000"/>
          </a:bodyPr>
          <a:lstStyle/>
          <a:p>
            <a:r>
              <a:rPr lang="en-US" b="1" dirty="0">
                <a:solidFill>
                  <a:srgbClr val="C00000"/>
                </a:solidFill>
              </a:rPr>
              <a:t>Features of Axios</a:t>
            </a:r>
          </a:p>
          <a:p>
            <a:pPr lvl="1"/>
            <a:r>
              <a:rPr lang="en-US" dirty="0">
                <a:solidFill>
                  <a:schemeClr val="tx2"/>
                </a:solidFill>
              </a:rPr>
              <a:t>Easy to use: Simplified syntax compared to traditional </a:t>
            </a:r>
            <a:r>
              <a:rPr lang="en-US" dirty="0" err="1">
                <a:solidFill>
                  <a:schemeClr val="tx2"/>
                </a:solidFill>
              </a:rPr>
              <a:t>XMLHttpRequest</a:t>
            </a:r>
            <a:r>
              <a:rPr lang="en-US" dirty="0">
                <a:solidFill>
                  <a:schemeClr val="tx2"/>
                </a:solidFill>
              </a:rPr>
              <a:t> or fetch.</a:t>
            </a:r>
          </a:p>
          <a:p>
            <a:pPr lvl="1"/>
            <a:r>
              <a:rPr lang="en-US" dirty="0">
                <a:solidFill>
                  <a:schemeClr val="tx2"/>
                </a:solidFill>
              </a:rPr>
              <a:t>Supports request cancellation using tokens.</a:t>
            </a:r>
          </a:p>
          <a:p>
            <a:pPr lvl="1"/>
            <a:r>
              <a:rPr lang="en-US" dirty="0">
                <a:solidFill>
                  <a:schemeClr val="tx2"/>
                </a:solidFill>
              </a:rPr>
              <a:t>Intercept requests and responses for error handling or token updates.</a:t>
            </a:r>
          </a:p>
          <a:p>
            <a:pPr lvl="1"/>
            <a:r>
              <a:rPr lang="en-US" dirty="0">
                <a:solidFill>
                  <a:schemeClr val="tx2"/>
                </a:solidFill>
              </a:rPr>
              <a:t>Automatically transforms request/response data to JSON.</a:t>
            </a:r>
          </a:p>
          <a:p>
            <a:pPr lvl="1"/>
            <a:r>
              <a:rPr lang="en-US" dirty="0">
                <a:solidFill>
                  <a:schemeClr val="tx2"/>
                </a:solidFill>
              </a:rPr>
              <a:t>Works with timeout configurations.</a:t>
            </a:r>
          </a:p>
          <a:p>
            <a:pPr lvl="1"/>
            <a:r>
              <a:rPr lang="en-US" dirty="0">
                <a:solidFill>
                  <a:schemeClr val="tx2"/>
                </a:solidFill>
              </a:rPr>
              <a:t>Supports both GET, POST, PUT, DELETE, and other HTTP methods.</a:t>
            </a:r>
          </a:p>
          <a:p>
            <a:pPr lvl="1"/>
            <a:r>
              <a:rPr lang="en-US" dirty="0">
                <a:solidFill>
                  <a:schemeClr val="tx2"/>
                </a:solidFill>
              </a:rPr>
              <a:t>Supports cross-site requests (CORS).</a:t>
            </a:r>
          </a:p>
        </p:txBody>
      </p:sp>
    </p:spTree>
    <p:extLst>
      <p:ext uri="{BB962C8B-B14F-4D97-AF65-F5344CB8AC3E}">
        <p14:creationId xmlns:p14="http://schemas.microsoft.com/office/powerpoint/2010/main" val="21926998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4FCBE-59F5-1BE9-0433-4CC11D3E4701}"/>
              </a:ext>
            </a:extLst>
          </p:cNvPr>
          <p:cNvSpPr>
            <a:spLocks noGrp="1"/>
          </p:cNvSpPr>
          <p:nvPr>
            <p:ph type="title"/>
          </p:nvPr>
        </p:nvSpPr>
        <p:spPr/>
        <p:txBody>
          <a:bodyPr/>
          <a:lstStyle/>
          <a:p>
            <a:r>
              <a:rPr lang="en-US" b="1" dirty="0">
                <a:solidFill>
                  <a:schemeClr val="tx2"/>
                </a:solidFill>
              </a:rPr>
              <a:t>Axios</a:t>
            </a:r>
            <a:endParaRPr lang="en-US" dirty="0"/>
          </a:p>
        </p:txBody>
      </p:sp>
      <p:sp>
        <p:nvSpPr>
          <p:cNvPr id="3" name="Text Placeholder 2">
            <a:extLst>
              <a:ext uri="{FF2B5EF4-FFF2-40B4-BE49-F238E27FC236}">
                <a16:creationId xmlns:a16="http://schemas.microsoft.com/office/drawing/2014/main" id="{F4457FC0-0A7F-8AAF-6601-7C218844FC0F}"/>
              </a:ext>
            </a:extLst>
          </p:cNvPr>
          <p:cNvSpPr>
            <a:spLocks noGrp="1"/>
          </p:cNvSpPr>
          <p:nvPr>
            <p:ph type="body" idx="1"/>
          </p:nvPr>
        </p:nvSpPr>
        <p:spPr/>
        <p:txBody>
          <a:bodyPr/>
          <a:lstStyle/>
          <a:p>
            <a:r>
              <a:rPr lang="en-US" dirty="0"/>
              <a:t>Installing Axios</a:t>
            </a:r>
          </a:p>
          <a:p>
            <a:pPr lvl="1"/>
            <a:r>
              <a:rPr lang="en-US" dirty="0"/>
              <a:t>Using </a:t>
            </a:r>
            <a:r>
              <a:rPr lang="en-US" b="1" dirty="0" err="1"/>
              <a:t>npm</a:t>
            </a:r>
            <a:r>
              <a:rPr lang="en-US" b="1" dirty="0"/>
              <a:t>:</a:t>
            </a:r>
          </a:p>
          <a:p>
            <a:pPr marL="457200" lvl="1" indent="0">
              <a:buNone/>
            </a:pPr>
            <a:endParaRPr lang="en-US" b="1" dirty="0"/>
          </a:p>
          <a:p>
            <a:pPr lvl="1"/>
            <a:r>
              <a:rPr lang="en-US" dirty="0"/>
              <a:t>Using </a:t>
            </a:r>
            <a:r>
              <a:rPr lang="en-US" b="1" dirty="0"/>
              <a:t>yarn:</a:t>
            </a:r>
          </a:p>
          <a:p>
            <a:pPr lvl="1"/>
            <a:endParaRPr lang="en-US" b="1" dirty="0"/>
          </a:p>
          <a:p>
            <a:pPr lvl="1"/>
            <a:r>
              <a:rPr lang="en-US" dirty="0"/>
              <a:t>Include via CDN</a:t>
            </a:r>
            <a:r>
              <a:rPr lang="en-US" b="1" dirty="0"/>
              <a:t>:  </a:t>
            </a:r>
            <a:endParaRPr lang="en-US" dirty="0"/>
          </a:p>
        </p:txBody>
      </p:sp>
      <p:sp>
        <p:nvSpPr>
          <p:cNvPr id="5" name="TextBox 4">
            <a:extLst>
              <a:ext uri="{FF2B5EF4-FFF2-40B4-BE49-F238E27FC236}">
                <a16:creationId xmlns:a16="http://schemas.microsoft.com/office/drawing/2014/main" id="{BADAECF7-7B15-ECAE-A22A-EAD61D430AB9}"/>
              </a:ext>
            </a:extLst>
          </p:cNvPr>
          <p:cNvSpPr txBox="1"/>
          <p:nvPr/>
        </p:nvSpPr>
        <p:spPr>
          <a:xfrm>
            <a:off x="3701143" y="2086819"/>
            <a:ext cx="3541486" cy="461665"/>
          </a:xfrm>
          <a:prstGeom prst="rect">
            <a:avLst/>
          </a:prstGeom>
          <a:noFill/>
          <a:ln>
            <a:solidFill>
              <a:schemeClr val="accent1"/>
            </a:solidFill>
          </a:ln>
        </p:spPr>
        <p:txBody>
          <a:bodyPr wrap="square">
            <a:spAutoFit/>
          </a:bodyPr>
          <a:lstStyle/>
          <a:p>
            <a:r>
              <a:rPr lang="en-US" sz="2400" b="1" dirty="0" err="1">
                <a:latin typeface="Consolas" panose="020B0609020204030204" pitchFamily="49" charset="0"/>
              </a:rPr>
              <a:t>npm</a:t>
            </a:r>
            <a:r>
              <a:rPr lang="en-US" sz="2400" b="1" dirty="0">
                <a:latin typeface="Consolas" panose="020B0609020204030204" pitchFamily="49" charset="0"/>
              </a:rPr>
              <a:t> install </a:t>
            </a:r>
            <a:r>
              <a:rPr lang="en-US" sz="2400" b="1" dirty="0" err="1">
                <a:latin typeface="Consolas" panose="020B0609020204030204" pitchFamily="49" charset="0"/>
              </a:rPr>
              <a:t>axios</a:t>
            </a:r>
            <a:endParaRPr lang="en-US" sz="2400" b="1" dirty="0">
              <a:latin typeface="Consolas" panose="020B0609020204030204" pitchFamily="49" charset="0"/>
            </a:endParaRPr>
          </a:p>
        </p:txBody>
      </p:sp>
      <p:sp>
        <p:nvSpPr>
          <p:cNvPr id="7" name="TextBox 6">
            <a:extLst>
              <a:ext uri="{FF2B5EF4-FFF2-40B4-BE49-F238E27FC236}">
                <a16:creationId xmlns:a16="http://schemas.microsoft.com/office/drawing/2014/main" id="{BAB27440-1ED4-97A5-DD3D-4EF1C7959A2D}"/>
              </a:ext>
            </a:extLst>
          </p:cNvPr>
          <p:cNvSpPr txBox="1"/>
          <p:nvPr/>
        </p:nvSpPr>
        <p:spPr>
          <a:xfrm>
            <a:off x="3701143" y="2967335"/>
            <a:ext cx="3541486" cy="461665"/>
          </a:xfrm>
          <a:prstGeom prst="rect">
            <a:avLst/>
          </a:prstGeom>
          <a:noFill/>
          <a:ln>
            <a:solidFill>
              <a:schemeClr val="accent1"/>
            </a:solidFill>
          </a:ln>
        </p:spPr>
        <p:txBody>
          <a:bodyPr wrap="square">
            <a:spAutoFit/>
          </a:bodyPr>
          <a:lstStyle/>
          <a:p>
            <a:r>
              <a:rPr lang="en-US" sz="2400" b="1" dirty="0">
                <a:latin typeface="Consolas" panose="020B0609020204030204" pitchFamily="49" charset="0"/>
              </a:rPr>
              <a:t>yarn add </a:t>
            </a:r>
            <a:r>
              <a:rPr lang="en-US" sz="2400" b="1" dirty="0" err="1">
                <a:latin typeface="Consolas" panose="020B0609020204030204" pitchFamily="49" charset="0"/>
              </a:rPr>
              <a:t>axios</a:t>
            </a:r>
            <a:endParaRPr lang="en-US" sz="2400" b="1" dirty="0">
              <a:latin typeface="Consolas" panose="020B0609020204030204" pitchFamily="49" charset="0"/>
            </a:endParaRPr>
          </a:p>
        </p:txBody>
      </p:sp>
      <p:sp>
        <p:nvSpPr>
          <p:cNvPr id="9" name="TextBox 8">
            <a:extLst>
              <a:ext uri="{FF2B5EF4-FFF2-40B4-BE49-F238E27FC236}">
                <a16:creationId xmlns:a16="http://schemas.microsoft.com/office/drawing/2014/main" id="{37B682FD-6D1A-8474-2B84-953DC69B31C2}"/>
              </a:ext>
            </a:extLst>
          </p:cNvPr>
          <p:cNvSpPr txBox="1"/>
          <p:nvPr/>
        </p:nvSpPr>
        <p:spPr>
          <a:xfrm>
            <a:off x="1683657" y="4400490"/>
            <a:ext cx="9980682" cy="966227"/>
          </a:xfrm>
          <a:prstGeom prst="rect">
            <a:avLst/>
          </a:prstGeom>
          <a:noFill/>
          <a:ln>
            <a:solidFill>
              <a:schemeClr val="accent1"/>
            </a:solidFill>
          </a:ln>
        </p:spPr>
        <p:txBody>
          <a:bodyPr wrap="square">
            <a:spAutoFit/>
          </a:bodyPr>
          <a:lstStyle/>
          <a:p>
            <a:pPr>
              <a:lnSpc>
                <a:spcPct val="150000"/>
              </a:lnSpc>
            </a:pPr>
            <a:r>
              <a:rPr lang="en-US" sz="2000" b="1" dirty="0">
                <a:latin typeface="Consolas" panose="020B0609020204030204" pitchFamily="49" charset="0"/>
              </a:rPr>
              <a:t>&lt;script </a:t>
            </a:r>
            <a:r>
              <a:rPr lang="en-US" sz="2000" b="1" dirty="0" err="1">
                <a:latin typeface="Consolas" panose="020B0609020204030204" pitchFamily="49" charset="0"/>
              </a:rPr>
              <a:t>src</a:t>
            </a:r>
            <a:r>
              <a:rPr lang="en-US" sz="2000" b="1" dirty="0">
                <a:latin typeface="Consolas" panose="020B0609020204030204" pitchFamily="49" charset="0"/>
              </a:rPr>
              <a:t>="https://cdn.jsdelivr.net/</a:t>
            </a:r>
            <a:r>
              <a:rPr lang="en-US" sz="2000" b="1" dirty="0" err="1">
                <a:latin typeface="Consolas" panose="020B0609020204030204" pitchFamily="49" charset="0"/>
              </a:rPr>
              <a:t>npm</a:t>
            </a:r>
            <a:r>
              <a:rPr lang="en-US" sz="2000" b="1" dirty="0">
                <a:latin typeface="Consolas" panose="020B0609020204030204" pitchFamily="49" charset="0"/>
              </a:rPr>
              <a:t>/</a:t>
            </a:r>
            <a:r>
              <a:rPr lang="en-US" sz="2000" b="1" dirty="0" err="1">
                <a:latin typeface="Consolas" panose="020B0609020204030204" pitchFamily="49" charset="0"/>
              </a:rPr>
              <a:t>axios</a:t>
            </a:r>
            <a:r>
              <a:rPr lang="en-US" sz="2000" b="1" dirty="0">
                <a:latin typeface="Consolas" panose="020B0609020204030204" pitchFamily="49" charset="0"/>
              </a:rPr>
              <a:t>/</a:t>
            </a:r>
            <a:r>
              <a:rPr lang="en-US" sz="2000" b="1" dirty="0" err="1">
                <a:latin typeface="Consolas" panose="020B0609020204030204" pitchFamily="49" charset="0"/>
              </a:rPr>
              <a:t>dist</a:t>
            </a:r>
            <a:r>
              <a:rPr lang="en-US" sz="2000" b="1" dirty="0">
                <a:latin typeface="Consolas" panose="020B0609020204030204" pitchFamily="49" charset="0"/>
              </a:rPr>
              <a:t>/axios.min.js"&gt;</a:t>
            </a:r>
          </a:p>
          <a:p>
            <a:pPr>
              <a:lnSpc>
                <a:spcPct val="150000"/>
              </a:lnSpc>
            </a:pPr>
            <a:r>
              <a:rPr lang="en-US" sz="2000" b="1" dirty="0">
                <a:latin typeface="Consolas" panose="020B0609020204030204" pitchFamily="49" charset="0"/>
              </a:rPr>
              <a:t>&lt;/script&gt;</a:t>
            </a:r>
          </a:p>
        </p:txBody>
      </p:sp>
    </p:spTree>
    <p:extLst>
      <p:ext uri="{BB962C8B-B14F-4D97-AF65-F5344CB8AC3E}">
        <p14:creationId xmlns:p14="http://schemas.microsoft.com/office/powerpoint/2010/main" val="28858761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CF4B2-B3AC-8EF8-7C1C-2B36655F7079}"/>
              </a:ext>
            </a:extLst>
          </p:cNvPr>
          <p:cNvSpPr>
            <a:spLocks noGrp="1"/>
          </p:cNvSpPr>
          <p:nvPr>
            <p:ph type="title"/>
          </p:nvPr>
        </p:nvSpPr>
        <p:spPr/>
        <p:txBody>
          <a:bodyPr/>
          <a:lstStyle/>
          <a:p>
            <a:r>
              <a:rPr lang="en-US" b="1" dirty="0">
                <a:solidFill>
                  <a:schemeClr val="tx2"/>
                </a:solidFill>
              </a:rPr>
              <a:t>Axios</a:t>
            </a:r>
            <a:endParaRPr lang="en-US" dirty="0"/>
          </a:p>
        </p:txBody>
      </p:sp>
      <p:sp>
        <p:nvSpPr>
          <p:cNvPr id="3" name="Text Placeholder 2">
            <a:extLst>
              <a:ext uri="{FF2B5EF4-FFF2-40B4-BE49-F238E27FC236}">
                <a16:creationId xmlns:a16="http://schemas.microsoft.com/office/drawing/2014/main" id="{BEA225BF-5ECA-5A87-D2B9-53073A35F3EB}"/>
              </a:ext>
            </a:extLst>
          </p:cNvPr>
          <p:cNvSpPr>
            <a:spLocks noGrp="1"/>
          </p:cNvSpPr>
          <p:nvPr>
            <p:ph type="body" idx="1"/>
          </p:nvPr>
        </p:nvSpPr>
        <p:spPr/>
        <p:txBody>
          <a:bodyPr/>
          <a:lstStyle/>
          <a:p>
            <a:r>
              <a:rPr lang="en-US" b="1" dirty="0">
                <a:solidFill>
                  <a:srgbClr val="FF0000"/>
                </a:solidFill>
              </a:rPr>
              <a:t>Making a Simple Request with Axios</a:t>
            </a:r>
          </a:p>
        </p:txBody>
      </p:sp>
      <p:sp>
        <p:nvSpPr>
          <p:cNvPr id="5" name="TextBox 4">
            <a:extLst>
              <a:ext uri="{FF2B5EF4-FFF2-40B4-BE49-F238E27FC236}">
                <a16:creationId xmlns:a16="http://schemas.microsoft.com/office/drawing/2014/main" id="{68E04B56-B443-7253-ADE2-FF868B45773D}"/>
              </a:ext>
            </a:extLst>
          </p:cNvPr>
          <p:cNvSpPr txBox="1"/>
          <p:nvPr/>
        </p:nvSpPr>
        <p:spPr>
          <a:xfrm>
            <a:off x="1104900" y="2229454"/>
            <a:ext cx="9982199" cy="3785652"/>
          </a:xfrm>
          <a:prstGeom prst="rect">
            <a:avLst/>
          </a:prstGeom>
          <a:noFill/>
          <a:ln>
            <a:solidFill>
              <a:schemeClr val="accent1"/>
            </a:solidFill>
          </a:ln>
        </p:spPr>
        <p:txBody>
          <a:bodyPr wrap="square">
            <a:spAutoFit/>
          </a:bodyPr>
          <a:lstStyle/>
          <a:p>
            <a:r>
              <a:rPr lang="en-US" sz="2400" b="1" dirty="0">
                <a:latin typeface="Consolas" panose="020B0609020204030204" pitchFamily="49" charset="0"/>
              </a:rPr>
              <a:t>// Import Axios</a:t>
            </a:r>
          </a:p>
          <a:p>
            <a:r>
              <a:rPr lang="en-US" sz="2400" b="1" dirty="0">
                <a:latin typeface="Consolas" panose="020B0609020204030204" pitchFamily="49" charset="0"/>
              </a:rPr>
              <a:t>const </a:t>
            </a:r>
            <a:r>
              <a:rPr lang="en-US" sz="2400" b="1" dirty="0" err="1">
                <a:latin typeface="Consolas" panose="020B0609020204030204" pitchFamily="49" charset="0"/>
              </a:rPr>
              <a:t>axios</a:t>
            </a:r>
            <a:r>
              <a:rPr lang="en-US" sz="2400" b="1" dirty="0">
                <a:latin typeface="Consolas" panose="020B0609020204030204" pitchFamily="49" charset="0"/>
              </a:rPr>
              <a:t> = require('</a:t>
            </a:r>
            <a:r>
              <a:rPr lang="en-US" sz="2400" b="1" dirty="0" err="1">
                <a:latin typeface="Consolas" panose="020B0609020204030204" pitchFamily="49" charset="0"/>
              </a:rPr>
              <a:t>axios</a:t>
            </a:r>
            <a:r>
              <a:rPr lang="en-US" sz="2400" b="1" dirty="0">
                <a:latin typeface="Consolas" panose="020B0609020204030204" pitchFamily="49" charset="0"/>
              </a:rPr>
              <a:t>');</a:t>
            </a:r>
          </a:p>
          <a:p>
            <a:r>
              <a:rPr lang="en-US" sz="2400" b="1" dirty="0">
                <a:latin typeface="Consolas" panose="020B0609020204030204" pitchFamily="49" charset="0"/>
              </a:rPr>
              <a:t>// Send a GET request</a:t>
            </a:r>
          </a:p>
          <a:p>
            <a:r>
              <a:rPr lang="en-US" sz="2400" b="1" dirty="0" err="1">
                <a:latin typeface="Consolas" panose="020B0609020204030204" pitchFamily="49" charset="0"/>
              </a:rPr>
              <a:t>axios.get</a:t>
            </a:r>
            <a:r>
              <a:rPr lang="en-US" sz="2400" b="1" dirty="0">
                <a:latin typeface="Consolas" panose="020B0609020204030204" pitchFamily="49" charset="0"/>
              </a:rPr>
              <a:t>('https://api.example.com/data')</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then</a:t>
            </a:r>
            <a:r>
              <a:rPr lang="en-US" sz="2400" b="1" dirty="0">
                <a:latin typeface="Consolas" panose="020B0609020204030204" pitchFamily="49" charset="0"/>
              </a:rPr>
              <a:t>(response =&gt; {</a:t>
            </a:r>
          </a:p>
          <a:p>
            <a:r>
              <a:rPr lang="en-US" sz="2400" b="1" dirty="0">
                <a:latin typeface="Consolas" panose="020B0609020204030204" pitchFamily="49" charset="0"/>
              </a:rPr>
              <a:t>    console.log(</a:t>
            </a:r>
            <a:r>
              <a:rPr lang="en-US" sz="2400" b="1" dirty="0" err="1">
                <a:latin typeface="Consolas" panose="020B0609020204030204" pitchFamily="49" charset="0"/>
              </a:rPr>
              <a:t>response.data</a:t>
            </a:r>
            <a:r>
              <a:rPr lang="en-US" sz="2400" b="1" dirty="0">
                <a:latin typeface="Consolas" panose="020B0609020204030204" pitchFamily="49" charset="0"/>
              </a:rPr>
              <a:t>); // Process the data</a:t>
            </a:r>
          </a:p>
          <a:p>
            <a:r>
              <a:rPr lang="en-US" sz="2400" b="1" dirty="0">
                <a:latin typeface="Consolas" panose="020B0609020204030204" pitchFamily="49" charset="0"/>
              </a:rPr>
              <a:t>  })</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catch</a:t>
            </a:r>
            <a:r>
              <a:rPr lang="en-US" sz="2400" b="1" dirty="0">
                <a:latin typeface="Consolas" panose="020B0609020204030204" pitchFamily="49" charset="0"/>
              </a:rPr>
              <a:t>(error =&gt; {</a:t>
            </a:r>
          </a:p>
          <a:p>
            <a:r>
              <a:rPr lang="en-US" sz="2400" b="1" dirty="0">
                <a:latin typeface="Consolas" panose="020B0609020204030204" pitchFamily="49" charset="0"/>
              </a:rPr>
              <a:t>    </a:t>
            </a:r>
            <a:r>
              <a:rPr lang="en-US" sz="2400" b="1" dirty="0" err="1">
                <a:latin typeface="Consolas" panose="020B0609020204030204" pitchFamily="49" charset="0"/>
              </a:rPr>
              <a:t>console.error</a:t>
            </a:r>
            <a:r>
              <a:rPr lang="en-US" sz="2400" b="1" dirty="0">
                <a:latin typeface="Consolas" panose="020B0609020204030204" pitchFamily="49" charset="0"/>
              </a:rPr>
              <a:t>('Error:', error); // Handle errors</a:t>
            </a:r>
          </a:p>
          <a:p>
            <a:r>
              <a:rPr lang="en-US" sz="2400" b="1" dirty="0">
                <a:latin typeface="Consolas" panose="020B0609020204030204" pitchFamily="49" charset="0"/>
              </a:rPr>
              <a:t>  });</a:t>
            </a:r>
          </a:p>
        </p:txBody>
      </p:sp>
    </p:spTree>
    <p:extLst>
      <p:ext uri="{BB962C8B-B14F-4D97-AF65-F5344CB8AC3E}">
        <p14:creationId xmlns:p14="http://schemas.microsoft.com/office/powerpoint/2010/main" val="15002170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1F39E-8640-2CBE-9C9C-FF1508BA23B5}"/>
              </a:ext>
            </a:extLst>
          </p:cNvPr>
          <p:cNvSpPr>
            <a:spLocks noGrp="1"/>
          </p:cNvSpPr>
          <p:nvPr>
            <p:ph type="title"/>
          </p:nvPr>
        </p:nvSpPr>
        <p:spPr/>
        <p:txBody>
          <a:bodyPr/>
          <a:lstStyle/>
          <a:p>
            <a:r>
              <a:rPr lang="en-US" b="1" dirty="0">
                <a:solidFill>
                  <a:schemeClr val="tx2"/>
                </a:solidFill>
              </a:rPr>
              <a:t>Axios</a:t>
            </a:r>
            <a:endParaRPr lang="en-US" dirty="0"/>
          </a:p>
        </p:txBody>
      </p:sp>
      <p:sp>
        <p:nvSpPr>
          <p:cNvPr id="3" name="Text Placeholder 2">
            <a:extLst>
              <a:ext uri="{FF2B5EF4-FFF2-40B4-BE49-F238E27FC236}">
                <a16:creationId xmlns:a16="http://schemas.microsoft.com/office/drawing/2014/main" id="{438BFA90-B269-E542-AA1C-5F019F490CCA}"/>
              </a:ext>
            </a:extLst>
          </p:cNvPr>
          <p:cNvSpPr>
            <a:spLocks noGrp="1"/>
          </p:cNvSpPr>
          <p:nvPr>
            <p:ph type="body" idx="1"/>
          </p:nvPr>
        </p:nvSpPr>
        <p:spPr/>
        <p:txBody>
          <a:bodyPr/>
          <a:lstStyle/>
          <a:p>
            <a:r>
              <a:rPr lang="en-US" b="1" dirty="0">
                <a:solidFill>
                  <a:srgbClr val="FF0000"/>
                </a:solidFill>
              </a:rPr>
              <a:t>Axios with Async/Await</a:t>
            </a:r>
            <a:r>
              <a:rPr lang="en-US" dirty="0"/>
              <a:t>: Using Axios with Async/Await</a:t>
            </a:r>
          </a:p>
        </p:txBody>
      </p:sp>
      <p:sp>
        <p:nvSpPr>
          <p:cNvPr id="5" name="TextBox 4">
            <a:extLst>
              <a:ext uri="{FF2B5EF4-FFF2-40B4-BE49-F238E27FC236}">
                <a16:creationId xmlns:a16="http://schemas.microsoft.com/office/drawing/2014/main" id="{47A5E756-3AB2-293C-1F09-854438D4E6BD}"/>
              </a:ext>
            </a:extLst>
          </p:cNvPr>
          <p:cNvSpPr txBox="1"/>
          <p:nvPr/>
        </p:nvSpPr>
        <p:spPr>
          <a:xfrm>
            <a:off x="158898" y="2178040"/>
            <a:ext cx="11872685" cy="3416320"/>
          </a:xfrm>
          <a:prstGeom prst="rect">
            <a:avLst/>
          </a:prstGeom>
          <a:noFill/>
          <a:ln>
            <a:solidFill>
              <a:schemeClr val="accent1"/>
            </a:solidFill>
          </a:ln>
        </p:spPr>
        <p:txBody>
          <a:bodyPr wrap="square">
            <a:spAutoFit/>
          </a:bodyPr>
          <a:lstStyle/>
          <a:p>
            <a:r>
              <a:rPr lang="en-US" sz="2400" b="1" dirty="0">
                <a:latin typeface="Consolas" panose="020B0609020204030204" pitchFamily="49" charset="0"/>
              </a:rPr>
              <a:t>async function </a:t>
            </a:r>
            <a:r>
              <a:rPr lang="en-US" sz="2400" b="1" dirty="0" err="1">
                <a:latin typeface="Consolas" panose="020B0609020204030204" pitchFamily="49" charset="0"/>
              </a:rPr>
              <a:t>fetchData</a:t>
            </a:r>
            <a:r>
              <a:rPr lang="en-US" sz="2400" b="1" dirty="0">
                <a:latin typeface="Consolas" panose="020B0609020204030204" pitchFamily="49" charset="0"/>
              </a:rPr>
              <a:t>() {</a:t>
            </a:r>
          </a:p>
          <a:p>
            <a:r>
              <a:rPr lang="en-US" sz="2400" b="1" dirty="0">
                <a:latin typeface="Consolas" panose="020B0609020204030204" pitchFamily="49" charset="0"/>
              </a:rPr>
              <a:t>  try {</a:t>
            </a:r>
          </a:p>
          <a:p>
            <a:r>
              <a:rPr lang="en-US" sz="2400" b="1" dirty="0">
                <a:latin typeface="Consolas" panose="020B0609020204030204" pitchFamily="49" charset="0"/>
              </a:rPr>
              <a:t>    const response = await </a:t>
            </a:r>
            <a:r>
              <a:rPr lang="en-US" sz="2400" b="1" dirty="0" err="1">
                <a:latin typeface="Consolas" panose="020B0609020204030204" pitchFamily="49" charset="0"/>
              </a:rPr>
              <a:t>axios.get</a:t>
            </a:r>
            <a:r>
              <a:rPr lang="en-US" sz="2400" b="1" dirty="0">
                <a:latin typeface="Consolas" panose="020B0609020204030204" pitchFamily="49" charset="0"/>
              </a:rPr>
              <a:t>('https://api.example.com/data');</a:t>
            </a:r>
          </a:p>
          <a:p>
            <a:r>
              <a:rPr lang="en-US" sz="2400" b="1" dirty="0">
                <a:latin typeface="Consolas" panose="020B0609020204030204" pitchFamily="49" charset="0"/>
              </a:rPr>
              <a:t>    console.log(</a:t>
            </a:r>
            <a:r>
              <a:rPr lang="en-US" sz="2400" b="1" dirty="0" err="1">
                <a:latin typeface="Consolas" panose="020B0609020204030204" pitchFamily="49" charset="0"/>
              </a:rPr>
              <a:t>response.data</a:t>
            </a:r>
            <a:r>
              <a:rPr lang="en-US" sz="2400" b="1" dirty="0">
                <a:latin typeface="Consolas" panose="020B0609020204030204" pitchFamily="49" charset="0"/>
              </a:rPr>
              <a:t>);</a:t>
            </a:r>
          </a:p>
          <a:p>
            <a:r>
              <a:rPr lang="en-US" sz="2400" b="1" dirty="0">
                <a:latin typeface="Consolas" panose="020B0609020204030204" pitchFamily="49" charset="0"/>
              </a:rPr>
              <a:t>  } catch (error) {</a:t>
            </a:r>
          </a:p>
          <a:p>
            <a:r>
              <a:rPr lang="en-US" sz="2400" b="1" dirty="0">
                <a:latin typeface="Consolas" panose="020B0609020204030204" pitchFamily="49" charset="0"/>
              </a:rPr>
              <a:t>    </a:t>
            </a:r>
            <a:r>
              <a:rPr lang="en-US" sz="2400" b="1" dirty="0" err="1">
                <a:latin typeface="Consolas" panose="020B0609020204030204" pitchFamily="49" charset="0"/>
              </a:rPr>
              <a:t>console.error</a:t>
            </a:r>
            <a:r>
              <a:rPr lang="en-US" sz="2400" b="1" dirty="0">
                <a:latin typeface="Consolas" panose="020B0609020204030204" pitchFamily="49" charset="0"/>
              </a:rPr>
              <a:t>('Error:', error);</a:t>
            </a:r>
          </a:p>
          <a:p>
            <a:r>
              <a:rPr lang="en-US" sz="2400" b="1" dirty="0">
                <a:latin typeface="Consolas" panose="020B0609020204030204" pitchFamily="49" charset="0"/>
              </a:rPr>
              <a:t>  }</a:t>
            </a:r>
          </a:p>
          <a:p>
            <a:r>
              <a:rPr lang="en-US" sz="2400" b="1" dirty="0">
                <a:latin typeface="Consolas" panose="020B0609020204030204" pitchFamily="49" charset="0"/>
              </a:rPr>
              <a:t>}</a:t>
            </a:r>
          </a:p>
          <a:p>
            <a:r>
              <a:rPr lang="en-US" sz="2400" b="1" dirty="0" err="1">
                <a:latin typeface="Consolas" panose="020B0609020204030204" pitchFamily="49" charset="0"/>
              </a:rPr>
              <a:t>fetchData</a:t>
            </a:r>
            <a:r>
              <a:rPr lang="en-US" sz="2400" b="1" dirty="0">
                <a:latin typeface="Consolas" panose="020B0609020204030204" pitchFamily="49" charset="0"/>
              </a:rPr>
              <a:t>();</a:t>
            </a:r>
          </a:p>
        </p:txBody>
      </p:sp>
    </p:spTree>
    <p:extLst>
      <p:ext uri="{BB962C8B-B14F-4D97-AF65-F5344CB8AC3E}">
        <p14:creationId xmlns:p14="http://schemas.microsoft.com/office/powerpoint/2010/main" val="1569654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7488-A058-9F0E-2707-E9122BA0506F}"/>
              </a:ext>
            </a:extLst>
          </p:cNvPr>
          <p:cNvSpPr>
            <a:spLocks noGrp="1"/>
          </p:cNvSpPr>
          <p:nvPr>
            <p:ph type="title"/>
          </p:nvPr>
        </p:nvSpPr>
        <p:spPr/>
        <p:txBody>
          <a:bodyPr/>
          <a:lstStyle/>
          <a:p>
            <a:r>
              <a:rPr lang="en-US" b="1" dirty="0">
                <a:solidFill>
                  <a:schemeClr val="tx2"/>
                </a:solidFill>
              </a:rPr>
              <a:t>Axios</a:t>
            </a:r>
            <a:endParaRPr lang="en-US" dirty="0"/>
          </a:p>
        </p:txBody>
      </p:sp>
      <p:sp>
        <p:nvSpPr>
          <p:cNvPr id="3" name="Text Placeholder 2">
            <a:extLst>
              <a:ext uri="{FF2B5EF4-FFF2-40B4-BE49-F238E27FC236}">
                <a16:creationId xmlns:a16="http://schemas.microsoft.com/office/drawing/2014/main" id="{7576832F-D5AA-B7CA-3CC2-416B8C0C5FC9}"/>
              </a:ext>
            </a:extLst>
          </p:cNvPr>
          <p:cNvSpPr>
            <a:spLocks noGrp="1"/>
          </p:cNvSpPr>
          <p:nvPr>
            <p:ph type="body" idx="1"/>
          </p:nvPr>
        </p:nvSpPr>
        <p:spPr/>
        <p:txBody>
          <a:bodyPr/>
          <a:lstStyle/>
          <a:p>
            <a:r>
              <a:rPr lang="en-US" b="1" dirty="0">
                <a:solidFill>
                  <a:srgbClr val="FF0000"/>
                </a:solidFill>
              </a:rPr>
              <a:t>Axios Configuration</a:t>
            </a:r>
            <a:r>
              <a:rPr lang="en-US" dirty="0"/>
              <a:t>: </a:t>
            </a:r>
            <a:r>
              <a:rPr lang="en-US" i="1" dirty="0"/>
              <a:t>Configuring Axios Requests</a:t>
            </a:r>
          </a:p>
        </p:txBody>
      </p:sp>
      <p:sp>
        <p:nvSpPr>
          <p:cNvPr id="5" name="TextBox 4">
            <a:extLst>
              <a:ext uri="{FF2B5EF4-FFF2-40B4-BE49-F238E27FC236}">
                <a16:creationId xmlns:a16="http://schemas.microsoft.com/office/drawing/2014/main" id="{97ED0ADB-1105-B86E-BC61-E6F8F1895682}"/>
              </a:ext>
            </a:extLst>
          </p:cNvPr>
          <p:cNvSpPr txBox="1"/>
          <p:nvPr/>
        </p:nvSpPr>
        <p:spPr>
          <a:xfrm>
            <a:off x="1104899" y="2455039"/>
            <a:ext cx="9980681" cy="3416320"/>
          </a:xfrm>
          <a:prstGeom prst="rect">
            <a:avLst/>
          </a:prstGeom>
          <a:noFill/>
          <a:ln>
            <a:solidFill>
              <a:schemeClr val="accent1"/>
            </a:solidFill>
          </a:ln>
        </p:spPr>
        <p:txBody>
          <a:bodyPr wrap="square">
            <a:spAutoFit/>
          </a:bodyPr>
          <a:lstStyle/>
          <a:p>
            <a:r>
              <a:rPr lang="en-US" sz="2400" b="1" dirty="0">
                <a:latin typeface="Consolas" panose="020B0609020204030204" pitchFamily="49" charset="0"/>
              </a:rPr>
              <a:t>const </a:t>
            </a:r>
            <a:r>
              <a:rPr lang="en-US" sz="2400" b="1" dirty="0">
                <a:solidFill>
                  <a:srgbClr val="C00000"/>
                </a:solidFill>
                <a:latin typeface="Consolas" panose="020B0609020204030204" pitchFamily="49" charset="0"/>
              </a:rPr>
              <a:t>config</a:t>
            </a:r>
            <a:r>
              <a:rPr lang="en-US" sz="2400" b="1" dirty="0">
                <a:latin typeface="Consolas" panose="020B0609020204030204" pitchFamily="49" charset="0"/>
              </a:rPr>
              <a:t> = {</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method</a:t>
            </a:r>
            <a:r>
              <a:rPr lang="en-US" sz="2400" b="1" dirty="0">
                <a:latin typeface="Consolas" panose="020B0609020204030204" pitchFamily="49" charset="0"/>
              </a:rPr>
              <a:t>: 'post',</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url</a:t>
            </a:r>
            <a:r>
              <a:rPr lang="en-US" sz="2400" b="1" dirty="0">
                <a:latin typeface="Consolas" panose="020B0609020204030204" pitchFamily="49" charset="0"/>
              </a:rPr>
              <a:t>: 'https://api.example.com/data',</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data</a:t>
            </a:r>
            <a:r>
              <a:rPr lang="en-US" sz="2400" b="1" dirty="0">
                <a:latin typeface="Consolas" panose="020B0609020204030204" pitchFamily="49" charset="0"/>
              </a:rPr>
              <a:t>: { key: 'value' },</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headers</a:t>
            </a:r>
            <a:r>
              <a:rPr lang="en-US" sz="2400" b="1" dirty="0">
                <a:latin typeface="Consolas" panose="020B0609020204030204" pitchFamily="49" charset="0"/>
              </a:rPr>
              <a:t>: { 'Authorization': 'Bearer token' },</a:t>
            </a:r>
          </a:p>
          <a:p>
            <a:r>
              <a:rPr lang="en-US" sz="2400" b="1" dirty="0">
                <a:latin typeface="Consolas" panose="020B0609020204030204" pitchFamily="49" charset="0"/>
              </a:rPr>
              <a:t>};</a:t>
            </a:r>
          </a:p>
          <a:p>
            <a:r>
              <a:rPr lang="en-US" sz="2400" b="1" dirty="0" err="1">
                <a:latin typeface="Consolas" panose="020B0609020204030204" pitchFamily="49" charset="0"/>
              </a:rPr>
              <a:t>axios</a:t>
            </a:r>
            <a:r>
              <a:rPr lang="en-US" sz="2400" b="1" dirty="0">
                <a:latin typeface="Consolas" panose="020B0609020204030204" pitchFamily="49" charset="0"/>
              </a:rPr>
              <a:t>(config)</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then</a:t>
            </a:r>
            <a:r>
              <a:rPr lang="en-US" sz="2400" b="1" dirty="0">
                <a:latin typeface="Consolas" panose="020B0609020204030204" pitchFamily="49" charset="0"/>
              </a:rPr>
              <a:t>(response =&gt; console.log(</a:t>
            </a:r>
            <a:r>
              <a:rPr lang="en-US" sz="2400" b="1" dirty="0" err="1">
                <a:latin typeface="Consolas" panose="020B0609020204030204" pitchFamily="49" charset="0"/>
              </a:rPr>
              <a:t>response.data</a:t>
            </a:r>
            <a:r>
              <a:rPr lang="en-US" sz="2400" b="1" dirty="0">
                <a:latin typeface="Consolas" panose="020B0609020204030204" pitchFamily="49" charset="0"/>
              </a:rPr>
              <a:t>))</a:t>
            </a:r>
          </a:p>
          <a:p>
            <a:r>
              <a:rPr lang="en-US" sz="2400" b="1" dirty="0">
                <a:latin typeface="Consolas" panose="020B0609020204030204" pitchFamily="49" charset="0"/>
              </a:rPr>
              <a:t>  .</a:t>
            </a:r>
            <a:r>
              <a:rPr lang="en-US" sz="2400" b="1" dirty="0">
                <a:solidFill>
                  <a:srgbClr val="0070C0"/>
                </a:solidFill>
                <a:latin typeface="Consolas" panose="020B0609020204030204" pitchFamily="49" charset="0"/>
              </a:rPr>
              <a:t>catch</a:t>
            </a:r>
            <a:r>
              <a:rPr lang="en-US" sz="2400" b="1" dirty="0">
                <a:latin typeface="Consolas" panose="020B0609020204030204" pitchFamily="49" charset="0"/>
              </a:rPr>
              <a:t>(error =&gt; </a:t>
            </a:r>
            <a:r>
              <a:rPr lang="en-US" sz="2400" b="1" dirty="0" err="1">
                <a:latin typeface="Consolas" panose="020B0609020204030204" pitchFamily="49" charset="0"/>
              </a:rPr>
              <a:t>console.error</a:t>
            </a:r>
            <a:r>
              <a:rPr lang="en-US" sz="2400" b="1" dirty="0">
                <a:latin typeface="Consolas" panose="020B0609020204030204" pitchFamily="49" charset="0"/>
              </a:rPr>
              <a:t>('Error:', error));</a:t>
            </a:r>
          </a:p>
        </p:txBody>
      </p:sp>
    </p:spTree>
    <p:extLst>
      <p:ext uri="{BB962C8B-B14F-4D97-AF65-F5344CB8AC3E}">
        <p14:creationId xmlns:p14="http://schemas.microsoft.com/office/powerpoint/2010/main" val="14911877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6C116-F636-61AC-DCA6-F1DC4F5CB524}"/>
              </a:ext>
            </a:extLst>
          </p:cNvPr>
          <p:cNvSpPr>
            <a:spLocks noGrp="1"/>
          </p:cNvSpPr>
          <p:nvPr>
            <p:ph type="title"/>
          </p:nvPr>
        </p:nvSpPr>
        <p:spPr/>
        <p:txBody>
          <a:bodyPr/>
          <a:lstStyle/>
          <a:p>
            <a:r>
              <a:rPr lang="en-US" b="1" dirty="0">
                <a:solidFill>
                  <a:schemeClr val="tx2"/>
                </a:solidFill>
              </a:rPr>
              <a:t>Axios</a:t>
            </a:r>
            <a:endParaRPr lang="en-US" dirty="0"/>
          </a:p>
        </p:txBody>
      </p:sp>
      <p:sp>
        <p:nvSpPr>
          <p:cNvPr id="3" name="Text Placeholder 2">
            <a:extLst>
              <a:ext uri="{FF2B5EF4-FFF2-40B4-BE49-F238E27FC236}">
                <a16:creationId xmlns:a16="http://schemas.microsoft.com/office/drawing/2014/main" id="{6A70BAF2-7EE2-B0A5-84C8-013094B5D91F}"/>
              </a:ext>
            </a:extLst>
          </p:cNvPr>
          <p:cNvSpPr>
            <a:spLocks noGrp="1"/>
          </p:cNvSpPr>
          <p:nvPr>
            <p:ph type="body" idx="1"/>
          </p:nvPr>
        </p:nvSpPr>
        <p:spPr/>
        <p:txBody>
          <a:bodyPr/>
          <a:lstStyle/>
          <a:p>
            <a:r>
              <a:rPr lang="en-US" b="1" dirty="0">
                <a:solidFill>
                  <a:srgbClr val="FF0000"/>
                </a:solidFill>
              </a:rPr>
              <a:t>Interceptors in Axios</a:t>
            </a:r>
            <a:r>
              <a:rPr lang="en-US" dirty="0"/>
              <a:t>: </a:t>
            </a:r>
            <a:r>
              <a:rPr lang="en-US" i="1" dirty="0"/>
              <a:t>Using Axios Interceptors</a:t>
            </a:r>
          </a:p>
          <a:p>
            <a:endParaRPr lang="en-US" i="1" dirty="0"/>
          </a:p>
        </p:txBody>
      </p:sp>
      <p:sp>
        <p:nvSpPr>
          <p:cNvPr id="5" name="TextBox 4">
            <a:extLst>
              <a:ext uri="{FF2B5EF4-FFF2-40B4-BE49-F238E27FC236}">
                <a16:creationId xmlns:a16="http://schemas.microsoft.com/office/drawing/2014/main" id="{DFAF94F3-FFF0-A7EE-6D7B-767C78A02EB1}"/>
              </a:ext>
            </a:extLst>
          </p:cNvPr>
          <p:cNvSpPr txBox="1"/>
          <p:nvPr/>
        </p:nvSpPr>
        <p:spPr>
          <a:xfrm>
            <a:off x="1364342" y="2224598"/>
            <a:ext cx="9721239" cy="4093428"/>
          </a:xfrm>
          <a:prstGeom prst="rect">
            <a:avLst/>
          </a:prstGeom>
          <a:noFill/>
          <a:ln>
            <a:solidFill>
              <a:schemeClr val="accent1"/>
            </a:solidFill>
          </a:ln>
        </p:spPr>
        <p:txBody>
          <a:bodyPr wrap="square">
            <a:spAutoFit/>
          </a:bodyPr>
          <a:lstStyle/>
          <a:p>
            <a:r>
              <a:rPr lang="en-US" sz="2000" b="1" dirty="0" err="1">
                <a:latin typeface="Consolas" panose="020B0609020204030204" pitchFamily="49" charset="0"/>
              </a:rPr>
              <a:t>axios.interceptors.request.use</a:t>
            </a:r>
            <a:r>
              <a:rPr lang="en-US" sz="2000" b="1" dirty="0">
                <a:latin typeface="Consolas" panose="020B0609020204030204" pitchFamily="49" charset="0"/>
              </a:rPr>
              <a:t>(config =&gt; {</a:t>
            </a:r>
          </a:p>
          <a:p>
            <a:r>
              <a:rPr lang="en-US" sz="2000" b="1" dirty="0">
                <a:latin typeface="Consolas" panose="020B0609020204030204" pitchFamily="49" charset="0"/>
              </a:rPr>
              <a:t>  console.log('Request sent:', config);</a:t>
            </a:r>
          </a:p>
          <a:p>
            <a:r>
              <a:rPr lang="en-US" sz="2000" b="1" dirty="0">
                <a:latin typeface="Consolas" panose="020B0609020204030204" pitchFamily="49" charset="0"/>
              </a:rPr>
              <a:t>  return config;</a:t>
            </a:r>
          </a:p>
          <a:p>
            <a:r>
              <a:rPr lang="en-US" sz="2000" b="1" dirty="0">
                <a:latin typeface="Consolas" panose="020B0609020204030204" pitchFamily="49" charset="0"/>
              </a:rPr>
              <a:t>}, error =&gt; {</a:t>
            </a:r>
          </a:p>
          <a:p>
            <a:r>
              <a:rPr lang="en-US" sz="2000" b="1" dirty="0">
                <a:latin typeface="Consolas" panose="020B0609020204030204" pitchFamily="49" charset="0"/>
              </a:rPr>
              <a:t>  return </a:t>
            </a:r>
            <a:r>
              <a:rPr lang="en-US" sz="2000" b="1" dirty="0" err="1">
                <a:latin typeface="Consolas" panose="020B0609020204030204" pitchFamily="49" charset="0"/>
              </a:rPr>
              <a:t>Promise.reject</a:t>
            </a:r>
            <a:r>
              <a:rPr lang="en-US" sz="2000" b="1" dirty="0">
                <a:latin typeface="Consolas" panose="020B0609020204030204" pitchFamily="49" charset="0"/>
              </a:rPr>
              <a:t>(error);</a:t>
            </a:r>
          </a:p>
          <a:p>
            <a:r>
              <a:rPr lang="en-US" sz="2000" b="1" dirty="0">
                <a:latin typeface="Consolas" panose="020B0609020204030204" pitchFamily="49" charset="0"/>
              </a:rPr>
              <a:t>});</a:t>
            </a:r>
          </a:p>
          <a:p>
            <a:endParaRPr lang="en-US" sz="2000" b="1" dirty="0">
              <a:latin typeface="Consolas" panose="020B0609020204030204" pitchFamily="49" charset="0"/>
            </a:endParaRPr>
          </a:p>
          <a:p>
            <a:r>
              <a:rPr lang="en-US" sz="2000" b="1" dirty="0" err="1">
                <a:latin typeface="Consolas" panose="020B0609020204030204" pitchFamily="49" charset="0"/>
              </a:rPr>
              <a:t>axios.interceptors.response.use</a:t>
            </a:r>
            <a:r>
              <a:rPr lang="en-US" sz="2000" b="1" dirty="0">
                <a:latin typeface="Consolas" panose="020B0609020204030204" pitchFamily="49" charset="0"/>
              </a:rPr>
              <a:t>(response =&gt; {</a:t>
            </a:r>
          </a:p>
          <a:p>
            <a:r>
              <a:rPr lang="en-US" sz="2000" b="1" dirty="0">
                <a:latin typeface="Consolas" panose="020B0609020204030204" pitchFamily="49" charset="0"/>
              </a:rPr>
              <a:t>  console.log('Response received:', response);</a:t>
            </a:r>
          </a:p>
          <a:p>
            <a:r>
              <a:rPr lang="en-US" sz="2000" b="1" dirty="0">
                <a:latin typeface="Consolas" panose="020B0609020204030204" pitchFamily="49" charset="0"/>
              </a:rPr>
              <a:t>  return response;</a:t>
            </a:r>
          </a:p>
          <a:p>
            <a:r>
              <a:rPr lang="en-US" sz="2000" b="1" dirty="0">
                <a:latin typeface="Consolas" panose="020B0609020204030204" pitchFamily="49" charset="0"/>
              </a:rPr>
              <a:t>}, error =&gt; {</a:t>
            </a:r>
          </a:p>
          <a:p>
            <a:r>
              <a:rPr lang="en-US" sz="2000" b="1" dirty="0">
                <a:latin typeface="Consolas" panose="020B0609020204030204" pitchFamily="49" charset="0"/>
              </a:rPr>
              <a:t>  return </a:t>
            </a:r>
            <a:r>
              <a:rPr lang="en-US" sz="2000" b="1" dirty="0" err="1">
                <a:latin typeface="Consolas" panose="020B0609020204030204" pitchFamily="49" charset="0"/>
              </a:rPr>
              <a:t>Promise.reject</a:t>
            </a:r>
            <a:r>
              <a:rPr lang="en-US" sz="2000" b="1" dirty="0">
                <a:latin typeface="Consolas" panose="020B0609020204030204" pitchFamily="49" charset="0"/>
              </a:rPr>
              <a:t>(error);</a:t>
            </a:r>
          </a:p>
          <a:p>
            <a:r>
              <a:rPr lang="en-US" sz="2000" b="1" dirty="0">
                <a:latin typeface="Consolas" panose="020B0609020204030204" pitchFamily="49" charset="0"/>
              </a:rPr>
              <a:t>});</a:t>
            </a:r>
          </a:p>
        </p:txBody>
      </p:sp>
    </p:spTree>
    <p:extLst>
      <p:ext uri="{BB962C8B-B14F-4D97-AF65-F5344CB8AC3E}">
        <p14:creationId xmlns:p14="http://schemas.microsoft.com/office/powerpoint/2010/main" val="27822293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63FDF-54F3-7858-B220-0B2687964A5A}"/>
              </a:ext>
            </a:extLst>
          </p:cNvPr>
          <p:cNvSpPr>
            <a:spLocks noGrp="1"/>
          </p:cNvSpPr>
          <p:nvPr>
            <p:ph type="title"/>
          </p:nvPr>
        </p:nvSpPr>
        <p:spPr/>
        <p:txBody>
          <a:bodyPr/>
          <a:lstStyle/>
          <a:p>
            <a:r>
              <a:rPr lang="en-US" b="1" dirty="0">
                <a:solidFill>
                  <a:schemeClr val="tx2"/>
                </a:solidFill>
              </a:rPr>
              <a:t>Axios</a:t>
            </a:r>
            <a:endParaRPr lang="en-US" dirty="0"/>
          </a:p>
        </p:txBody>
      </p:sp>
      <p:sp>
        <p:nvSpPr>
          <p:cNvPr id="3" name="Text Placeholder 2">
            <a:extLst>
              <a:ext uri="{FF2B5EF4-FFF2-40B4-BE49-F238E27FC236}">
                <a16:creationId xmlns:a16="http://schemas.microsoft.com/office/drawing/2014/main" id="{667BD8FB-8518-1C35-CA82-54C55185AF64}"/>
              </a:ext>
            </a:extLst>
          </p:cNvPr>
          <p:cNvSpPr>
            <a:spLocks noGrp="1"/>
          </p:cNvSpPr>
          <p:nvPr>
            <p:ph type="body" idx="1"/>
          </p:nvPr>
        </p:nvSpPr>
        <p:spPr/>
        <p:txBody>
          <a:bodyPr/>
          <a:lstStyle/>
          <a:p>
            <a:r>
              <a:rPr lang="en-US" b="1" dirty="0">
                <a:solidFill>
                  <a:srgbClr val="FF0000"/>
                </a:solidFill>
              </a:rPr>
              <a:t>Error Handling in Axios</a:t>
            </a:r>
          </a:p>
        </p:txBody>
      </p:sp>
      <p:sp>
        <p:nvSpPr>
          <p:cNvPr id="5" name="TextBox 4">
            <a:extLst>
              <a:ext uri="{FF2B5EF4-FFF2-40B4-BE49-F238E27FC236}">
                <a16:creationId xmlns:a16="http://schemas.microsoft.com/office/drawing/2014/main" id="{0C8025E2-92E1-C5CB-7945-8839FFB82511}"/>
              </a:ext>
            </a:extLst>
          </p:cNvPr>
          <p:cNvSpPr txBox="1"/>
          <p:nvPr/>
        </p:nvSpPr>
        <p:spPr>
          <a:xfrm>
            <a:off x="1104899" y="2348583"/>
            <a:ext cx="9980681" cy="3816429"/>
          </a:xfrm>
          <a:prstGeom prst="rect">
            <a:avLst/>
          </a:prstGeom>
          <a:noFill/>
          <a:ln>
            <a:solidFill>
              <a:schemeClr val="accent1"/>
            </a:solidFill>
          </a:ln>
        </p:spPr>
        <p:txBody>
          <a:bodyPr wrap="square">
            <a:spAutoFit/>
          </a:bodyPr>
          <a:lstStyle/>
          <a:p>
            <a:r>
              <a:rPr lang="en-US" sz="2200" b="1" dirty="0" err="1">
                <a:latin typeface="Consolas" panose="020B0609020204030204" pitchFamily="49" charset="0"/>
              </a:rPr>
              <a:t>axios.get</a:t>
            </a:r>
            <a:r>
              <a:rPr lang="en-US" sz="2200" b="1" dirty="0">
                <a:latin typeface="Consolas" panose="020B0609020204030204" pitchFamily="49" charset="0"/>
              </a:rPr>
              <a:t>('https://api.example.com/data')</a:t>
            </a:r>
          </a:p>
          <a:p>
            <a:r>
              <a:rPr lang="en-US" sz="2200" b="1" dirty="0">
                <a:latin typeface="Consolas" panose="020B0609020204030204" pitchFamily="49" charset="0"/>
              </a:rPr>
              <a:t>  .</a:t>
            </a:r>
            <a:r>
              <a:rPr lang="en-US" sz="2200" b="1" dirty="0">
                <a:solidFill>
                  <a:srgbClr val="0070C0"/>
                </a:solidFill>
                <a:latin typeface="Consolas" panose="020B0609020204030204" pitchFamily="49" charset="0"/>
              </a:rPr>
              <a:t>then</a:t>
            </a:r>
            <a:r>
              <a:rPr lang="en-US" sz="2200" b="1" dirty="0">
                <a:latin typeface="Consolas" panose="020B0609020204030204" pitchFamily="49" charset="0"/>
              </a:rPr>
              <a:t>(response =&gt; console.log(</a:t>
            </a:r>
            <a:r>
              <a:rPr lang="en-US" sz="2200" b="1" dirty="0" err="1">
                <a:latin typeface="Consolas" panose="020B0609020204030204" pitchFamily="49" charset="0"/>
              </a:rPr>
              <a:t>response.data</a:t>
            </a:r>
            <a:r>
              <a:rPr lang="en-US" sz="2200" b="1" dirty="0">
                <a:latin typeface="Consolas" panose="020B0609020204030204" pitchFamily="49" charset="0"/>
              </a:rPr>
              <a:t>))</a:t>
            </a:r>
          </a:p>
          <a:p>
            <a:r>
              <a:rPr lang="en-US" sz="2200" b="1" dirty="0">
                <a:latin typeface="Consolas" panose="020B0609020204030204" pitchFamily="49" charset="0"/>
              </a:rPr>
              <a:t>  .</a:t>
            </a:r>
            <a:r>
              <a:rPr lang="en-US" sz="2200" b="1" dirty="0">
                <a:solidFill>
                  <a:srgbClr val="0070C0"/>
                </a:solidFill>
                <a:latin typeface="Consolas" panose="020B0609020204030204" pitchFamily="49" charset="0"/>
              </a:rPr>
              <a:t>catch</a:t>
            </a:r>
            <a:r>
              <a:rPr lang="en-US" sz="2200" b="1" dirty="0">
                <a:latin typeface="Consolas" panose="020B0609020204030204" pitchFamily="49" charset="0"/>
              </a:rPr>
              <a:t>(error =&gt; {</a:t>
            </a:r>
          </a:p>
          <a:p>
            <a:r>
              <a:rPr lang="en-US" sz="2200" b="1" dirty="0">
                <a:latin typeface="Consolas" panose="020B0609020204030204" pitchFamily="49" charset="0"/>
              </a:rPr>
              <a:t>    </a:t>
            </a:r>
            <a:r>
              <a:rPr lang="en-US" sz="2200" b="1" dirty="0">
                <a:solidFill>
                  <a:srgbClr val="0070C0"/>
                </a:solidFill>
                <a:latin typeface="Consolas" panose="020B0609020204030204" pitchFamily="49" charset="0"/>
              </a:rPr>
              <a:t>if</a:t>
            </a:r>
            <a:r>
              <a:rPr lang="en-US" sz="2200" b="1" dirty="0">
                <a:latin typeface="Consolas" panose="020B0609020204030204" pitchFamily="49" charset="0"/>
              </a:rPr>
              <a:t> (</a:t>
            </a:r>
            <a:r>
              <a:rPr lang="en-US" sz="2200" b="1" dirty="0" err="1">
                <a:latin typeface="Consolas" panose="020B0609020204030204" pitchFamily="49" charset="0"/>
              </a:rPr>
              <a:t>error.response</a:t>
            </a:r>
            <a:r>
              <a:rPr lang="en-US" sz="2200" b="1" dirty="0">
                <a:latin typeface="Consolas" panose="020B0609020204030204" pitchFamily="49" charset="0"/>
              </a:rPr>
              <a:t>) {</a:t>
            </a:r>
          </a:p>
          <a:p>
            <a:r>
              <a:rPr lang="en-US" sz="2200" b="1" dirty="0">
                <a:latin typeface="Consolas" panose="020B0609020204030204" pitchFamily="49" charset="0"/>
              </a:rPr>
              <a:t>      </a:t>
            </a:r>
            <a:r>
              <a:rPr lang="en-US" sz="2200" b="1" dirty="0" err="1">
                <a:latin typeface="Consolas" panose="020B0609020204030204" pitchFamily="49" charset="0"/>
              </a:rPr>
              <a:t>console.error</a:t>
            </a:r>
            <a:r>
              <a:rPr lang="en-US" sz="2200" b="1" dirty="0">
                <a:latin typeface="Consolas" panose="020B0609020204030204" pitchFamily="49" charset="0"/>
              </a:rPr>
              <a:t>('Response error:', </a:t>
            </a:r>
            <a:r>
              <a:rPr lang="en-US" sz="2200" b="1" dirty="0" err="1">
                <a:latin typeface="Consolas" panose="020B0609020204030204" pitchFamily="49" charset="0"/>
              </a:rPr>
              <a:t>error.response.status</a:t>
            </a:r>
            <a:r>
              <a:rPr lang="en-US" sz="2200" b="1" dirty="0">
                <a:latin typeface="Consolas" panose="020B0609020204030204" pitchFamily="49" charset="0"/>
              </a:rPr>
              <a:t>);</a:t>
            </a:r>
          </a:p>
          <a:p>
            <a:r>
              <a:rPr lang="en-US" sz="2200" b="1" dirty="0">
                <a:latin typeface="Consolas" panose="020B0609020204030204" pitchFamily="49" charset="0"/>
              </a:rPr>
              <a:t>    } </a:t>
            </a:r>
            <a:r>
              <a:rPr lang="en-US" sz="2200" b="1" dirty="0">
                <a:solidFill>
                  <a:srgbClr val="0070C0"/>
                </a:solidFill>
                <a:latin typeface="Consolas" panose="020B0609020204030204" pitchFamily="49" charset="0"/>
              </a:rPr>
              <a:t>else if </a:t>
            </a:r>
            <a:r>
              <a:rPr lang="en-US" sz="2200" b="1" dirty="0">
                <a:latin typeface="Consolas" panose="020B0609020204030204" pitchFamily="49" charset="0"/>
              </a:rPr>
              <a:t>(</a:t>
            </a:r>
            <a:r>
              <a:rPr lang="en-US" sz="2200" b="1" dirty="0" err="1">
                <a:latin typeface="Consolas" panose="020B0609020204030204" pitchFamily="49" charset="0"/>
              </a:rPr>
              <a:t>error.request</a:t>
            </a:r>
            <a:r>
              <a:rPr lang="en-US" sz="2200" b="1" dirty="0">
                <a:latin typeface="Consolas" panose="020B0609020204030204" pitchFamily="49" charset="0"/>
              </a:rPr>
              <a:t>) {</a:t>
            </a:r>
          </a:p>
          <a:p>
            <a:r>
              <a:rPr lang="en-US" sz="2200" b="1" dirty="0">
                <a:latin typeface="Consolas" panose="020B0609020204030204" pitchFamily="49" charset="0"/>
              </a:rPr>
              <a:t>      </a:t>
            </a:r>
            <a:r>
              <a:rPr lang="en-US" sz="2200" b="1" dirty="0" err="1">
                <a:latin typeface="Consolas" panose="020B0609020204030204" pitchFamily="49" charset="0"/>
              </a:rPr>
              <a:t>console.error</a:t>
            </a:r>
            <a:r>
              <a:rPr lang="en-US" sz="2200" b="1" dirty="0">
                <a:latin typeface="Consolas" panose="020B0609020204030204" pitchFamily="49" charset="0"/>
              </a:rPr>
              <a:t>('No response received:', </a:t>
            </a:r>
            <a:r>
              <a:rPr lang="en-US" sz="2200" b="1" dirty="0" err="1">
                <a:latin typeface="Consolas" panose="020B0609020204030204" pitchFamily="49" charset="0"/>
              </a:rPr>
              <a:t>error.request</a:t>
            </a:r>
            <a:r>
              <a:rPr lang="en-US" sz="2200" b="1" dirty="0">
                <a:latin typeface="Consolas" panose="020B0609020204030204" pitchFamily="49" charset="0"/>
              </a:rPr>
              <a:t>);</a:t>
            </a:r>
          </a:p>
          <a:p>
            <a:r>
              <a:rPr lang="en-US" sz="2200" b="1" dirty="0">
                <a:latin typeface="Consolas" panose="020B0609020204030204" pitchFamily="49" charset="0"/>
              </a:rPr>
              <a:t>    } </a:t>
            </a:r>
            <a:r>
              <a:rPr lang="en-US" sz="2200" b="1" dirty="0">
                <a:solidFill>
                  <a:srgbClr val="0070C0"/>
                </a:solidFill>
                <a:latin typeface="Consolas" panose="020B0609020204030204" pitchFamily="49" charset="0"/>
              </a:rPr>
              <a:t>else </a:t>
            </a:r>
            <a:r>
              <a:rPr lang="en-US" sz="2200" b="1" dirty="0">
                <a:latin typeface="Consolas" panose="020B0609020204030204" pitchFamily="49" charset="0"/>
              </a:rPr>
              <a:t>{</a:t>
            </a:r>
          </a:p>
          <a:p>
            <a:r>
              <a:rPr lang="en-US" sz="2200" b="1" dirty="0">
                <a:latin typeface="Consolas" panose="020B0609020204030204" pitchFamily="49" charset="0"/>
              </a:rPr>
              <a:t>      </a:t>
            </a:r>
            <a:r>
              <a:rPr lang="en-US" sz="2200" b="1" dirty="0" err="1">
                <a:latin typeface="Consolas" panose="020B0609020204030204" pitchFamily="49" charset="0"/>
              </a:rPr>
              <a:t>console.error</a:t>
            </a:r>
            <a:r>
              <a:rPr lang="en-US" sz="2200" b="1" dirty="0">
                <a:latin typeface="Consolas" panose="020B0609020204030204" pitchFamily="49" charset="0"/>
              </a:rPr>
              <a:t>('Request setup error:', </a:t>
            </a:r>
            <a:r>
              <a:rPr lang="en-US" sz="2200" b="1" dirty="0" err="1">
                <a:latin typeface="Consolas" panose="020B0609020204030204" pitchFamily="49" charset="0"/>
              </a:rPr>
              <a:t>error.message</a:t>
            </a:r>
            <a:r>
              <a:rPr lang="en-US" sz="2200" b="1" dirty="0">
                <a:latin typeface="Consolas" panose="020B0609020204030204" pitchFamily="49" charset="0"/>
              </a:rPr>
              <a:t>);</a:t>
            </a:r>
          </a:p>
          <a:p>
            <a:r>
              <a:rPr lang="en-US" sz="2200" b="1" dirty="0">
                <a:latin typeface="Consolas" panose="020B0609020204030204" pitchFamily="49" charset="0"/>
              </a:rPr>
              <a:t>    }</a:t>
            </a:r>
          </a:p>
          <a:p>
            <a:r>
              <a:rPr lang="en-US" sz="2200" b="1" dirty="0">
                <a:latin typeface="Consolas" panose="020B0609020204030204" pitchFamily="49" charset="0"/>
              </a:rPr>
              <a:t>  });</a:t>
            </a:r>
          </a:p>
        </p:txBody>
      </p:sp>
    </p:spTree>
    <p:extLst>
      <p:ext uri="{BB962C8B-B14F-4D97-AF65-F5344CB8AC3E}">
        <p14:creationId xmlns:p14="http://schemas.microsoft.com/office/powerpoint/2010/main" val="28456284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DF2BF-3005-E43E-2B43-19F701966DB6}"/>
              </a:ext>
            </a:extLst>
          </p:cNvPr>
          <p:cNvSpPr>
            <a:spLocks noGrp="1"/>
          </p:cNvSpPr>
          <p:nvPr>
            <p:ph type="title"/>
          </p:nvPr>
        </p:nvSpPr>
        <p:spPr/>
        <p:txBody>
          <a:bodyPr/>
          <a:lstStyle/>
          <a:p>
            <a:r>
              <a:rPr lang="en-US" b="1" dirty="0">
                <a:solidFill>
                  <a:schemeClr val="tx2"/>
                </a:solidFill>
              </a:rPr>
              <a:t>Axios</a:t>
            </a:r>
            <a:endParaRPr lang="en-US" dirty="0"/>
          </a:p>
        </p:txBody>
      </p:sp>
      <p:sp>
        <p:nvSpPr>
          <p:cNvPr id="3" name="Text Placeholder 2">
            <a:extLst>
              <a:ext uri="{FF2B5EF4-FFF2-40B4-BE49-F238E27FC236}">
                <a16:creationId xmlns:a16="http://schemas.microsoft.com/office/drawing/2014/main" id="{2E2B61D4-9AD6-A0AA-1508-7FB06F0FA0E7}"/>
              </a:ext>
            </a:extLst>
          </p:cNvPr>
          <p:cNvSpPr>
            <a:spLocks noGrp="1"/>
          </p:cNvSpPr>
          <p:nvPr>
            <p:ph type="body" idx="1"/>
          </p:nvPr>
        </p:nvSpPr>
        <p:spPr/>
        <p:txBody>
          <a:bodyPr/>
          <a:lstStyle/>
          <a:p>
            <a:r>
              <a:rPr lang="en-US" b="1" dirty="0">
                <a:solidFill>
                  <a:srgbClr val="FF0000"/>
                </a:solidFill>
              </a:rPr>
              <a:t>Advanced Features of Axios</a:t>
            </a:r>
          </a:p>
          <a:p>
            <a:pPr lvl="1"/>
            <a:r>
              <a:rPr lang="en-US" i="1" dirty="0"/>
              <a:t>Cancel Tokens</a:t>
            </a:r>
            <a:r>
              <a:rPr lang="en-US" dirty="0"/>
              <a:t>: Cancel ongoing requests to save </a:t>
            </a:r>
            <a:r>
              <a:rPr lang="en-US" dirty="0" err="1"/>
              <a:t>resources.Instance</a:t>
            </a:r>
            <a:r>
              <a:rPr lang="en-US" dirty="0"/>
              <a:t> </a:t>
            </a:r>
            <a:r>
              <a:rPr lang="en-US" i="1" dirty="0"/>
              <a:t>Creation</a:t>
            </a:r>
            <a:r>
              <a:rPr lang="en-US" dirty="0"/>
              <a:t>: Create custom Axios instances with pre-configured settings</a:t>
            </a:r>
          </a:p>
        </p:txBody>
      </p:sp>
      <p:sp>
        <p:nvSpPr>
          <p:cNvPr id="6" name="TextBox 5">
            <a:extLst>
              <a:ext uri="{FF2B5EF4-FFF2-40B4-BE49-F238E27FC236}">
                <a16:creationId xmlns:a16="http://schemas.microsoft.com/office/drawing/2014/main" id="{7616BB85-DAF9-4CFA-8E46-D8E1F68E40FD}"/>
              </a:ext>
            </a:extLst>
          </p:cNvPr>
          <p:cNvSpPr txBox="1"/>
          <p:nvPr/>
        </p:nvSpPr>
        <p:spPr>
          <a:xfrm>
            <a:off x="1828800" y="3429000"/>
            <a:ext cx="9256780" cy="1569660"/>
          </a:xfrm>
          <a:prstGeom prst="rect">
            <a:avLst/>
          </a:prstGeom>
          <a:noFill/>
          <a:ln>
            <a:solidFill>
              <a:schemeClr val="accent1"/>
            </a:solidFill>
          </a:ln>
        </p:spPr>
        <p:txBody>
          <a:bodyPr wrap="square">
            <a:spAutoFit/>
          </a:bodyPr>
          <a:lstStyle/>
          <a:p>
            <a:r>
              <a:rPr lang="en-US" sz="2400" b="1" dirty="0">
                <a:latin typeface="Consolas" panose="020B0609020204030204" pitchFamily="49" charset="0"/>
              </a:rPr>
              <a:t>const </a:t>
            </a:r>
            <a:r>
              <a:rPr lang="en-US" sz="2400" b="1" dirty="0" err="1">
                <a:latin typeface="Consolas" panose="020B0609020204030204" pitchFamily="49" charset="0"/>
              </a:rPr>
              <a:t>api</a:t>
            </a:r>
            <a:r>
              <a:rPr lang="en-US" sz="2400" b="1" dirty="0">
                <a:latin typeface="Consolas" panose="020B0609020204030204" pitchFamily="49" charset="0"/>
              </a:rPr>
              <a:t> = </a:t>
            </a:r>
            <a:r>
              <a:rPr lang="en-US" sz="2400" b="1" dirty="0" err="1">
                <a:latin typeface="Consolas" panose="020B0609020204030204" pitchFamily="49" charset="0"/>
              </a:rPr>
              <a:t>axios.create</a:t>
            </a:r>
            <a:r>
              <a:rPr lang="en-US" sz="2400" b="1" dirty="0">
                <a:latin typeface="Consolas" panose="020B0609020204030204" pitchFamily="49" charset="0"/>
              </a:rPr>
              <a:t>({</a:t>
            </a:r>
          </a:p>
          <a:p>
            <a:r>
              <a:rPr lang="en-US" sz="2400" b="1" dirty="0">
                <a:latin typeface="Consolas" panose="020B0609020204030204" pitchFamily="49" charset="0"/>
              </a:rPr>
              <a:t>  </a:t>
            </a:r>
            <a:r>
              <a:rPr lang="en-US" sz="2400" b="1" dirty="0" err="1">
                <a:latin typeface="Consolas" panose="020B0609020204030204" pitchFamily="49" charset="0"/>
              </a:rPr>
              <a:t>baseURL</a:t>
            </a:r>
            <a:r>
              <a:rPr lang="en-US" sz="2400" b="1" dirty="0">
                <a:latin typeface="Consolas" panose="020B0609020204030204" pitchFamily="49" charset="0"/>
              </a:rPr>
              <a:t>: 'https://api.example.com/',</a:t>
            </a:r>
          </a:p>
          <a:p>
            <a:r>
              <a:rPr lang="en-US" sz="2400" b="1" dirty="0">
                <a:latin typeface="Consolas" panose="020B0609020204030204" pitchFamily="49" charset="0"/>
              </a:rPr>
              <a:t>  timeout: 1000,</a:t>
            </a:r>
          </a:p>
          <a:p>
            <a:r>
              <a:rPr lang="en-US" sz="2400" b="1" dirty="0">
                <a:latin typeface="Consolas" panose="020B0609020204030204" pitchFamily="49" charset="0"/>
              </a:rPr>
              <a:t>});</a:t>
            </a:r>
          </a:p>
        </p:txBody>
      </p:sp>
    </p:spTree>
    <p:extLst>
      <p:ext uri="{BB962C8B-B14F-4D97-AF65-F5344CB8AC3E}">
        <p14:creationId xmlns:p14="http://schemas.microsoft.com/office/powerpoint/2010/main" val="4151700024"/>
      </p:ext>
    </p:extLst>
  </p:cSld>
  <p:clrMapOvr>
    <a:masterClrMapping/>
  </p:clrMapOvr>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Custom 6">
      <a:majorFont>
        <a:latin typeface="Arial (Heading)"/>
        <a:ea typeface=""/>
        <a:cs typeface=""/>
      </a:majorFont>
      <a:minorFont>
        <a:latin typeface="Arial"/>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2723</TotalTime>
  <Words>3096</Words>
  <Application>Microsoft Office PowerPoint</Application>
  <PresentationFormat>Widescreen</PresentationFormat>
  <Paragraphs>389</Paragraphs>
  <Slides>47</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Arial (Heading)</vt:lpstr>
      <vt:lpstr>Arial Black</vt:lpstr>
      <vt:lpstr>Consolas</vt:lpstr>
      <vt:lpstr>Euphemia</vt:lpstr>
      <vt:lpstr>Nunito</vt:lpstr>
      <vt:lpstr>Wingdings</vt:lpstr>
      <vt:lpstr>Academic Literature 16x9</vt:lpstr>
      <vt:lpstr>PowerPoint Presentation</vt:lpstr>
      <vt:lpstr>Core Components and APIs</vt:lpstr>
      <vt:lpstr>Components</vt:lpstr>
      <vt:lpstr>Components</vt:lpstr>
      <vt:lpstr>Components</vt:lpstr>
      <vt:lpstr>Components</vt:lpstr>
      <vt:lpstr>Components</vt:lpstr>
      <vt:lpstr>Components</vt:lpstr>
      <vt:lpstr>Components</vt:lpstr>
      <vt:lpstr>Components</vt:lpstr>
      <vt:lpstr>Rendering React Components</vt:lpstr>
      <vt:lpstr>Rendering React Components</vt:lpstr>
      <vt:lpstr>Rendering React Components</vt:lpstr>
      <vt:lpstr>Rendering React Components</vt:lpstr>
      <vt:lpstr>Rendering React Components</vt:lpstr>
      <vt:lpstr>Rendering React Components</vt:lpstr>
      <vt:lpstr>Rendering React Components</vt:lpstr>
      <vt:lpstr>Rendering React Components</vt:lpstr>
      <vt:lpstr>Components in Components</vt:lpstr>
      <vt:lpstr>Core Components</vt:lpstr>
      <vt:lpstr>Core Components</vt:lpstr>
      <vt:lpstr>Core Components</vt:lpstr>
      <vt:lpstr>Core Components</vt:lpstr>
      <vt:lpstr>Learn to Work with API- JavaScript</vt:lpstr>
      <vt:lpstr>Learn to Work with API- JavaScript</vt:lpstr>
      <vt:lpstr>HTTP Basics for APIs</vt:lpstr>
      <vt:lpstr>JavaScript Tools for API Work</vt:lpstr>
      <vt:lpstr>Fetch API</vt:lpstr>
      <vt:lpstr>Fetch API</vt:lpstr>
      <vt:lpstr>Fetch API</vt:lpstr>
      <vt:lpstr>Fetch API</vt:lpstr>
      <vt:lpstr>Fetch API</vt:lpstr>
      <vt:lpstr>Fetch API</vt:lpstr>
      <vt:lpstr>Fetch API</vt:lpstr>
      <vt:lpstr>Fetch API</vt:lpstr>
      <vt:lpstr>Fetch API</vt:lpstr>
      <vt:lpstr>Fetch API</vt:lpstr>
      <vt:lpstr>Axios</vt:lpstr>
      <vt:lpstr>Axios</vt:lpstr>
      <vt:lpstr>Axios</vt:lpstr>
      <vt:lpstr>Axios</vt:lpstr>
      <vt:lpstr>Axios</vt:lpstr>
      <vt:lpstr>Axios</vt:lpstr>
      <vt:lpstr>Axios</vt:lpstr>
      <vt:lpstr>Axios</vt:lpstr>
      <vt:lpstr>Axios</vt:lpstr>
      <vt:lpstr>Axios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License For You And Lifetime</dc:creator>
  <cp:lastModifiedBy>Xuan Hien</cp:lastModifiedBy>
  <cp:revision>41</cp:revision>
  <dcterms:created xsi:type="dcterms:W3CDTF">2024-10-17T15:22:21Z</dcterms:created>
  <dcterms:modified xsi:type="dcterms:W3CDTF">2025-02-15T00:21:39Z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