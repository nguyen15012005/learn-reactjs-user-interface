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4" r:id="rId5"/>
    <p:sldMasterId id="2147483662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</p:sldIdLst>
  <p:sldSz cy="6858000" cx="12192000"/>
  <p:notesSz cx="6858000" cy="9144000"/>
  <p:embeddedFontLst>
    <p:embeddedFont>
      <p:font typeface="Roboto"/>
      <p:regular r:id="rId51"/>
      <p:bold r:id="rId52"/>
      <p:italic r:id="rId53"/>
      <p:boldItalic r:id="rId54"/>
    </p:embeddedFont>
    <p:embeddedFont>
      <p:font typeface="Quattrocento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72">
          <p15:clr>
            <a:srgbClr val="A4A3A4"/>
          </p15:clr>
        </p15:guide>
        <p15:guide id="2" pos="288">
          <p15:clr>
            <a:srgbClr val="F26B43"/>
          </p15:clr>
        </p15:guide>
        <p15:guide id="3" orient="horz" pos="4056">
          <p15:clr>
            <a:srgbClr val="F26B43"/>
          </p15:clr>
        </p15:guide>
        <p15:guide id="4" orient="horz" pos="1488">
          <p15:clr>
            <a:srgbClr val="A4A3A4"/>
          </p15:clr>
        </p15:guide>
        <p15:guide id="5" pos="3816">
          <p15:clr>
            <a:srgbClr val="A4A3A4"/>
          </p15:clr>
        </p15:guide>
        <p15:guide id="6" pos="7416">
          <p15:clr>
            <a:srgbClr val="F26B43"/>
          </p15:clr>
        </p15:guide>
        <p15:guide id="7" orient="horz" pos="312">
          <p15:clr>
            <a:srgbClr val="F26B43"/>
          </p15:clr>
        </p15:guide>
        <p15:guide id="8" orient="horz" pos="2160">
          <p15:clr>
            <a:srgbClr val="A4A3A4"/>
          </p15:clr>
        </p15:guide>
        <p15:guide id="9" orient="horz" pos="2304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hFhwthyyAbdCfiFtT27/PBQ93H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72" orient="horz"/>
        <p:guide pos="288"/>
        <p:guide pos="4056" orient="horz"/>
        <p:guide pos="1488" orient="horz"/>
        <p:guide pos="3816"/>
        <p:guide pos="7416"/>
        <p:guide pos="312" orient="horz"/>
        <p:guide pos="2160" orient="horz"/>
        <p:guide pos="23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Roboto-regular.fntdata"/><Relationship Id="rId50" Type="http://schemas.openxmlformats.org/officeDocument/2006/relationships/slide" Target="slides/slide42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3.xml"/><Relationship Id="rId55" Type="http://schemas.openxmlformats.org/officeDocument/2006/relationships/font" Target="fonts/QuattrocentoSans-regular.fntdata"/><Relationship Id="rId10" Type="http://schemas.openxmlformats.org/officeDocument/2006/relationships/slide" Target="slides/slide2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5.xml"/><Relationship Id="rId57" Type="http://schemas.openxmlformats.org/officeDocument/2006/relationships/font" Target="fonts/QuattrocentoSans-italic.fntdata"/><Relationship Id="rId12" Type="http://schemas.openxmlformats.org/officeDocument/2006/relationships/slide" Target="slides/slide4.xml"/><Relationship Id="rId56" Type="http://schemas.openxmlformats.org/officeDocument/2006/relationships/font" Target="fonts/QuattrocentoSans-bold.fntdata"/><Relationship Id="rId15" Type="http://schemas.openxmlformats.org/officeDocument/2006/relationships/slide" Target="slides/slide7.xml"/><Relationship Id="rId59" Type="http://customschemas.google.com/relationships/presentationmetadata" Target="metadata"/><Relationship Id="rId14" Type="http://schemas.openxmlformats.org/officeDocument/2006/relationships/slide" Target="slides/slide6.xml"/><Relationship Id="rId58" Type="http://schemas.openxmlformats.org/officeDocument/2006/relationships/font" Target="fonts/QuattrocentoSans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96" name="Google Shape;19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04" name="Google Shape;2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16" name="Google Shape;2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66" name="Google Shape;2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05" name="Google Shape;3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12" name="Google Shape;31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21" name="Google Shape;32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30" name="Google Shape;33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39" name="Google Shape;33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47" name="Google Shape;34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55" name="Google Shape;35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62" name="Google Shape;36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68" name="Google Shape;3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75" name="Google Shape;37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81" name="Google Shape;38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87" name="Google Shape;38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394" name="Google Shape;39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03" name="Google Shape;4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09" name="Google Shape;40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15" name="Google Shape;41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21" name="Google Shape;42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28" name="Google Shape;42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35" name="Google Shape;43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42" name="Google Shape;44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48" name="Google Shape;44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54" name="Google Shape;45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60" name="Google Shape;46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66" name="Google Shape;46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473" name="Google Shape;47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17" name="Google Shape;17;p44"/>
          <p:cNvSpPr txBox="1"/>
          <p:nvPr>
            <p:ph type="title"/>
          </p:nvPr>
        </p:nvSpPr>
        <p:spPr>
          <a:xfrm>
            <a:off x="457200" y="4517136"/>
            <a:ext cx="658155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ions">
  <p:cSld name="Instructio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5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" type="body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AutoNum type="arabicPeriod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1" name="Google Shape;21;p45"/>
          <p:cNvSpPr/>
          <p:nvPr>
            <p:ph idx="2" type="pic"/>
          </p:nvPr>
        </p:nvSpPr>
        <p:spPr>
          <a:xfrm>
            <a:off x="8115300" y="1384300"/>
            <a:ext cx="3410712" cy="4572000"/>
          </a:xfrm>
          <a:prstGeom prst="roundRect">
            <a:avLst>
              <a:gd fmla="val 2543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4" name="Google Shape;24;p46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" type="body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26" name="Google Shape;26;p46"/>
          <p:cNvSpPr txBox="1"/>
          <p:nvPr>
            <p:ph idx="3" type="body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Balance act">
  <p:cSld name="Palette Balance act">
    <p:bg>
      <p:bgPr>
        <a:solidFill>
          <a:srgbClr val="D8D8D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7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7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7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7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7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47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7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Balancing Act">
  <p:cSld name="Immersive palette Balancing Act">
    <p:bg>
      <p:bgPr>
        <a:solidFill>
          <a:schemeClr val="accent5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/>
          <p:nvPr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48"/>
          <p:cNvSpPr txBox="1"/>
          <p:nvPr>
            <p:ph type="title"/>
          </p:nvPr>
        </p:nvSpPr>
        <p:spPr>
          <a:xfrm>
            <a:off x="457199" y="1399032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1" name="Google Shape;41;p48"/>
          <p:cNvSpPr/>
          <p:nvPr>
            <p:ph idx="2" type="pic"/>
          </p:nvPr>
        </p:nvSpPr>
        <p:spPr>
          <a:xfrm>
            <a:off x="4254500" y="0"/>
            <a:ext cx="7480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48"/>
          <p:cNvSpPr/>
          <p:nvPr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" name="Google Shape;43;p48"/>
          <p:cNvSpPr/>
          <p:nvPr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Wellspring">
  <p:cSld name="Palette Wellspring">
    <p:bg>
      <p:bgPr>
        <a:solidFill>
          <a:srgbClr val="D8D8D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50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0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0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0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0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50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50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Wellspring">
  <p:cSld name="Immersive palette Wellspring">
    <p:bg>
      <p:bgPr>
        <a:solidFill>
          <a:schemeClr val="dk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/>
          <p:nvPr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" name="Google Shape;61;p51"/>
          <p:cNvSpPr/>
          <p:nvPr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" name="Google Shape;62;p51"/>
          <p:cNvSpPr/>
          <p:nvPr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" name="Google Shape;63;p51"/>
          <p:cNvSpPr/>
          <p:nvPr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65" name="Google Shape;65;p51"/>
          <p:cNvSpPr/>
          <p:nvPr>
            <p:ph idx="2" type="pic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51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cap="flat" cmpd="sng" w="25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7" name="Google Shape;67;p51"/>
          <p:cNvCxnSpPr/>
          <p:nvPr/>
        </p:nvCxnSpPr>
        <p:spPr>
          <a:xfrm>
            <a:off x="228600" y="2415910"/>
            <a:ext cx="402255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" name="Google Shape;68;p51"/>
          <p:cNvSpPr txBox="1"/>
          <p:nvPr>
            <p:ph type="title"/>
          </p:nvPr>
        </p:nvSpPr>
        <p:spPr>
          <a:xfrm>
            <a:off x="457199" y="1371600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71" name="Google Shape;71;p52"/>
          <p:cNvSpPr txBox="1"/>
          <p:nvPr>
            <p:ph type="title"/>
          </p:nvPr>
        </p:nvSpPr>
        <p:spPr>
          <a:xfrm>
            <a:off x="457200" y="4517136"/>
            <a:ext cx="658155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ions">
  <p:cSld name="Instructio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" type="body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AutoNum type="arabicPeriod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5" name="Google Shape;75;p53"/>
          <p:cNvSpPr/>
          <p:nvPr>
            <p:ph idx="2" type="pic"/>
          </p:nvPr>
        </p:nvSpPr>
        <p:spPr>
          <a:xfrm>
            <a:off x="8115300" y="1384300"/>
            <a:ext cx="3410712" cy="4572000"/>
          </a:xfrm>
          <a:prstGeom prst="roundRect">
            <a:avLst>
              <a:gd fmla="val 2543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78" name="Google Shape;78;p54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1" type="body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0" name="Google Shape;80;p54"/>
          <p:cNvSpPr txBox="1"/>
          <p:nvPr>
            <p:ph idx="3" type="body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Balance act">
  <p:cSld name="Palette Balance act">
    <p:bg>
      <p:bgPr>
        <a:solidFill>
          <a:srgbClr val="D8D8D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55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55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55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55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55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55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55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Balancing Act">
  <p:cSld name="Immersive palette Balancing Act">
    <p:bg>
      <p:bgPr>
        <a:solidFill>
          <a:schemeClr val="accent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6"/>
          <p:cNvSpPr/>
          <p:nvPr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" name="Google Shape;93;p56"/>
          <p:cNvSpPr txBox="1"/>
          <p:nvPr>
            <p:ph type="title"/>
          </p:nvPr>
        </p:nvSpPr>
        <p:spPr>
          <a:xfrm>
            <a:off x="457199" y="1399032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6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95" name="Google Shape;95;p56"/>
          <p:cNvSpPr/>
          <p:nvPr>
            <p:ph idx="2" type="pic"/>
          </p:nvPr>
        </p:nvSpPr>
        <p:spPr>
          <a:xfrm>
            <a:off x="4254500" y="0"/>
            <a:ext cx="7480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56"/>
          <p:cNvSpPr/>
          <p:nvPr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" name="Google Shape;97;p56"/>
          <p:cNvSpPr/>
          <p:nvPr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Star of the show">
  <p:cSld name="Palette Star of the show">
    <p:bg>
      <p:bgPr>
        <a:solidFill>
          <a:srgbClr val="D8D8D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8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8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58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58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58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58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58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58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58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Star of the show">
  <p:cSld name="Immersive palette Star of the show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9"/>
          <p:cNvSpPr/>
          <p:nvPr/>
        </p:nvSpPr>
        <p:spPr>
          <a:xfrm>
            <a:off x="0" y="495300"/>
            <a:ext cx="6057900" cy="133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59"/>
          <p:cNvSpPr/>
          <p:nvPr/>
        </p:nvSpPr>
        <p:spPr>
          <a:xfrm>
            <a:off x="6530703" y="495300"/>
            <a:ext cx="2931587" cy="2628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59"/>
          <p:cNvSpPr/>
          <p:nvPr/>
        </p:nvSpPr>
        <p:spPr>
          <a:xfrm>
            <a:off x="8852618" y="3863713"/>
            <a:ext cx="2921000" cy="25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59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" name="Google Shape;118;p59"/>
          <p:cNvSpPr txBox="1"/>
          <p:nvPr>
            <p:ph type="title"/>
          </p:nvPr>
        </p:nvSpPr>
        <p:spPr>
          <a:xfrm>
            <a:off x="457199" y="914400"/>
            <a:ext cx="5638801" cy="1572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9"/>
          <p:cNvSpPr txBox="1"/>
          <p:nvPr>
            <p:ph idx="1" type="body"/>
          </p:nvPr>
        </p:nvSpPr>
        <p:spPr>
          <a:xfrm>
            <a:off x="457200" y="2489200"/>
            <a:ext cx="5202936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0" name="Google Shape;120;p59"/>
          <p:cNvSpPr/>
          <p:nvPr>
            <p:ph idx="2" type="pic"/>
          </p:nvPr>
        </p:nvSpPr>
        <p:spPr>
          <a:xfrm>
            <a:off x="6997700" y="914400"/>
            <a:ext cx="4334256" cy="50932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123" name="Google Shape;123;p60"/>
          <p:cNvSpPr txBox="1"/>
          <p:nvPr>
            <p:ph type="title"/>
          </p:nvPr>
        </p:nvSpPr>
        <p:spPr>
          <a:xfrm>
            <a:off x="457200" y="4517136"/>
            <a:ext cx="658155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ions">
  <p:cSld name="Instruction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1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1" type="body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AutoNum type="arabicPeriod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7" name="Google Shape;127;p61"/>
          <p:cNvSpPr/>
          <p:nvPr>
            <p:ph idx="2" type="pic"/>
          </p:nvPr>
        </p:nvSpPr>
        <p:spPr>
          <a:xfrm>
            <a:off x="8115300" y="1384300"/>
            <a:ext cx="3410712" cy="4572000"/>
          </a:xfrm>
          <a:prstGeom prst="roundRect">
            <a:avLst>
              <a:gd fmla="val 2543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30" name="Google Shape;130;p62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2"/>
          <p:cNvSpPr txBox="1"/>
          <p:nvPr>
            <p:ph idx="1" type="body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2" name="Google Shape;132;p62"/>
          <p:cNvSpPr txBox="1"/>
          <p:nvPr>
            <p:ph idx="3" type="body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Balance act">
  <p:cSld name="Palette Balance act">
    <p:bg>
      <p:bgPr>
        <a:solidFill>
          <a:srgbClr val="D8D8D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3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3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63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63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63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63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63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63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63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Balancing Act">
  <p:cSld name="Immersive palette Balancing Act">
    <p:bg>
      <p:bgPr>
        <a:solidFill>
          <a:schemeClr val="accent5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4"/>
          <p:cNvSpPr/>
          <p:nvPr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5" name="Google Shape;145;p64"/>
          <p:cNvSpPr txBox="1"/>
          <p:nvPr>
            <p:ph type="title"/>
          </p:nvPr>
        </p:nvSpPr>
        <p:spPr>
          <a:xfrm>
            <a:off x="457199" y="1399032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4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7" name="Google Shape;147;p64"/>
          <p:cNvSpPr/>
          <p:nvPr>
            <p:ph idx="2" type="pic"/>
          </p:nvPr>
        </p:nvSpPr>
        <p:spPr>
          <a:xfrm>
            <a:off x="4254500" y="0"/>
            <a:ext cx="7480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64"/>
          <p:cNvSpPr/>
          <p:nvPr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9" name="Google Shape;149;p64"/>
          <p:cNvSpPr/>
          <p:nvPr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Wellspring">
  <p:cSld name="Palette Wellspring">
    <p:bg>
      <p:bgPr>
        <a:solidFill>
          <a:srgbClr val="D8D8D8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5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65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65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65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65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65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65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65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65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Wellspring">
  <p:cSld name="Immersive palette Wellspring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6"/>
          <p:cNvSpPr/>
          <p:nvPr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2" name="Google Shape;162;p66"/>
          <p:cNvSpPr/>
          <p:nvPr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p66"/>
          <p:cNvSpPr/>
          <p:nvPr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66"/>
          <p:cNvSpPr/>
          <p:nvPr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5" name="Google Shape;165;p66"/>
          <p:cNvSpPr txBox="1"/>
          <p:nvPr>
            <p:ph idx="1" type="body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66" name="Google Shape;166;p66"/>
          <p:cNvSpPr/>
          <p:nvPr>
            <p:ph idx="2" type="pic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66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cap="flat" cmpd="sng" w="25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68" name="Google Shape;168;p66"/>
          <p:cNvCxnSpPr/>
          <p:nvPr/>
        </p:nvCxnSpPr>
        <p:spPr>
          <a:xfrm>
            <a:off x="228600" y="2415910"/>
            <a:ext cx="402255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66"/>
          <p:cNvSpPr txBox="1"/>
          <p:nvPr>
            <p:ph type="title"/>
          </p:nvPr>
        </p:nvSpPr>
        <p:spPr>
          <a:xfrm>
            <a:off x="457199" y="1371600"/>
            <a:ext cx="361950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lette Amusements">
  <p:cSld name="Palette Amusements">
    <p:bg>
      <p:bgPr>
        <a:solidFill>
          <a:srgbClr val="D8D8D8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8"/>
          <p:cNvSpPr txBox="1"/>
          <p:nvPr>
            <p:ph type="title"/>
          </p:nvPr>
        </p:nvSpPr>
        <p:spPr>
          <a:xfrm>
            <a:off x="457199" y="2569464"/>
            <a:ext cx="3619501" cy="11795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8"/>
          <p:cNvSpPr/>
          <p:nvPr>
            <p:ph idx="2" type="pic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68"/>
          <p:cNvSpPr/>
          <p:nvPr>
            <p:ph idx="3" type="pic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68"/>
          <p:cNvSpPr/>
          <p:nvPr>
            <p:ph idx="4" type="pic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8"/>
          <p:cNvSpPr/>
          <p:nvPr>
            <p:ph idx="5" type="pic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8"/>
          <p:cNvSpPr/>
          <p:nvPr>
            <p:ph idx="6" type="pic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8"/>
          <p:cNvSpPr/>
          <p:nvPr>
            <p:ph idx="7" type="pic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8"/>
          <p:cNvSpPr/>
          <p:nvPr>
            <p:ph idx="8" type="pic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8"/>
          <p:cNvSpPr/>
          <p:nvPr>
            <p:ph idx="9" type="pic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ersive palette Amusements">
  <p:cSld name="Immersive palette Amusements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9"/>
          <p:cNvSpPr/>
          <p:nvPr/>
        </p:nvSpPr>
        <p:spPr>
          <a:xfrm>
            <a:off x="6712974" y="1651000"/>
            <a:ext cx="460459" cy="520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7" name="Google Shape;187;p69"/>
          <p:cNvSpPr/>
          <p:nvPr/>
        </p:nvSpPr>
        <p:spPr>
          <a:xfrm>
            <a:off x="9271000" y="0"/>
            <a:ext cx="2921000" cy="539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8" name="Google Shape;188;p69"/>
          <p:cNvSpPr/>
          <p:nvPr/>
        </p:nvSpPr>
        <p:spPr>
          <a:xfrm>
            <a:off x="0" y="2387600"/>
            <a:ext cx="5461000" cy="21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9" name="Google Shape;189;p69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0" name="Google Shape;190;p69"/>
          <p:cNvSpPr txBox="1"/>
          <p:nvPr>
            <p:ph type="title"/>
          </p:nvPr>
        </p:nvSpPr>
        <p:spPr>
          <a:xfrm>
            <a:off x="457199" y="914400"/>
            <a:ext cx="5605272" cy="1572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69"/>
          <p:cNvSpPr txBox="1"/>
          <p:nvPr>
            <p:ph idx="1" type="body"/>
          </p:nvPr>
        </p:nvSpPr>
        <p:spPr>
          <a:xfrm>
            <a:off x="457200" y="3072384"/>
            <a:ext cx="4946904" cy="287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92" name="Google Shape;192;p69"/>
          <p:cNvSpPr/>
          <p:nvPr>
            <p:ph idx="2" type="pic"/>
          </p:nvPr>
        </p:nvSpPr>
        <p:spPr>
          <a:xfrm>
            <a:off x="7178040" y="457200"/>
            <a:ext cx="4562856" cy="6400800"/>
          </a:xfrm>
          <a:prstGeom prst="rect">
            <a:avLst/>
          </a:prstGeom>
          <a:solidFill>
            <a:srgbClr val="FBF2E1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JavaScript là gì? Kiến thức cơ bản về ngôn ngữ lập trình JS" id="14" name="Google Shape;14;p4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67284" y="136525"/>
            <a:ext cx="1164734" cy="65456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9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7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01" name="Google Shape;10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02" name="Google Shape;102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7"/>
          <p:cNvSpPr txBox="1"/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  <a:defRPr b="0" i="0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73" name="Google Shape;173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74" name="Google Shape;174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112">
          <p15:clr>
            <a:srgbClr val="F26B43"/>
          </p15:clr>
        </p15:guide>
        <p15:guide id="2" pos="2568">
          <p15:clr>
            <a:srgbClr val="F26B43"/>
          </p15:clr>
        </p15:guide>
        <p15:guide id="3" pos="288">
          <p15:clr>
            <a:srgbClr val="5ACBF0"/>
          </p15:clr>
        </p15:guide>
        <p15:guide id="4" pos="7392">
          <p15:clr>
            <a:srgbClr val="5ACBF0"/>
          </p15:clr>
        </p15:guide>
        <p15:guide id="5" orient="horz" pos="576">
          <p15:clr>
            <a:srgbClr val="5ACBF0"/>
          </p15:clr>
        </p15:guide>
        <p15:guide id="6" orient="horz" pos="37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198" name="Google Shape;198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199" name="Google Shape;199;p1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CHỨC NĂNG</a:t>
            </a:r>
            <a:endParaRPr xmlns:a="http://schemas.openxmlformats.org/drawingml/2006/main"/>
          </a:p>
        </p:txBody>
      </p:sp>
      <p:sp>
        <p:nvSpPr>
          <p:cNvPr id="200" name="Google Shape;200;p1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206" name="Google Shape;206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207" name="Google Shape;207;p2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 txBox="1"/>
          <p:nvPr/>
        </p:nvSpPr>
        <p:spPr>
          <a:xfrm>
            <a:off x="3054425" y="799825"/>
            <a:ext cx="6944400" cy="341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1.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Cái gì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là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Bất đồng bộ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Javascript 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2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2.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Yêu cầu</a:t>
            </a:r>
            <a:endParaRPr xmlns:a="http://schemas.openxmlformats.org/drawingml/2006/main"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3 </a:t>
            </a:r>
            <a:r xmlns:a="http://schemas.openxmlformats.org/drawingml/2006/main">
              <a:rPr b="0" i="0" lang="vi" sz="24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Gọi lại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</a:t>
            </a:r>
            <a:endParaRPr xmlns:a="http://schemas.openxmlformats.org/drawingml/2006/main"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4.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Sử dụng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Dữ liệu</a:t>
            </a:r>
            <a:endParaRPr xmlns:a="http://schemas.openxmlformats.org/drawingml/2006/main"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5.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Gọi lại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địa ngục</a:t>
            </a:r>
            <a:endParaRPr xmlns:a="http://schemas.openxmlformats.org/drawingml/2006/main"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6. </a:t>
            </a:r>
            <a:r xmlns:a="http://schemas.openxmlformats.org/drawingml/2006/main">
              <a:rPr b="0" i="0" lang="vi" sz="24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</a:t>
            </a:r>
            <a:endParaRPr xmlns:a="http://schemas.openxmlformats.org/drawingml/2006/main"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7.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Chuỗi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Hứa</a:t>
            </a:r>
            <a:endParaRPr xmlns:a="http://schemas.openxmlformats.org/drawingml/2006/main"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8.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Cái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Tìm về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API, Axios</a:t>
            </a:r>
            <a:endParaRPr xmlns:a="http://schemas.openxmlformats.org/drawingml/2006/main" b="0" i="0" sz="24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9.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Bất đồng bộ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so với</a:t>
            </a:r>
            <a:r xmlns:a="http://schemas.openxmlformats.org/drawingml/2006/main">
              <a:rPr b="0" i="0" lang="vi" sz="24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24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chờ đợi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1. Javascript bất đồng bộ là gì?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"/>
          <p:cNvSpPr txBox="1"/>
          <p:nvPr>
            <p:ph type="title"/>
          </p:nvPr>
        </p:nvSpPr>
        <p:spPr>
          <a:xfrm>
            <a:off x="457199" y="914400"/>
            <a:ext cx="7467601" cy="157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GỌI LẠI</a:t>
            </a:r>
            <a:endParaRPr xmlns:a="http://schemas.openxmlformats.org/drawingml/2006/main"/>
          </a:p>
        </p:txBody>
      </p:sp>
      <p:sp>
        <p:nvSpPr>
          <p:cNvPr id="219" name="Google Shape;219;p4"/>
          <p:cNvSpPr txBox="1"/>
          <p:nvPr>
            <p:ph idx="1" type="body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xmlns:a="http://schemas.openxmlformats.org/drawingml/2006/main" indent="-228600" lvl="0" marL="34290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"/>
          <p:cNvSpPr txBox="1"/>
          <p:nvPr>
            <p:ph type="title"/>
          </p:nvPr>
        </p:nvSpPr>
        <p:spPr>
          <a:xfrm>
            <a:off x="279974" y="453000"/>
            <a:ext cx="74676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JQuery Ajax</a:t>
            </a:r>
            <a:endParaRPr xmlns:a="http://schemas.openxmlformats.org/drawingml/2006/main"/>
          </a:p>
        </p:txBody>
      </p:sp>
      <p:sp>
        <p:nvSpPr>
          <p:cNvPr id="225" name="Google Shape;225;p5"/>
          <p:cNvSpPr txBox="1"/>
          <p:nvPr/>
        </p:nvSpPr>
        <p:spPr>
          <a:xfrm>
            <a:off x="2705425" y="1672050"/>
            <a:ext cx="8808600" cy="397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//const urlBacon = "https://baconipsum.com/api/?type=all-meat";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hằng số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urlBacon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"https://jsonplaceholder.typicode.com/todos/1"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(){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ajax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phương thức: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"LẤY"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urlBacon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Kiểu dữ liệu: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"json"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.đã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hoàn thành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thất bại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cảnh báo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"không tốt"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})()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4284857" y="279664"/>
            <a:ext cx="60941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https://codesandbox.io/s/jquery-ajax-requests-testing-yfnih?file=/src/index.js:738-975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/>
          <p:nvPr>
            <p:ph type="title"/>
          </p:nvPr>
        </p:nvSpPr>
        <p:spPr>
          <a:xfrm>
            <a:off x="457199" y="914400"/>
            <a:ext cx="7467601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https://api.jquery.com/jquery.ajax/</a:t>
            </a:r>
            <a:endParaRPr xmlns:a="http://schemas.openxmlformats.org/drawingml/2006/main"/>
          </a:p>
        </p:txBody>
      </p:sp>
      <p:sp>
        <p:nvSpPr>
          <p:cNvPr id="232" name="Google Shape;232;p6"/>
          <p:cNvSpPr txBox="1"/>
          <p:nvPr/>
        </p:nvSpPr>
        <p:spPr>
          <a:xfrm>
            <a:off x="2967377" y="1575700"/>
            <a:ext cx="8862600" cy="369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ajax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"https://jsonplaceholder.typicode.com/todos/1"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trước khi gửi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xhr.overrideMimeType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"text/plain; charset=x-user-defined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.đã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hoàn thành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&amp;&amp;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Mẫu dữ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liệu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:"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data.slice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0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100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 txBox="1"/>
          <p:nvPr>
            <p:ph type="title"/>
          </p:nvPr>
        </p:nvSpPr>
        <p:spPr>
          <a:xfrm>
            <a:off x="457199" y="914400"/>
            <a:ext cx="7467601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XMLHttpRequest RESTful GET</a:t>
            </a:r>
            <a:endParaRPr xmlns:a="http://schemas.openxmlformats.org/drawingml/2006/main"/>
          </a:p>
        </p:txBody>
      </p:sp>
      <p:sp>
        <p:nvSpPr>
          <p:cNvPr id="238" name="Google Shape;238;p7"/>
          <p:cNvSpPr txBox="1"/>
          <p:nvPr/>
        </p:nvSpPr>
        <p:spPr>
          <a:xfrm>
            <a:off x="3958682" y="2127630"/>
            <a:ext cx="7932235" cy="4247317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//Lấy tất cả người dùng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"http://localhost:8080/api/v1/users"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//var url = 'https://jsonplaceholder.typicode.com/todos';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mới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xhr.open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GET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xhr.onload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JSON.parse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xhr.responseText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&amp;&amp;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"200"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bảng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điều khiển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khác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console.error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users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xhr.send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>
            <p:ph type="title"/>
          </p:nvPr>
        </p:nvSpPr>
        <p:spPr>
          <a:xfrm>
            <a:off x="457199" y="914400"/>
            <a:ext cx="7467601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XMLHttpRequest RESTful GET</a:t>
            </a:r>
            <a:endParaRPr xmlns:a="http://schemas.openxmlformats.org/drawingml/2006/main"/>
          </a:p>
        </p:txBody>
      </p:sp>
      <p:sp>
        <p:nvSpPr>
          <p:cNvPr id="244" name="Google Shape;244;p8"/>
          <p:cNvSpPr txBox="1"/>
          <p:nvPr/>
        </p:nvSpPr>
        <p:spPr>
          <a:xfrm>
            <a:off x="3958682" y="2127630"/>
            <a:ext cx="7932235" cy="369331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Lấy thông tin người dùng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"http://localhost:8080/api/v1/users"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mới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xhr.open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GET'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 '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/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xhr.onload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JSON.parse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xhr.responseText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&amp;&amp;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"200"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bảng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điều khiển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khác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console.error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users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xhr.send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 xmlns:a="http://schemas.openxmlformats.org/drawingml/2006/main">
              <a:rPr lang="vi"/>
              <a:t>XMLHttpRequest </a:t>
            </a:r>
            <a:br xmlns:a="http://schemas.openxmlformats.org/drawingml/2006/main">
              <a:rPr lang="en-US"/>
            </a:br>
            <a:r xmlns:a="http://schemas.openxmlformats.org/drawingml/2006/main">
              <a:rPr lang="vi"/>
              <a:t>RESTful POST</a:t>
            </a:r>
            <a:endParaRPr xmlns:a="http://schemas.openxmlformats.org/drawingml/2006/main"/>
          </a:p>
        </p:txBody>
      </p:sp>
      <p:sp>
        <p:nvSpPr>
          <p:cNvPr id="250" name="Google Shape;250;p9"/>
          <p:cNvSpPr txBox="1"/>
          <p:nvPr/>
        </p:nvSpPr>
        <p:spPr>
          <a:xfrm>
            <a:off x="4047892" y="335845"/>
            <a:ext cx="7932235" cy="618630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// Đăng thông tin người dùng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var url = "http://localhost:8080/api/v1/users";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//var url = 'https://my-json-server.typicode.com/typicode/demo/posts';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{};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//data.firstname = "John";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//data.lastname = "Snow";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JSON.stringify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mới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xhr.open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"POST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xhr.setRequestHeader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'Content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type'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'application/json; charset=utf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8'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xhr.onload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JSON.parse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xhr.responseText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&amp;&amp;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"201"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bảng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điều khiển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khác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console.error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users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xhr.send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 xmlns:a="http://schemas.openxmlformats.org/drawingml/2006/main">
              <a:rPr lang="vi"/>
              <a:t>XMLHttpRequest </a:t>
            </a:r>
            <a:br xmlns:a="http://schemas.openxmlformats.org/drawingml/2006/main">
              <a:rPr lang="en-US"/>
            </a:br>
            <a:r xmlns:a="http://schemas.openxmlformats.org/drawingml/2006/main">
              <a:rPr lang="vi"/>
              <a:t>RESTful PUT</a:t>
            </a:r>
            <a:endParaRPr xmlns:a="http://schemas.openxmlformats.org/drawingml/2006/main"/>
          </a:p>
        </p:txBody>
      </p:sp>
      <p:sp>
        <p:nvSpPr>
          <p:cNvPr id="256" name="Google Shape;256;p10"/>
          <p:cNvSpPr txBox="1"/>
          <p:nvPr/>
        </p:nvSpPr>
        <p:spPr>
          <a:xfrm>
            <a:off x="3657600" y="335845"/>
            <a:ext cx="8322527" cy="590931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Cập nhật thông tin người dùng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"http://localhost:8080/api/v1/users"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{};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data.firstname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John2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data.lastname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Snow2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JSON.stringify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mới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xhr.open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PUT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'/12'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xhr.setRequestHeader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'Content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type'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'application/json; charset=utf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8'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xhr.onload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JSON.parse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xhr.responseText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&amp;&amp;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"200"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bảng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điều khiển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khác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console.error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users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xhr.send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 xmlns:a="http://schemas.openxmlformats.org/drawingml/2006/main">
              <a:rPr lang="vi"/>
              <a:t>XMLHttpRequest </a:t>
            </a:r>
            <a:br xmlns:a="http://schemas.openxmlformats.org/drawingml/2006/main">
              <a:rPr lang="en-US"/>
            </a:br>
            <a:r xmlns:a="http://schemas.openxmlformats.org/drawingml/2006/main">
              <a:rPr lang="vi"/>
              <a:t>RESTful DELETE</a:t>
            </a:r>
            <a:endParaRPr xmlns:a="http://schemas.openxmlformats.org/drawingml/2006/main"/>
          </a:p>
        </p:txBody>
      </p:sp>
      <p:sp>
        <p:nvSpPr>
          <p:cNvPr id="262" name="Google Shape;262;p11"/>
          <p:cNvSpPr txBox="1"/>
          <p:nvPr/>
        </p:nvSpPr>
        <p:spPr>
          <a:xfrm>
            <a:off x="3468029" y="2250281"/>
            <a:ext cx="8322527" cy="369331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Xóa người dùng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"http://localhost:8080/api/v1/users"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mới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xhr.open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"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DELETE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'/12'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xhr.onload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JSON.parse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xhr.responseText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&amp;&amp;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"200"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bảng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điều khiển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người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khác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console.error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users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xhr.send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268" name="Google Shape;268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269" name="Google Shape;269;p12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HỨA</a:t>
            </a:r>
            <a:endParaRPr xmlns:a="http://schemas.openxmlformats.org/drawingml/2006/main"/>
          </a:p>
        </p:txBody>
      </p:sp>
      <p:sp>
        <p:nvSpPr>
          <p:cNvPr id="270" name="Google Shape;270;p12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 xmlns:a="http://schemas.openxmlformats.org/drawingml/2006/main">
              <a:rPr lang="vi"/>
              <a:t>Cách tạo Promise()</a:t>
            </a:r>
            <a:endParaRPr xmlns:a="http://schemas.openxmlformats.org/drawingml/2006/main"/>
          </a:p>
        </p:txBody>
      </p:sp>
      <p:sp>
        <p:nvSpPr>
          <p:cNvPr id="276" name="Google Shape;276;p13"/>
          <p:cNvSpPr txBox="1"/>
          <p:nvPr/>
        </p:nvSpPr>
        <p:spPr>
          <a:xfrm>
            <a:off x="3512634" y="1674674"/>
            <a:ext cx="7192537" cy="1754326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relsolve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reject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//relsolve();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//từ chối();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mới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Trạng thái của Promise()</a:t>
            </a:r>
            <a:endParaRPr xmlns:a="http://schemas.openxmlformats.org/drawingml/2006/main"/>
          </a:p>
        </p:txBody>
      </p:sp>
      <p:pic>
        <p:nvPicPr>
          <p:cNvPr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146" y="1405738"/>
            <a:ext cx="3696216" cy="1838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424791"/>
            <a:ext cx="5287113" cy="181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4865" y="3875877"/>
            <a:ext cx="4982270" cy="144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 xmlns:a="http://schemas.openxmlformats.org/drawingml/2006/main">
              <a:rPr lang="vi"/>
              <a:t>Cách tạo Promise()</a:t>
            </a:r>
            <a:endParaRPr xmlns:a="http://schemas.openxmlformats.org/drawingml/2006/main"/>
          </a:p>
        </p:txBody>
      </p:sp>
      <p:sp>
        <p:nvSpPr>
          <p:cNvPr id="290" name="Google Shape;290;p15"/>
          <p:cNvSpPr txBox="1"/>
          <p:nvPr/>
        </p:nvSpPr>
        <p:spPr>
          <a:xfrm>
            <a:off x="3557238" y="1514300"/>
            <a:ext cx="4917689" cy="120032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hứa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nắm lấy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Cuối cùng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 xmlns:a="http://schemas.openxmlformats.org/drawingml/2006/main">
              <a:rPr lang="vi"/>
              <a:t>Cách tạo Promise()</a:t>
            </a:r>
            <a:endParaRPr xmlns:a="http://schemas.openxmlformats.org/drawingml/2006/main"/>
          </a:p>
        </p:txBody>
      </p:sp>
      <p:sp>
        <p:nvSpPr>
          <p:cNvPr id="296" name="Google Shape;296;p16"/>
          <p:cNvSpPr txBox="1"/>
          <p:nvPr/>
        </p:nvSpPr>
        <p:spPr>
          <a:xfrm>
            <a:off x="4683512" y="1469696"/>
            <a:ext cx="4348977" cy="3139321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hứa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nắm lấy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Cuối cùng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 xmlns:a="http://schemas.openxmlformats.org/drawingml/2006/main">
              <a:rPr lang="vi"/>
              <a:t>Cách tạo Promise()</a:t>
            </a:r>
            <a:endParaRPr xmlns:a="http://schemas.openxmlformats.org/drawingml/2006/main"/>
          </a:p>
        </p:txBody>
      </p:sp>
      <p:sp>
        <p:nvSpPr>
          <p:cNvPr id="302" name="Google Shape;302;p17"/>
          <p:cNvSpPr txBox="1"/>
          <p:nvPr/>
        </p:nvSpPr>
        <p:spPr>
          <a:xfrm>
            <a:off x="5084956" y="612855"/>
            <a:ext cx="4348977" cy="590931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hứa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'Thành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công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!'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nắm lấy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'Không thành công!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Cuối cùng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'Cuối cùng!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289932" y="189109"/>
            <a:ext cx="4516244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 xmlns:a="http://schemas.openxmlformats.org/drawingml/2006/main">
              <a:rPr lang="vi"/>
              <a:t>Cách tạo Promise()</a:t>
            </a:r>
            <a:endParaRPr xmlns:a="http://schemas.openxmlformats.org/drawingml/2006/main"/>
          </a:p>
        </p:txBody>
      </p:sp>
      <p:sp>
        <p:nvSpPr>
          <p:cNvPr id="308" name="Google Shape;308;p18"/>
          <p:cNvSpPr txBox="1"/>
          <p:nvPr/>
        </p:nvSpPr>
        <p:spPr>
          <a:xfrm>
            <a:off x="5084956" y="612855"/>
            <a:ext cx="4348977" cy="590931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hứa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'Thành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công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!'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nắm lấy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'Không thành công!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Cuối cùng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'Cuối cùng!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14" name="Google Shape;314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15" name="Google Shape;315;p19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CHUỖI LỜI HỨA</a:t>
            </a:r>
            <a:endParaRPr xmlns:a="http://schemas.openxmlformats.org/drawingml/2006/main"/>
          </a:p>
        </p:txBody>
      </p:sp>
      <p:sp>
        <p:nvSpPr>
          <p:cNvPr id="316" name="Google Shape;316;p19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4814538" y="982848"/>
            <a:ext cx="6172200" cy="45243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hứa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'1!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'2!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'3!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23" name="Google Shape;323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24" name="Google Shape;324;p20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CHUỖI LỜI HỨA</a:t>
            </a:r>
            <a:endParaRPr xmlns:a="http://schemas.openxmlformats.org/drawingml/2006/main"/>
          </a:p>
        </p:txBody>
      </p:sp>
      <p:sp>
        <p:nvSpPr>
          <p:cNvPr id="325" name="Google Shape;325;p20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4814538" y="982848"/>
            <a:ext cx="6172200" cy="50783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hứa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0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trở lại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trở lại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32" name="Google Shape;332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33" name="Google Shape;333;p21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LỜI HỨA HOÀN TRẢ</a:t>
            </a:r>
            <a:endParaRPr xmlns:a="http://schemas.openxmlformats.org/drawingml/2006/main"/>
          </a:p>
        </p:txBody>
      </p:sp>
      <p:sp>
        <p:nvSpPr>
          <p:cNvPr id="334" name="Google Shape;334;p21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5766382" y="335845"/>
            <a:ext cx="6172200" cy="618630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hứa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trở lại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mới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giải quyết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setTimeout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resolve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3000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trở lại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41" name="Google Shape;341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42" name="Google Shape;342;p22"/>
          <p:cNvSpPr txBox="1"/>
          <p:nvPr>
            <p:ph type="title"/>
          </p:nvPr>
        </p:nvSpPr>
        <p:spPr>
          <a:xfrm>
            <a:off x="351213" y="886093"/>
            <a:ext cx="4901011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None/>
            </a:pPr>
            <a:r xmlns:a="http://schemas.openxmlformats.org/drawingml/2006/main">
              <a:rPr b="0" i="0" lang="vi">
                <a:latin typeface="Roboto"/>
                <a:ea typeface="Roboto"/>
                <a:cs typeface="Roboto"/>
                <a:sym typeface="Roboto"/>
              </a:rPr>
              <a:t>PHƯƠNG PHÁP HỨA HẸN (GIẢI QUYẾT, TỪ CHỐI, TẤT CẢ)</a:t>
            </a:r>
            <a:br xmlns:a="http://schemas.openxmlformats.org/drawingml/2006/main">
              <a:rPr b="0" i="0" lang="en-US">
                <a:latin typeface="Roboto"/>
                <a:ea typeface="Roboto"/>
                <a:cs typeface="Roboto"/>
                <a:sym typeface="Roboto"/>
              </a:rPr>
            </a:br>
            <a:br xmlns:a="http://schemas.openxmlformats.org/drawingml/2006/main">
              <a:rPr b="0" i="0" lang="en-US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xmlns:a="http://schemas.openxmlformats.org/drawingml/2006/main" b="1"/>
          </a:p>
        </p:txBody>
      </p:sp>
      <p:sp>
        <p:nvSpPr>
          <p:cNvPr id="343" name="Google Shape;343;p22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49" name="Google Shape;349;p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50" name="Google Shape;350;p23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Quattrocento Sans"/>
              <a:buNone/>
            </a:pPr>
            <a:r xmlns:a="http://schemas.openxmlformats.org/drawingml/2006/main">
              <a:rPr b="1" lang="vi"/>
              <a:t>SỬ DỤNG THỰC TẾ PROMISE</a:t>
            </a:r>
            <a:endParaRPr xmlns:a="http://schemas.openxmlformats.org/drawingml/2006/main"/>
          </a:p>
        </p:txBody>
      </p:sp>
      <p:sp>
        <p:nvSpPr>
          <p:cNvPr id="351" name="Google Shape;351;p23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57" name="Google Shape;357;p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58" name="Google Shape;358;p24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TÌM VỀ</a:t>
            </a:r>
            <a:endParaRPr xmlns:a="http://schemas.openxmlformats.org/drawingml/2006/main"/>
          </a:p>
        </p:txBody>
      </p:sp>
      <p:sp>
        <p:nvSpPr>
          <p:cNvPr id="359" name="Google Shape;359;p24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Lấy</a:t>
            </a:r>
            <a:endParaRPr xmlns:a="http://schemas.openxmlformats.org/drawingml/2006/main"/>
          </a:p>
        </p:txBody>
      </p:sp>
      <p:sp>
        <p:nvSpPr>
          <p:cNvPr id="365" name="Google Shape;365;p25"/>
          <p:cNvSpPr txBox="1"/>
          <p:nvPr/>
        </p:nvSpPr>
        <p:spPr>
          <a:xfrm>
            <a:off x="2999679" y="1179764"/>
            <a:ext cx="8880088" cy="5355312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data.map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bài đăng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trở lại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`&lt;li&gt;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&lt;h2&gt;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posts.id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&lt;/h2&gt;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&lt;h2&gt;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${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bài viết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tiêu đề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&lt;/h2&gt;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&lt;/li&gt;`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htmls.join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văn bản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tài liệu.getElementById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info'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innerHTML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Catch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'Có lỗi!'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Lấy</a:t>
            </a:r>
            <a:endParaRPr xmlns:a="http://schemas.openxmlformats.org/drawingml/2006/main"/>
          </a:p>
        </p:txBody>
      </p:sp>
      <p:sp>
        <p:nvSpPr>
          <p:cNvPr id="371" name="Google Shape;371;p26"/>
          <p:cNvSpPr txBox="1"/>
          <p:nvPr/>
        </p:nvSpPr>
        <p:spPr>
          <a:xfrm>
            <a:off x="2999679" y="1179764"/>
            <a:ext cx="6980662" cy="92333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'https://jsonplaceholder.typicode.com/posts/1'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3079131" y="2846453"/>
            <a:ext cx="6821758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type="title"/>
          </p:nvPr>
        </p:nvSpPr>
        <p:spPr>
          <a:xfrm>
            <a:off x="457199" y="914400"/>
            <a:ext cx="3925229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Tạo nguồn lực</a:t>
            </a:r>
            <a:endParaRPr xmlns:a="http://schemas.openxmlformats.org/drawingml/2006/main"/>
          </a:p>
        </p:txBody>
      </p:sp>
      <p:sp>
        <p:nvSpPr>
          <p:cNvPr id="378" name="Google Shape;378;p27"/>
          <p:cNvSpPr txBox="1"/>
          <p:nvPr/>
        </p:nvSpPr>
        <p:spPr>
          <a:xfrm>
            <a:off x="2698594" y="1982652"/>
            <a:ext cx="8634761" cy="4247317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'https://jsonplaceholder.typicode.com/posts/1'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phương pháp: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'ĐẶT'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thân hình: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JSON.stringify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nhận dạng: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tiêu đề: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'foo'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thân hình: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'quán bar'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userId: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tiêu đề: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'Loại nội dung'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'application/json; charset=UTF-8'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t/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>
            <p:ph type="title"/>
          </p:nvPr>
        </p:nvSpPr>
        <p:spPr>
          <a:xfrm>
            <a:off x="457199" y="914400"/>
            <a:ext cx="4449337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Cập nhật tài nguyên</a:t>
            </a:r>
            <a:endParaRPr xmlns:a="http://schemas.openxmlformats.org/drawingml/2006/main"/>
          </a:p>
        </p:txBody>
      </p:sp>
      <p:sp>
        <p:nvSpPr>
          <p:cNvPr id="384" name="Google Shape;384;p28"/>
          <p:cNvSpPr txBox="1"/>
          <p:nvPr/>
        </p:nvSpPr>
        <p:spPr>
          <a:xfrm>
            <a:off x="2698594" y="1982652"/>
            <a:ext cx="8634761" cy="3693319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tìm nạp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phương pháp: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'BƯU KIỆN'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thân hình: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JSON.stringify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tiêu đề: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'foo'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thân hình: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'quán bar'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userId: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tiêu đề: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'Loại nội dung'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'application/json; charset=UTF-8'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json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title"/>
          </p:nvPr>
        </p:nvSpPr>
        <p:spPr>
          <a:xfrm>
            <a:off x="457199" y="914400"/>
            <a:ext cx="4449337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Xóa tài nguyên</a:t>
            </a:r>
            <a:endParaRPr xmlns:a="http://schemas.openxmlformats.org/drawingml/2006/main"/>
          </a:p>
        </p:txBody>
      </p:sp>
      <p:sp>
        <p:nvSpPr>
          <p:cNvPr id="390" name="Google Shape;390;p29"/>
          <p:cNvSpPr txBox="1"/>
          <p:nvPr/>
        </p:nvSpPr>
        <p:spPr>
          <a:xfrm>
            <a:off x="2698594" y="1982652"/>
            <a:ext cx="8634761" cy="923330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fetch('https://jsonplaceholder.typicode.com/posts/1',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Phương thức: 'XÓA',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396" name="Google Shape;396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397" name="Google Shape;397;p30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AXIOS</a:t>
            </a:r>
            <a:endParaRPr xmlns:a="http://schemas.openxmlformats.org/drawingml/2006/main"/>
          </a:p>
        </p:txBody>
      </p:sp>
      <p:sp>
        <p:nvSpPr>
          <p:cNvPr id="398" name="Google Shape;398;p30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459988" y="1729496"/>
            <a:ext cx="47439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 xmlns:a="http://schemas.openxmlformats.org/drawingml/2006/main">
              <a:rPr b="0" i="0" lang="vi" sz="2400" u="none" cap="none" strike="noStrik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https://github.com/axios/axios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0"/>
          <p:cNvSpPr txBox="1"/>
          <p:nvPr/>
        </p:nvSpPr>
        <p:spPr>
          <a:xfrm>
            <a:off x="593802" y="2687012"/>
            <a:ext cx="7702705" cy="6463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&lt;script&gt;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https://unpkg.com/axios/dist/axios.min.js" </a:t>
            </a: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1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Tải Axios</a:t>
            </a:r>
            <a:endParaRPr xmlns:a="http://schemas.openxmlformats.org/drawingml/2006/main"/>
          </a:p>
        </p:txBody>
      </p:sp>
      <p:sp>
        <p:nvSpPr>
          <p:cNvPr id="406" name="Google Shape;406;p31"/>
          <p:cNvSpPr txBox="1"/>
          <p:nvPr/>
        </p:nvSpPr>
        <p:spPr>
          <a:xfrm>
            <a:off x="3412273" y="1614661"/>
            <a:ext cx="8322527" cy="2308324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axios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phương pháp: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'lấy'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'https://jsonplaceholder.typicode.com/todos/1'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.sau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response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Tải Axios</a:t>
            </a:r>
            <a:endParaRPr xmlns:a="http://schemas.openxmlformats.org/drawingml/2006/main"/>
          </a:p>
        </p:txBody>
      </p:sp>
      <p:sp>
        <p:nvSpPr>
          <p:cNvPr id="412" name="Google Shape;412;p32"/>
          <p:cNvSpPr txBox="1"/>
          <p:nvPr/>
        </p:nvSpPr>
        <p:spPr>
          <a:xfrm>
            <a:off x="3412273" y="1614661"/>
            <a:ext cx="8322527" cy="2308324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axios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phương pháp: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'lấy'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'https://jsonplaceholder.typicode.com/todos/1'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.sau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response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3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Tải Axios</a:t>
            </a:r>
            <a:endParaRPr xmlns:a="http://schemas.openxmlformats.org/drawingml/2006/main"/>
          </a:p>
        </p:txBody>
      </p:sp>
      <p:sp>
        <p:nvSpPr>
          <p:cNvPr id="418" name="Google Shape;418;p33"/>
          <p:cNvSpPr txBox="1"/>
          <p:nvPr/>
        </p:nvSpPr>
        <p:spPr>
          <a:xfrm>
            <a:off x="3412273" y="1614661"/>
            <a:ext cx="8322527" cy="2308324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axios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phương pháp: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'lấy'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'https://jsonplaceholder.typicode.com/todos/1'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.sau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response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Tải Axios</a:t>
            </a:r>
            <a:endParaRPr xmlns:a="http://schemas.openxmlformats.org/drawingml/2006/main"/>
          </a:p>
        </p:txBody>
      </p:sp>
      <p:sp>
        <p:nvSpPr>
          <p:cNvPr id="424" name="Google Shape;424;p34"/>
          <p:cNvSpPr txBox="1"/>
          <p:nvPr/>
        </p:nvSpPr>
        <p:spPr>
          <a:xfrm>
            <a:off x="3412273" y="1614661"/>
            <a:ext cx="8322527" cy="2308324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axios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phương pháp: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'lấy'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URL: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'https://jsonplaceholder.typicode.com/todos/1'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.sau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phản hồi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response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430" name="Google Shape;430;p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431" name="Google Shape;431;p35"/>
          <p:cNvSpPr txBox="1"/>
          <p:nvPr>
            <p:ph type="title"/>
          </p:nvPr>
        </p:nvSpPr>
        <p:spPr>
          <a:xfrm>
            <a:off x="351213" y="886093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ASYNC-AWAIT</a:t>
            </a:r>
            <a:endParaRPr xmlns:a="http://schemas.openxmlformats.org/drawingml/2006/main"/>
          </a:p>
        </p:txBody>
      </p:sp>
      <p:sp>
        <p:nvSpPr>
          <p:cNvPr id="432" name="Google Shape;432;p35"/>
          <p:cNvSpPr txBox="1"/>
          <p:nvPr/>
        </p:nvSpPr>
        <p:spPr>
          <a:xfrm>
            <a:off x="3586294" y="6123964"/>
            <a:ext cx="2940342" cy="612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marR="0" rtl="0" algn="ctr">
              <a:lnSpc>
                <a:spcPct val="2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attrocento Sans"/>
              <a:buNone/>
            </a:pPr>
            <a:r xmlns:a="http://schemas.openxmlformats.org/drawingml/2006/main">
              <a:rPr b="0" i="0" lang="vi" sz="2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NGUYEN X TIEN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chức năng</a:t>
            </a:r>
            <a:endParaRPr xmlns:a="http://schemas.openxmlformats.org/drawingml/2006/main"/>
          </a:p>
        </p:txBody>
      </p:sp>
      <p:sp>
        <p:nvSpPr>
          <p:cNvPr id="438" name="Google Shape;438;p36"/>
          <p:cNvSpPr txBox="1"/>
          <p:nvPr/>
        </p:nvSpPr>
        <p:spPr>
          <a:xfrm>
            <a:off x="3180886" y="2529062"/>
            <a:ext cx="8322527" cy="2862322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chức năng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callback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biến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mới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xmlHttp.onreadystatechange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readyState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XMLHttpRequest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DONE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&amp;&amp;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status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 xmlns:a="http://schemas.openxmlformats.org/drawingml/2006/main">
              <a:rPr b="0" i="0" lang="vi" sz="18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200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gọi lại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xmlHttp.open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'GET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Url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xmlHttp.send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3180886" y="1138535"/>
            <a:ext cx="6094140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&lt;img&gt;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"img_1"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alt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 </a:t>
            </a: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&lt;img&gt;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"img_2"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=""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alt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 </a:t>
            </a: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&lt;img&gt;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​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"img_3"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alt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 </a:t>
            </a:r>
            <a:r xmlns:a="http://schemas.openxmlformats.org/drawingml/2006/main">
              <a:rPr b="0" i="0" lang="vi" sz="18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Địa ngục gọi lại</a:t>
            </a:r>
            <a:endParaRPr xmlns:a="http://schemas.openxmlformats.org/drawingml/2006/main"/>
          </a:p>
        </p:txBody>
      </p:sp>
      <p:sp>
        <p:nvSpPr>
          <p:cNvPr id="445" name="Google Shape;445;p37"/>
          <p:cNvSpPr txBox="1"/>
          <p:nvPr/>
        </p:nvSpPr>
        <p:spPr>
          <a:xfrm>
            <a:off x="1003609" y="1895708"/>
            <a:ext cx="10894741" cy="4524315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'1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document.getElementById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img_1'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setAttribute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data.responseURL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 xmlns:a="http://schemas.openxmlformats.org/drawingml/2006/main">
              <a:rPr b="0" i="0" lang="en-US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'2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document.getElementById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'img_2'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setAttribute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data.responseURL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console.log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'3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document.getElementById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'img_3'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setAttribute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data.responseURL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8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hứa hẹn</a:t>
            </a:r>
            <a:endParaRPr xmlns:a="http://schemas.openxmlformats.org/drawingml/2006/main"/>
          </a:p>
        </p:txBody>
      </p:sp>
      <p:sp>
        <p:nvSpPr>
          <p:cNvPr id="451" name="Google Shape;451;p38"/>
          <p:cNvSpPr txBox="1"/>
          <p:nvPr/>
        </p:nvSpPr>
        <p:spPr>
          <a:xfrm>
            <a:off x="1003609" y="1895708"/>
            <a:ext cx="10894741" cy="2585323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hằng số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myPromise1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giải quyết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từ chối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hằng số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myPromise2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giải quyết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từ chối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hằng số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myPromise3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giải quyết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từ chối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9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chạy lời hứa</a:t>
            </a:r>
            <a:endParaRPr xmlns:a="http://schemas.openxmlformats.org/drawingml/2006/main"/>
          </a:p>
        </p:txBody>
      </p:sp>
      <p:sp>
        <p:nvSpPr>
          <p:cNvPr id="457" name="Google Shape;457;p39"/>
          <p:cNvSpPr txBox="1"/>
          <p:nvPr/>
        </p:nvSpPr>
        <p:spPr>
          <a:xfrm>
            <a:off x="1003609" y="1895708"/>
            <a:ext cx="10894741" cy="3970318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Lời hứa của tôi1</a:t>
            </a:r>
            <a:endParaRPr xmlns:a="http://schemas.openxmlformats.org/drawingml/2006/main" b="0" i="0" sz="18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document.getElementById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img_1'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).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setAttribute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data.responseURL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trở lại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myPromise2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document.getElementById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'img_2'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setAttribute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data.responseURL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trở lại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myPromise3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sau đó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dữ liệu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document.getElementById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'img_3'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setAttribute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src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data.responseURL </a:t>
            </a:r>
            <a:r xmlns:a="http://schemas.openxmlformats.org/drawingml/2006/main">
              <a:rPr b="0" i="0" lang="vi" sz="18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kết quả</a:t>
            </a:r>
            <a:endParaRPr xmlns:a="http://schemas.openxmlformats.org/drawingml/2006/main"/>
          </a:p>
        </p:txBody>
      </p:sp>
      <p:pic>
        <p:nvPicPr>
          <p:cNvPr id="463" name="Google Shape;4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691" y="427361"/>
            <a:ext cx="4283895" cy="63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1"/>
          <p:cNvSpPr txBox="1"/>
          <p:nvPr>
            <p:ph type="title"/>
          </p:nvPr>
        </p:nvSpPr>
        <p:spPr>
          <a:xfrm>
            <a:off x="457200" y="914400"/>
            <a:ext cx="3334216" cy="847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 xmlns:a="http://schemas.openxmlformats.org/drawingml/2006/main">
              <a:rPr lang="vi"/>
              <a:t>async-await</a:t>
            </a:r>
            <a:endParaRPr xmlns:a="http://schemas.openxmlformats.org/drawingml/2006/main"/>
          </a:p>
        </p:txBody>
      </p:sp>
      <p:sp>
        <p:nvSpPr>
          <p:cNvPr id="469" name="Google Shape;469;p41"/>
          <p:cNvSpPr txBox="1"/>
          <p:nvPr/>
        </p:nvSpPr>
        <p:spPr>
          <a:xfrm>
            <a:off x="1003609" y="1895708"/>
            <a:ext cx="10894741" cy="2585323"/>
          </a:xfrm>
          <a:prstGeom prst="rect">
            <a:avLst/>
          </a:prstGeom>
          <a:solidFill>
            <a:srgbClr val="29282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hằng số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currentPromise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giải quyết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từ chối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hằng số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myPromise2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giải quyết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từ chối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hằng số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myPromise3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 xmlns:a="http://schemas.openxmlformats.org/drawingml/2006/main">
              <a:rPr b="0" i="0" lang="vi" sz="18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Lời hứa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hàm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giải quyết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từ chối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httpGetAsync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 xmlns:a="http://schemas.openxmlformats.org/drawingml/2006/main">
              <a:rPr b="0" i="0" lang="vi" sz="1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'https://picsum.photos/200/300'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 xmlns:a="http://schemas.openxmlformats.org/drawingml/2006/main">
              <a:rPr b="0" i="0" lang="vi" sz="18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relsolve </a:t>
            </a: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 xmlns:a="http://schemas.openxmlformats.org/drawingml/2006/main">
              <a:rPr b="0" i="0" lang="vi" sz="1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xmlns:a="http://schemas.openxmlformats.org/drawingml/2006/main"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 of curvy lines" id="475" name="Google Shape;475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" l="0" r="0" t="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pic>
      <p:sp>
        <p:nvSpPr>
          <p:cNvPr id="476" name="Google Shape;476;p42"/>
          <p:cNvSpPr txBox="1"/>
          <p:nvPr>
            <p:ph type="title"/>
          </p:nvPr>
        </p:nvSpPr>
        <p:spPr>
          <a:xfrm>
            <a:off x="819564" y="1633225"/>
            <a:ext cx="4282579" cy="728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xmlns:a="http://schemas.openxmlformats.org/drawingml/2006/main"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 xmlns:a="http://schemas.openxmlformats.org/drawingml/2006/main">
              <a:rPr b="1" lang="vi"/>
              <a:t>CẢM ƠN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ellspring">
  <a:themeElements>
    <a:clrScheme name="Wellspring">
      <a:dk1>
        <a:srgbClr val="000000"/>
      </a:dk1>
      <a:lt1>
        <a:srgbClr val="FFFFFF"/>
      </a:lt1>
      <a:dk2>
        <a:srgbClr val="A1CAC9"/>
      </a:dk2>
      <a:lt2>
        <a:srgbClr val="48996B"/>
      </a:lt2>
      <a:accent1>
        <a:srgbClr val="759F51"/>
      </a:accent1>
      <a:accent2>
        <a:srgbClr val="436A2F"/>
      </a:accent2>
      <a:accent3>
        <a:srgbClr val="CFBF54"/>
      </a:accent3>
      <a:accent4>
        <a:srgbClr val="B3832F"/>
      </a:accent4>
      <a:accent5>
        <a:srgbClr val="8C5896"/>
      </a:accent5>
      <a:accent6>
        <a:srgbClr val="6667A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lancing Act">
  <a:themeElements>
    <a:clrScheme name="Balancing Act">
      <a:dk1>
        <a:srgbClr val="000000"/>
      </a:dk1>
      <a:lt1>
        <a:srgbClr val="FFFFFF"/>
      </a:lt1>
      <a:dk2>
        <a:srgbClr val="8A4C5D"/>
      </a:dk2>
      <a:lt2>
        <a:srgbClr val="9E838E"/>
      </a:lt2>
      <a:accent1>
        <a:srgbClr val="C6ADB0"/>
      </a:accent1>
      <a:accent2>
        <a:srgbClr val="E3C0BF"/>
      </a:accent2>
      <a:accent3>
        <a:srgbClr val="D4937F"/>
      </a:accent3>
      <a:accent4>
        <a:srgbClr val="CCB87E"/>
      </a:accent4>
      <a:accent5>
        <a:srgbClr val="6667AB"/>
      </a:accent5>
      <a:accent6>
        <a:srgbClr val="86A094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ar of the show">
  <a:themeElements>
    <a:clrScheme name="Star of the show">
      <a:dk1>
        <a:srgbClr val="000000"/>
      </a:dk1>
      <a:lt1>
        <a:srgbClr val="FFFFFF"/>
      </a:lt1>
      <a:dk2>
        <a:srgbClr val="29282D"/>
      </a:dk2>
      <a:lt2>
        <a:srgbClr val="625C60"/>
      </a:lt2>
      <a:accent1>
        <a:srgbClr val="7C6560"/>
      </a:accent1>
      <a:accent2>
        <a:srgbClr val="AEA392"/>
      </a:accent2>
      <a:accent3>
        <a:srgbClr val="DBD4D0"/>
      </a:accent3>
      <a:accent4>
        <a:srgbClr val="8E7961"/>
      </a:accent4>
      <a:accent5>
        <a:srgbClr val="F0EDE8"/>
      </a:accent5>
      <a:accent6>
        <a:srgbClr val="6667A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musements">
  <a:themeElements>
    <a:clrScheme name="Amusements">
      <a:dk1>
        <a:srgbClr val="000000"/>
      </a:dk1>
      <a:lt1>
        <a:srgbClr val="FFFFFF"/>
      </a:lt1>
      <a:dk2>
        <a:srgbClr val="D77E6F"/>
      </a:dk2>
      <a:lt2>
        <a:srgbClr val="6667AB"/>
      </a:lt2>
      <a:accent1>
        <a:srgbClr val="B38F6A"/>
      </a:accent1>
      <a:accent2>
        <a:srgbClr val="D75078"/>
      </a:accent2>
      <a:accent3>
        <a:srgbClr val="E288B6"/>
      </a:accent3>
      <a:accent4>
        <a:srgbClr val="E9445D"/>
      </a:accent4>
      <a:accent5>
        <a:srgbClr val="EEC272"/>
      </a:accent5>
      <a:accent6>
        <a:srgbClr val="85A0A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2022-08-02T13:34:29Z</dcterms:created>
  <dc:creator>Nguyễn Trọng Tiến</dc:creator>
</cp:coreProperties>
</file>